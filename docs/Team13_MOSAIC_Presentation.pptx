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e07257c-ad99-5112-294c-656051b37dbb}">
          <p14:sldIdLst>
            <p14:sldId id="256"/>
            <p14:sldId id="257"/>
            <p14:sldId id="258"/>
            <p14:sldId id="259"/>
          </p14:sldIdLst>
        </p14:section>
        <p14:section name="Solution" id="{e4ea7e51-c2bd-9877-e48a-362f765d4a76}">
          <p14:sldIdLst>
            <p14:sldId id="260"/>
            <p14:sldId id="261"/>
            <p14:sldId id="262"/>
          </p14:sldIdLst>
        </p14:section>
        <p14:section name="Architecture" id="{7e94dc9e-6459-acf1-df7f-6e47367a4604}">
          <p14:sldIdLst>
            <p14:sldId id="263"/>
            <p14:sldId id="264"/>
            <p14:sldId id="265"/>
            <p14:sldId id="266"/>
          </p14:sldIdLst>
        </p14:section>
        <p14:section name="Agent design" id="{025db049-1e06-12cc-dc97-350b9aeb29e1}">
          <p14:sldIdLst>
            <p14:sldId id="267"/>
            <p14:sldId id="268"/>
            <p14:sldId id="269"/>
            <p14:sldId id="270"/>
          </p14:sldIdLst>
        </p14:section>
        <p14:section name="Assurance" id="{1c240620-77ad-23e6-0cee-0dce7f7cc13c}">
          <p14:sldIdLst>
            <p14:sldId id="271"/>
            <p14:sldId id="272"/>
            <p14:sldId id="273"/>
            <p14:sldId id="274"/>
          </p14:sldIdLst>
        </p14:section>
        <p14:section name="Results" id="{ba786383-3127-f0b0-fbec-3aba6bf2a036}">
          <p14:sldIdLst>
            <p14:sldId id="275"/>
            <p14:sldId id="276"/>
            <p14:sldId id="277"/>
            <p14:sldId id="278"/>
            <p14:sldId id="279"/>
          </p14:sldIdLst>
        </p14:section>
        <p14:section name="Close" id="{c0b8ad43-8515-8e4b-2cde-6549223e0a7f}">
          <p14:sldIdLst>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Verdicts</c:v>
                </c:pt>
              </c:strCache>
            </c:strRef>
          </c:tx>
          <c:spPr>
            <a:solidFill>
              <a:schemeClr val="accent1"/>
            </a:solidFill>
            <a:ln w="9525" cap="flat">
              <a:solidFill>
                <a:srgbClr val="F9F9F9"/>
              </a:solidFill>
              <a:prstDash val="solid"/>
              <a:round/>
            </a:ln>
            <a:effectLst/>
          </c:spPr>
          <c:dPt>
            <c:idx val="0"/>
            <c:bubble3D val="0"/>
            <c:spPr>
              <a:solidFill>
                <a:srgbClr val="2DD4BF"/>
              </a:solidFill>
              <a:ln w="19050" cap="flat">
                <a:solidFill>
                  <a:srgbClr val="0B0B24"/>
                </a:solidFill>
                <a:prstDash val="solid"/>
                <a:round/>
              </a:ln>
              <a:effectLst/>
            </c:spPr>
          </c:dPt>
          <c:dPt>
            <c:idx val="1"/>
            <c:bubble3D val="0"/>
            <c:spPr>
              <a:solidFill>
                <a:srgbClr val="FBBF24"/>
              </a:solidFill>
              <a:ln w="19050" cap="flat">
                <a:solidFill>
                  <a:srgbClr val="0B0B24"/>
                </a:solidFill>
                <a:prstDash val="solid"/>
                <a:round/>
              </a:ln>
              <a:effectLst/>
            </c:spPr>
          </c:dPt>
          <c:dPt>
            <c:idx val="2"/>
            <c:bubble3D val="0"/>
            <c:spPr>
              <a:solidFill>
                <a:srgbClr val="FB7185"/>
              </a:solidFill>
              <a:ln w="19050" cap="flat">
                <a:solidFill>
                  <a:srgbClr val="0B0B24"/>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PASS</c:v>
                </c:pt>
                <c:pt idx="1">
                  <c:v>REVISE</c:v>
                </c:pt>
                <c:pt idx="2">
                  <c:v>BLOCK</c:v>
                </c:pt>
              </c:strCache>
            </c:strRef>
          </c:cat>
          <c:val>
            <c:numRef>
              <c:f>Sheet1!$B$2:$B$4</c:f>
              <c:numCache>
                <c:ptCount val="3"/>
                <c:pt idx="0">
                  <c:v>5</c:v>
                </c:pt>
                <c:pt idx="1">
                  <c:v>1</c:v>
                </c:pt>
                <c:pt idx="2">
                  <c:v>0</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eval-v1</c:v>
                </c:pt>
              </c:strCache>
            </c:strRef>
          </c:tx>
          <c:spPr>
            <a:solidFill>
              <a:srgbClr val="A78BFA"/>
            </a:solidFill>
            <a:effectLst/>
          </c:spPr>
          <c:invertIfNegative val="0"/>
          <c:dLbls>
            <c:numFmt formatCode="0.0" sourceLinked="0"/>
            <c:txPr>
              <a:bodyPr/>
              <a:lstStyle/>
              <a:p>
                <a:pPr>
                  <a:defRPr b="1" i="0" strike="noStrike" sz="1400" u="none">
                    <a:solidFill>
                      <a:srgbClr val="FFFFFF"/>
                    </a:solidFill>
                    <a:latin typeface="+mn-lt"/>
                  </a:defRPr>
                </a:pPr>
              </a:p>
            </c:txPr>
            <c:showLegendKey val="0"/>
            <c:showVal val="1"/>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FBBF24"/>
              </a:solidFill>
              <a:effectLst/>
            </c:spPr>
          </c:dPt>
          <c:dPt>
            <c:idx val="2"/>
            <c:invertIfNegative val="0"/>
            <c:bubble3D val="0"/>
            <c:spPr>
              <a:solidFill>
                <a:srgbClr val="38BDF8"/>
              </a:solidFill>
              <a:effectLst/>
            </c:spPr>
          </c:dPt>
          <c:dPt>
            <c:idx val="3"/>
            <c:invertIfNegative val="0"/>
            <c:bubble3D val="0"/>
            <c:spPr>
              <a:solidFill>
                <a:srgbClr val="2DD4BF"/>
              </a:solidFill>
              <a:effectLst/>
            </c:spPr>
          </c:dPt>
          <c:cat>
            <c:multiLvlStrRef>
              <c:f>Sheet1!$A$2:$A$5</c:f>
              <c:multiLvlStrCache>
                <c:ptCount val="4"/>
                <c:lvl>
                  <c:pt idx="0">
                    <c:v>Segmentation</c:v>
                  </c:pt>
                  <c:pt idx="1">
                    <c:v>Creative</c:v>
                  </c:pt>
                  <c:pt idx="2">
                    <c:v>Composer</c:v>
                  </c:pt>
                  <c:pt idx="3">
                    <c:v>Guardian</c:v>
                  </c:pt>
                </c:lvl>
              </c:multiLvlStrCache>
            </c:multiLvlStrRef>
          </c:cat>
          <c:val>
            <c:numRef>
              <c:f>Sheet1!$B$2:$B$5</c:f>
              <c:numCache>
                <c:formatCode>General</c:formatCode>
                <c:ptCount val="4"/>
                <c:pt idx="0">
                  <c:v>70.8</c:v>
                </c:pt>
                <c:pt idx="1">
                  <c:v>95</c:v>
                </c:pt>
                <c:pt idx="2">
                  <c:v>93.3</c:v>
                </c:pt>
                <c:pt idx="3">
                  <c:v>93.7</c:v>
                </c:pt>
              </c:numCache>
            </c:numRef>
          </c:val>
        </c:ser>
        <c:dLbls>
          <c:numFmt formatCode="0.0" sourceLinked="0"/>
          <c:txPr>
            <a:bodyPr/>
            <a:lstStyle/>
            <a:p>
              <a:pPr>
                <a:defRPr b="1" i="0" strike="noStrike" sz="1400" u="none">
                  <a:solidFill>
                    <a:srgbClr val="FFFFFF"/>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B4B4D8"/>
                </a:solidFill>
                <a:latin typeface="+mn-lt"/>
              </a:defRPr>
            </a:pPr>
            <a:endParaRPr lang="en-US"/>
          </a:p>
        </c:txPr>
        <c:crossAx val="2094734552"/>
        <c:crosses val="autoZero"/>
        <c:auto val="1"/>
        <c:lblAlgn val="ctr"/>
        <c:noMultiLvlLbl val="1"/>
      </c:catAx>
      <c:valAx>
        <c:axId val="2094734552"/>
        <c:scaling>
          <c:orientation val="minMax"/>
          <c:max val="11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one-line idea: MOSAIC lets a marketer run a campaign with a distinct creative treatment per micro-segment, produced by four specialised agents and checked before any send — with a person pressing the button. OQQ owns the orchestrator, segmentation, composer, console and CI; ABP owns creative direction, the Guardian, the responsible-AI instrumentation and the security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typical retail list of ~200,000 contacts is split into new, lapsed, high-value and everyone else. Each variant needs a brief, design pass, copy pass, render test and QA sign-off, so teams stop at four. Two customers with opposite motivations end up in the same bucket and the campaign speaks to neither. Personalisation usually means inserting a first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considered two alternatives. One large prompt gives reasonable output and nothing you can audit or retry stage by stage, and the generator would be checking its own compliance. A rules engine is fully auditable but can only route content a human already wrote. Splitting the work across agents gives us the cost split (expensive work once per segment, O(k); cheap deterministic work per recipient, O(n)), separation of duties, the right tool per job, and contained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Campaign marketer: primary user, reviews each artifact and presses Send. Brand lead: palette, tone and assets. DPO: consent and withdrawal under PDPA. Legal: claim substantiation and the unsubscribe obligation. Platform engineering: cost and reliability. Customers: they receive the output. Review effort moves rather than disappears, which is why the console is built for fast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what MOSAIC does end to end, and what each agent is responsible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Company Info is intake: profile, offer catalogue, any customer CSV — columns are profiled automatically and protected/consent columns flagged. Then the three generating agents, each consuming the reviewed output of the one before. The Approval Queue runs the Guardian and is where a person sends. Under each stage is the human checkpoint; under everything is the ledger and activity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card as purpose, model, tools, autonomy. Segmentation decides features, cluster count and what stays as noise from the data itself. Creative Direction picks tone, CTA, design language and accent. The Composer chooses copy and which real offers to cite, but code owns the layout. The Guardian is a deterministic rule engine with a veto — no LLM in the veto path, so it is cheap, testable and explainable. Ownership is split so the agent that vetoes is owned by the member who did not build the generators.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logical and physical architecture, and how the agents communicate.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to bottom: the React console; the FastAPI orchestrator with its job runner, gatekeeping and LangGraph graph; the four agents plus the evaluator sidecar; common services — notably the single OpenRouter client every model call goes through, the ledger and the CSV profiler; and Supabase plus the two external providers. The detailed diagram is in the report, Figure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halves deploy from one repo as two Railway services with their own root directory. The console is a static SPA built by Nixpacks; the orchestrator is a Docker image on python:3.12-slim with a health check. Supabase holds Postgres and the public image bucket; OpenRouter and Resend are external APIs. One replica on purpose: job progress is in process memory, so a second replica would answer half the polls with 'job not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inter-agent protocol. Each agent reads the persisted upstream artifact from the blackboard and writes its own — so re-running one stage never works from a stale copy. On the right is the request protocol for one stage: the API returns a job id immediately, the agent runs on a worker thread and reports named steps, and the console polls until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inside the agents — segmentation, creative and composer, and the Guardian.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is hardcoded to a CSV: the feature schema is inferred per run. Protected columns are held out entirely, then read back to test whether a segment became a proxy for them. HDBSCAN with leaf selection may leave contacts as noise. On the demo list: 1,000 contacts, 6 segments, 25.6% noise, silhouette 0.382, mean membership confidence 0.93, and one flagged segment — Loyal Full-Price Buyers skews 37% on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Creative Direction is a written direction, not an image: six fields, each capped to a phrase. The accent colour is validated as hex and falls back to the brand palette. The Composer's model writes content only, under word caps; code assembles the layout in exactly the builder's EmailBlock[] shape. Any cited offer id that isn't in the catalogue is dropped, and the coupon appears only when an offer is genuinely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emails are dispatched for real, so every check is one that would actually stop an operator pressing send, and each runs against this workspace's own data. Block-severity failures mean the message must never reach an inbox. Revise-severity failures are quality or fairness issues the operator may knowingly ship over. On the demo workspace: five PASS, one REVISE for the age proxy, zero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four: explainable and responsible AI, the security risk register, and MLSecOps / LLMSecOps.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Fairness: protected attributes never enter the feature matrix, and because exclusion alone isn't enough, the proxy test catches segments that correlate with them anyway. The real finding: Loyal Full-Price Buyers skews 37% on age — flagged on the Segments tab and carried into the Guardian as a REVISE, so a person has to own the decision. The report maps each lifecycle stage and the IMDA framework in section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the 14 risks by inherent likelihood and impact, before controls. On the right, what remains after the controls we implemented. We are explicit: the highest residual risk is that the API has no authentication or rate limiting — acceptable for a demonstrator, not beyond it. Prompt injection is mitigated structurally (free text only reaches the model as a small data sample under a strict schema, plus the Guardian's output scan); an input sanitiser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versions are pinned in code and asserted by a contract test, so a silent prompt change fails CI. Job 2 runs adversarial fixtures through the real Guardian code path. We proved the gate works with a negative test: a branch that plants a phone number and email in the clean fixture turns the job red. After deploy, the ledger records prompt and model version per artifact, the evaluator scores the agents on saved outputs, and a regression shows up as a score that moved. Not yet automated: alerting and tracing.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five: testing and evaluation, the demo walkthrough, scalability and 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14 backend tests pass locally and in CI: 6 Guardian corpus tests and 8 contract tests. The end-to-end demo run went from a 1,000-contact CSV to six emails and three live dispatches through Resend. The eval-v1 run scored 88.2 overall. Segmentation is the weakest at 70.8: silhouette 0.382 and 25.6% noise are honest numbers on overlapping synthetic archetypes, and the judge rated segment-name faithfulness lowest at 6.9 out of 15 — our clearest improvement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order: 1) Company Info — load the sample list, show the column profile flags. 2) Segments — generate; point at the z-scored traits and the age-proxy flag. 3) Email Review — open one email in the builder and edit it. 4) Approval Queue — show the checks re-run on the edited blocks, the REVISE on Loyal Full-Price Buyers, then send one PASS email to a confirmed address. Finish on the Logs tab: what I did vs what the agents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Counting calls from the code: segmentation makes one embedding call per 200 contacts plus one LLM call per segment; creative and composer one each per segment; the Guardian none. With k = 6 that's 18 LLM calls whether the list is 1,000 or 200,000 contacts; only embedding calls grow with n. We have not load-tested. Limits today: one replica because of the in-memory job registry, a 20,000-row upload cap, and HDBSCAN on one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moved deliberately from the proposal, all toward a system a person can review quickly and that can send for real. Lessons: schemas plus code-owned layout control models better than prompt wording; keeping the LLM out of the veto made the Guardian cheap, testable and explainable; honest metrics are more useful than flattering ones. Next steps, in priority order,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one-sentence summary and open for questions. Likely questions: why not let the Guardian use an LLM (testability and explainability of the veto); how injection is handled (structural today, sanitiser next); why one replica (in-memory job registry); what the 0.382 silhouette means (overlapping archetypes, kept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MOSAIC_CONTENT-image-2.jpe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OSAIC_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2103120"/>
            <a:ext cx="6583680" cy="1097280"/>
          </a:xfrm>
          <a:prstGeom prst="rect">
            <a:avLst/>
          </a:prstGeom>
          <a:noFill/>
          <a:ln/>
        </p:spPr>
        <p:txBody>
          <a:bodyPr wrap="square" rtlCol="0"/>
          <a:lstStyle>
            <a:lvl1pPr algn="l" indent="0" marL="0">
              <a:buNone/>
              <a:defRPr lang="en-US" sz="6600" b="1" dirty="0">
                <a:solidFill>
                  <a:schemeClr val="bg1"/>
                </a:solidFill>
                <a:latin typeface="Century Gothic" pitchFamily="34" charset="0"/>
                <a:ea typeface="Century Gothic" pitchFamily="34" charset="-122"/>
                <a:cs typeface="Century Gothic" pitchFamily="34" charset="-120"/>
              </a:defRPr>
            </a:lvl1pPr>
          </a:lstStyle>
          <a:p>
            <a:pPr algn="l" indent="0" marL="0">
              <a:buNone/>
            </a:pPr>
            <a:endParaRPr lang="en-US" sz="6600" dirty="0"/>
          </a:p>
        </p:txBody>
      </p:sp>
      <p:sp>
        <p:nvSpPr>
          <p:cNvPr id="3" name="Text 0"/>
          <p:cNvSpPr/>
          <p:nvPr>
            <p:ph idx="101" type="body" hasCustomPrompt="1"/>
          </p:nvPr>
        </p:nvSpPr>
        <p:spPr>
          <a:xfrm>
            <a:off x="685800" y="3291840"/>
            <a:ext cx="4297680" cy="1005840"/>
          </a:xfrm>
          <a:prstGeom prst="rect">
            <a:avLst/>
          </a:prstGeom>
          <a:noFill/>
          <a:ln/>
        </p:spPr>
        <p:txBody>
          <a:bodyPr wrap="square" rtlCol="0"/>
          <a:lstStyle>
            <a:lvl1pPr algn="l" indent="0" marL="0">
              <a:buNone/>
              <a:defRPr lang="en-US" sz="2200" dirty="0">
                <a:solidFill>
                  <a:schemeClr val="bg1"/>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OSAIC_CLOSING">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1600200"/>
            <a:ext cx="5943600" cy="1051560"/>
          </a:xfrm>
          <a:prstGeom prst="rect">
            <a:avLst/>
          </a:prstGeom>
          <a:noFill/>
          <a:ln/>
        </p:spPr>
        <p:txBody>
          <a:bodyPr wrap="square" rtlCol="0"/>
          <a:lstStyle>
            <a:lvl1pPr algn="l" indent="0" marL="0">
              <a:buNone/>
              <a:defRPr lang="en-US" sz="6600" b="1" dirty="0">
                <a:solidFill>
                  <a:schemeClr val="bg1"/>
                </a:solidFill>
                <a:latin typeface="Century Gothic" pitchFamily="34" charset="0"/>
                <a:ea typeface="Century Gothic" pitchFamily="34" charset="-122"/>
                <a:cs typeface="Century Gothic" pitchFamily="34" charset="-120"/>
              </a:defRPr>
            </a:lvl1pPr>
          </a:lstStyle>
          <a:p>
            <a:pPr algn="l" indent="0" marL="0">
              <a:buNone/>
            </a:pPr>
            <a:endParaRPr lang="en-US" sz="6600" dirty="0"/>
          </a:p>
        </p:txBody>
      </p:sp>
      <p:sp>
        <p:nvSpPr>
          <p:cNvPr id="3" name="Text 0"/>
          <p:cNvSpPr/>
          <p:nvPr>
            <p:ph idx="101" type="body" hasCustomPrompt="1"/>
          </p:nvPr>
        </p:nvSpPr>
        <p:spPr>
          <a:xfrm>
            <a:off x="685800" y="2697480"/>
            <a:ext cx="4572000" cy="502920"/>
          </a:xfrm>
          <a:prstGeom prst="rect">
            <a:avLst/>
          </a:prstGeom>
          <a:noFill/>
          <a:ln/>
        </p:spPr>
        <p:txBody>
          <a:bodyPr wrap="square" rtlCol="0"/>
          <a:lstStyle>
            <a:lvl1pPr algn="l" indent="0" marL="0">
              <a:buNone/>
              <a:defRPr lang="en-US" sz="2400" dirty="0">
                <a:solidFill>
                  <a:schemeClr val="bg1"/>
                </a:solidFill>
              </a:defRPr>
            </a:lvl1pPr>
          </a:lstStyle>
          <a:p>
            <a:pPr algn="l" indent="0" marL="0">
              <a:buNone/>
            </a:pPr>
            <a:endParaRPr lang="en-US" sz="2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OSAIC_SECTION">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2788920"/>
            <a:ext cx="6217920" cy="868680"/>
          </a:xfrm>
          <a:prstGeom prst="rect">
            <a:avLst/>
          </a:prstGeom>
          <a:noFill/>
          <a:ln/>
        </p:spPr>
        <p:txBody>
          <a:bodyPr wrap="square" rtlCol="0"/>
          <a:lstStyle>
            <a:lvl1pPr algn="l" indent="0" marL="0">
              <a:buNone/>
              <a:defRPr lang="en-US" sz="4400" b="1" dirty="0">
                <a:solidFill>
                  <a:schemeClr val="bg1"/>
                </a:solidFill>
                <a:latin typeface="Century Gothic" pitchFamily="34" charset="0"/>
                <a:ea typeface="Century Gothic" pitchFamily="34" charset="-122"/>
                <a:cs typeface="Century Gothic" pitchFamily="34" charset="-120"/>
              </a:defRPr>
            </a:lvl1pPr>
          </a:lstStyle>
          <a:p>
            <a:pPr algn="l" indent="0" marL="0">
              <a:buNone/>
            </a:pPr>
            <a:endParaRPr lang="en-US" sz="4400" dirty="0"/>
          </a:p>
        </p:txBody>
      </p:sp>
      <p:sp>
        <p:nvSpPr>
          <p:cNvPr id="3" name="Text 0"/>
          <p:cNvSpPr/>
          <p:nvPr>
            <p:ph idx="101" type="body" hasCustomPrompt="1"/>
          </p:nvPr>
        </p:nvSpPr>
        <p:spPr>
          <a:xfrm>
            <a:off x="685800" y="3794760"/>
            <a:ext cx="4572000" cy="109728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MOSAIC_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241280" cy="640080"/>
          </a:xfrm>
          <a:prstGeom prst="rect">
            <a:avLst/>
          </a:prstGeom>
          <a:noFill/>
          <a:ln/>
        </p:spPr>
        <p:txBody>
          <a:bodyPr wrap="square" rtlCol="0"/>
          <a:lstStyle>
            <a:lvl1pPr algn="l" indent="0" marL="0">
              <a:buNone/>
              <a:defRPr lang="en-US" sz="2800" b="1" dirty="0">
                <a:solidFill>
                  <a:schemeClr val="bg1"/>
                </a:solidFill>
                <a:latin typeface="Century Gothic" pitchFamily="34" charset="0"/>
                <a:ea typeface="Century Gothic" pitchFamily="34" charset="-122"/>
                <a:cs typeface="Century Gothic" pitchFamily="34" charset="-120"/>
              </a:defRPr>
            </a:lvl1pPr>
          </a:lstStyle>
          <a:p>
            <a:pPr algn="l" indent="0" marL="0">
              <a:buNone/>
            </a:pPr>
            <a:endParaRPr lang="en-US" sz="2800" dirty="0"/>
          </a:p>
        </p:txBody>
      </p:sp>
      <p:pic>
        <p:nvPicPr>
          <p:cNvPr id="3" name="Image 0" descr="C:\Users\himat\AppData\Local\Temp\claude\c--Ai-stuffs-MOSAIC\b3ecbbac-d885-4fec-a9f8-3496f8d06c96\scratchpad\build\mark.png">    </p:cNvPr>
          <p:cNvPicPr>
            <a:picLocks noChangeAspect="1"/>
          </p:cNvPicPr>
          <p:nvPr/>
        </p:nvPicPr>
        <p:blipFill>
          <a:blip r:embed="rId1"/>
          <a:stretch>
            <a:fillRect/>
          </a:stretch>
        </p:blipFill>
        <p:spPr>
          <a:xfrm>
            <a:off x="11155680" y="429768"/>
            <a:ext cx="484632" cy="420624"/>
          </a:xfrm>
          <a:prstGeom prst="rect">
            <a:avLst/>
          </a:prstGeom>
        </p:spPr>
      </p:pic>
      <p:sp>
        <p:nvSpPr>
          <p:cNvPr id="4" name="Text 0"/>
          <p:cNvSpPr/>
          <p:nvPr/>
        </p:nvSpPr>
        <p:spPr>
          <a:xfrm>
            <a:off x="548640" y="6437376"/>
            <a:ext cx="5486400" cy="256032"/>
          </a:xfrm>
          <a:prstGeom prst="rect">
            <a:avLst/>
          </a:prstGeom>
          <a:noFill/>
          <a:ln/>
        </p:spPr>
        <p:txBody>
          <a:bodyPr wrap="square" lIns="0" tIns="0" rIns="0" bIns="0" rtlCol="0" anchor="ctr"/>
          <a:lstStyle/>
          <a:p>
            <a:pPr indent="0" marL="0">
              <a:buNone/>
            </a:pPr>
            <a:r>
              <a:rPr lang="en-US" sz="1000" dirty="0">
                <a:solidFill>
                  <a:schemeClr val="bg2"/>
                </a:solidFill>
              </a:rPr>
              <a:t>MOSAIC · Team 13 · SWE5008 Practice Module</a:t>
            </a:r>
            <a:endParaRPr lang="en-US" sz="1000" dirty="0"/>
          </a:p>
        </p:txBody>
      </p:sp>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5.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5.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5.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5.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5.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5.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5.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slideLayout" Target="../slideLayouts/slideLayout5.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jpg"/><Relationship Id="rId4" Type="http://schemas.openxmlformats.org/officeDocument/2006/relationships/slideLayout" Target="../slideLayouts/slideLayout5.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5.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jpg"/><Relationship Id="rId7" Type="http://schemas.openxmlformats.org/officeDocument/2006/relationships/slideLayout" Target="../slideLayouts/slideLayout5.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5.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5.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image" Target="../media/image-22-3.jpg"/><Relationship Id="rId4" Type="http://schemas.openxmlformats.org/officeDocument/2006/relationships/image" Target="../media/image-22-4.jpg"/><Relationship Id="rId5" Type="http://schemas.openxmlformats.org/officeDocument/2006/relationships/slideLayout" Target="../slideLayouts/slideLayout5.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5.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slideLayout" Target="../slideLayouts/slideLayout3.xml"/><Relationship Id="rId4"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logo-mark" descr="C:\Users\himat\AppData\Local\Temp\claude\c--Ai-stuffs-MOSAIC\b3ecbbac-d885-4fec-a9f8-3496f8d06c96\scratchpad\build\mark.png">    </p:cNvPr>
          <p:cNvPicPr>
            <a:picLocks noChangeAspect="1"/>
          </p:cNvPicPr>
          <p:nvPr/>
        </p:nvPicPr>
        <p:blipFill>
          <a:blip r:embed="rId2"/>
          <a:stretch>
            <a:fillRect/>
          </a:stretch>
        </p:blipFill>
        <p:spPr>
          <a:xfrm>
            <a:off x="685800" y="685800"/>
            <a:ext cx="950976" cy="822960"/>
          </a:xfrm>
          <a:prstGeom prst="rect">
            <a:avLst/>
          </a:prstGeom>
        </p:spPr>
      </p:pic>
      <p:sp>
        <p:nvSpPr>
          <p:cNvPr id="3" name="Text 0"/>
          <p:cNvSpPr/>
          <p:nvPr>
            <p:ph idx="100" type="title" hasCustomPrompt="1"/>
          </p:nvPr>
        </p:nvSpPr>
        <p:spPr>
          <a:xfrm>
            <a:off x="685800" y="2103120"/>
            <a:ext cx="6583680" cy="1097280"/>
          </a:xfrm>
          <a:prstGeom prst="rect">
            <a:avLst/>
          </a:prstGeom>
          <a:noFill/>
          <a:ln/>
        </p:spPr>
        <p:txBody>
          <a:bodyPr wrap="square" lIns="0" tIns="0" rIns="0" bIns="0" rtlCol="0" anchor="t"/>
          <a:lstStyle/>
          <a:p>
            <a:pPr algn="l" indent="0" marL="0">
              <a:buNone/>
            </a:pPr>
            <a:r>
              <a:rPr lang="en-US" sz="6600" b="1" dirty="0">
                <a:solidFill>
                  <a:schemeClr val="bg1"/>
                </a:solidFill>
                <a:latin typeface="Century Gothic" pitchFamily="34" charset="0"/>
                <a:ea typeface="Century Gothic" pitchFamily="34" charset="-122"/>
                <a:cs typeface="Century Gothic" pitchFamily="34" charset="-120"/>
              </a:rPr>
              <a:t>MOSAIC</a:t>
            </a:r>
            <a:endParaRPr lang="en-US" sz="6600" dirty="0"/>
          </a:p>
        </p:txBody>
      </p:sp>
      <p:sp>
        <p:nvSpPr>
          <p:cNvPr id="4" name="Text 0"/>
          <p:cNvSpPr/>
          <p:nvPr>
            <p:ph idx="101" type="body" hasCustomPrompt="1"/>
          </p:nvPr>
        </p:nvSpPr>
        <p:spPr>
          <a:xfrm>
            <a:off x="685800" y="3291840"/>
            <a:ext cx="4297680" cy="1005840"/>
          </a:xfrm>
          <a:prstGeom prst="rect">
            <a:avLst/>
          </a:prstGeom>
          <a:noFill/>
          <a:ln/>
        </p:spPr>
        <p:txBody>
          <a:bodyPr wrap="square" lIns="0" tIns="0" rIns="0" bIns="0" rtlCol="0" anchor="t"/>
          <a:lstStyle/>
          <a:p>
            <a:pPr algn="l" indent="0" marL="0">
              <a:buNone/>
            </a:pPr>
            <a:r>
              <a:rPr lang="en-US" sz="2200" dirty="0">
                <a:solidFill>
                  <a:schemeClr val="bg1"/>
                </a:solidFill>
              </a:rPr>
              <a:t>A multi-agent system for hyper-personalised email marketing</a:t>
            </a:r>
            <a:endParaRPr lang="en-US" sz="2200" dirty="0"/>
          </a:p>
        </p:txBody>
      </p:sp>
      <p:sp>
        <p:nvSpPr>
          <p:cNvPr id="5" name="tile-1"/>
          <p:cNvSpPr/>
          <p:nvPr/>
        </p:nvSpPr>
        <p:spPr>
          <a:xfrm>
            <a:off x="685800" y="4526280"/>
            <a:ext cx="182880" cy="182880"/>
          </a:xfrm>
          <a:prstGeom prst="roundRect">
            <a:avLst>
              <a:gd name="adj" fmla="val 20000"/>
            </a:avLst>
          </a:prstGeom>
          <a:solidFill>
            <a:schemeClr val="accent6"/>
          </a:solidFill>
          <a:ln/>
        </p:spPr>
      </p:sp>
      <p:sp>
        <p:nvSpPr>
          <p:cNvPr id="6" name="tile-2"/>
          <p:cNvSpPr/>
          <p:nvPr/>
        </p:nvSpPr>
        <p:spPr>
          <a:xfrm>
            <a:off x="941832" y="4526280"/>
            <a:ext cx="182880" cy="182880"/>
          </a:xfrm>
          <a:prstGeom prst="roundRect">
            <a:avLst>
              <a:gd name="adj" fmla="val 20000"/>
            </a:avLst>
          </a:prstGeom>
          <a:solidFill>
            <a:schemeClr val="accent3"/>
          </a:solidFill>
          <a:ln/>
        </p:spPr>
      </p:sp>
      <p:sp>
        <p:nvSpPr>
          <p:cNvPr id="7" name="tile-3"/>
          <p:cNvSpPr/>
          <p:nvPr/>
        </p:nvSpPr>
        <p:spPr>
          <a:xfrm>
            <a:off x="1197864" y="4526280"/>
            <a:ext cx="182880" cy="182880"/>
          </a:xfrm>
          <a:prstGeom prst="roundRect">
            <a:avLst>
              <a:gd name="adj" fmla="val 20000"/>
            </a:avLst>
          </a:prstGeom>
          <a:solidFill>
            <a:schemeClr val="accent2"/>
          </a:solidFill>
          <a:ln/>
        </p:spPr>
      </p:sp>
      <p:sp>
        <p:nvSpPr>
          <p:cNvPr id="8" name="tile-4"/>
          <p:cNvSpPr/>
          <p:nvPr/>
        </p:nvSpPr>
        <p:spPr>
          <a:xfrm>
            <a:off x="1453896" y="4526280"/>
            <a:ext cx="182880" cy="182880"/>
          </a:xfrm>
          <a:prstGeom prst="roundRect">
            <a:avLst>
              <a:gd name="adj" fmla="val 20000"/>
            </a:avLst>
          </a:prstGeom>
          <a:solidFill>
            <a:schemeClr val="accent5"/>
          </a:solidFill>
          <a:ln/>
        </p:spPr>
      </p:sp>
      <p:sp>
        <p:nvSpPr>
          <p:cNvPr id="9" name="tile-5"/>
          <p:cNvSpPr/>
          <p:nvPr/>
        </p:nvSpPr>
        <p:spPr>
          <a:xfrm>
            <a:off x="1709928" y="4526280"/>
            <a:ext cx="182880" cy="182880"/>
          </a:xfrm>
          <a:prstGeom prst="roundRect">
            <a:avLst>
              <a:gd name="adj" fmla="val 20000"/>
            </a:avLst>
          </a:prstGeom>
          <a:solidFill>
            <a:schemeClr val="accent4"/>
          </a:solidFill>
          <a:ln/>
        </p:spPr>
      </p:sp>
      <p:sp>
        <p:nvSpPr>
          <p:cNvPr id="10" name="tile-6"/>
          <p:cNvSpPr/>
          <p:nvPr/>
        </p:nvSpPr>
        <p:spPr>
          <a:xfrm>
            <a:off x="1965960" y="4526280"/>
            <a:ext cx="182880" cy="182880"/>
          </a:xfrm>
          <a:prstGeom prst="roundRect">
            <a:avLst>
              <a:gd name="adj" fmla="val 20000"/>
            </a:avLst>
          </a:prstGeom>
          <a:solidFill>
            <a:schemeClr val="accent1"/>
          </a:solidFill>
          <a:ln/>
        </p:spPr>
      </p:sp>
      <p:sp>
        <p:nvSpPr>
          <p:cNvPr id="11" name="text-7"/>
          <p:cNvSpPr txBox="1"/>
          <p:nvPr/>
        </p:nvSpPr>
        <p:spPr>
          <a:xfrm>
            <a:off x="685800" y="5029200"/>
            <a:ext cx="6949440" cy="731520"/>
          </a:xfrm>
          <a:prstGeom prst="rect">
            <a:avLst/>
          </a:prstGeom>
          <a:noFill/>
          <a:ln/>
        </p:spPr>
        <p:txBody>
          <a:bodyPr wrap="square" lIns="0" tIns="0" rIns="0" bIns="0" rtlCol="0" anchor="t"/>
          <a:lstStyle/>
          <a:p>
            <a:pPr indent="0" marL="0">
              <a:spcAft>
                <a:spcPts val="400"/>
              </a:spcAft>
              <a:buNone/>
            </a:pPr>
            <a:r>
              <a:rPr lang="en-US" sz="1500" b="1" dirty="0">
                <a:solidFill>
                  <a:schemeClr val="bg1"/>
                </a:solidFill>
              </a:rPr>
              <a:t>Team 13 · Ong Qing Quan · Agustinus Benyamin Prasetyo</a:t>
            </a:r>
            <a:endParaRPr lang="en-US" sz="1400" dirty="0"/>
          </a:p>
          <a:p>
            <a:pPr indent="0" marL="0">
              <a:spcAft>
                <a:spcPts val="400"/>
              </a:spcAft>
              <a:buNone/>
            </a:pPr>
            <a:r>
              <a:rPr lang="en-US" sz="1300" dirty="0">
                <a:solidFill>
                  <a:schemeClr val="bg2"/>
                </a:solidFill>
              </a:rPr>
              <a:t>NUS-ISS Graduate Certificate in Architecting AI Systems · SWE5008 Practice Module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241280" cy="640080"/>
          </a:xfrm>
          <a:prstGeom prst="rect">
            <a:avLst/>
          </a:prstGeom>
          <a:noFill/>
          <a:ln/>
        </p:spPr>
        <p:txBody>
          <a:bodyPr wrap="square" lIns="0" tIns="0" rIns="0" bIns="0" rtlCol="0" anchor="ctr"/>
          <a:lstStyle/>
          <a:p>
            <a:pPr algn="l" indent="0" marL="0">
              <a:buNone/>
            </a:pPr>
            <a:r>
              <a:rPr lang="en-US" sz="2800" b="1" dirty="0">
                <a:solidFill>
                  <a:schemeClr val="bg1"/>
                </a:solidFill>
                <a:latin typeface="Century Gothic" pitchFamily="34" charset="0"/>
                <a:ea typeface="Century Gothic" pitchFamily="34" charset="-122"/>
                <a:cs typeface="Century Gothic" pitchFamily="34" charset="-120"/>
              </a:rPr>
              <a:t>Campaigns stall at four variants</a:t>
            </a:r>
            <a:endParaRPr lang="en-US" sz="2800" dirty="0"/>
          </a:p>
        </p:txBody>
      </p:sp>
      <p:sp>
        <p:nvSpPr>
          <p:cNvPr id="3" name="text-8"/>
          <p:cNvSpPr txBox="1"/>
          <p:nvPr/>
        </p:nvSpPr>
        <p:spPr>
          <a:xfrm>
            <a:off x="548640" y="1005840"/>
            <a:ext cx="10424160" cy="384048"/>
          </a:xfrm>
          <a:prstGeom prst="rect">
            <a:avLst/>
          </a:prstGeom>
          <a:noFill/>
          <a:ln/>
        </p:spPr>
        <p:txBody>
          <a:bodyPr wrap="square" lIns="0" tIns="0" rIns="0" bIns="0" rtlCol="0" anchor="t"/>
          <a:lstStyle/>
          <a:p>
            <a:pPr indent="0" marL="0">
              <a:buNone/>
            </a:pPr>
            <a:r>
              <a:rPr lang="en-US" sz="1600" dirty="0">
                <a:solidFill>
                  <a:schemeClr val="bg2"/>
                </a:solidFill>
              </a:rPr>
              <a:t>The limit is cost, not preference — every extra variant costs about what the first one did.</a:t>
            </a:r>
            <a:endParaRPr lang="en-US" sz="1600" dirty="0"/>
          </a:p>
        </p:txBody>
      </p:sp>
      <p:sp>
        <p:nvSpPr>
          <p:cNvPr id="5" name="glass-9"/>
          <p:cNvSpPr/>
          <p:nvPr/>
        </p:nvSpPr>
        <p:spPr>
          <a:xfrm>
            <a:off x="548640" y="1600200"/>
            <a:ext cx="4526280" cy="4526280"/>
          </a:xfrm>
          <a:prstGeom prst="roundRect">
            <a:avLst>
              <a:gd name="adj" fmla="val 3636"/>
            </a:avLst>
          </a:prstGeom>
          <a:solidFill>
            <a:schemeClr val="tx2">
              <a:alpha val="78000"/>
            </a:schemeClr>
          </a:solidFill>
          <a:ln w="9525">
            <a:solidFill>
              <a:schemeClr val="bg2">
                <a:alpha val="22000"/>
              </a:schemeClr>
            </a:solidFill>
            <a:prstDash val="solid"/>
          </a:ln>
        </p:spPr>
      </p:sp>
      <p:pic>
        <p:nvPicPr>
          <p:cNvPr id="6" name="problem-illustration" descr="C:\Users\himat\AppData\Local\Temp\claude\c--Ai-stuffs-MOSAIC\b3ecbbac-d885-4fec-a9f8-3496f8d06c96\scratchpad\build\assets\ill-problem.jpg">    </p:cNvPr>
          <p:cNvPicPr>
            <a:picLocks noChangeAspect="1"/>
          </p:cNvPicPr>
          <p:nvPr/>
        </p:nvPicPr>
        <p:blipFill>
          <a:blip r:embed="rId1"/>
          <a:stretch>
            <a:fillRect/>
          </a:stretch>
        </p:blipFill>
        <p:spPr>
          <a:xfrm>
            <a:off x="658368" y="1709928"/>
            <a:ext cx="4306824" cy="4306824"/>
          </a:xfrm>
          <a:prstGeom prst="rect">
            <a:avLst/>
          </a:prstGeom>
        </p:spPr>
      </p:pic>
      <p:sp>
        <p:nvSpPr>
          <p:cNvPr id="7" name="glass-10"/>
          <p:cNvSpPr/>
          <p:nvPr/>
        </p:nvSpPr>
        <p:spPr>
          <a:xfrm>
            <a:off x="5394960" y="1600200"/>
            <a:ext cx="6245352" cy="1371600"/>
          </a:xfrm>
          <a:prstGeom prst="roundRect">
            <a:avLst>
              <a:gd name="adj" fmla="val 9333"/>
            </a:avLst>
          </a:prstGeom>
          <a:solidFill>
            <a:schemeClr val="tx2">
              <a:alpha val="78000"/>
            </a:schemeClr>
          </a:solidFill>
          <a:ln w="9525">
            <a:solidFill>
              <a:schemeClr val="bg2">
                <a:alpha val="22000"/>
              </a:schemeClr>
            </a:solidFill>
            <a:prstDash val="solid"/>
          </a:ln>
        </p:spPr>
      </p:sp>
      <p:sp>
        <p:nvSpPr>
          <p:cNvPr id="8" name="text-11"/>
          <p:cNvSpPr txBox="1"/>
          <p:nvPr/>
        </p:nvSpPr>
        <p:spPr>
          <a:xfrm>
            <a:off x="5623560" y="1709928"/>
            <a:ext cx="1828800" cy="1143000"/>
          </a:xfrm>
          <a:prstGeom prst="rect">
            <a:avLst/>
          </a:prstGeom>
          <a:noFill/>
          <a:ln/>
        </p:spPr>
        <p:txBody>
          <a:bodyPr wrap="square" lIns="0" tIns="0" rIns="0" bIns="0" rtlCol="0" anchor="ctr"/>
          <a:lstStyle/>
          <a:p>
            <a:pPr indent="0" marL="0">
              <a:buNone/>
            </a:pPr>
            <a:r>
              <a:rPr lang="en-US" sz="4400" b="1" dirty="0">
                <a:solidFill>
                  <a:schemeClr val="accent6"/>
                </a:solidFill>
                <a:latin typeface="Century Gothic" pitchFamily="34" charset="0"/>
                <a:ea typeface="Century Gothic" pitchFamily="34" charset="-122"/>
                <a:cs typeface="Century Gothic" pitchFamily="34" charset="-120"/>
              </a:rPr>
              <a:t>3–4</a:t>
            </a:r>
            <a:endParaRPr lang="en-US" sz="4400" dirty="0"/>
          </a:p>
        </p:txBody>
      </p:sp>
      <p:sp>
        <p:nvSpPr>
          <p:cNvPr id="9" name="text-12"/>
          <p:cNvSpPr txBox="1"/>
          <p:nvPr/>
        </p:nvSpPr>
        <p:spPr>
          <a:xfrm>
            <a:off x="7543800" y="1783080"/>
            <a:ext cx="3931920" cy="329184"/>
          </a:xfrm>
          <a:prstGeom prst="rect">
            <a:avLst/>
          </a:prstGeom>
          <a:noFill/>
          <a:ln/>
        </p:spPr>
        <p:txBody>
          <a:bodyPr wrap="square" lIns="0" tIns="0" rIns="0" bIns="0" rtlCol="0" anchor="t"/>
          <a:lstStyle/>
          <a:p>
            <a:pPr indent="0" marL="0">
              <a:buNone/>
            </a:pPr>
            <a:r>
              <a:rPr lang="en-US" sz="1600" b="1" dirty="0">
                <a:solidFill>
                  <a:schemeClr val="bg1"/>
                </a:solidFill>
              </a:rPr>
              <a:t>creative variants per campaign</a:t>
            </a:r>
            <a:endParaRPr lang="en-US" sz="1600" dirty="0"/>
          </a:p>
        </p:txBody>
      </p:sp>
      <p:sp>
        <p:nvSpPr>
          <p:cNvPr id="10" name="text-13"/>
          <p:cNvSpPr txBox="1"/>
          <p:nvPr/>
        </p:nvSpPr>
        <p:spPr>
          <a:xfrm>
            <a:off x="7543800" y="2148840"/>
            <a:ext cx="3931920" cy="731520"/>
          </a:xfrm>
          <a:prstGeom prst="rect">
            <a:avLst/>
          </a:prstGeom>
          <a:noFill/>
          <a:ln/>
        </p:spPr>
        <p:txBody>
          <a:bodyPr wrap="square" lIns="0" tIns="0" rIns="0" bIns="0" rtlCol="0" anchor="t"/>
          <a:lstStyle/>
          <a:p>
            <a:pPr indent="0" marL="0">
              <a:buNone/>
            </a:pPr>
            <a:r>
              <a:rPr lang="en-US" sz="1300" dirty="0">
                <a:solidFill>
                  <a:schemeClr val="bg2"/>
                </a:solidFill>
              </a:rPr>
              <a:t>Each needs a brief, design pass, copy pass, render test and QA sign-off — the fifth costs what the first did.</a:t>
            </a:r>
            <a:endParaRPr lang="en-US" sz="1300" dirty="0"/>
          </a:p>
        </p:txBody>
      </p:sp>
      <p:sp>
        <p:nvSpPr>
          <p:cNvPr id="11" name="glass-14"/>
          <p:cNvSpPr/>
          <p:nvPr/>
        </p:nvSpPr>
        <p:spPr>
          <a:xfrm>
            <a:off x="5394960" y="3154680"/>
            <a:ext cx="6245352" cy="1371600"/>
          </a:xfrm>
          <a:prstGeom prst="roundRect">
            <a:avLst>
              <a:gd name="adj" fmla="val 9333"/>
            </a:avLst>
          </a:prstGeom>
          <a:solidFill>
            <a:schemeClr val="tx2">
              <a:alpha val="78000"/>
            </a:schemeClr>
          </a:solidFill>
          <a:ln w="9525">
            <a:solidFill>
              <a:schemeClr val="bg2">
                <a:alpha val="22000"/>
              </a:schemeClr>
            </a:solidFill>
            <a:prstDash val="solid"/>
          </a:ln>
        </p:spPr>
      </p:sp>
      <p:sp>
        <p:nvSpPr>
          <p:cNvPr id="12" name="text-15"/>
          <p:cNvSpPr txBox="1"/>
          <p:nvPr/>
        </p:nvSpPr>
        <p:spPr>
          <a:xfrm>
            <a:off x="5623560" y="3264408"/>
            <a:ext cx="1828800" cy="1143000"/>
          </a:xfrm>
          <a:prstGeom prst="rect">
            <a:avLst/>
          </a:prstGeom>
          <a:noFill/>
          <a:ln/>
        </p:spPr>
        <p:txBody>
          <a:bodyPr wrap="square" lIns="0" tIns="0" rIns="0" bIns="0" rtlCol="0" anchor="ctr"/>
          <a:lstStyle/>
          <a:p>
            <a:pPr indent="0" marL="0">
              <a:buNone/>
            </a:pPr>
            <a:r>
              <a:rPr lang="en-US" sz="4400" b="1" dirty="0">
                <a:solidFill>
                  <a:schemeClr val="accent3"/>
                </a:solidFill>
                <a:latin typeface="Century Gothic" pitchFamily="34" charset="0"/>
                <a:ea typeface="Century Gothic" pitchFamily="34" charset="-122"/>
                <a:cs typeface="Century Gothic" pitchFamily="34" charset="-120"/>
              </a:rPr>
              <a:t>200k</a:t>
            </a:r>
            <a:endParaRPr lang="en-US" sz="4400" dirty="0"/>
          </a:p>
        </p:txBody>
      </p:sp>
      <p:sp>
        <p:nvSpPr>
          <p:cNvPr id="13" name="text-16"/>
          <p:cNvSpPr txBox="1"/>
          <p:nvPr/>
        </p:nvSpPr>
        <p:spPr>
          <a:xfrm>
            <a:off x="7543800" y="3337560"/>
            <a:ext cx="3931920" cy="329184"/>
          </a:xfrm>
          <a:prstGeom prst="rect">
            <a:avLst/>
          </a:prstGeom>
          <a:noFill/>
          <a:ln/>
        </p:spPr>
        <p:txBody>
          <a:bodyPr wrap="square" lIns="0" tIns="0" rIns="0" bIns="0" rtlCol="0" anchor="t"/>
          <a:lstStyle/>
          <a:p>
            <a:pPr indent="0" marL="0">
              <a:buNone/>
            </a:pPr>
            <a:r>
              <a:rPr lang="en-US" sz="1600" b="1" dirty="0">
                <a:solidFill>
                  <a:schemeClr val="bg1"/>
                </a:solidFill>
              </a:rPr>
              <a:t>contacts in four coarse buckets</a:t>
            </a:r>
            <a:endParaRPr lang="en-US" sz="1600" dirty="0"/>
          </a:p>
        </p:txBody>
      </p:sp>
      <p:sp>
        <p:nvSpPr>
          <p:cNvPr id="14" name="text-17"/>
          <p:cNvSpPr txBox="1"/>
          <p:nvPr/>
        </p:nvSpPr>
        <p:spPr>
          <a:xfrm>
            <a:off x="7543800" y="3703320"/>
            <a:ext cx="3931920" cy="731520"/>
          </a:xfrm>
          <a:prstGeom prst="rect">
            <a:avLst/>
          </a:prstGeom>
          <a:noFill/>
          <a:ln/>
        </p:spPr>
        <p:txBody>
          <a:bodyPr wrap="square" lIns="0" tIns="0" rIns="0" bIns="0" rtlCol="0" anchor="t"/>
          <a:lstStyle/>
          <a:p>
            <a:pPr indent="0" marL="0">
              <a:buNone/>
            </a:pPr>
            <a:r>
              <a:rPr lang="en-US" sz="1300" dirty="0">
                <a:solidFill>
                  <a:schemeClr val="bg2"/>
                </a:solidFill>
              </a:rPr>
              <a:t>A durability buyer and a discount hunter both land in “high value”. The email speaks to neither.</a:t>
            </a:r>
            <a:endParaRPr lang="en-US" sz="1300" dirty="0"/>
          </a:p>
        </p:txBody>
      </p:sp>
      <p:sp>
        <p:nvSpPr>
          <p:cNvPr id="15" name="glass-18"/>
          <p:cNvSpPr/>
          <p:nvPr/>
        </p:nvSpPr>
        <p:spPr>
          <a:xfrm>
            <a:off x="5394960" y="4709160"/>
            <a:ext cx="6245352" cy="1371600"/>
          </a:xfrm>
          <a:prstGeom prst="roundRect">
            <a:avLst>
              <a:gd name="adj" fmla="val 9333"/>
            </a:avLst>
          </a:prstGeom>
          <a:solidFill>
            <a:schemeClr val="tx2">
              <a:alpha val="78000"/>
            </a:schemeClr>
          </a:solidFill>
          <a:ln w="9525">
            <a:solidFill>
              <a:schemeClr val="bg2">
                <a:alpha val="22000"/>
              </a:schemeClr>
            </a:solidFill>
            <a:prstDash val="solid"/>
          </a:ln>
        </p:spPr>
      </p:sp>
      <p:sp>
        <p:nvSpPr>
          <p:cNvPr id="16" name="text-19"/>
          <p:cNvSpPr txBox="1"/>
          <p:nvPr/>
        </p:nvSpPr>
        <p:spPr>
          <a:xfrm>
            <a:off x="5623560" y="4818888"/>
            <a:ext cx="1828800" cy="1143000"/>
          </a:xfrm>
          <a:prstGeom prst="rect">
            <a:avLst/>
          </a:prstGeom>
          <a:noFill/>
          <a:ln/>
        </p:spPr>
        <p:txBody>
          <a:bodyPr wrap="square" lIns="0" tIns="0" rIns="0" bIns="0" rtlCol="0" anchor="ctr"/>
          <a:lstStyle/>
          <a:p>
            <a:pPr indent="0" marL="0">
              <a:buNone/>
            </a:pPr>
            <a:r>
              <a:rPr lang="en-US" sz="4400" b="1" dirty="0">
                <a:solidFill>
                  <a:schemeClr val="accent4"/>
                </a:solidFill>
                <a:latin typeface="Century Gothic" pitchFamily="34" charset="0"/>
                <a:ea typeface="Century Gothic" pitchFamily="34" charset="-122"/>
                <a:cs typeface="Century Gothic" pitchFamily="34" charset="-120"/>
              </a:rPr>
              <a:t>1</a:t>
            </a:r>
            <a:endParaRPr lang="en-US" sz="4400" dirty="0"/>
          </a:p>
        </p:txBody>
      </p:sp>
      <p:sp>
        <p:nvSpPr>
          <p:cNvPr id="17" name="text-20"/>
          <p:cNvSpPr txBox="1"/>
          <p:nvPr/>
        </p:nvSpPr>
        <p:spPr>
          <a:xfrm>
            <a:off x="7543800" y="4892040"/>
            <a:ext cx="3931920" cy="329184"/>
          </a:xfrm>
          <a:prstGeom prst="rect">
            <a:avLst/>
          </a:prstGeom>
          <a:noFill/>
          <a:ln/>
        </p:spPr>
        <p:txBody>
          <a:bodyPr wrap="square" lIns="0" tIns="0" rIns="0" bIns="0" rtlCol="0" anchor="t"/>
          <a:lstStyle/>
          <a:p>
            <a:pPr indent="0" marL="0">
              <a:buNone/>
            </a:pPr>
            <a:r>
              <a:rPr lang="en-US" sz="1600" b="1" dirty="0">
                <a:solidFill>
                  <a:schemeClr val="bg1"/>
                </a:solidFill>
              </a:rPr>
              <a:t>merge tag counted as personalisation</a:t>
            </a:r>
            <a:endParaRPr lang="en-US" sz="1600" dirty="0"/>
          </a:p>
        </p:txBody>
      </p:sp>
      <p:sp>
        <p:nvSpPr>
          <p:cNvPr id="18" name="text-21"/>
          <p:cNvSpPr txBox="1"/>
          <p:nvPr/>
        </p:nvSpPr>
        <p:spPr>
          <a:xfrm>
            <a:off x="7543800" y="5257800"/>
            <a:ext cx="3931920" cy="731520"/>
          </a:xfrm>
          <a:prstGeom prst="rect">
            <a:avLst/>
          </a:prstGeom>
          <a:noFill/>
          <a:ln/>
        </p:spPr>
        <p:txBody>
          <a:bodyPr wrap="square" lIns="0" tIns="0" rIns="0" bIns="0" rtlCol="0" anchor="t"/>
          <a:lstStyle/>
          <a:p>
            <a:pPr indent="0" marL="0">
              <a:buNone/>
            </a:pPr>
            <a:r>
              <a:rPr lang="en-US" sz="1300" dirty="0">
                <a:solidFill>
                  <a:schemeClr val="bg2"/>
                </a:solidFill>
              </a:rPr>
              <a:t>Dropping a first name into a fixed sentence is usually as far as it goes.</a:t>
            </a:r>
            <a:endParaRPr lang="en-US" sz="1300" dirty="0"/>
          </a:p>
        </p:txBody>
      </p:sp>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241280" cy="640080"/>
          </a:xfrm>
          <a:prstGeom prst="rect">
            <a:avLst/>
          </a:prstGeom>
          <a:noFill/>
          <a:ln/>
        </p:spPr>
        <p:txBody>
          <a:bodyPr wrap="square" lIns="0" tIns="0" rIns="0" bIns="0" rtlCol="0" anchor="ctr"/>
          <a:lstStyle/>
          <a:p>
            <a:pPr algn="l" indent="0" marL="0">
              <a:buNone/>
            </a:pPr>
            <a:r>
              <a:rPr lang="en-US" sz="2800" b="1" dirty="0">
                <a:solidFill>
                  <a:schemeClr val="bg1"/>
                </a:solidFill>
                <a:latin typeface="Century Gothic" pitchFamily="34" charset="0"/>
                <a:ea typeface="Century Gothic" pitchFamily="34" charset="-122"/>
                <a:cs typeface="Century Gothic" pitchFamily="34" charset="-120"/>
              </a:rPr>
              <a:t>Why four agents, not one prompt</a:t>
            </a:r>
            <a:endParaRPr lang="en-US" sz="2800" dirty="0"/>
          </a:p>
        </p:txBody>
      </p:sp>
      <p:sp>
        <p:nvSpPr>
          <p:cNvPr id="3" name="text-22"/>
          <p:cNvSpPr txBox="1"/>
          <p:nvPr/>
        </p:nvSpPr>
        <p:spPr>
          <a:xfrm>
            <a:off x="548640" y="1005840"/>
            <a:ext cx="10424160" cy="384048"/>
          </a:xfrm>
          <a:prstGeom prst="rect">
            <a:avLst/>
          </a:prstGeom>
          <a:noFill/>
          <a:ln/>
        </p:spPr>
        <p:txBody>
          <a:bodyPr wrap="square" lIns="0" tIns="0" rIns="0" bIns="0" rtlCol="0" anchor="t"/>
          <a:lstStyle/>
          <a:p>
            <a:pPr indent="0" marL="0">
              <a:buNone/>
            </a:pPr>
            <a:r>
              <a:rPr lang="en-US" sz="1600" dirty="0">
                <a:solidFill>
                  <a:schemeClr val="bg2"/>
                </a:solidFill>
              </a:rPr>
              <a:t>Campaign production as generation plus assurance — two jobs that should never grade each other.</a:t>
            </a:r>
            <a:endParaRPr lang="en-US" sz="1600" dirty="0"/>
          </a:p>
        </p:txBody>
      </p:sp>
      <p:sp>
        <p:nvSpPr>
          <p:cNvPr id="5" name="glass-23"/>
          <p:cNvSpPr/>
          <p:nvPr/>
        </p:nvSpPr>
        <p:spPr>
          <a:xfrm>
            <a:off x="548640" y="1600200"/>
            <a:ext cx="3557016" cy="4023360"/>
          </a:xfrm>
          <a:prstGeom prst="roundRect">
            <a:avLst>
              <a:gd name="adj" fmla="val 3599"/>
            </a:avLst>
          </a:prstGeom>
          <a:solidFill>
            <a:schemeClr val="tx2">
              <a:alpha val="78000"/>
            </a:schemeClr>
          </a:solidFill>
          <a:ln w="9525">
            <a:solidFill>
              <a:schemeClr val="bg2">
                <a:alpha val="22000"/>
              </a:schemeClr>
            </a:solidFill>
            <a:prstDash val="solid"/>
          </a:ln>
        </p:spPr>
      </p:sp>
      <p:sp>
        <p:nvSpPr>
          <p:cNvPr id="6" name="icon-ring-24"/>
          <p:cNvSpPr/>
          <p:nvPr/>
        </p:nvSpPr>
        <p:spPr>
          <a:xfrm>
            <a:off x="822960" y="1828800"/>
            <a:ext cx="621792" cy="621792"/>
          </a:xfrm>
          <a:prstGeom prst="ellipse">
            <a:avLst/>
          </a:prstGeom>
          <a:solidFill>
            <a:schemeClr val="bg2">
              <a:alpha val="18000"/>
            </a:schemeClr>
          </a:solidFill>
          <a:ln w="12700">
            <a:solidFill>
              <a:schemeClr val="bg2">
                <a:alpha val="70000"/>
              </a:schemeClr>
            </a:solidFill>
            <a:prstDash val="solid"/>
          </a:ln>
        </p:spPr>
      </p:sp>
      <p:pic>
        <p:nvPicPr>
          <p:cNvPr id="7" name="icon-25" descr="preencoded.png">    </p:cNvPr>
          <p:cNvPicPr>
            <a:picLocks noChangeAspect="1"/>
          </p:cNvPicPr>
          <p:nvPr/>
        </p:nvPicPr>
        <p:blipFill>
          <a:blip r:embed="rId1"/>
          <a:stretch>
            <a:fillRect/>
          </a:stretch>
        </p:blipFill>
        <p:spPr>
          <a:xfrm>
            <a:off x="984626" y="1990466"/>
            <a:ext cx="298460" cy="298460"/>
          </a:xfrm>
          <a:prstGeom prst="rect">
            <a:avLst/>
          </a:prstGeom>
        </p:spPr>
      </p:pic>
      <p:sp>
        <p:nvSpPr>
          <p:cNvPr id="8" name="text-26"/>
          <p:cNvSpPr txBox="1"/>
          <p:nvPr/>
        </p:nvSpPr>
        <p:spPr>
          <a:xfrm>
            <a:off x="822960" y="2651760"/>
            <a:ext cx="3063240" cy="384048"/>
          </a:xfrm>
          <a:prstGeom prst="rect">
            <a:avLst/>
          </a:prstGeom>
          <a:noFill/>
          <a:ln/>
        </p:spPr>
        <p:txBody>
          <a:bodyPr wrap="square" lIns="0" tIns="0" rIns="0" bIns="0" rtlCol="0" anchor="t"/>
          <a:lstStyle/>
          <a:p>
            <a:pPr indent="0" marL="0">
              <a:buNone/>
            </a:pPr>
            <a:r>
              <a:rPr lang="en-US" sz="1900" b="1" dirty="0">
                <a:solidFill>
                  <a:schemeClr val="bg1"/>
                </a:solidFill>
                <a:latin typeface="Century Gothic" pitchFamily="34" charset="0"/>
                <a:ea typeface="Century Gothic" pitchFamily="34" charset="-122"/>
                <a:cs typeface="Century Gothic" pitchFamily="34" charset="-120"/>
              </a:rPr>
              <a:t>One large prompt</a:t>
            </a:r>
            <a:endParaRPr lang="en-US" sz="1900" dirty="0"/>
          </a:p>
        </p:txBody>
      </p:sp>
      <p:sp>
        <p:nvSpPr>
          <p:cNvPr id="9" name="text-27"/>
          <p:cNvSpPr txBox="1"/>
          <p:nvPr/>
        </p:nvSpPr>
        <p:spPr>
          <a:xfrm>
            <a:off x="822960" y="3044952"/>
            <a:ext cx="3063240" cy="365760"/>
          </a:xfrm>
          <a:prstGeom prst="rect">
            <a:avLst/>
          </a:prstGeom>
          <a:noFill/>
          <a:ln/>
        </p:spPr>
        <p:txBody>
          <a:bodyPr wrap="square" lIns="0" tIns="0" rIns="0" bIns="0" rtlCol="0" anchor="t"/>
          <a:lstStyle/>
          <a:p>
            <a:pPr indent="0" marL="0">
              <a:buNone/>
            </a:pPr>
            <a:r>
              <a:rPr lang="en-US" sz="1400" i="1" dirty="0">
                <a:solidFill>
                  <a:schemeClr val="bg2"/>
                </a:solidFill>
              </a:rPr>
              <a:t>Reasonable output, nothing auditable</a:t>
            </a:r>
            <a:endParaRPr lang="en-US" sz="1400" dirty="0"/>
          </a:p>
        </p:txBody>
      </p:sp>
      <p:sp>
        <p:nvSpPr>
          <p:cNvPr id="10" name="text-28"/>
          <p:cNvSpPr txBox="1"/>
          <p:nvPr/>
        </p:nvSpPr>
        <p:spPr>
          <a:xfrm>
            <a:off x="822960" y="3566160"/>
            <a:ext cx="3063240" cy="1965960"/>
          </a:xfrm>
          <a:prstGeom prst="rect">
            <a:avLst/>
          </a:prstGeom>
          <a:noFill/>
          <a:ln/>
        </p:spPr>
        <p:txBody>
          <a:bodyPr wrap="square" lIns="0" tIns="0" rIns="0" bIns="0" rtlCol="0" anchor="t"/>
          <a:lstStyle/>
          <a:p>
            <a:pPr marL="177800" indent="-177800">
              <a:spcAft>
                <a:spcPts val="900"/>
              </a:spcAft>
              <a:buSzPct val="100000"/>
              <a:buChar char="•"/>
            </a:pPr>
            <a:r>
              <a:rPr lang="en-US" sz="1400" dirty="0">
                <a:solidFill>
                  <a:schemeClr val="bg2"/>
                </a:solidFill>
              </a:rPr>
              <a:t>Can’t evaluate or retry stage by stage</a:t>
            </a:r>
            <a:endParaRPr lang="en-US" sz="1400" dirty="0"/>
          </a:p>
          <a:p>
            <a:pPr marL="177800" indent="-177800">
              <a:spcAft>
                <a:spcPts val="900"/>
              </a:spcAft>
              <a:buSzPct val="100000"/>
              <a:buChar char="•"/>
            </a:pPr>
            <a:r>
              <a:rPr lang="en-US" sz="1400" dirty="0">
                <a:solidFill>
                  <a:schemeClr val="bg2"/>
                </a:solidFill>
              </a:rPr>
              <a:t>The generator grades its own compliance</a:t>
            </a:r>
            <a:endParaRPr lang="en-US" sz="1400" dirty="0"/>
          </a:p>
          <a:p>
            <a:pPr marL="177800" indent="-177800">
              <a:spcAft>
                <a:spcPts val="900"/>
              </a:spcAft>
              <a:buSzPct val="100000"/>
              <a:buChar char="•"/>
            </a:pPr>
            <a:r>
              <a:rPr lang="en-US" sz="1400" dirty="0">
                <a:solidFill>
                  <a:schemeClr val="bg2"/>
                </a:solidFill>
              </a:rPr>
              <a:t>Every recipient pays for a model call</a:t>
            </a:r>
            <a:endParaRPr lang="en-US" sz="1400" dirty="0"/>
          </a:p>
        </p:txBody>
      </p:sp>
      <p:sp>
        <p:nvSpPr>
          <p:cNvPr id="11" name="glass-29"/>
          <p:cNvSpPr/>
          <p:nvPr/>
        </p:nvSpPr>
        <p:spPr>
          <a:xfrm>
            <a:off x="4315968" y="1600200"/>
            <a:ext cx="3557016" cy="4023360"/>
          </a:xfrm>
          <a:prstGeom prst="roundRect">
            <a:avLst>
              <a:gd name="adj" fmla="val 3599"/>
            </a:avLst>
          </a:prstGeom>
          <a:solidFill>
            <a:schemeClr val="tx2">
              <a:alpha val="78000"/>
            </a:schemeClr>
          </a:solidFill>
          <a:ln w="9525">
            <a:solidFill>
              <a:schemeClr val="bg2">
                <a:alpha val="22000"/>
              </a:schemeClr>
            </a:solidFill>
            <a:prstDash val="solid"/>
          </a:ln>
        </p:spPr>
      </p:sp>
      <p:sp>
        <p:nvSpPr>
          <p:cNvPr id="12" name="icon-ring-30"/>
          <p:cNvSpPr/>
          <p:nvPr/>
        </p:nvSpPr>
        <p:spPr>
          <a:xfrm>
            <a:off x="4590288" y="1828800"/>
            <a:ext cx="621792" cy="621792"/>
          </a:xfrm>
          <a:prstGeom prst="ellipse">
            <a:avLst/>
          </a:prstGeom>
          <a:solidFill>
            <a:schemeClr val="bg2">
              <a:alpha val="18000"/>
            </a:schemeClr>
          </a:solidFill>
          <a:ln w="12700">
            <a:solidFill>
              <a:schemeClr val="bg2">
                <a:alpha val="70000"/>
              </a:schemeClr>
            </a:solidFill>
            <a:prstDash val="solid"/>
          </a:ln>
        </p:spPr>
      </p:sp>
      <p:pic>
        <p:nvPicPr>
          <p:cNvPr id="13" name="icon-31" descr="preencoded.png">    </p:cNvPr>
          <p:cNvPicPr>
            <a:picLocks noChangeAspect="1"/>
          </p:cNvPicPr>
          <p:nvPr/>
        </p:nvPicPr>
        <p:blipFill>
          <a:blip r:embed="rId2"/>
          <a:stretch>
            <a:fillRect/>
          </a:stretch>
        </p:blipFill>
        <p:spPr>
          <a:xfrm>
            <a:off x="4751954" y="1990466"/>
            <a:ext cx="298460" cy="298460"/>
          </a:xfrm>
          <a:prstGeom prst="rect">
            <a:avLst/>
          </a:prstGeom>
        </p:spPr>
      </p:pic>
      <p:sp>
        <p:nvSpPr>
          <p:cNvPr id="14" name="text-32"/>
          <p:cNvSpPr txBox="1"/>
          <p:nvPr/>
        </p:nvSpPr>
        <p:spPr>
          <a:xfrm>
            <a:off x="4590288" y="2651760"/>
            <a:ext cx="3063240" cy="384048"/>
          </a:xfrm>
          <a:prstGeom prst="rect">
            <a:avLst/>
          </a:prstGeom>
          <a:noFill/>
          <a:ln/>
        </p:spPr>
        <p:txBody>
          <a:bodyPr wrap="square" lIns="0" tIns="0" rIns="0" bIns="0" rtlCol="0" anchor="t"/>
          <a:lstStyle/>
          <a:p>
            <a:pPr indent="0" marL="0">
              <a:buNone/>
            </a:pPr>
            <a:r>
              <a:rPr lang="en-US" sz="1900" b="1" dirty="0">
                <a:solidFill>
                  <a:schemeClr val="bg1"/>
                </a:solidFill>
                <a:latin typeface="Century Gothic" pitchFamily="34" charset="0"/>
                <a:ea typeface="Century Gothic" pitchFamily="34" charset="-122"/>
                <a:cs typeface="Century Gothic" pitchFamily="34" charset="-120"/>
              </a:rPr>
              <a:t>Rules-based platform</a:t>
            </a:r>
            <a:endParaRPr lang="en-US" sz="1900" dirty="0"/>
          </a:p>
        </p:txBody>
      </p:sp>
      <p:sp>
        <p:nvSpPr>
          <p:cNvPr id="15" name="text-33"/>
          <p:cNvSpPr txBox="1"/>
          <p:nvPr/>
        </p:nvSpPr>
        <p:spPr>
          <a:xfrm>
            <a:off x="4590288" y="3044952"/>
            <a:ext cx="3063240" cy="365760"/>
          </a:xfrm>
          <a:prstGeom prst="rect">
            <a:avLst/>
          </a:prstGeom>
          <a:noFill/>
          <a:ln/>
        </p:spPr>
        <p:txBody>
          <a:bodyPr wrap="square" lIns="0" tIns="0" rIns="0" bIns="0" rtlCol="0" anchor="t"/>
          <a:lstStyle/>
          <a:p>
            <a:pPr indent="0" marL="0">
              <a:buNone/>
            </a:pPr>
            <a:r>
              <a:rPr lang="en-US" sz="1400" i="1" dirty="0">
                <a:solidFill>
                  <a:schemeClr val="bg2"/>
                </a:solidFill>
              </a:rPr>
              <a:t>Fully auditable, but no new content</a:t>
            </a:r>
            <a:endParaRPr lang="en-US" sz="1400" dirty="0"/>
          </a:p>
        </p:txBody>
      </p:sp>
      <p:sp>
        <p:nvSpPr>
          <p:cNvPr id="16" name="text-34"/>
          <p:cNvSpPr txBox="1"/>
          <p:nvPr/>
        </p:nvSpPr>
        <p:spPr>
          <a:xfrm>
            <a:off x="4590288" y="3566160"/>
            <a:ext cx="3063240" cy="1965960"/>
          </a:xfrm>
          <a:prstGeom prst="rect">
            <a:avLst/>
          </a:prstGeom>
          <a:noFill/>
          <a:ln/>
        </p:spPr>
        <p:txBody>
          <a:bodyPr wrap="square" lIns="0" tIns="0" rIns="0" bIns="0" rtlCol="0" anchor="t"/>
          <a:lstStyle/>
          <a:p>
            <a:pPr marL="177800" indent="-177800">
              <a:spcAft>
                <a:spcPts val="900"/>
              </a:spcAft>
              <a:buSzPct val="100000"/>
              <a:buChar char="•"/>
            </a:pPr>
            <a:r>
              <a:rPr lang="en-US" sz="1400" dirty="0">
                <a:solidFill>
                  <a:schemeClr val="bg2"/>
                </a:solidFill>
              </a:rPr>
              <a:t>Only routes copy a human already wrote</a:t>
            </a:r>
            <a:endParaRPr lang="en-US" sz="1400" dirty="0"/>
          </a:p>
          <a:p>
            <a:pPr marL="177800" indent="-177800">
              <a:spcAft>
                <a:spcPts val="900"/>
              </a:spcAft>
              <a:buSzPct val="100000"/>
              <a:buChar char="•"/>
            </a:pPr>
            <a:r>
              <a:rPr lang="en-US" sz="1400" dirty="0">
                <a:solidFill>
                  <a:schemeClr val="bg2"/>
                </a:solidFill>
              </a:rPr>
              <a:t>Variant count still tied to headcount</a:t>
            </a:r>
            <a:endParaRPr lang="en-US" sz="1400" dirty="0"/>
          </a:p>
          <a:p>
            <a:pPr marL="177800" indent="-177800">
              <a:spcAft>
                <a:spcPts val="900"/>
              </a:spcAft>
              <a:buSzPct val="100000"/>
              <a:buChar char="•"/>
            </a:pPr>
            <a:r>
              <a:rPr lang="en-US" sz="1400" dirty="0">
                <a:solidFill>
                  <a:schemeClr val="bg2"/>
                </a:solidFill>
              </a:rPr>
              <a:t>Personalisation limited to fields</a:t>
            </a:r>
            <a:endParaRPr lang="en-US" sz="1400" dirty="0"/>
          </a:p>
        </p:txBody>
      </p:sp>
      <p:sp>
        <p:nvSpPr>
          <p:cNvPr id="17" name="glass-35"/>
          <p:cNvSpPr/>
          <p:nvPr/>
        </p:nvSpPr>
        <p:spPr>
          <a:xfrm>
            <a:off x="8083296" y="1600200"/>
            <a:ext cx="3557016" cy="4023360"/>
          </a:xfrm>
          <a:prstGeom prst="roundRect">
            <a:avLst>
              <a:gd name="adj" fmla="val 3599"/>
            </a:avLst>
          </a:prstGeom>
          <a:solidFill>
            <a:schemeClr val="accent1">
              <a:alpha val="22000"/>
            </a:schemeClr>
          </a:solidFill>
          <a:ln w="19050">
            <a:solidFill>
              <a:schemeClr val="accent1">
                <a:alpha val="90000"/>
              </a:schemeClr>
            </a:solidFill>
            <a:prstDash val="solid"/>
          </a:ln>
          <a:effectLst>
            <a:outerShdw sx="100000" sy="100000" kx="0" ky="0" algn="bl" rotWithShape="0" blurRad="177800" dist="38100" dir="5400000">
              <a:srgbClr val="000000">
                <a:alpha val="35000"/>
              </a:srgbClr>
            </a:outerShdw>
          </a:effectLst>
        </p:spPr>
      </p:sp>
      <p:pic>
        <p:nvPicPr>
          <p:cNvPr id="18" name="icon3d-36" descr="C:\Users\himat\AppData\Local\Temp\claude\c--Ai-stuffs-MOSAIC\b3ecbbac-d885-4fec-a9f8-3496f8d06c96\scratchpad\build\assets\icon-orchestrator.png">    </p:cNvPr>
          <p:cNvPicPr>
            <a:picLocks noChangeAspect="1"/>
          </p:cNvPicPr>
          <p:nvPr/>
        </p:nvPicPr>
        <p:blipFill>
          <a:blip r:embed="rId3"/>
          <a:stretch>
            <a:fillRect/>
          </a:stretch>
        </p:blipFill>
        <p:spPr>
          <a:xfrm>
            <a:off x="8284464" y="1691640"/>
            <a:ext cx="868680" cy="868680"/>
          </a:xfrm>
          <a:prstGeom prst="rect">
            <a:avLst/>
          </a:prstGeom>
        </p:spPr>
      </p:pic>
      <p:sp>
        <p:nvSpPr>
          <p:cNvPr id="19" name="text-37"/>
          <p:cNvSpPr txBox="1"/>
          <p:nvPr/>
        </p:nvSpPr>
        <p:spPr>
          <a:xfrm>
            <a:off x="8357616" y="2651760"/>
            <a:ext cx="3063240" cy="384048"/>
          </a:xfrm>
          <a:prstGeom prst="rect">
            <a:avLst/>
          </a:prstGeom>
          <a:noFill/>
          <a:ln/>
        </p:spPr>
        <p:txBody>
          <a:bodyPr wrap="square" lIns="0" tIns="0" rIns="0" bIns="0" rtlCol="0" anchor="t"/>
          <a:lstStyle/>
          <a:p>
            <a:pPr indent="0" marL="0">
              <a:buNone/>
            </a:pPr>
            <a:r>
              <a:rPr lang="en-US" sz="1900" b="1" dirty="0">
                <a:solidFill>
                  <a:schemeClr val="bg1"/>
                </a:solidFill>
                <a:latin typeface="Century Gothic" pitchFamily="34" charset="0"/>
                <a:ea typeface="Century Gothic" pitchFamily="34" charset="-122"/>
                <a:cs typeface="Century Gothic" pitchFamily="34" charset="-120"/>
              </a:rPr>
              <a:t>MOSAIC: four agents</a:t>
            </a:r>
            <a:endParaRPr lang="en-US" sz="1900" dirty="0"/>
          </a:p>
        </p:txBody>
      </p:sp>
      <p:sp>
        <p:nvSpPr>
          <p:cNvPr id="20" name="text-38"/>
          <p:cNvSpPr txBox="1"/>
          <p:nvPr/>
        </p:nvSpPr>
        <p:spPr>
          <a:xfrm>
            <a:off x="8357616" y="3044952"/>
            <a:ext cx="3063240" cy="365760"/>
          </a:xfrm>
          <a:prstGeom prst="rect">
            <a:avLst/>
          </a:prstGeom>
          <a:noFill/>
          <a:ln/>
        </p:spPr>
        <p:txBody>
          <a:bodyPr wrap="square" lIns="0" tIns="0" rIns="0" bIns="0" rtlCol="0" anchor="t"/>
          <a:lstStyle/>
          <a:p>
            <a:pPr indent="0" marL="0">
              <a:buNone/>
            </a:pPr>
            <a:r>
              <a:rPr lang="en-US" sz="1400" i="1" dirty="0">
                <a:solidFill>
                  <a:schemeClr val="accent1"/>
                </a:solidFill>
              </a:rPr>
              <a:t>Generation and assurance, separated</a:t>
            </a:r>
            <a:endParaRPr lang="en-US" sz="1400" dirty="0"/>
          </a:p>
        </p:txBody>
      </p:sp>
      <p:sp>
        <p:nvSpPr>
          <p:cNvPr id="21" name="text-39"/>
          <p:cNvSpPr txBox="1"/>
          <p:nvPr/>
        </p:nvSpPr>
        <p:spPr>
          <a:xfrm>
            <a:off x="8357616" y="3566160"/>
            <a:ext cx="3063240" cy="1965960"/>
          </a:xfrm>
          <a:prstGeom prst="rect">
            <a:avLst/>
          </a:prstGeom>
          <a:noFill/>
          <a:ln/>
        </p:spPr>
        <p:txBody>
          <a:bodyPr wrap="square" lIns="0" tIns="0" rIns="0" bIns="0" rtlCol="0" anchor="t"/>
          <a:lstStyle/>
          <a:p>
            <a:pPr marL="177800" indent="-177800">
              <a:spcAft>
                <a:spcPts val="900"/>
              </a:spcAft>
              <a:buSzPct val="100000"/>
              <a:buChar char="•"/>
            </a:pPr>
            <a:r>
              <a:rPr lang="en-US" sz="1400" dirty="0">
                <a:solidFill>
                  <a:schemeClr val="bg1"/>
                </a:solidFill>
              </a:rPr>
              <a:t>Expensive work once per segment — O(k)</a:t>
            </a:r>
            <a:endParaRPr lang="en-US" sz="1400" dirty="0"/>
          </a:p>
          <a:p>
            <a:pPr marL="177800" indent="-177800">
              <a:spcAft>
                <a:spcPts val="900"/>
              </a:spcAft>
              <a:buSzPct val="100000"/>
              <a:buChar char="•"/>
            </a:pPr>
            <a:r>
              <a:rPr lang="en-US" sz="1400" dirty="0">
                <a:solidFill>
                  <a:schemeClr val="bg1"/>
                </a:solidFill>
              </a:rPr>
              <a:t>Guardian outside the generators, with a veto</a:t>
            </a:r>
            <a:endParaRPr lang="en-US" sz="1400" dirty="0"/>
          </a:p>
          <a:p>
            <a:pPr marL="177800" indent="-177800">
              <a:spcAft>
                <a:spcPts val="900"/>
              </a:spcAft>
              <a:buSzPct val="100000"/>
              <a:buChar char="•"/>
            </a:pPr>
            <a:r>
              <a:rPr lang="en-US" sz="1400" dirty="0">
                <a:solidFill>
                  <a:schemeClr val="bg1"/>
                </a:solidFill>
              </a:rPr>
              <a:t>Each agent has its own model and tools</a:t>
            </a:r>
            <a:endParaRPr lang="en-US" sz="1400" dirty="0"/>
          </a:p>
          <a:p>
            <a:pPr marL="177800" indent="-177800">
              <a:spcAft>
                <a:spcPts val="900"/>
              </a:spcAft>
              <a:buSzPct val="100000"/>
              <a:buChar char="•"/>
            </a:pPr>
            <a:r>
              <a:rPr lang="en-US" sz="1400" dirty="0">
                <a:solidFill>
                  <a:schemeClr val="bg1"/>
                </a:solidFill>
              </a:rPr>
              <a:t>A bad output re-runs one stage, not all</a:t>
            </a:r>
            <a:endParaRPr lang="en-US" sz="1400" dirty="0"/>
          </a:p>
        </p:txBody>
      </p:sp>
      <p:sp>
        <p:nvSpPr>
          <p:cNvPr id="22" name="glass-40"/>
          <p:cNvSpPr/>
          <p:nvPr/>
        </p:nvSpPr>
        <p:spPr>
          <a:xfrm>
            <a:off x="548640" y="5760720"/>
            <a:ext cx="11091672" cy="457200"/>
          </a:xfrm>
          <a:prstGeom prst="roundRect">
            <a:avLst>
              <a:gd name="adj" fmla="val 28000"/>
            </a:avLst>
          </a:prstGeom>
          <a:solidFill>
            <a:schemeClr val="accent1">
              <a:alpha val="12000"/>
            </a:schemeClr>
          </a:solidFill>
          <a:ln w="12700">
            <a:solidFill>
              <a:schemeClr val="accent1">
                <a:alpha val="30000"/>
              </a:schemeClr>
            </a:solidFill>
            <a:prstDash val="solid"/>
          </a:ln>
        </p:spPr>
      </p:sp>
      <p:sp>
        <p:nvSpPr>
          <p:cNvPr id="23" name="text-41"/>
          <p:cNvSpPr txBox="1"/>
          <p:nvPr/>
        </p:nvSpPr>
        <p:spPr>
          <a:xfrm>
            <a:off x="777240" y="5760720"/>
            <a:ext cx="10698480" cy="457200"/>
          </a:xfrm>
          <a:prstGeom prst="rect">
            <a:avLst/>
          </a:prstGeom>
          <a:noFill/>
          <a:ln/>
        </p:spPr>
        <p:txBody>
          <a:bodyPr wrap="square" lIns="0" tIns="0" rIns="0" bIns="0" rtlCol="0" anchor="ctr"/>
          <a:lstStyle/>
          <a:p>
            <a:pPr indent="0" marL="0">
              <a:buNone/>
            </a:pPr>
            <a:r>
              <a:rPr lang="en-US" sz="1400" b="1" dirty="0">
                <a:solidFill>
                  <a:schemeClr val="accent1"/>
                </a:solidFill>
              </a:rPr>
              <a:t>n contacts ≫ k segments  </a:t>
            </a:r>
            <a:pPr indent="0" marL="0">
              <a:buNone/>
            </a:pPr>
            <a:r>
              <a:rPr lang="en-US" sz="1400" dirty="0">
                <a:solidFill>
                  <a:schemeClr val="bg1"/>
                </a:solidFill>
              </a:rPr>
              <a:t>— that split is what makes a distinct creative per segment affordable.</a:t>
            </a:r>
            <a:endParaRPr lang="en-US" sz="1400" dirty="0"/>
          </a:p>
        </p:txBody>
      </p:sp>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241280" cy="640080"/>
          </a:xfrm>
          <a:prstGeom prst="rect">
            <a:avLst/>
          </a:prstGeom>
          <a:noFill/>
          <a:ln/>
        </p:spPr>
        <p:txBody>
          <a:bodyPr wrap="square" lIns="0" tIns="0" rIns="0" bIns="0" rtlCol="0" anchor="ctr"/>
          <a:lstStyle/>
          <a:p>
            <a:pPr algn="l" indent="0" marL="0">
              <a:buNone/>
            </a:pPr>
            <a:r>
              <a:rPr lang="en-US" sz="2800" b="1" dirty="0">
                <a:solidFill>
                  <a:schemeClr val="bg1"/>
                </a:solidFill>
                <a:latin typeface="Century Gothic" pitchFamily="34" charset="0"/>
                <a:ea typeface="Century Gothic" pitchFamily="34" charset="-122"/>
                <a:cs typeface="Century Gothic" pitchFamily="34" charset="-120"/>
              </a:rPr>
              <a:t>Six stakeholders, one operator in control</a:t>
            </a:r>
            <a:endParaRPr lang="en-US" sz="2800" dirty="0"/>
          </a:p>
        </p:txBody>
      </p:sp>
      <p:sp>
        <p:nvSpPr>
          <p:cNvPr id="3" name="text-42"/>
          <p:cNvSpPr txBox="1"/>
          <p:nvPr/>
        </p:nvSpPr>
        <p:spPr>
          <a:xfrm>
            <a:off x="548640" y="1005840"/>
            <a:ext cx="10424160" cy="384048"/>
          </a:xfrm>
          <a:prstGeom prst="rect">
            <a:avLst/>
          </a:prstGeom>
          <a:noFill/>
          <a:ln/>
        </p:spPr>
        <p:txBody>
          <a:bodyPr wrap="square" lIns="0" tIns="0" rIns="0" bIns="0" rtlCol="0" anchor="t"/>
          <a:lstStyle/>
          <a:p>
            <a:pPr indent="0" marL="0">
              <a:buNone/>
            </a:pPr>
            <a:r>
              <a:rPr lang="en-US" sz="1600" dirty="0">
                <a:solidFill>
                  <a:schemeClr val="bg2"/>
                </a:solidFill>
              </a:rPr>
              <a:t>The marketer signs off every send; customers are not users but carry most of the downside.</a:t>
            </a:r>
            <a:endParaRPr lang="en-US" sz="1600" dirty="0"/>
          </a:p>
        </p:txBody>
      </p:sp>
      <p:sp>
        <p:nvSpPr>
          <p:cNvPr id="5" name="glass-43"/>
          <p:cNvSpPr/>
          <p:nvPr/>
        </p:nvSpPr>
        <p:spPr>
          <a:xfrm>
            <a:off x="548640" y="1600200"/>
            <a:ext cx="3200400" cy="1371600"/>
          </a:xfrm>
          <a:prstGeom prst="roundRect">
            <a:avLst>
              <a:gd name="adj" fmla="val 9333"/>
            </a:avLst>
          </a:prstGeom>
          <a:solidFill>
            <a:schemeClr val="tx2">
              <a:alpha val="78000"/>
            </a:schemeClr>
          </a:solidFill>
          <a:ln w="9525">
            <a:solidFill>
              <a:schemeClr val="bg2">
                <a:alpha val="22000"/>
              </a:schemeClr>
            </a:solidFill>
            <a:prstDash val="solid"/>
          </a:ln>
        </p:spPr>
      </p:sp>
      <p:sp>
        <p:nvSpPr>
          <p:cNvPr id="6" name="icon-ring-44"/>
          <p:cNvSpPr/>
          <p:nvPr/>
        </p:nvSpPr>
        <p:spPr>
          <a:xfrm>
            <a:off x="749808" y="1856232"/>
            <a:ext cx="566928" cy="566928"/>
          </a:xfrm>
          <a:prstGeom prst="ellipse">
            <a:avLst/>
          </a:prstGeom>
          <a:solidFill>
            <a:schemeClr val="accent1">
              <a:alpha val="18000"/>
            </a:schemeClr>
          </a:solidFill>
          <a:ln w="12700">
            <a:solidFill>
              <a:schemeClr val="accent1">
                <a:alpha val="70000"/>
              </a:schemeClr>
            </a:solidFill>
            <a:prstDash val="solid"/>
          </a:ln>
        </p:spPr>
      </p:sp>
      <p:pic>
        <p:nvPicPr>
          <p:cNvPr id="7" name="icon-45" descr="preencoded.png">    </p:cNvPr>
          <p:cNvPicPr>
            <a:picLocks noChangeAspect="1"/>
          </p:cNvPicPr>
          <p:nvPr/>
        </p:nvPicPr>
        <p:blipFill>
          <a:blip r:embed="rId1"/>
          <a:stretch>
            <a:fillRect/>
          </a:stretch>
        </p:blipFill>
        <p:spPr>
          <a:xfrm>
            <a:off x="897209" y="2003633"/>
            <a:ext cx="272125" cy="272125"/>
          </a:xfrm>
          <a:prstGeom prst="rect">
            <a:avLst/>
          </a:prstGeom>
        </p:spPr>
      </p:pic>
      <p:sp>
        <p:nvSpPr>
          <p:cNvPr id="8" name="text-46"/>
          <p:cNvSpPr txBox="1"/>
          <p:nvPr/>
        </p:nvSpPr>
        <p:spPr>
          <a:xfrm>
            <a:off x="1481328" y="1837944"/>
            <a:ext cx="2194560" cy="365760"/>
          </a:xfrm>
          <a:prstGeom prst="rect">
            <a:avLst/>
          </a:prstGeom>
          <a:noFill/>
          <a:ln/>
        </p:spPr>
        <p:txBody>
          <a:bodyPr wrap="square" lIns="0" tIns="0" rIns="0" bIns="0" rtlCol="0" anchor="t"/>
          <a:lstStyle/>
          <a:p>
            <a:pPr indent="0" marL="0">
              <a:buNone/>
            </a:pPr>
            <a:r>
              <a:rPr lang="en-US" sz="1500" b="1" dirty="0">
                <a:solidFill>
                  <a:schemeClr val="bg1"/>
                </a:solidFill>
              </a:rPr>
              <a:t>Campaign marketer</a:t>
            </a:r>
            <a:endParaRPr lang="en-US" sz="1500" dirty="0"/>
          </a:p>
        </p:txBody>
      </p:sp>
      <p:sp>
        <p:nvSpPr>
          <p:cNvPr id="9" name="text-47"/>
          <p:cNvSpPr txBox="1"/>
          <p:nvPr/>
        </p:nvSpPr>
        <p:spPr>
          <a:xfrm>
            <a:off x="1481328" y="2221992"/>
            <a:ext cx="2194560" cy="640080"/>
          </a:xfrm>
          <a:prstGeom prst="rect">
            <a:avLst/>
          </a:prstGeom>
          <a:noFill/>
          <a:ln/>
        </p:spPr>
        <p:txBody>
          <a:bodyPr wrap="square" lIns="0" tIns="0" rIns="0" bIns="0" rtlCol="0" anchor="t"/>
          <a:lstStyle/>
          <a:p>
            <a:pPr indent="0" marL="0">
              <a:buNone/>
            </a:pPr>
            <a:r>
              <a:rPr lang="en-US" sz="1300" dirty="0">
                <a:solidFill>
                  <a:schemeClr val="bg2"/>
                </a:solidFill>
              </a:rPr>
              <a:t>Primary user — reviews and sends</a:t>
            </a:r>
            <a:endParaRPr lang="en-US" sz="1300" dirty="0"/>
          </a:p>
        </p:txBody>
      </p:sp>
      <p:sp>
        <p:nvSpPr>
          <p:cNvPr id="10" name="glass-48"/>
          <p:cNvSpPr/>
          <p:nvPr/>
        </p:nvSpPr>
        <p:spPr>
          <a:xfrm>
            <a:off x="3931920" y="1600200"/>
            <a:ext cx="3200400" cy="1371600"/>
          </a:xfrm>
          <a:prstGeom prst="roundRect">
            <a:avLst>
              <a:gd name="adj" fmla="val 9333"/>
            </a:avLst>
          </a:prstGeom>
          <a:solidFill>
            <a:schemeClr val="tx2">
              <a:alpha val="78000"/>
            </a:schemeClr>
          </a:solidFill>
          <a:ln w="9525">
            <a:solidFill>
              <a:schemeClr val="bg2">
                <a:alpha val="22000"/>
              </a:schemeClr>
            </a:solidFill>
            <a:prstDash val="solid"/>
          </a:ln>
        </p:spPr>
      </p:sp>
      <p:sp>
        <p:nvSpPr>
          <p:cNvPr id="11" name="icon-ring-49"/>
          <p:cNvSpPr/>
          <p:nvPr/>
        </p:nvSpPr>
        <p:spPr>
          <a:xfrm>
            <a:off x="4133088" y="1856232"/>
            <a:ext cx="566928" cy="566928"/>
          </a:xfrm>
          <a:prstGeom prst="ellipse">
            <a:avLst/>
          </a:prstGeom>
          <a:solidFill>
            <a:schemeClr val="accent3">
              <a:alpha val="18000"/>
            </a:schemeClr>
          </a:solidFill>
          <a:ln w="12700">
            <a:solidFill>
              <a:schemeClr val="accent3">
                <a:alpha val="70000"/>
              </a:schemeClr>
            </a:solidFill>
            <a:prstDash val="solid"/>
          </a:ln>
        </p:spPr>
      </p:sp>
      <p:pic>
        <p:nvPicPr>
          <p:cNvPr id="12" name="icon-50" descr="preencoded.png">    </p:cNvPr>
          <p:cNvPicPr>
            <a:picLocks noChangeAspect="1"/>
          </p:cNvPicPr>
          <p:nvPr/>
        </p:nvPicPr>
        <p:blipFill>
          <a:blip r:embed="rId2"/>
          <a:stretch>
            <a:fillRect/>
          </a:stretch>
        </p:blipFill>
        <p:spPr>
          <a:xfrm>
            <a:off x="4280489" y="2003633"/>
            <a:ext cx="272125" cy="272125"/>
          </a:xfrm>
          <a:prstGeom prst="rect">
            <a:avLst/>
          </a:prstGeom>
        </p:spPr>
      </p:pic>
      <p:sp>
        <p:nvSpPr>
          <p:cNvPr id="13" name="text-51"/>
          <p:cNvSpPr txBox="1"/>
          <p:nvPr/>
        </p:nvSpPr>
        <p:spPr>
          <a:xfrm>
            <a:off x="4864608" y="1837944"/>
            <a:ext cx="2194560" cy="365760"/>
          </a:xfrm>
          <a:prstGeom prst="rect">
            <a:avLst/>
          </a:prstGeom>
          <a:noFill/>
          <a:ln/>
        </p:spPr>
        <p:txBody>
          <a:bodyPr wrap="square" lIns="0" tIns="0" rIns="0" bIns="0" rtlCol="0" anchor="t"/>
          <a:lstStyle/>
          <a:p>
            <a:pPr indent="0" marL="0">
              <a:buNone/>
            </a:pPr>
            <a:r>
              <a:rPr lang="en-US" sz="1500" b="1" dirty="0">
                <a:solidFill>
                  <a:schemeClr val="bg1"/>
                </a:solidFill>
              </a:rPr>
              <a:t>Brand lead</a:t>
            </a:r>
            <a:endParaRPr lang="en-US" sz="1500" dirty="0"/>
          </a:p>
        </p:txBody>
      </p:sp>
      <p:sp>
        <p:nvSpPr>
          <p:cNvPr id="14" name="text-52"/>
          <p:cNvSpPr txBox="1"/>
          <p:nvPr/>
        </p:nvSpPr>
        <p:spPr>
          <a:xfrm>
            <a:off x="4864608" y="2221992"/>
            <a:ext cx="2194560" cy="640080"/>
          </a:xfrm>
          <a:prstGeom prst="rect">
            <a:avLst/>
          </a:prstGeom>
          <a:noFill/>
          <a:ln/>
        </p:spPr>
        <p:txBody>
          <a:bodyPr wrap="square" lIns="0" tIns="0" rIns="0" bIns="0" rtlCol="0" anchor="t"/>
          <a:lstStyle/>
          <a:p>
            <a:pPr indent="0" marL="0">
              <a:buNone/>
            </a:pPr>
            <a:r>
              <a:rPr lang="en-US" sz="1300" dirty="0">
                <a:solidFill>
                  <a:schemeClr val="bg2"/>
                </a:solidFill>
              </a:rPr>
              <a:t>Owns palette, tone and assets</a:t>
            </a:r>
            <a:endParaRPr lang="en-US" sz="1300" dirty="0"/>
          </a:p>
        </p:txBody>
      </p:sp>
      <p:sp>
        <p:nvSpPr>
          <p:cNvPr id="15" name="glass-53"/>
          <p:cNvSpPr/>
          <p:nvPr/>
        </p:nvSpPr>
        <p:spPr>
          <a:xfrm>
            <a:off x="548640" y="3136392"/>
            <a:ext cx="3200400" cy="1371600"/>
          </a:xfrm>
          <a:prstGeom prst="roundRect">
            <a:avLst>
              <a:gd name="adj" fmla="val 9333"/>
            </a:avLst>
          </a:prstGeom>
          <a:solidFill>
            <a:schemeClr val="tx2">
              <a:alpha val="78000"/>
            </a:schemeClr>
          </a:solidFill>
          <a:ln w="9525">
            <a:solidFill>
              <a:schemeClr val="bg2">
                <a:alpha val="22000"/>
              </a:schemeClr>
            </a:solidFill>
            <a:prstDash val="solid"/>
          </a:ln>
        </p:spPr>
      </p:sp>
      <p:sp>
        <p:nvSpPr>
          <p:cNvPr id="16" name="icon-ring-54"/>
          <p:cNvSpPr/>
          <p:nvPr/>
        </p:nvSpPr>
        <p:spPr>
          <a:xfrm>
            <a:off x="749808" y="3392424"/>
            <a:ext cx="566928" cy="566928"/>
          </a:xfrm>
          <a:prstGeom prst="ellipse">
            <a:avLst/>
          </a:prstGeom>
          <a:solidFill>
            <a:schemeClr val="accent4">
              <a:alpha val="18000"/>
            </a:schemeClr>
          </a:solidFill>
          <a:ln w="12700">
            <a:solidFill>
              <a:schemeClr val="accent4">
                <a:alpha val="70000"/>
              </a:schemeClr>
            </a:solidFill>
            <a:prstDash val="solid"/>
          </a:ln>
        </p:spPr>
      </p:sp>
      <p:pic>
        <p:nvPicPr>
          <p:cNvPr id="17" name="icon-55" descr="preencoded.png">    </p:cNvPr>
          <p:cNvPicPr>
            <a:picLocks noChangeAspect="1"/>
          </p:cNvPicPr>
          <p:nvPr/>
        </p:nvPicPr>
        <p:blipFill>
          <a:blip r:embed="rId3"/>
          <a:stretch>
            <a:fillRect/>
          </a:stretch>
        </p:blipFill>
        <p:spPr>
          <a:xfrm>
            <a:off x="897209" y="3539825"/>
            <a:ext cx="272125" cy="272125"/>
          </a:xfrm>
          <a:prstGeom prst="rect">
            <a:avLst/>
          </a:prstGeom>
        </p:spPr>
      </p:pic>
      <p:sp>
        <p:nvSpPr>
          <p:cNvPr id="18" name="text-56"/>
          <p:cNvSpPr txBox="1"/>
          <p:nvPr/>
        </p:nvSpPr>
        <p:spPr>
          <a:xfrm>
            <a:off x="1481328" y="3374136"/>
            <a:ext cx="2194560" cy="365760"/>
          </a:xfrm>
          <a:prstGeom prst="rect">
            <a:avLst/>
          </a:prstGeom>
          <a:noFill/>
          <a:ln/>
        </p:spPr>
        <p:txBody>
          <a:bodyPr wrap="square" lIns="0" tIns="0" rIns="0" bIns="0" rtlCol="0" anchor="t"/>
          <a:lstStyle/>
          <a:p>
            <a:pPr indent="0" marL="0">
              <a:buNone/>
            </a:pPr>
            <a:r>
              <a:rPr lang="en-US" sz="1500" b="1" dirty="0">
                <a:solidFill>
                  <a:schemeClr val="bg1"/>
                </a:solidFill>
              </a:rPr>
              <a:t>Data protection officer</a:t>
            </a:r>
            <a:endParaRPr lang="en-US" sz="1500" dirty="0"/>
          </a:p>
        </p:txBody>
      </p:sp>
      <p:sp>
        <p:nvSpPr>
          <p:cNvPr id="19" name="text-57"/>
          <p:cNvSpPr txBox="1"/>
          <p:nvPr/>
        </p:nvSpPr>
        <p:spPr>
          <a:xfrm>
            <a:off x="1481328" y="3758184"/>
            <a:ext cx="2194560" cy="640080"/>
          </a:xfrm>
          <a:prstGeom prst="rect">
            <a:avLst/>
          </a:prstGeom>
          <a:noFill/>
          <a:ln/>
        </p:spPr>
        <p:txBody>
          <a:bodyPr wrap="square" lIns="0" tIns="0" rIns="0" bIns="0" rtlCol="0" anchor="t"/>
          <a:lstStyle/>
          <a:p>
            <a:pPr indent="0" marL="0">
              <a:buNone/>
            </a:pPr>
            <a:r>
              <a:rPr lang="en-US" sz="1300" dirty="0">
                <a:solidFill>
                  <a:schemeClr val="bg2"/>
                </a:solidFill>
              </a:rPr>
              <a:t>Consent and withdrawal (PDPA)</a:t>
            </a:r>
            <a:endParaRPr lang="en-US" sz="1300" dirty="0"/>
          </a:p>
        </p:txBody>
      </p:sp>
      <p:sp>
        <p:nvSpPr>
          <p:cNvPr id="20" name="glass-58"/>
          <p:cNvSpPr/>
          <p:nvPr/>
        </p:nvSpPr>
        <p:spPr>
          <a:xfrm>
            <a:off x="3931920" y="3136392"/>
            <a:ext cx="3200400" cy="1371600"/>
          </a:xfrm>
          <a:prstGeom prst="roundRect">
            <a:avLst>
              <a:gd name="adj" fmla="val 9333"/>
            </a:avLst>
          </a:prstGeom>
          <a:solidFill>
            <a:schemeClr val="tx2">
              <a:alpha val="78000"/>
            </a:schemeClr>
          </a:solidFill>
          <a:ln w="9525">
            <a:solidFill>
              <a:schemeClr val="bg2">
                <a:alpha val="22000"/>
              </a:schemeClr>
            </a:solidFill>
            <a:prstDash val="solid"/>
          </a:ln>
        </p:spPr>
      </p:sp>
      <p:sp>
        <p:nvSpPr>
          <p:cNvPr id="21" name="icon-ring-59"/>
          <p:cNvSpPr/>
          <p:nvPr/>
        </p:nvSpPr>
        <p:spPr>
          <a:xfrm>
            <a:off x="4133088" y="3392424"/>
            <a:ext cx="566928" cy="566928"/>
          </a:xfrm>
          <a:prstGeom prst="ellipse">
            <a:avLst/>
          </a:prstGeom>
          <a:solidFill>
            <a:schemeClr val="accent2">
              <a:alpha val="18000"/>
            </a:schemeClr>
          </a:solidFill>
          <a:ln w="12700">
            <a:solidFill>
              <a:schemeClr val="accent2">
                <a:alpha val="70000"/>
              </a:schemeClr>
            </a:solidFill>
            <a:prstDash val="solid"/>
          </a:ln>
        </p:spPr>
      </p:sp>
      <p:pic>
        <p:nvPicPr>
          <p:cNvPr id="22" name="icon-60" descr="preencoded.png">    </p:cNvPr>
          <p:cNvPicPr>
            <a:picLocks noChangeAspect="1"/>
          </p:cNvPicPr>
          <p:nvPr/>
        </p:nvPicPr>
        <p:blipFill>
          <a:blip r:embed="rId4"/>
          <a:stretch>
            <a:fillRect/>
          </a:stretch>
        </p:blipFill>
        <p:spPr>
          <a:xfrm>
            <a:off x="4280489" y="3539825"/>
            <a:ext cx="272125" cy="272125"/>
          </a:xfrm>
          <a:prstGeom prst="rect">
            <a:avLst/>
          </a:prstGeom>
        </p:spPr>
      </p:pic>
      <p:sp>
        <p:nvSpPr>
          <p:cNvPr id="23" name="text-61"/>
          <p:cNvSpPr txBox="1"/>
          <p:nvPr/>
        </p:nvSpPr>
        <p:spPr>
          <a:xfrm>
            <a:off x="4864608" y="3374136"/>
            <a:ext cx="2194560" cy="365760"/>
          </a:xfrm>
          <a:prstGeom prst="rect">
            <a:avLst/>
          </a:prstGeom>
          <a:noFill/>
          <a:ln/>
        </p:spPr>
        <p:txBody>
          <a:bodyPr wrap="square" lIns="0" tIns="0" rIns="0" bIns="0" rtlCol="0" anchor="t"/>
          <a:lstStyle/>
          <a:p>
            <a:pPr indent="0" marL="0">
              <a:buNone/>
            </a:pPr>
            <a:r>
              <a:rPr lang="en-US" sz="1500" b="1" dirty="0">
                <a:solidFill>
                  <a:schemeClr val="bg1"/>
                </a:solidFill>
              </a:rPr>
              <a:t>Legal</a:t>
            </a:r>
            <a:endParaRPr lang="en-US" sz="1500" dirty="0"/>
          </a:p>
        </p:txBody>
      </p:sp>
      <p:sp>
        <p:nvSpPr>
          <p:cNvPr id="24" name="text-62"/>
          <p:cNvSpPr txBox="1"/>
          <p:nvPr/>
        </p:nvSpPr>
        <p:spPr>
          <a:xfrm>
            <a:off x="4864608" y="3758184"/>
            <a:ext cx="2194560" cy="640080"/>
          </a:xfrm>
          <a:prstGeom prst="rect">
            <a:avLst/>
          </a:prstGeom>
          <a:noFill/>
          <a:ln/>
        </p:spPr>
        <p:txBody>
          <a:bodyPr wrap="square" lIns="0" tIns="0" rIns="0" bIns="0" rtlCol="0" anchor="t"/>
          <a:lstStyle/>
          <a:p>
            <a:pPr indent="0" marL="0">
              <a:buNone/>
            </a:pPr>
            <a:r>
              <a:rPr lang="en-US" sz="1300" dirty="0">
                <a:solidFill>
                  <a:schemeClr val="bg2"/>
                </a:solidFill>
              </a:rPr>
              <a:t>Claims and unsubscribe duty</a:t>
            </a:r>
            <a:endParaRPr lang="en-US" sz="1300" dirty="0"/>
          </a:p>
        </p:txBody>
      </p:sp>
      <p:sp>
        <p:nvSpPr>
          <p:cNvPr id="25" name="glass-63"/>
          <p:cNvSpPr/>
          <p:nvPr/>
        </p:nvSpPr>
        <p:spPr>
          <a:xfrm>
            <a:off x="548640" y="4672584"/>
            <a:ext cx="3200400" cy="1371600"/>
          </a:xfrm>
          <a:prstGeom prst="roundRect">
            <a:avLst>
              <a:gd name="adj" fmla="val 9333"/>
            </a:avLst>
          </a:prstGeom>
          <a:solidFill>
            <a:schemeClr val="tx2">
              <a:alpha val="78000"/>
            </a:schemeClr>
          </a:solidFill>
          <a:ln w="9525">
            <a:solidFill>
              <a:schemeClr val="bg2">
                <a:alpha val="22000"/>
              </a:schemeClr>
            </a:solidFill>
            <a:prstDash val="solid"/>
          </a:ln>
        </p:spPr>
      </p:sp>
      <p:sp>
        <p:nvSpPr>
          <p:cNvPr id="26" name="icon-ring-64"/>
          <p:cNvSpPr/>
          <p:nvPr/>
        </p:nvSpPr>
        <p:spPr>
          <a:xfrm>
            <a:off x="749808" y="4928616"/>
            <a:ext cx="566928" cy="566928"/>
          </a:xfrm>
          <a:prstGeom prst="ellipse">
            <a:avLst/>
          </a:prstGeom>
          <a:solidFill>
            <a:schemeClr val="accent5">
              <a:alpha val="18000"/>
            </a:schemeClr>
          </a:solidFill>
          <a:ln w="12700">
            <a:solidFill>
              <a:schemeClr val="accent5">
                <a:alpha val="70000"/>
              </a:schemeClr>
            </a:solidFill>
            <a:prstDash val="solid"/>
          </a:ln>
        </p:spPr>
      </p:sp>
      <p:pic>
        <p:nvPicPr>
          <p:cNvPr id="27" name="icon-65" descr="preencoded.png">    </p:cNvPr>
          <p:cNvPicPr>
            <a:picLocks noChangeAspect="1"/>
          </p:cNvPicPr>
          <p:nvPr/>
        </p:nvPicPr>
        <p:blipFill>
          <a:blip r:embed="rId5"/>
          <a:stretch>
            <a:fillRect/>
          </a:stretch>
        </p:blipFill>
        <p:spPr>
          <a:xfrm>
            <a:off x="897209" y="5076017"/>
            <a:ext cx="272125" cy="272125"/>
          </a:xfrm>
          <a:prstGeom prst="rect">
            <a:avLst/>
          </a:prstGeom>
        </p:spPr>
      </p:pic>
      <p:sp>
        <p:nvSpPr>
          <p:cNvPr id="28" name="text-66"/>
          <p:cNvSpPr txBox="1"/>
          <p:nvPr/>
        </p:nvSpPr>
        <p:spPr>
          <a:xfrm>
            <a:off x="1481328" y="4910328"/>
            <a:ext cx="2194560" cy="365760"/>
          </a:xfrm>
          <a:prstGeom prst="rect">
            <a:avLst/>
          </a:prstGeom>
          <a:noFill/>
          <a:ln/>
        </p:spPr>
        <p:txBody>
          <a:bodyPr wrap="square" lIns="0" tIns="0" rIns="0" bIns="0" rtlCol="0" anchor="t"/>
          <a:lstStyle/>
          <a:p>
            <a:pPr indent="0" marL="0">
              <a:buNone/>
            </a:pPr>
            <a:r>
              <a:rPr lang="en-US" sz="1500" b="1" dirty="0">
                <a:solidFill>
                  <a:schemeClr val="bg1"/>
                </a:solidFill>
              </a:rPr>
              <a:t>Platform engineering</a:t>
            </a:r>
            <a:endParaRPr lang="en-US" sz="1500" dirty="0"/>
          </a:p>
        </p:txBody>
      </p:sp>
      <p:sp>
        <p:nvSpPr>
          <p:cNvPr id="29" name="text-67"/>
          <p:cNvSpPr txBox="1"/>
          <p:nvPr/>
        </p:nvSpPr>
        <p:spPr>
          <a:xfrm>
            <a:off x="1481328" y="5294376"/>
            <a:ext cx="2194560" cy="640080"/>
          </a:xfrm>
          <a:prstGeom prst="rect">
            <a:avLst/>
          </a:prstGeom>
          <a:noFill/>
          <a:ln/>
        </p:spPr>
        <p:txBody>
          <a:bodyPr wrap="square" lIns="0" tIns="0" rIns="0" bIns="0" rtlCol="0" anchor="t"/>
          <a:lstStyle/>
          <a:p>
            <a:pPr indent="0" marL="0">
              <a:buNone/>
            </a:pPr>
            <a:r>
              <a:rPr lang="en-US" sz="1300" dirty="0">
                <a:solidFill>
                  <a:schemeClr val="bg2"/>
                </a:solidFill>
              </a:rPr>
              <a:t>Cost, reliability, deployment</a:t>
            </a:r>
            <a:endParaRPr lang="en-US" sz="1300" dirty="0"/>
          </a:p>
        </p:txBody>
      </p:sp>
      <p:sp>
        <p:nvSpPr>
          <p:cNvPr id="30" name="glass-68"/>
          <p:cNvSpPr/>
          <p:nvPr/>
        </p:nvSpPr>
        <p:spPr>
          <a:xfrm>
            <a:off x="3931920" y="4672584"/>
            <a:ext cx="3200400" cy="1371600"/>
          </a:xfrm>
          <a:prstGeom prst="roundRect">
            <a:avLst>
              <a:gd name="adj" fmla="val 9333"/>
            </a:avLst>
          </a:prstGeom>
          <a:solidFill>
            <a:schemeClr val="tx2">
              <a:alpha val="78000"/>
            </a:schemeClr>
          </a:solidFill>
          <a:ln w="9525">
            <a:solidFill>
              <a:schemeClr val="bg2">
                <a:alpha val="22000"/>
              </a:schemeClr>
            </a:solidFill>
            <a:prstDash val="solid"/>
          </a:ln>
        </p:spPr>
      </p:sp>
      <p:sp>
        <p:nvSpPr>
          <p:cNvPr id="31" name="icon-ring-69"/>
          <p:cNvSpPr/>
          <p:nvPr/>
        </p:nvSpPr>
        <p:spPr>
          <a:xfrm>
            <a:off x="4133088" y="4928616"/>
            <a:ext cx="566928" cy="566928"/>
          </a:xfrm>
          <a:prstGeom prst="ellipse">
            <a:avLst/>
          </a:prstGeom>
          <a:solidFill>
            <a:schemeClr val="accent6">
              <a:alpha val="18000"/>
            </a:schemeClr>
          </a:solidFill>
          <a:ln w="12700">
            <a:solidFill>
              <a:schemeClr val="accent6">
                <a:alpha val="70000"/>
              </a:schemeClr>
            </a:solidFill>
            <a:prstDash val="solid"/>
          </a:ln>
        </p:spPr>
      </p:sp>
      <p:pic>
        <p:nvPicPr>
          <p:cNvPr id="32" name="icon-70" descr="preencoded.png">    </p:cNvPr>
          <p:cNvPicPr>
            <a:picLocks noChangeAspect="1"/>
          </p:cNvPicPr>
          <p:nvPr/>
        </p:nvPicPr>
        <p:blipFill>
          <a:blip r:embed="rId6"/>
          <a:stretch>
            <a:fillRect/>
          </a:stretch>
        </p:blipFill>
        <p:spPr>
          <a:xfrm>
            <a:off x="4280489" y="5076017"/>
            <a:ext cx="272125" cy="272125"/>
          </a:xfrm>
          <a:prstGeom prst="rect">
            <a:avLst/>
          </a:prstGeom>
        </p:spPr>
      </p:pic>
      <p:sp>
        <p:nvSpPr>
          <p:cNvPr id="33" name="text-71"/>
          <p:cNvSpPr txBox="1"/>
          <p:nvPr/>
        </p:nvSpPr>
        <p:spPr>
          <a:xfrm>
            <a:off x="4864608" y="4910328"/>
            <a:ext cx="2194560" cy="365760"/>
          </a:xfrm>
          <a:prstGeom prst="rect">
            <a:avLst/>
          </a:prstGeom>
          <a:noFill/>
          <a:ln/>
        </p:spPr>
        <p:txBody>
          <a:bodyPr wrap="square" lIns="0" tIns="0" rIns="0" bIns="0" rtlCol="0" anchor="t"/>
          <a:lstStyle/>
          <a:p>
            <a:pPr indent="0" marL="0">
              <a:buNone/>
            </a:pPr>
            <a:r>
              <a:rPr lang="en-US" sz="1500" b="1" dirty="0">
                <a:solidFill>
                  <a:schemeClr val="bg1"/>
                </a:solidFill>
              </a:rPr>
              <a:t>Customers</a:t>
            </a:r>
            <a:endParaRPr lang="en-US" sz="1500" dirty="0"/>
          </a:p>
        </p:txBody>
      </p:sp>
      <p:sp>
        <p:nvSpPr>
          <p:cNvPr id="34" name="text-72"/>
          <p:cNvSpPr txBox="1"/>
          <p:nvPr/>
        </p:nvSpPr>
        <p:spPr>
          <a:xfrm>
            <a:off x="4864608" y="5294376"/>
            <a:ext cx="2194560" cy="640080"/>
          </a:xfrm>
          <a:prstGeom prst="rect">
            <a:avLst/>
          </a:prstGeom>
          <a:noFill/>
          <a:ln/>
        </p:spPr>
        <p:txBody>
          <a:bodyPr wrap="square" lIns="0" tIns="0" rIns="0" bIns="0" rtlCol="0" anchor="t"/>
          <a:lstStyle/>
          <a:p>
            <a:pPr indent="0" marL="0">
              <a:buNone/>
            </a:pPr>
            <a:r>
              <a:rPr lang="en-US" sz="1300" dirty="0">
                <a:solidFill>
                  <a:schemeClr val="bg2"/>
                </a:solidFill>
              </a:rPr>
              <a:t>Not users — carry the downside</a:t>
            </a:r>
            <a:endParaRPr lang="en-US" sz="1300" dirty="0"/>
          </a:p>
        </p:txBody>
      </p:sp>
      <p:sp>
        <p:nvSpPr>
          <p:cNvPr id="35" name="glass-73"/>
          <p:cNvSpPr/>
          <p:nvPr/>
        </p:nvSpPr>
        <p:spPr>
          <a:xfrm>
            <a:off x="7406640" y="1600200"/>
            <a:ext cx="4233672" cy="2377440"/>
          </a:xfrm>
          <a:prstGeom prst="roundRect">
            <a:avLst>
              <a:gd name="adj" fmla="val 5385"/>
            </a:avLst>
          </a:prstGeom>
          <a:solidFill>
            <a:schemeClr val="accent5">
              <a:alpha val="14000"/>
            </a:schemeClr>
          </a:solidFill>
          <a:ln w="12700">
            <a:solidFill>
              <a:schemeClr val="accent5">
                <a:alpha val="55000"/>
              </a:schemeClr>
            </a:solidFill>
            <a:prstDash val="solid"/>
          </a:ln>
        </p:spPr>
      </p:sp>
      <p:sp>
        <p:nvSpPr>
          <p:cNvPr id="36" name="text-74"/>
          <p:cNvSpPr txBox="1"/>
          <p:nvPr/>
        </p:nvSpPr>
        <p:spPr>
          <a:xfrm>
            <a:off x="7635240" y="1755648"/>
            <a:ext cx="3749040" cy="320040"/>
          </a:xfrm>
          <a:prstGeom prst="rect">
            <a:avLst/>
          </a:prstGeom>
          <a:noFill/>
          <a:ln/>
        </p:spPr>
        <p:txBody>
          <a:bodyPr wrap="square" lIns="0" tIns="0" rIns="0" bIns="0" rtlCol="0" anchor="t"/>
          <a:lstStyle/>
          <a:p>
            <a:pPr indent="0" marL="0">
              <a:buNone/>
            </a:pPr>
            <a:r>
              <a:rPr lang="en-US" sz="1700" b="1" dirty="0">
                <a:solidFill>
                  <a:schemeClr val="accent5"/>
                </a:solidFill>
                <a:latin typeface="Century Gothic" pitchFamily="34" charset="0"/>
                <a:ea typeface="Century Gothic" pitchFamily="34" charset="-122"/>
                <a:cs typeface="Century Gothic" pitchFamily="34" charset="-120"/>
              </a:rPr>
              <a:t>Benefits</a:t>
            </a:r>
            <a:endParaRPr lang="en-US" sz="1700" dirty="0"/>
          </a:p>
        </p:txBody>
      </p:sp>
      <p:sp>
        <p:nvSpPr>
          <p:cNvPr id="37" name="text-75"/>
          <p:cNvSpPr txBox="1"/>
          <p:nvPr/>
        </p:nvSpPr>
        <p:spPr>
          <a:xfrm>
            <a:off x="7635240" y="2176272"/>
            <a:ext cx="3794760" cy="17373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bg1"/>
                </a:solidFill>
              </a:rPr>
              <a:t>Creative variety stops depending on headcount</a:t>
            </a:r>
            <a:endParaRPr lang="en-US" sz="1400" dirty="0"/>
          </a:p>
          <a:p>
            <a:pPr marL="177800" indent="-177800">
              <a:spcAft>
                <a:spcPts val="600"/>
              </a:spcAft>
              <a:buSzPct val="100000"/>
              <a:buChar char="•"/>
            </a:pPr>
            <a:r>
              <a:rPr lang="en-US" sz="1400" dirty="0">
                <a:solidFill>
                  <a:schemeClr val="bg1"/>
                </a:solidFill>
              </a:rPr>
              <a:t>Compliance checked on every message, not sampled</a:t>
            </a:r>
            <a:endParaRPr lang="en-US" sz="1400" dirty="0"/>
          </a:p>
          <a:p>
            <a:pPr marL="177800" indent="-177800">
              <a:spcAft>
                <a:spcPts val="600"/>
              </a:spcAft>
              <a:buSzPct val="100000"/>
              <a:buChar char="•"/>
            </a:pPr>
            <a:r>
              <a:rPr lang="en-US" sz="1400" dirty="0">
                <a:solidFill>
                  <a:schemeClr val="bg1"/>
                </a:solidFill>
              </a:rPr>
              <a:t>Decisions become stored, auditable artifacts</a:t>
            </a:r>
            <a:endParaRPr lang="en-US" sz="1400" dirty="0"/>
          </a:p>
          <a:p>
            <a:pPr marL="177800" indent="-177800">
              <a:spcAft>
                <a:spcPts val="600"/>
              </a:spcAft>
              <a:buSzPct val="100000"/>
              <a:buChar char="•"/>
            </a:pPr>
            <a:r>
              <a:rPr lang="en-US" sz="1400" dirty="0">
                <a:solidFill>
                  <a:schemeClr val="bg1"/>
                </a:solidFill>
              </a:rPr>
              <a:t>Hours of review instead of weeks of production</a:t>
            </a:r>
            <a:endParaRPr lang="en-US" sz="1400" dirty="0"/>
          </a:p>
        </p:txBody>
      </p:sp>
      <p:sp>
        <p:nvSpPr>
          <p:cNvPr id="38" name="glass-76"/>
          <p:cNvSpPr/>
          <p:nvPr/>
        </p:nvSpPr>
        <p:spPr>
          <a:xfrm>
            <a:off x="7406640" y="4114800"/>
            <a:ext cx="4233672" cy="2075688"/>
          </a:xfrm>
          <a:prstGeom prst="roundRect">
            <a:avLst>
              <a:gd name="adj" fmla="val 6167"/>
            </a:avLst>
          </a:prstGeom>
          <a:solidFill>
            <a:schemeClr val="accent3">
              <a:alpha val="14000"/>
            </a:schemeClr>
          </a:solidFill>
          <a:ln w="12700">
            <a:solidFill>
              <a:schemeClr val="accent3">
                <a:alpha val="55000"/>
              </a:schemeClr>
            </a:solidFill>
            <a:prstDash val="solid"/>
          </a:ln>
        </p:spPr>
      </p:sp>
      <p:sp>
        <p:nvSpPr>
          <p:cNvPr id="39" name="text-77"/>
          <p:cNvSpPr txBox="1"/>
          <p:nvPr/>
        </p:nvSpPr>
        <p:spPr>
          <a:xfrm>
            <a:off x="7635240" y="4270248"/>
            <a:ext cx="3749040" cy="320040"/>
          </a:xfrm>
          <a:prstGeom prst="rect">
            <a:avLst/>
          </a:prstGeom>
          <a:noFill/>
          <a:ln/>
        </p:spPr>
        <p:txBody>
          <a:bodyPr wrap="square" lIns="0" tIns="0" rIns="0" bIns="0" rtlCol="0" anchor="t"/>
          <a:lstStyle/>
          <a:p>
            <a:pPr indent="0" marL="0">
              <a:buNone/>
            </a:pPr>
            <a:r>
              <a:rPr lang="en-US" sz="1700" b="1" dirty="0">
                <a:solidFill>
                  <a:schemeClr val="accent3"/>
                </a:solidFill>
                <a:latin typeface="Century Gothic" pitchFamily="34" charset="0"/>
                <a:ea typeface="Century Gothic" pitchFamily="34" charset="-122"/>
                <a:cs typeface="Century Gothic" pitchFamily="34" charset="-120"/>
              </a:rPr>
              <a:t>Costs we accept</a:t>
            </a:r>
            <a:endParaRPr lang="en-US" sz="1700" dirty="0"/>
          </a:p>
        </p:txBody>
      </p:sp>
      <p:sp>
        <p:nvSpPr>
          <p:cNvPr id="40" name="text-78"/>
          <p:cNvSpPr txBox="1"/>
          <p:nvPr/>
        </p:nvSpPr>
        <p:spPr>
          <a:xfrm>
            <a:off x="7635240" y="4690872"/>
            <a:ext cx="3794760" cy="14173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bg1"/>
                </a:solidFill>
              </a:rPr>
              <a:t>Real model spend — metered per stage</a:t>
            </a:r>
            <a:endParaRPr lang="en-US" sz="1400" dirty="0"/>
          </a:p>
          <a:p>
            <a:pPr marL="177800" indent="-177800">
              <a:spcAft>
                <a:spcPts val="600"/>
              </a:spcAft>
              <a:buSzPct val="100000"/>
              <a:buChar char="•"/>
            </a:pPr>
            <a:r>
              <a:rPr lang="en-US" sz="1400" dirty="0">
                <a:solidFill>
                  <a:schemeClr val="bg1"/>
                </a:solidFill>
              </a:rPr>
              <a:t>Review effort moves; it doesn’t disappear</a:t>
            </a:r>
            <a:endParaRPr lang="en-US" sz="1400" dirty="0"/>
          </a:p>
          <a:p>
            <a:pPr marL="177800" indent="-177800">
              <a:spcAft>
                <a:spcPts val="600"/>
              </a:spcAft>
              <a:buSzPct val="100000"/>
              <a:buChar char="•"/>
            </a:pPr>
            <a:r>
              <a:rPr lang="en-US" sz="1400" dirty="0">
                <a:solidFill>
                  <a:schemeClr val="bg1"/>
                </a:solidFill>
              </a:rPr>
              <a:t>One off-brand send is serious — hence the veto and the gate</a:t>
            </a:r>
            <a:endParaRPr lang="en-US" sz="1400" dirty="0"/>
          </a:p>
        </p:txBody>
      </p:sp>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79"/>
          <p:cNvSpPr txBox="1"/>
          <p:nvPr/>
        </p:nvSpPr>
        <p:spPr>
          <a:xfrm>
            <a:off x="685800" y="1600200"/>
            <a:ext cx="2743200" cy="1005840"/>
          </a:xfrm>
          <a:prstGeom prst="rect">
            <a:avLst/>
          </a:prstGeom>
          <a:noFill/>
          <a:ln/>
        </p:spPr>
        <p:txBody>
          <a:bodyPr wrap="square" lIns="0" tIns="0" rIns="0" bIns="0" rtlCol="0" anchor="t"/>
          <a:lstStyle/>
          <a:p>
            <a:pPr indent="0" marL="0">
              <a:buNone/>
            </a:pPr>
            <a:r>
              <a:rPr lang="en-US" sz="6400" b="1" dirty="0">
                <a:solidFill>
                  <a:schemeClr val="accent1"/>
                </a:solidFill>
                <a:latin typeface="Century Gothic" pitchFamily="34" charset="0"/>
                <a:ea typeface="Century Gothic" pitchFamily="34" charset="-122"/>
                <a:cs typeface="Century Gothic" pitchFamily="34" charset="-120"/>
              </a:rPr>
              <a:t>01</a:t>
            </a:r>
            <a:endParaRPr lang="en-US" sz="6400" dirty="0"/>
          </a:p>
        </p:txBody>
      </p:sp>
      <p:sp>
        <p:nvSpPr>
          <p:cNvPr id="3" name="Text 0"/>
          <p:cNvSpPr/>
          <p:nvPr>
            <p:ph idx="100" type="title" hasCustomPrompt="1"/>
          </p:nvPr>
        </p:nvSpPr>
        <p:spPr>
          <a:xfrm>
            <a:off x="685800" y="2788920"/>
            <a:ext cx="6217920" cy="868680"/>
          </a:xfrm>
          <a:prstGeom prst="rect">
            <a:avLst/>
          </a:prstGeom>
          <a:noFill/>
          <a:ln/>
        </p:spPr>
        <p:txBody>
          <a:bodyPr wrap="square" lIns="0" tIns="0" rIns="0" bIns="0" rtlCol="0" anchor="t"/>
          <a:lstStyle/>
          <a:p>
            <a:pPr algn="l" indent="0" marL="0">
              <a:buNone/>
            </a:pPr>
            <a:r>
              <a:rPr lang="en-US" sz="4400" b="1" dirty="0">
                <a:solidFill>
                  <a:schemeClr val="bg1"/>
                </a:solidFill>
                <a:latin typeface="Century Gothic" pitchFamily="34" charset="0"/>
                <a:ea typeface="Century Gothic" pitchFamily="34" charset="-122"/>
                <a:cs typeface="Century Gothic" pitchFamily="34" charset="-120"/>
              </a:rPr>
              <a:t>The solution</a:t>
            </a:r>
            <a:endParaRPr lang="en-US" sz="4400" dirty="0"/>
          </a:p>
        </p:txBody>
      </p:sp>
      <p:sp>
        <p:nvSpPr>
          <p:cNvPr id="4" name="Text 0"/>
          <p:cNvSpPr/>
          <p:nvPr>
            <p:ph idx="101" type="body" hasCustomPrompt="1"/>
          </p:nvPr>
        </p:nvSpPr>
        <p:spPr>
          <a:xfrm>
            <a:off x="685800" y="3794760"/>
            <a:ext cx="4572000" cy="1097280"/>
          </a:xfrm>
          <a:prstGeom prst="rect">
            <a:avLst/>
          </a:prstGeom>
          <a:noFill/>
          <a:ln/>
        </p:spPr>
        <p:txBody>
          <a:bodyPr wrap="square" lIns="0" tIns="0" rIns="0" bIns="0" rtlCol="0" anchor="t"/>
          <a:lstStyle/>
          <a:p>
            <a:pPr algn="l" indent="0" marL="0">
              <a:buNone/>
            </a:pPr>
            <a:r>
              <a:rPr lang="en-US" sz="1800" dirty="0">
                <a:solidFill>
                  <a:schemeClr val="bg2"/>
                </a:solidFill>
              </a:rPr>
              <a:t>Five steps, four agents and one human gate — each agent owns exactly one decision.</a:t>
            </a:r>
            <a:endParaRPr lang="en-US" sz="1800" dirty="0"/>
          </a:p>
        </p:txBody>
      </p:sp>
      <p:sp>
        <p:nvSpPr>
          <p:cNvPr id="5" name="tile-80"/>
          <p:cNvSpPr/>
          <p:nvPr/>
        </p:nvSpPr>
        <p:spPr>
          <a:xfrm>
            <a:off x="685800" y="5257800"/>
            <a:ext cx="182880" cy="182880"/>
          </a:xfrm>
          <a:prstGeom prst="roundRect">
            <a:avLst>
              <a:gd name="adj" fmla="val 20000"/>
            </a:avLst>
          </a:prstGeom>
          <a:solidFill>
            <a:schemeClr val="accent6"/>
          </a:solidFill>
          <a:ln/>
        </p:spPr>
      </p:sp>
      <p:sp>
        <p:nvSpPr>
          <p:cNvPr id="6" name="tile-81"/>
          <p:cNvSpPr/>
          <p:nvPr/>
        </p:nvSpPr>
        <p:spPr>
          <a:xfrm>
            <a:off x="941832" y="5257800"/>
            <a:ext cx="182880" cy="182880"/>
          </a:xfrm>
          <a:prstGeom prst="roundRect">
            <a:avLst>
              <a:gd name="adj" fmla="val 20000"/>
            </a:avLst>
          </a:prstGeom>
          <a:solidFill>
            <a:schemeClr val="accent3"/>
          </a:solidFill>
          <a:ln/>
        </p:spPr>
      </p:sp>
      <p:sp>
        <p:nvSpPr>
          <p:cNvPr id="7" name="tile-82"/>
          <p:cNvSpPr/>
          <p:nvPr/>
        </p:nvSpPr>
        <p:spPr>
          <a:xfrm>
            <a:off x="1197864" y="5257800"/>
            <a:ext cx="182880" cy="182880"/>
          </a:xfrm>
          <a:prstGeom prst="roundRect">
            <a:avLst>
              <a:gd name="adj" fmla="val 20000"/>
            </a:avLst>
          </a:prstGeom>
          <a:solidFill>
            <a:schemeClr val="accent2"/>
          </a:solidFill>
          <a:ln/>
        </p:spPr>
      </p:sp>
      <p:sp>
        <p:nvSpPr>
          <p:cNvPr id="8" name="tile-83"/>
          <p:cNvSpPr/>
          <p:nvPr/>
        </p:nvSpPr>
        <p:spPr>
          <a:xfrm>
            <a:off x="1453896" y="5257800"/>
            <a:ext cx="182880" cy="182880"/>
          </a:xfrm>
          <a:prstGeom prst="roundRect">
            <a:avLst>
              <a:gd name="adj" fmla="val 20000"/>
            </a:avLst>
          </a:prstGeom>
          <a:solidFill>
            <a:schemeClr val="accent5"/>
          </a:solidFill>
          <a:ln/>
        </p:spPr>
      </p:sp>
      <p:sp>
        <p:nvSpPr>
          <p:cNvPr id="9" name="tile-84"/>
          <p:cNvSpPr/>
          <p:nvPr/>
        </p:nvSpPr>
        <p:spPr>
          <a:xfrm>
            <a:off x="1709928" y="5257800"/>
            <a:ext cx="182880" cy="182880"/>
          </a:xfrm>
          <a:prstGeom prst="roundRect">
            <a:avLst>
              <a:gd name="adj" fmla="val 20000"/>
            </a:avLst>
          </a:prstGeom>
          <a:solidFill>
            <a:schemeClr val="accent4"/>
          </a:solidFill>
          <a:ln/>
        </p:spPr>
      </p:sp>
      <p:sp>
        <p:nvSpPr>
          <p:cNvPr id="10" name="tile-85"/>
          <p:cNvSpPr/>
          <p:nvPr/>
        </p:nvSpPr>
        <p:spPr>
          <a:xfrm>
            <a:off x="1965960" y="5257800"/>
            <a:ext cx="182880" cy="182880"/>
          </a:xfrm>
          <a:prstGeom prst="roundRect">
            <a:avLst>
              <a:gd name="adj" fmla="val 20000"/>
            </a:avLst>
          </a:prstGeom>
          <a:solidFill>
            <a:schemeClr val="accent1"/>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241280" cy="640080"/>
          </a:xfrm>
          <a:prstGeom prst="rect">
            <a:avLst/>
          </a:prstGeom>
          <a:noFill/>
          <a:ln/>
        </p:spPr>
        <p:txBody>
          <a:bodyPr wrap="square" lIns="0" tIns="0" rIns="0" bIns="0" rtlCol="0" anchor="ctr"/>
          <a:lstStyle/>
          <a:p>
            <a:pPr algn="l" indent="0" marL="0">
              <a:buNone/>
            </a:pPr>
            <a:r>
              <a:rPr lang="en-US" sz="2800" b="1" dirty="0">
                <a:solidFill>
                  <a:schemeClr val="bg1"/>
                </a:solidFill>
                <a:latin typeface="Century Gothic" pitchFamily="34" charset="0"/>
                <a:ea typeface="Century Gothic" pitchFamily="34" charset="-122"/>
                <a:cs typeface="Century Gothic" pitchFamily="34" charset="-120"/>
              </a:rPr>
              <a:t>Five steps, four agents, one human gate</a:t>
            </a:r>
            <a:endParaRPr lang="en-US" sz="2800" dirty="0"/>
          </a:p>
        </p:txBody>
      </p:sp>
      <p:sp>
        <p:nvSpPr>
          <p:cNvPr id="3" name="text-86"/>
          <p:cNvSpPr txBox="1"/>
          <p:nvPr/>
        </p:nvSpPr>
        <p:spPr>
          <a:xfrm>
            <a:off x="548640" y="1005840"/>
            <a:ext cx="10424160" cy="384048"/>
          </a:xfrm>
          <a:prstGeom prst="rect">
            <a:avLst/>
          </a:prstGeom>
          <a:noFill/>
          <a:ln/>
        </p:spPr>
        <p:txBody>
          <a:bodyPr wrap="square" lIns="0" tIns="0" rIns="0" bIns="0" rtlCol="0" anchor="t"/>
          <a:lstStyle/>
          <a:p>
            <a:pPr indent="0" marL="0">
              <a:buNone/>
            </a:pPr>
            <a:r>
              <a:rPr lang="en-US" sz="1600" dirty="0">
                <a:solidFill>
                  <a:schemeClr val="bg2"/>
                </a:solidFill>
              </a:rPr>
              <a:t>Each tab unlocks only after the previous stage produces a reviewable artifact — enforced in the console and the API.</a:t>
            </a:r>
            <a:endParaRPr lang="en-US" sz="1600" dirty="0"/>
          </a:p>
        </p:txBody>
      </p:sp>
      <p:sp>
        <p:nvSpPr>
          <p:cNvPr id="5" name="glass-87"/>
          <p:cNvSpPr/>
          <p:nvPr/>
        </p:nvSpPr>
        <p:spPr>
          <a:xfrm>
            <a:off x="548640" y="1572768"/>
            <a:ext cx="1993392" cy="2852928"/>
          </a:xfrm>
          <a:prstGeom prst="roundRect">
            <a:avLst>
              <a:gd name="adj" fmla="val 6422"/>
            </a:avLst>
          </a:prstGeom>
          <a:solidFill>
            <a:schemeClr val="tx2">
              <a:alpha val="78000"/>
            </a:schemeClr>
          </a:solidFill>
          <a:ln w="9525">
            <a:solidFill>
              <a:schemeClr val="bg2">
                <a:alpha val="22000"/>
              </a:schemeClr>
            </a:solidFill>
            <a:prstDash val="solid"/>
          </a:ln>
        </p:spPr>
      </p:sp>
      <p:sp>
        <p:nvSpPr>
          <p:cNvPr id="6" name="icon-ring-88"/>
          <p:cNvSpPr/>
          <p:nvPr/>
        </p:nvSpPr>
        <p:spPr>
          <a:xfrm>
            <a:off x="1197864" y="1755648"/>
            <a:ext cx="694944" cy="694944"/>
          </a:xfrm>
          <a:prstGeom prst="ellipse">
            <a:avLst/>
          </a:prstGeom>
          <a:solidFill>
            <a:schemeClr val="bg2">
              <a:alpha val="18000"/>
            </a:schemeClr>
          </a:solidFill>
          <a:ln w="12700">
            <a:solidFill>
              <a:schemeClr val="bg2">
                <a:alpha val="70000"/>
              </a:schemeClr>
            </a:solidFill>
            <a:prstDash val="solid"/>
          </a:ln>
        </p:spPr>
      </p:sp>
      <p:pic>
        <p:nvPicPr>
          <p:cNvPr id="7" name="icon-89" descr="preencoded.png">    </p:cNvPr>
          <p:cNvPicPr>
            <a:picLocks noChangeAspect="1"/>
          </p:cNvPicPr>
          <p:nvPr/>
        </p:nvPicPr>
        <p:blipFill>
          <a:blip r:embed="rId1"/>
          <a:stretch>
            <a:fillRect/>
          </a:stretch>
        </p:blipFill>
        <p:spPr>
          <a:xfrm>
            <a:off x="1378549" y="1936333"/>
            <a:ext cx="333573" cy="333573"/>
          </a:xfrm>
          <a:prstGeom prst="rect">
            <a:avLst/>
          </a:prstGeom>
        </p:spPr>
      </p:pic>
      <p:sp>
        <p:nvSpPr>
          <p:cNvPr id="8" name="text-90"/>
          <p:cNvSpPr txBox="1"/>
          <p:nvPr/>
        </p:nvSpPr>
        <p:spPr>
          <a:xfrm>
            <a:off x="713232" y="2606040"/>
            <a:ext cx="1737360" cy="256032"/>
          </a:xfrm>
          <a:prstGeom prst="rect">
            <a:avLst/>
          </a:prstGeom>
          <a:noFill/>
          <a:ln/>
        </p:spPr>
        <p:txBody>
          <a:bodyPr wrap="square" lIns="0" tIns="0" rIns="0" bIns="0" rtlCol="0" anchor="t"/>
          <a:lstStyle/>
          <a:p>
            <a:pPr indent="0" marL="0">
              <a:buNone/>
            </a:pPr>
            <a:r>
              <a:rPr lang="en-US" sz="1050" b="1" spc="100" kern="0" dirty="0">
                <a:solidFill>
                  <a:schemeClr val="bg2"/>
                </a:solidFill>
              </a:rPr>
              <a:t>01 · COMPANY INFO</a:t>
            </a:r>
            <a:endParaRPr lang="en-US" sz="1050" dirty="0"/>
          </a:p>
        </p:txBody>
      </p:sp>
      <p:sp>
        <p:nvSpPr>
          <p:cNvPr id="9" name="text-91"/>
          <p:cNvSpPr txBox="1"/>
          <p:nvPr/>
        </p:nvSpPr>
        <p:spPr>
          <a:xfrm>
            <a:off x="713232" y="2871216"/>
            <a:ext cx="1737360" cy="566928"/>
          </a:xfrm>
          <a:prstGeom prst="rect">
            <a:avLst/>
          </a:prstGeom>
          <a:noFill/>
          <a:ln/>
        </p:spPr>
        <p:txBody>
          <a:bodyPr wrap="square" lIns="0" tIns="0" rIns="0" bIns="0" rtlCol="0" anchor="t"/>
          <a:lstStyle/>
          <a:p>
            <a:pPr indent="0" marL="0">
              <a:buNone/>
            </a:pPr>
            <a:r>
              <a:rPr lang="en-US" sz="1450" b="1" dirty="0">
                <a:solidFill>
                  <a:schemeClr val="bg1"/>
                </a:solidFill>
                <a:latin typeface="Century Gothic" pitchFamily="34" charset="0"/>
                <a:ea typeface="Century Gothic" pitchFamily="34" charset="-122"/>
                <a:cs typeface="Century Gothic" pitchFamily="34" charset="-120"/>
              </a:rPr>
              <a:t>Intake</a:t>
            </a:r>
            <a:endParaRPr lang="en-US" sz="1450" dirty="0"/>
          </a:p>
        </p:txBody>
      </p:sp>
      <p:sp>
        <p:nvSpPr>
          <p:cNvPr id="10" name="text-92"/>
          <p:cNvSpPr txBox="1"/>
          <p:nvPr/>
        </p:nvSpPr>
        <p:spPr>
          <a:xfrm>
            <a:off x="713232" y="3456432"/>
            <a:ext cx="1737360" cy="914400"/>
          </a:xfrm>
          <a:prstGeom prst="rect">
            <a:avLst/>
          </a:prstGeom>
          <a:noFill/>
          <a:ln/>
        </p:spPr>
        <p:txBody>
          <a:bodyPr wrap="square" lIns="0" tIns="0" rIns="0" bIns="0" rtlCol="0" anchor="t"/>
          <a:lstStyle/>
          <a:p>
            <a:pPr indent="0" marL="0">
              <a:buNone/>
            </a:pPr>
            <a:r>
              <a:rPr lang="en-US" sz="1300" dirty="0">
                <a:solidFill>
                  <a:schemeClr val="bg2"/>
                </a:solidFill>
              </a:rPr>
              <a:t>Profile, offers and any customer CSV; columns auto-profiled</a:t>
            </a:r>
            <a:endParaRPr lang="en-US" sz="1300" dirty="0"/>
          </a:p>
        </p:txBody>
      </p:sp>
      <p:sp>
        <p:nvSpPr>
          <p:cNvPr id="11" name="connector-93"/>
          <p:cNvSpPr/>
          <p:nvPr/>
        </p:nvSpPr>
        <p:spPr>
          <a:xfrm>
            <a:off x="2569464" y="2075688"/>
            <a:ext cx="219456" cy="91"/>
          </a:xfrm>
          <a:prstGeom prst="line">
            <a:avLst/>
          </a:prstGeom>
          <a:noFill/>
          <a:ln w="25400">
            <a:solidFill>
              <a:schemeClr val="accent1"/>
            </a:solidFill>
            <a:prstDash val="solid"/>
            <a:tailEnd type="triangle"/>
          </a:ln>
        </p:spPr>
      </p:sp>
      <p:sp>
        <p:nvSpPr>
          <p:cNvPr id="12" name="connector-94"/>
          <p:cNvSpPr/>
          <p:nvPr/>
        </p:nvSpPr>
        <p:spPr>
          <a:xfrm>
            <a:off x="1545336" y="4443984"/>
            <a:ext cx="91" cy="146304"/>
          </a:xfrm>
          <a:prstGeom prst="line">
            <a:avLst/>
          </a:prstGeom>
          <a:noFill/>
          <a:ln w="15875">
            <a:solidFill>
              <a:schemeClr val="bg2"/>
            </a:solidFill>
            <a:prstDash val="solid"/>
            <a:tailEnd type="triangle"/>
          </a:ln>
        </p:spPr>
      </p:sp>
      <p:sp>
        <p:nvSpPr>
          <p:cNvPr id="13" name="glass-95"/>
          <p:cNvSpPr/>
          <p:nvPr/>
        </p:nvSpPr>
        <p:spPr>
          <a:xfrm>
            <a:off x="548640" y="4608576"/>
            <a:ext cx="1993392" cy="457200"/>
          </a:xfrm>
          <a:prstGeom prst="roundRect">
            <a:avLst>
              <a:gd name="adj" fmla="val 50000"/>
            </a:avLst>
          </a:prstGeom>
          <a:solidFill>
            <a:schemeClr val="tx2">
              <a:alpha val="90000"/>
            </a:schemeClr>
          </a:solidFill>
          <a:ln w="9525">
            <a:solidFill>
              <a:schemeClr val="bg2">
                <a:alpha val="22000"/>
              </a:schemeClr>
            </a:solidFill>
            <a:prstDash val="solid"/>
          </a:ln>
        </p:spPr>
      </p:sp>
      <p:sp>
        <p:nvSpPr>
          <p:cNvPr id="14" name="text-96"/>
          <p:cNvSpPr txBox="1"/>
          <p:nvPr/>
        </p:nvSpPr>
        <p:spPr>
          <a:xfrm>
            <a:off x="548640" y="4608576"/>
            <a:ext cx="1993392" cy="457200"/>
          </a:xfrm>
          <a:prstGeom prst="rect">
            <a:avLst/>
          </a:prstGeom>
          <a:noFill/>
          <a:ln/>
        </p:spPr>
        <p:txBody>
          <a:bodyPr wrap="square" lIns="0" tIns="0" rIns="0" bIns="0" rtlCol="0" anchor="ctr"/>
          <a:lstStyle/>
          <a:p>
            <a:pPr algn="ctr" indent="0" marL="0">
              <a:buNone/>
            </a:pPr>
            <a:r>
              <a:rPr lang="en-US" sz="1250" b="1" dirty="0">
                <a:solidFill>
                  <a:schemeClr val="bg1"/>
                </a:solidFill>
              </a:rPr>
              <a:t>Check column flags</a:t>
            </a:r>
            <a:endParaRPr lang="en-US" sz="1250" dirty="0"/>
          </a:p>
        </p:txBody>
      </p:sp>
      <p:sp>
        <p:nvSpPr>
          <p:cNvPr id="15" name="glass-97"/>
          <p:cNvSpPr/>
          <p:nvPr/>
        </p:nvSpPr>
        <p:spPr>
          <a:xfrm>
            <a:off x="2816352" y="1572768"/>
            <a:ext cx="1993392" cy="2852928"/>
          </a:xfrm>
          <a:prstGeom prst="roundRect">
            <a:avLst>
              <a:gd name="adj" fmla="val 6422"/>
            </a:avLst>
          </a:prstGeom>
          <a:solidFill>
            <a:schemeClr val="accent2">
              <a:alpha val="12000"/>
            </a:schemeClr>
          </a:solidFill>
          <a:ln w="12700">
            <a:solidFill>
              <a:schemeClr val="accent2">
                <a:alpha val="45000"/>
              </a:schemeClr>
            </a:solidFill>
            <a:prstDash val="solid"/>
          </a:ln>
        </p:spPr>
      </p:sp>
      <p:pic>
        <p:nvPicPr>
          <p:cNvPr id="16" name="icon3d-98" descr="C:\Users\himat\AppData\Local\Temp\claude\c--Ai-stuffs-MOSAIC\b3ecbbac-d885-4fec-a9f8-3496f8d06c96\scratchpad\build\assets\icon-segmentation.png">    </p:cNvPr>
          <p:cNvPicPr>
            <a:picLocks noChangeAspect="1"/>
          </p:cNvPicPr>
          <p:nvPr/>
        </p:nvPicPr>
        <p:blipFill>
          <a:blip r:embed="rId2"/>
          <a:stretch>
            <a:fillRect/>
          </a:stretch>
        </p:blipFill>
        <p:spPr>
          <a:xfrm>
            <a:off x="3383280" y="1645920"/>
            <a:ext cx="868680" cy="868680"/>
          </a:xfrm>
          <a:prstGeom prst="rect">
            <a:avLst/>
          </a:prstGeom>
        </p:spPr>
      </p:pic>
      <p:sp>
        <p:nvSpPr>
          <p:cNvPr id="17" name="text-99"/>
          <p:cNvSpPr txBox="1"/>
          <p:nvPr/>
        </p:nvSpPr>
        <p:spPr>
          <a:xfrm>
            <a:off x="2980944" y="2606040"/>
            <a:ext cx="1737360" cy="256032"/>
          </a:xfrm>
          <a:prstGeom prst="rect">
            <a:avLst/>
          </a:prstGeom>
          <a:noFill/>
          <a:ln/>
        </p:spPr>
        <p:txBody>
          <a:bodyPr wrap="square" lIns="0" tIns="0" rIns="0" bIns="0" rtlCol="0" anchor="t"/>
          <a:lstStyle/>
          <a:p>
            <a:pPr indent="0" marL="0">
              <a:buNone/>
            </a:pPr>
            <a:r>
              <a:rPr lang="en-US" sz="1050" b="1" spc="100" kern="0" dirty="0">
                <a:solidFill>
                  <a:schemeClr val="accent2"/>
                </a:solidFill>
              </a:rPr>
              <a:t>02 · SEGMENTS</a:t>
            </a:r>
            <a:endParaRPr lang="en-US" sz="1050" dirty="0"/>
          </a:p>
        </p:txBody>
      </p:sp>
      <p:sp>
        <p:nvSpPr>
          <p:cNvPr id="18" name="text-100"/>
          <p:cNvSpPr txBox="1"/>
          <p:nvPr/>
        </p:nvSpPr>
        <p:spPr>
          <a:xfrm>
            <a:off x="2980944" y="2871216"/>
            <a:ext cx="1737360" cy="566928"/>
          </a:xfrm>
          <a:prstGeom prst="rect">
            <a:avLst/>
          </a:prstGeom>
          <a:noFill/>
          <a:ln/>
        </p:spPr>
        <p:txBody>
          <a:bodyPr wrap="square" lIns="0" tIns="0" rIns="0" bIns="0" rtlCol="0" anchor="t"/>
          <a:lstStyle/>
          <a:p>
            <a:pPr indent="0" marL="0">
              <a:buNone/>
            </a:pPr>
            <a:r>
              <a:rPr lang="en-US" sz="1450" b="1" dirty="0">
                <a:solidFill>
                  <a:schemeClr val="bg1"/>
                </a:solidFill>
                <a:latin typeface="Century Gothic" pitchFamily="34" charset="0"/>
                <a:ea typeface="Century Gothic" pitchFamily="34" charset="-122"/>
                <a:cs typeface="Century Gothic" pitchFamily="34" charset="-120"/>
              </a:rPr>
              <a:t>Segmentation &amp; Insight</a:t>
            </a:r>
            <a:endParaRPr lang="en-US" sz="1450" dirty="0"/>
          </a:p>
        </p:txBody>
      </p:sp>
      <p:sp>
        <p:nvSpPr>
          <p:cNvPr id="19" name="text-101"/>
          <p:cNvSpPr txBox="1"/>
          <p:nvPr/>
        </p:nvSpPr>
        <p:spPr>
          <a:xfrm>
            <a:off x="2980944" y="3456432"/>
            <a:ext cx="1737360" cy="914400"/>
          </a:xfrm>
          <a:prstGeom prst="rect">
            <a:avLst/>
          </a:prstGeom>
          <a:noFill/>
          <a:ln/>
        </p:spPr>
        <p:txBody>
          <a:bodyPr wrap="square" lIns="0" tIns="0" rIns="0" bIns="0" rtlCol="0" anchor="t"/>
          <a:lstStyle/>
          <a:p>
            <a:pPr indent="0" marL="0">
              <a:buNone/>
            </a:pPr>
            <a:r>
              <a:rPr lang="en-US" sz="1300" dirty="0">
                <a:solidFill>
                  <a:schemeClr val="bg2"/>
                </a:solidFill>
              </a:rPr>
              <a:t>Clusters named from real traits, then bias-tested</a:t>
            </a:r>
            <a:endParaRPr lang="en-US" sz="1300" dirty="0"/>
          </a:p>
        </p:txBody>
      </p:sp>
      <p:sp>
        <p:nvSpPr>
          <p:cNvPr id="20" name="connector-102"/>
          <p:cNvSpPr/>
          <p:nvPr/>
        </p:nvSpPr>
        <p:spPr>
          <a:xfrm>
            <a:off x="4837176" y="2075688"/>
            <a:ext cx="219456" cy="91"/>
          </a:xfrm>
          <a:prstGeom prst="line">
            <a:avLst/>
          </a:prstGeom>
          <a:noFill/>
          <a:ln w="25400">
            <a:solidFill>
              <a:schemeClr val="accent1"/>
            </a:solidFill>
            <a:prstDash val="solid"/>
            <a:tailEnd type="triangle"/>
          </a:ln>
        </p:spPr>
      </p:sp>
      <p:sp>
        <p:nvSpPr>
          <p:cNvPr id="21" name="connector-103"/>
          <p:cNvSpPr/>
          <p:nvPr/>
        </p:nvSpPr>
        <p:spPr>
          <a:xfrm>
            <a:off x="3813048" y="4443984"/>
            <a:ext cx="91" cy="146304"/>
          </a:xfrm>
          <a:prstGeom prst="line">
            <a:avLst/>
          </a:prstGeom>
          <a:noFill/>
          <a:ln w="15875">
            <a:solidFill>
              <a:schemeClr val="bg2"/>
            </a:solidFill>
            <a:prstDash val="solid"/>
            <a:tailEnd type="triangle"/>
          </a:ln>
        </p:spPr>
      </p:sp>
      <p:sp>
        <p:nvSpPr>
          <p:cNvPr id="22" name="glass-104"/>
          <p:cNvSpPr/>
          <p:nvPr/>
        </p:nvSpPr>
        <p:spPr>
          <a:xfrm>
            <a:off x="2816352" y="4608576"/>
            <a:ext cx="1993392" cy="457200"/>
          </a:xfrm>
          <a:prstGeom prst="roundRect">
            <a:avLst>
              <a:gd name="adj" fmla="val 50000"/>
            </a:avLst>
          </a:prstGeom>
          <a:solidFill>
            <a:schemeClr val="tx2">
              <a:alpha val="90000"/>
            </a:schemeClr>
          </a:solidFill>
          <a:ln w="9525">
            <a:solidFill>
              <a:schemeClr val="bg2">
                <a:alpha val="22000"/>
              </a:schemeClr>
            </a:solidFill>
            <a:prstDash val="solid"/>
          </a:ln>
        </p:spPr>
      </p:sp>
      <p:sp>
        <p:nvSpPr>
          <p:cNvPr id="23" name="text-105"/>
          <p:cNvSpPr txBox="1"/>
          <p:nvPr/>
        </p:nvSpPr>
        <p:spPr>
          <a:xfrm>
            <a:off x="2816352" y="4608576"/>
            <a:ext cx="1993392" cy="457200"/>
          </a:xfrm>
          <a:prstGeom prst="rect">
            <a:avLst/>
          </a:prstGeom>
          <a:noFill/>
          <a:ln/>
        </p:spPr>
        <p:txBody>
          <a:bodyPr wrap="square" lIns="0" tIns="0" rIns="0" bIns="0" rtlCol="0" anchor="ctr"/>
          <a:lstStyle/>
          <a:p>
            <a:pPr algn="ctr" indent="0" marL="0">
              <a:buNone/>
            </a:pPr>
            <a:r>
              <a:rPr lang="en-US" sz="1250" b="1" dirty="0">
                <a:solidFill>
                  <a:schemeClr val="bg1"/>
                </a:solidFill>
              </a:rPr>
              <a:t>Review · regenerate</a:t>
            </a:r>
            <a:endParaRPr lang="en-US" sz="1250" dirty="0"/>
          </a:p>
        </p:txBody>
      </p:sp>
      <p:sp>
        <p:nvSpPr>
          <p:cNvPr id="24" name="glass-106"/>
          <p:cNvSpPr/>
          <p:nvPr/>
        </p:nvSpPr>
        <p:spPr>
          <a:xfrm>
            <a:off x="5084064" y="1572768"/>
            <a:ext cx="1993392" cy="2852928"/>
          </a:xfrm>
          <a:prstGeom prst="roundRect">
            <a:avLst>
              <a:gd name="adj" fmla="val 6422"/>
            </a:avLst>
          </a:prstGeom>
          <a:solidFill>
            <a:schemeClr val="accent3">
              <a:alpha val="12000"/>
            </a:schemeClr>
          </a:solidFill>
          <a:ln w="12700">
            <a:solidFill>
              <a:schemeClr val="accent3">
                <a:alpha val="45000"/>
              </a:schemeClr>
            </a:solidFill>
            <a:prstDash val="solid"/>
          </a:ln>
        </p:spPr>
      </p:sp>
      <p:pic>
        <p:nvPicPr>
          <p:cNvPr id="25" name="icon3d-107" descr="C:\Users\himat\AppData\Local\Temp\claude\c--Ai-stuffs-MOSAIC\b3ecbbac-d885-4fec-a9f8-3496f8d06c96\scratchpad\build\assets\icon-creative.png">    </p:cNvPr>
          <p:cNvPicPr>
            <a:picLocks noChangeAspect="1"/>
          </p:cNvPicPr>
          <p:nvPr/>
        </p:nvPicPr>
        <p:blipFill>
          <a:blip r:embed="rId3"/>
          <a:stretch>
            <a:fillRect/>
          </a:stretch>
        </p:blipFill>
        <p:spPr>
          <a:xfrm>
            <a:off x="5650992" y="1645920"/>
            <a:ext cx="868680" cy="868680"/>
          </a:xfrm>
          <a:prstGeom prst="rect">
            <a:avLst/>
          </a:prstGeom>
        </p:spPr>
      </p:pic>
      <p:sp>
        <p:nvSpPr>
          <p:cNvPr id="26" name="text-108"/>
          <p:cNvSpPr txBox="1"/>
          <p:nvPr/>
        </p:nvSpPr>
        <p:spPr>
          <a:xfrm>
            <a:off x="5248656" y="2606040"/>
            <a:ext cx="1737360" cy="256032"/>
          </a:xfrm>
          <a:prstGeom prst="rect">
            <a:avLst/>
          </a:prstGeom>
          <a:noFill/>
          <a:ln/>
        </p:spPr>
        <p:txBody>
          <a:bodyPr wrap="square" lIns="0" tIns="0" rIns="0" bIns="0" rtlCol="0" anchor="t"/>
          <a:lstStyle/>
          <a:p>
            <a:pPr indent="0" marL="0">
              <a:buNone/>
            </a:pPr>
            <a:r>
              <a:rPr lang="en-US" sz="1050" b="1" spc="100" kern="0" dirty="0">
                <a:solidFill>
                  <a:schemeClr val="accent3"/>
                </a:solidFill>
              </a:rPr>
              <a:t>03 · CREATIVE REVIEW</a:t>
            </a:r>
            <a:endParaRPr lang="en-US" sz="1050" dirty="0"/>
          </a:p>
        </p:txBody>
      </p:sp>
      <p:sp>
        <p:nvSpPr>
          <p:cNvPr id="27" name="text-109"/>
          <p:cNvSpPr txBox="1"/>
          <p:nvPr/>
        </p:nvSpPr>
        <p:spPr>
          <a:xfrm>
            <a:off x="5248656" y="2871216"/>
            <a:ext cx="1737360" cy="566928"/>
          </a:xfrm>
          <a:prstGeom prst="rect">
            <a:avLst/>
          </a:prstGeom>
          <a:noFill/>
          <a:ln/>
        </p:spPr>
        <p:txBody>
          <a:bodyPr wrap="square" lIns="0" tIns="0" rIns="0" bIns="0" rtlCol="0" anchor="t"/>
          <a:lstStyle/>
          <a:p>
            <a:pPr indent="0" marL="0">
              <a:buNone/>
            </a:pPr>
            <a:r>
              <a:rPr lang="en-US" sz="1450" b="1" dirty="0">
                <a:solidFill>
                  <a:schemeClr val="bg1"/>
                </a:solidFill>
                <a:latin typeface="Century Gothic" pitchFamily="34" charset="0"/>
                <a:ea typeface="Century Gothic" pitchFamily="34" charset="-122"/>
                <a:cs typeface="Century Gothic" pitchFamily="34" charset="-120"/>
              </a:rPr>
              <a:t>Creative Direction</a:t>
            </a:r>
            <a:endParaRPr lang="en-US" sz="1450" dirty="0"/>
          </a:p>
        </p:txBody>
      </p:sp>
      <p:sp>
        <p:nvSpPr>
          <p:cNvPr id="28" name="text-110"/>
          <p:cNvSpPr txBox="1"/>
          <p:nvPr/>
        </p:nvSpPr>
        <p:spPr>
          <a:xfrm>
            <a:off x="5248656" y="3456432"/>
            <a:ext cx="1737360" cy="914400"/>
          </a:xfrm>
          <a:prstGeom prst="rect">
            <a:avLst/>
          </a:prstGeom>
          <a:noFill/>
          <a:ln/>
        </p:spPr>
        <p:txBody>
          <a:bodyPr wrap="square" lIns="0" tIns="0" rIns="0" bIns="0" rtlCol="0" anchor="t"/>
          <a:lstStyle/>
          <a:p>
            <a:pPr indent="0" marL="0">
              <a:buNone/>
            </a:pPr>
            <a:r>
              <a:rPr lang="en-US" sz="1300" dirty="0">
                <a:solidFill>
                  <a:schemeClr val="bg2"/>
                </a:solidFill>
              </a:rPr>
              <a:t>Tone, language, CTA, design and accent per segment</a:t>
            </a:r>
            <a:endParaRPr lang="en-US" sz="1300" dirty="0"/>
          </a:p>
        </p:txBody>
      </p:sp>
      <p:sp>
        <p:nvSpPr>
          <p:cNvPr id="29" name="connector-111"/>
          <p:cNvSpPr/>
          <p:nvPr/>
        </p:nvSpPr>
        <p:spPr>
          <a:xfrm>
            <a:off x="7104888" y="2075688"/>
            <a:ext cx="219456" cy="91"/>
          </a:xfrm>
          <a:prstGeom prst="line">
            <a:avLst/>
          </a:prstGeom>
          <a:noFill/>
          <a:ln w="25400">
            <a:solidFill>
              <a:schemeClr val="accent1"/>
            </a:solidFill>
            <a:prstDash val="solid"/>
            <a:tailEnd type="triangle"/>
          </a:ln>
        </p:spPr>
      </p:sp>
      <p:sp>
        <p:nvSpPr>
          <p:cNvPr id="30" name="connector-112"/>
          <p:cNvSpPr/>
          <p:nvPr/>
        </p:nvSpPr>
        <p:spPr>
          <a:xfrm>
            <a:off x="6080760" y="4443984"/>
            <a:ext cx="91" cy="146304"/>
          </a:xfrm>
          <a:prstGeom prst="line">
            <a:avLst/>
          </a:prstGeom>
          <a:noFill/>
          <a:ln w="15875">
            <a:solidFill>
              <a:schemeClr val="bg2"/>
            </a:solidFill>
            <a:prstDash val="solid"/>
            <a:tailEnd type="triangle"/>
          </a:ln>
        </p:spPr>
      </p:sp>
      <p:sp>
        <p:nvSpPr>
          <p:cNvPr id="31" name="glass-113"/>
          <p:cNvSpPr/>
          <p:nvPr/>
        </p:nvSpPr>
        <p:spPr>
          <a:xfrm>
            <a:off x="5084064" y="4608576"/>
            <a:ext cx="1993392" cy="457200"/>
          </a:xfrm>
          <a:prstGeom prst="roundRect">
            <a:avLst>
              <a:gd name="adj" fmla="val 50000"/>
            </a:avLst>
          </a:prstGeom>
          <a:solidFill>
            <a:schemeClr val="tx2">
              <a:alpha val="90000"/>
            </a:schemeClr>
          </a:solidFill>
          <a:ln w="9525">
            <a:solidFill>
              <a:schemeClr val="bg2">
                <a:alpha val="22000"/>
              </a:schemeClr>
            </a:solidFill>
            <a:prstDash val="solid"/>
          </a:ln>
        </p:spPr>
      </p:sp>
      <p:sp>
        <p:nvSpPr>
          <p:cNvPr id="32" name="text-114"/>
          <p:cNvSpPr txBox="1"/>
          <p:nvPr/>
        </p:nvSpPr>
        <p:spPr>
          <a:xfrm>
            <a:off x="5084064" y="4608576"/>
            <a:ext cx="1993392" cy="457200"/>
          </a:xfrm>
          <a:prstGeom prst="rect">
            <a:avLst/>
          </a:prstGeom>
          <a:noFill/>
          <a:ln/>
        </p:spPr>
        <p:txBody>
          <a:bodyPr wrap="square" lIns="0" tIns="0" rIns="0" bIns="0" rtlCol="0" anchor="ctr"/>
          <a:lstStyle/>
          <a:p>
            <a:pPr algn="ctr" indent="0" marL="0">
              <a:buNone/>
            </a:pPr>
            <a:r>
              <a:rPr lang="en-US" sz="1250" b="1" dirty="0">
                <a:solidFill>
                  <a:schemeClr val="bg1"/>
                </a:solidFill>
              </a:rPr>
              <a:t>Edit direction</a:t>
            </a:r>
            <a:endParaRPr lang="en-US" sz="1250" dirty="0"/>
          </a:p>
        </p:txBody>
      </p:sp>
      <p:sp>
        <p:nvSpPr>
          <p:cNvPr id="33" name="glass-115"/>
          <p:cNvSpPr/>
          <p:nvPr/>
        </p:nvSpPr>
        <p:spPr>
          <a:xfrm>
            <a:off x="7351776" y="1572768"/>
            <a:ext cx="1993392" cy="2852928"/>
          </a:xfrm>
          <a:prstGeom prst="roundRect">
            <a:avLst>
              <a:gd name="adj" fmla="val 6422"/>
            </a:avLst>
          </a:prstGeom>
          <a:solidFill>
            <a:schemeClr val="accent4">
              <a:alpha val="12000"/>
            </a:schemeClr>
          </a:solidFill>
          <a:ln w="12700">
            <a:solidFill>
              <a:schemeClr val="accent4">
                <a:alpha val="45000"/>
              </a:schemeClr>
            </a:solidFill>
            <a:prstDash val="solid"/>
          </a:ln>
        </p:spPr>
      </p:sp>
      <p:pic>
        <p:nvPicPr>
          <p:cNvPr id="34" name="icon3d-116" descr="C:\Users\himat\AppData\Local\Temp\claude\c--Ai-stuffs-MOSAIC\b3ecbbac-d885-4fec-a9f8-3496f8d06c96\scratchpad\build\assets\icon-composer.png">    </p:cNvPr>
          <p:cNvPicPr>
            <a:picLocks noChangeAspect="1"/>
          </p:cNvPicPr>
          <p:nvPr/>
        </p:nvPicPr>
        <p:blipFill>
          <a:blip r:embed="rId4"/>
          <a:stretch>
            <a:fillRect/>
          </a:stretch>
        </p:blipFill>
        <p:spPr>
          <a:xfrm>
            <a:off x="7918704" y="1645920"/>
            <a:ext cx="868680" cy="868680"/>
          </a:xfrm>
          <a:prstGeom prst="rect">
            <a:avLst/>
          </a:prstGeom>
        </p:spPr>
      </p:pic>
      <p:sp>
        <p:nvSpPr>
          <p:cNvPr id="35" name="text-117"/>
          <p:cNvSpPr txBox="1"/>
          <p:nvPr/>
        </p:nvSpPr>
        <p:spPr>
          <a:xfrm>
            <a:off x="7516368" y="2606040"/>
            <a:ext cx="1737360" cy="256032"/>
          </a:xfrm>
          <a:prstGeom prst="rect">
            <a:avLst/>
          </a:prstGeom>
          <a:noFill/>
          <a:ln/>
        </p:spPr>
        <p:txBody>
          <a:bodyPr wrap="square" lIns="0" tIns="0" rIns="0" bIns="0" rtlCol="0" anchor="t"/>
          <a:lstStyle/>
          <a:p>
            <a:pPr indent="0" marL="0">
              <a:buNone/>
            </a:pPr>
            <a:r>
              <a:rPr lang="en-US" sz="1050" b="1" spc="100" kern="0" dirty="0">
                <a:solidFill>
                  <a:schemeClr val="accent4"/>
                </a:solidFill>
              </a:rPr>
              <a:t>04 · EMAIL REVIEW</a:t>
            </a:r>
            <a:endParaRPr lang="en-US" sz="1050" dirty="0"/>
          </a:p>
        </p:txBody>
      </p:sp>
      <p:sp>
        <p:nvSpPr>
          <p:cNvPr id="36" name="text-118"/>
          <p:cNvSpPr txBox="1"/>
          <p:nvPr/>
        </p:nvSpPr>
        <p:spPr>
          <a:xfrm>
            <a:off x="7516368" y="2871216"/>
            <a:ext cx="1737360" cy="566928"/>
          </a:xfrm>
          <a:prstGeom prst="rect">
            <a:avLst/>
          </a:prstGeom>
          <a:noFill/>
          <a:ln/>
        </p:spPr>
        <p:txBody>
          <a:bodyPr wrap="square" lIns="0" tIns="0" rIns="0" bIns="0" rtlCol="0" anchor="t"/>
          <a:lstStyle/>
          <a:p>
            <a:pPr indent="0" marL="0">
              <a:buNone/>
            </a:pPr>
            <a:r>
              <a:rPr lang="en-US" sz="1450" b="1" dirty="0">
                <a:solidFill>
                  <a:schemeClr val="bg1"/>
                </a:solidFill>
                <a:latin typeface="Century Gothic" pitchFamily="34" charset="0"/>
                <a:ea typeface="Century Gothic" pitchFamily="34" charset="-122"/>
                <a:cs typeface="Century Gothic" pitchFamily="34" charset="-120"/>
              </a:rPr>
              <a:t>Email Composer</a:t>
            </a:r>
            <a:endParaRPr lang="en-US" sz="1450" dirty="0"/>
          </a:p>
        </p:txBody>
      </p:sp>
      <p:sp>
        <p:nvSpPr>
          <p:cNvPr id="37" name="text-119"/>
          <p:cNvSpPr txBox="1"/>
          <p:nvPr/>
        </p:nvSpPr>
        <p:spPr>
          <a:xfrm>
            <a:off x="7516368" y="3456432"/>
            <a:ext cx="1737360" cy="914400"/>
          </a:xfrm>
          <a:prstGeom prst="rect">
            <a:avLst/>
          </a:prstGeom>
          <a:noFill/>
          <a:ln/>
        </p:spPr>
        <p:txBody>
          <a:bodyPr wrap="square" lIns="0" tIns="0" rIns="0" bIns="0" rtlCol="0" anchor="t"/>
          <a:lstStyle/>
          <a:p>
            <a:pPr indent="0" marL="0">
              <a:buNone/>
            </a:pPr>
            <a:r>
              <a:rPr lang="en-US" sz="1300" dirty="0">
                <a:solidFill>
                  <a:schemeClr val="bg2"/>
                </a:solidFill>
              </a:rPr>
              <a:t>Copy by the model, layout by code, offers cited</a:t>
            </a:r>
            <a:endParaRPr lang="en-US" sz="1300" dirty="0"/>
          </a:p>
        </p:txBody>
      </p:sp>
      <p:sp>
        <p:nvSpPr>
          <p:cNvPr id="38" name="connector-120"/>
          <p:cNvSpPr/>
          <p:nvPr/>
        </p:nvSpPr>
        <p:spPr>
          <a:xfrm>
            <a:off x="9372600" y="2075688"/>
            <a:ext cx="219456" cy="91"/>
          </a:xfrm>
          <a:prstGeom prst="line">
            <a:avLst/>
          </a:prstGeom>
          <a:noFill/>
          <a:ln w="25400">
            <a:solidFill>
              <a:schemeClr val="accent1"/>
            </a:solidFill>
            <a:prstDash val="solid"/>
            <a:tailEnd type="triangle"/>
          </a:ln>
        </p:spPr>
      </p:sp>
      <p:sp>
        <p:nvSpPr>
          <p:cNvPr id="39" name="connector-121"/>
          <p:cNvSpPr/>
          <p:nvPr/>
        </p:nvSpPr>
        <p:spPr>
          <a:xfrm>
            <a:off x="8348472" y="4443984"/>
            <a:ext cx="91" cy="146304"/>
          </a:xfrm>
          <a:prstGeom prst="line">
            <a:avLst/>
          </a:prstGeom>
          <a:noFill/>
          <a:ln w="15875">
            <a:solidFill>
              <a:schemeClr val="bg2"/>
            </a:solidFill>
            <a:prstDash val="solid"/>
            <a:tailEnd type="triangle"/>
          </a:ln>
        </p:spPr>
      </p:sp>
      <p:sp>
        <p:nvSpPr>
          <p:cNvPr id="40" name="glass-122"/>
          <p:cNvSpPr/>
          <p:nvPr/>
        </p:nvSpPr>
        <p:spPr>
          <a:xfrm>
            <a:off x="7351776" y="4608576"/>
            <a:ext cx="1993392" cy="457200"/>
          </a:xfrm>
          <a:prstGeom prst="roundRect">
            <a:avLst>
              <a:gd name="adj" fmla="val 50000"/>
            </a:avLst>
          </a:prstGeom>
          <a:solidFill>
            <a:schemeClr val="tx2">
              <a:alpha val="90000"/>
            </a:schemeClr>
          </a:solidFill>
          <a:ln w="9525">
            <a:solidFill>
              <a:schemeClr val="bg2">
                <a:alpha val="22000"/>
              </a:schemeClr>
            </a:solidFill>
            <a:prstDash val="solid"/>
          </a:ln>
        </p:spPr>
      </p:sp>
      <p:sp>
        <p:nvSpPr>
          <p:cNvPr id="41" name="text-123"/>
          <p:cNvSpPr txBox="1"/>
          <p:nvPr/>
        </p:nvSpPr>
        <p:spPr>
          <a:xfrm>
            <a:off x="7351776" y="4608576"/>
            <a:ext cx="1993392" cy="457200"/>
          </a:xfrm>
          <a:prstGeom prst="rect">
            <a:avLst/>
          </a:prstGeom>
          <a:noFill/>
          <a:ln/>
        </p:spPr>
        <p:txBody>
          <a:bodyPr wrap="square" lIns="0" tIns="0" rIns="0" bIns="0" rtlCol="0" anchor="ctr"/>
          <a:lstStyle/>
          <a:p>
            <a:pPr algn="ctr" indent="0" marL="0">
              <a:buNone/>
            </a:pPr>
            <a:r>
              <a:rPr lang="en-US" sz="1250" b="1" dirty="0">
                <a:solidFill>
                  <a:schemeClr val="bg1"/>
                </a:solidFill>
              </a:rPr>
              <a:t>Edit in the builder</a:t>
            </a:r>
            <a:endParaRPr lang="en-US" sz="1250" dirty="0"/>
          </a:p>
        </p:txBody>
      </p:sp>
      <p:sp>
        <p:nvSpPr>
          <p:cNvPr id="42" name="glass-124"/>
          <p:cNvSpPr/>
          <p:nvPr/>
        </p:nvSpPr>
        <p:spPr>
          <a:xfrm>
            <a:off x="9619488" y="1572768"/>
            <a:ext cx="1993392" cy="2852928"/>
          </a:xfrm>
          <a:prstGeom prst="roundRect">
            <a:avLst>
              <a:gd name="adj" fmla="val 6422"/>
            </a:avLst>
          </a:prstGeom>
          <a:solidFill>
            <a:schemeClr val="accent5">
              <a:alpha val="12000"/>
            </a:schemeClr>
          </a:solidFill>
          <a:ln w="12700">
            <a:solidFill>
              <a:schemeClr val="accent5">
                <a:alpha val="45000"/>
              </a:schemeClr>
            </a:solidFill>
            <a:prstDash val="solid"/>
          </a:ln>
        </p:spPr>
      </p:sp>
      <p:pic>
        <p:nvPicPr>
          <p:cNvPr id="43" name="icon3d-125" descr="C:\Users\himat\AppData\Local\Temp\claude\c--Ai-stuffs-MOSAIC\b3ecbbac-d885-4fec-a9f8-3496f8d06c96\scratchpad\build\assets\icon-guardian.png">    </p:cNvPr>
          <p:cNvPicPr>
            <a:picLocks noChangeAspect="1"/>
          </p:cNvPicPr>
          <p:nvPr/>
        </p:nvPicPr>
        <p:blipFill>
          <a:blip r:embed="rId5"/>
          <a:stretch>
            <a:fillRect/>
          </a:stretch>
        </p:blipFill>
        <p:spPr>
          <a:xfrm>
            <a:off x="10186416" y="1645920"/>
            <a:ext cx="868680" cy="868680"/>
          </a:xfrm>
          <a:prstGeom prst="rect">
            <a:avLst/>
          </a:prstGeom>
        </p:spPr>
      </p:pic>
      <p:sp>
        <p:nvSpPr>
          <p:cNvPr id="44" name="text-126"/>
          <p:cNvSpPr txBox="1"/>
          <p:nvPr/>
        </p:nvSpPr>
        <p:spPr>
          <a:xfrm>
            <a:off x="9784080" y="2606040"/>
            <a:ext cx="1737360" cy="256032"/>
          </a:xfrm>
          <a:prstGeom prst="rect">
            <a:avLst/>
          </a:prstGeom>
          <a:noFill/>
          <a:ln/>
        </p:spPr>
        <p:txBody>
          <a:bodyPr wrap="square" lIns="0" tIns="0" rIns="0" bIns="0" rtlCol="0" anchor="t"/>
          <a:lstStyle/>
          <a:p>
            <a:pPr indent="0" marL="0">
              <a:buNone/>
            </a:pPr>
            <a:r>
              <a:rPr lang="en-US" sz="1050" b="1" spc="100" kern="0" dirty="0">
                <a:solidFill>
                  <a:schemeClr val="accent5"/>
                </a:solidFill>
              </a:rPr>
              <a:t>05 · APPROVAL QUEUE</a:t>
            </a:r>
            <a:endParaRPr lang="en-US" sz="1050" dirty="0"/>
          </a:p>
        </p:txBody>
      </p:sp>
      <p:sp>
        <p:nvSpPr>
          <p:cNvPr id="45" name="text-127"/>
          <p:cNvSpPr txBox="1"/>
          <p:nvPr/>
        </p:nvSpPr>
        <p:spPr>
          <a:xfrm>
            <a:off x="9784080" y="2871216"/>
            <a:ext cx="1737360" cy="566928"/>
          </a:xfrm>
          <a:prstGeom prst="rect">
            <a:avLst/>
          </a:prstGeom>
          <a:noFill/>
          <a:ln/>
        </p:spPr>
        <p:txBody>
          <a:bodyPr wrap="square" lIns="0" tIns="0" rIns="0" bIns="0" rtlCol="0" anchor="t"/>
          <a:lstStyle/>
          <a:p>
            <a:pPr indent="0" marL="0">
              <a:buNone/>
            </a:pPr>
            <a:r>
              <a:rPr lang="en-US" sz="1450" b="1" dirty="0">
                <a:solidFill>
                  <a:schemeClr val="bg1"/>
                </a:solidFill>
                <a:latin typeface="Century Gothic" pitchFamily="34" charset="0"/>
                <a:ea typeface="Century Gothic" pitchFamily="34" charset="-122"/>
                <a:cs typeface="Century Gothic" pitchFamily="34" charset="-120"/>
              </a:rPr>
              <a:t>Guardian + human gate</a:t>
            </a:r>
            <a:endParaRPr lang="en-US" sz="1450" dirty="0"/>
          </a:p>
        </p:txBody>
      </p:sp>
      <p:sp>
        <p:nvSpPr>
          <p:cNvPr id="46" name="text-128"/>
          <p:cNvSpPr txBox="1"/>
          <p:nvPr/>
        </p:nvSpPr>
        <p:spPr>
          <a:xfrm>
            <a:off x="9784080" y="3456432"/>
            <a:ext cx="1737360" cy="914400"/>
          </a:xfrm>
          <a:prstGeom prst="rect">
            <a:avLst/>
          </a:prstGeom>
          <a:noFill/>
          <a:ln/>
        </p:spPr>
        <p:txBody>
          <a:bodyPr wrap="square" lIns="0" tIns="0" rIns="0" bIns="0" rtlCol="0" anchor="t"/>
          <a:lstStyle/>
          <a:p>
            <a:pPr indent="0" marL="0">
              <a:buNone/>
            </a:pPr>
            <a:r>
              <a:rPr lang="en-US" sz="1300" dirty="0">
                <a:solidFill>
                  <a:schemeClr val="bg2"/>
                </a:solidFill>
              </a:rPr>
              <a:t>10 checks → PASS / REVISE / BLOCK → a person sends</a:t>
            </a:r>
            <a:endParaRPr lang="en-US" sz="1300" dirty="0"/>
          </a:p>
        </p:txBody>
      </p:sp>
      <p:sp>
        <p:nvSpPr>
          <p:cNvPr id="47" name="connector-129"/>
          <p:cNvSpPr/>
          <p:nvPr/>
        </p:nvSpPr>
        <p:spPr>
          <a:xfrm>
            <a:off x="10616184" y="4443984"/>
            <a:ext cx="91" cy="146304"/>
          </a:xfrm>
          <a:prstGeom prst="line">
            <a:avLst/>
          </a:prstGeom>
          <a:noFill/>
          <a:ln w="15875">
            <a:solidFill>
              <a:schemeClr val="bg2"/>
            </a:solidFill>
            <a:prstDash val="solid"/>
            <a:tailEnd type="triangle"/>
          </a:ln>
        </p:spPr>
      </p:sp>
      <p:sp>
        <p:nvSpPr>
          <p:cNvPr id="48" name="glass-130"/>
          <p:cNvSpPr/>
          <p:nvPr/>
        </p:nvSpPr>
        <p:spPr>
          <a:xfrm>
            <a:off x="9619488" y="4608576"/>
            <a:ext cx="1993392" cy="457200"/>
          </a:xfrm>
          <a:prstGeom prst="roundRect">
            <a:avLst>
              <a:gd name="adj" fmla="val 50000"/>
            </a:avLst>
          </a:prstGeom>
          <a:solidFill>
            <a:schemeClr val="tx2">
              <a:alpha val="90000"/>
            </a:schemeClr>
          </a:solidFill>
          <a:ln w="9525">
            <a:solidFill>
              <a:schemeClr val="bg2">
                <a:alpha val="22000"/>
              </a:schemeClr>
            </a:solidFill>
            <a:prstDash val="solid"/>
          </a:ln>
        </p:spPr>
      </p:sp>
      <p:sp>
        <p:nvSpPr>
          <p:cNvPr id="49" name="text-131"/>
          <p:cNvSpPr txBox="1"/>
          <p:nvPr/>
        </p:nvSpPr>
        <p:spPr>
          <a:xfrm>
            <a:off x="9619488" y="4608576"/>
            <a:ext cx="1993392" cy="457200"/>
          </a:xfrm>
          <a:prstGeom prst="rect">
            <a:avLst/>
          </a:prstGeom>
          <a:noFill/>
          <a:ln/>
        </p:spPr>
        <p:txBody>
          <a:bodyPr wrap="square" lIns="0" tIns="0" rIns="0" bIns="0" rtlCol="0" anchor="ctr"/>
          <a:lstStyle/>
          <a:p>
            <a:pPr algn="ctr" indent="0" marL="0">
              <a:buNone/>
            </a:pPr>
            <a:r>
              <a:rPr lang="en-US" sz="1250" b="1" dirty="0">
                <a:solidFill>
                  <a:schemeClr val="bg1"/>
                </a:solidFill>
              </a:rPr>
              <a:t>Confirm · press Send</a:t>
            </a:r>
            <a:endParaRPr lang="en-US" sz="1250" dirty="0"/>
          </a:p>
        </p:txBody>
      </p:sp>
      <p:sp>
        <p:nvSpPr>
          <p:cNvPr id="50" name="glass-132"/>
          <p:cNvSpPr/>
          <p:nvPr/>
        </p:nvSpPr>
        <p:spPr>
          <a:xfrm>
            <a:off x="548640" y="5303520"/>
            <a:ext cx="6766560" cy="868680"/>
          </a:xfrm>
          <a:prstGeom prst="roundRect">
            <a:avLst>
              <a:gd name="adj" fmla="val 14737"/>
            </a:avLst>
          </a:prstGeom>
          <a:solidFill>
            <a:schemeClr val="accent1">
              <a:alpha val="16000"/>
            </a:schemeClr>
          </a:solidFill>
          <a:ln w="12700">
            <a:solidFill>
              <a:schemeClr val="accent1">
                <a:alpha val="40000"/>
              </a:schemeClr>
            </a:solidFill>
            <a:prstDash val="solid"/>
          </a:ln>
        </p:spPr>
      </p:sp>
      <p:sp>
        <p:nvSpPr>
          <p:cNvPr id="51" name="text-133"/>
          <p:cNvSpPr txBox="1"/>
          <p:nvPr/>
        </p:nvSpPr>
        <p:spPr>
          <a:xfrm>
            <a:off x="777240" y="5303520"/>
            <a:ext cx="6400800" cy="868680"/>
          </a:xfrm>
          <a:prstGeom prst="rect">
            <a:avLst/>
          </a:prstGeom>
          <a:noFill/>
          <a:ln/>
        </p:spPr>
        <p:txBody>
          <a:bodyPr wrap="square" lIns="0" tIns="0" rIns="0" bIns="0" rtlCol="0" anchor="ctr"/>
          <a:lstStyle/>
          <a:p>
            <a:pPr indent="0" marL="0">
              <a:buNone/>
            </a:pPr>
            <a:r>
              <a:rPr lang="en-US" sz="1350" b="1" dirty="0">
                <a:solidFill>
                  <a:schemeClr val="accent1"/>
                </a:solidFill>
              </a:rPr>
              <a:t>Decision Ledger  </a:t>
            </a:r>
            <a:pPr indent="0" marL="0">
              <a:buNone/>
            </a:pPr>
            <a:r>
              <a:rPr lang="en-US" sz="1350" dirty="0">
                <a:solidFill>
                  <a:schemeClr val="bg1"/>
                </a:solidFill>
              </a:rPr>
              <a:t>one append-only row per agent transition: stage, agent, prompt version, model version, artifacts, verdict.</a:t>
            </a:r>
            <a:endParaRPr lang="en-US" sz="1350" dirty="0"/>
          </a:p>
        </p:txBody>
      </p:sp>
      <p:sp>
        <p:nvSpPr>
          <p:cNvPr id="52" name="glass-134"/>
          <p:cNvSpPr/>
          <p:nvPr/>
        </p:nvSpPr>
        <p:spPr>
          <a:xfrm>
            <a:off x="7498080" y="5303520"/>
            <a:ext cx="4142232" cy="868680"/>
          </a:xfrm>
          <a:prstGeom prst="roundRect">
            <a:avLst>
              <a:gd name="adj" fmla="val 14737"/>
            </a:avLst>
          </a:prstGeom>
          <a:solidFill>
            <a:schemeClr val="tx2">
              <a:alpha val="78000"/>
            </a:schemeClr>
          </a:solidFill>
          <a:ln w="9525">
            <a:solidFill>
              <a:schemeClr val="bg2">
                <a:alpha val="22000"/>
              </a:schemeClr>
            </a:solidFill>
            <a:prstDash val="solid"/>
          </a:ln>
        </p:spPr>
      </p:sp>
      <p:sp>
        <p:nvSpPr>
          <p:cNvPr id="53" name="text-135"/>
          <p:cNvSpPr txBox="1"/>
          <p:nvPr/>
        </p:nvSpPr>
        <p:spPr>
          <a:xfrm>
            <a:off x="7726680" y="5303520"/>
            <a:ext cx="3749040" cy="868680"/>
          </a:xfrm>
          <a:prstGeom prst="rect">
            <a:avLst/>
          </a:prstGeom>
          <a:noFill/>
          <a:ln/>
        </p:spPr>
        <p:txBody>
          <a:bodyPr wrap="square" lIns="0" tIns="0" rIns="0" bIns="0" rtlCol="0" anchor="ctr"/>
          <a:lstStyle/>
          <a:p>
            <a:pPr indent="0" marL="0">
              <a:buNone/>
            </a:pPr>
            <a:r>
              <a:rPr lang="en-US" sz="1350" b="1" dirty="0">
                <a:solidFill>
                  <a:schemeClr val="bg1"/>
                </a:solidFill>
              </a:rPr>
              <a:t>Activity log  </a:t>
            </a:r>
            <a:pPr indent="0" marL="0">
              <a:buNone/>
            </a:pPr>
            <a:r>
              <a:rPr lang="en-US" sz="1350" dirty="0">
                <a:solidFill>
                  <a:schemeClr val="bg2"/>
                </a:solidFill>
              </a:rPr>
              <a:t>every operator action: upload, regenerate, edit, re-check, send.</a:t>
            </a:r>
            <a:endParaRPr lang="en-US" sz="1350" dirty="0"/>
          </a:p>
        </p:txBody>
      </p:sp>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241280" cy="640080"/>
          </a:xfrm>
          <a:prstGeom prst="rect">
            <a:avLst/>
          </a:prstGeom>
          <a:noFill/>
          <a:ln/>
        </p:spPr>
        <p:txBody>
          <a:bodyPr wrap="square" lIns="0" tIns="0" rIns="0" bIns="0" rtlCol="0" anchor="ctr"/>
          <a:lstStyle/>
          <a:p>
            <a:pPr algn="l" indent="0" marL="0">
              <a:buNone/>
            </a:pPr>
            <a:r>
              <a:rPr lang="en-US" sz="2800" b="1" dirty="0">
                <a:solidFill>
                  <a:schemeClr val="bg1"/>
                </a:solidFill>
                <a:latin typeface="Century Gothic" pitchFamily="34" charset="0"/>
                <a:ea typeface="Century Gothic" pitchFamily="34" charset="-122"/>
                <a:cs typeface="Century Gothic" pitchFamily="34" charset="-120"/>
              </a:rPr>
              <a:t>Each agent owns one decision</a:t>
            </a:r>
            <a:endParaRPr lang="en-US" sz="2800" dirty="0"/>
          </a:p>
        </p:txBody>
      </p:sp>
      <p:sp>
        <p:nvSpPr>
          <p:cNvPr id="3" name="text-136"/>
          <p:cNvSpPr txBox="1"/>
          <p:nvPr/>
        </p:nvSpPr>
        <p:spPr>
          <a:xfrm>
            <a:off x="548640" y="1005840"/>
            <a:ext cx="10424160" cy="384048"/>
          </a:xfrm>
          <a:prstGeom prst="rect">
            <a:avLst/>
          </a:prstGeom>
          <a:noFill/>
          <a:ln/>
        </p:spPr>
        <p:txBody>
          <a:bodyPr wrap="square" lIns="0" tIns="0" rIns="0" bIns="0" rtlCol="0" anchor="t"/>
          <a:lstStyle/>
          <a:p>
            <a:pPr indent="0" marL="0">
              <a:buNone/>
            </a:pPr>
            <a:r>
              <a:rPr lang="en-US" sz="1600" dirty="0">
                <a:solidFill>
                  <a:schemeClr val="bg2"/>
                </a:solidFill>
              </a:rPr>
              <a:t>The Orchestrator is the least autonomous part by design: fixed stage order, owns state, the ledger and the gate.</a:t>
            </a:r>
            <a:endParaRPr lang="en-US" sz="1600" dirty="0"/>
          </a:p>
        </p:txBody>
      </p:sp>
      <p:sp>
        <p:nvSpPr>
          <p:cNvPr id="5" name="glass-137"/>
          <p:cNvSpPr/>
          <p:nvPr/>
        </p:nvSpPr>
        <p:spPr>
          <a:xfrm>
            <a:off x="548640" y="1572768"/>
            <a:ext cx="5449824" cy="2212848"/>
          </a:xfrm>
          <a:prstGeom prst="roundRect">
            <a:avLst>
              <a:gd name="adj" fmla="val 5785"/>
            </a:avLst>
          </a:prstGeom>
          <a:solidFill>
            <a:schemeClr val="accent2">
              <a:alpha val="10000"/>
            </a:schemeClr>
          </a:solidFill>
          <a:ln w="12700">
            <a:solidFill>
              <a:schemeClr val="accent2">
                <a:alpha val="40000"/>
              </a:schemeClr>
            </a:solidFill>
            <a:prstDash val="solid"/>
          </a:ln>
        </p:spPr>
      </p:sp>
      <p:pic>
        <p:nvPicPr>
          <p:cNvPr id="6" name="icon3d-138" descr="C:\Users\himat\AppData\Local\Temp\claude\c--Ai-stuffs-MOSAIC\b3ecbbac-d885-4fec-a9f8-3496f8d06c96\scratchpad\build\assets\icon-segmentation.png">    </p:cNvPr>
          <p:cNvPicPr>
            <a:picLocks noChangeAspect="1"/>
          </p:cNvPicPr>
          <p:nvPr/>
        </p:nvPicPr>
        <p:blipFill>
          <a:blip r:embed="rId1"/>
          <a:stretch>
            <a:fillRect/>
          </a:stretch>
        </p:blipFill>
        <p:spPr>
          <a:xfrm>
            <a:off x="685800" y="1847088"/>
            <a:ext cx="1234440" cy="1234440"/>
          </a:xfrm>
          <a:prstGeom prst="rect">
            <a:avLst/>
          </a:prstGeom>
        </p:spPr>
      </p:pic>
      <p:sp>
        <p:nvSpPr>
          <p:cNvPr id="7" name="text-139"/>
          <p:cNvSpPr txBox="1"/>
          <p:nvPr/>
        </p:nvSpPr>
        <p:spPr>
          <a:xfrm>
            <a:off x="2084832" y="1755648"/>
            <a:ext cx="3794760" cy="347472"/>
          </a:xfrm>
          <a:prstGeom prst="rect">
            <a:avLst/>
          </a:prstGeom>
          <a:noFill/>
          <a:ln/>
        </p:spPr>
        <p:txBody>
          <a:bodyPr wrap="square" lIns="0" tIns="0" rIns="0" bIns="0" rtlCol="0" anchor="t"/>
          <a:lstStyle/>
          <a:p>
            <a:pPr indent="0" marL="0">
              <a:buNone/>
            </a:pPr>
            <a:r>
              <a:rPr lang="en-US" sz="1600" b="1" dirty="0">
                <a:solidFill>
                  <a:schemeClr val="bg1"/>
                </a:solidFill>
                <a:latin typeface="Century Gothic" pitchFamily="34" charset="0"/>
                <a:ea typeface="Century Gothic" pitchFamily="34" charset="-122"/>
                <a:cs typeface="Century Gothic" pitchFamily="34" charset="-120"/>
              </a:rPr>
              <a:t>Segmentation &amp; Insight</a:t>
            </a:r>
            <a:endParaRPr lang="en-US" sz="1600" dirty="0"/>
          </a:p>
        </p:txBody>
      </p:sp>
      <p:sp>
        <p:nvSpPr>
          <p:cNvPr id="8" name="chip-140"/>
          <p:cNvSpPr/>
          <p:nvPr/>
        </p:nvSpPr>
        <p:spPr>
          <a:xfrm>
            <a:off x="2084832" y="2148840"/>
            <a:ext cx="1188720" cy="274320"/>
          </a:xfrm>
          <a:prstGeom prst="roundRect">
            <a:avLst>
              <a:gd name="adj" fmla="val 50000"/>
            </a:avLst>
          </a:prstGeom>
          <a:solidFill>
            <a:schemeClr val="accent2">
              <a:alpha val="20000"/>
            </a:schemeClr>
          </a:solidFill>
          <a:ln w="9525">
            <a:solidFill>
              <a:schemeClr val="accent2">
                <a:alpha val="60000"/>
              </a:schemeClr>
            </a:solidFill>
            <a:prstDash val="solid"/>
          </a:ln>
        </p:spPr>
      </p:sp>
      <p:sp>
        <p:nvSpPr>
          <p:cNvPr id="9" name="text-141"/>
          <p:cNvSpPr txBox="1"/>
          <p:nvPr/>
        </p:nvSpPr>
        <p:spPr>
          <a:xfrm>
            <a:off x="2084832" y="2148840"/>
            <a:ext cx="1188720" cy="274320"/>
          </a:xfrm>
          <a:prstGeom prst="rect">
            <a:avLst/>
          </a:prstGeom>
          <a:noFill/>
          <a:ln/>
        </p:spPr>
        <p:txBody>
          <a:bodyPr wrap="square" lIns="0" tIns="0" rIns="0" bIns="0" rtlCol="0" anchor="ctr"/>
          <a:lstStyle/>
          <a:p>
            <a:pPr algn="ctr" indent="0" marL="0">
              <a:buNone/>
            </a:pPr>
            <a:r>
              <a:rPr lang="en-US" sz="1100" b="1" dirty="0">
                <a:solidFill>
                  <a:schemeClr val="accent2"/>
                </a:solidFill>
              </a:rPr>
              <a:t>seg-v3</a:t>
            </a:r>
            <a:endParaRPr lang="en-US" sz="1100" dirty="0"/>
          </a:p>
        </p:txBody>
      </p:sp>
      <p:sp>
        <p:nvSpPr>
          <p:cNvPr id="10" name="chip-142"/>
          <p:cNvSpPr/>
          <p:nvPr/>
        </p:nvSpPr>
        <p:spPr>
          <a:xfrm>
            <a:off x="3364992" y="2148840"/>
            <a:ext cx="566928" cy="274320"/>
          </a:xfrm>
          <a:prstGeom prst="roundRect">
            <a:avLst>
              <a:gd name="adj" fmla="val 50000"/>
            </a:avLst>
          </a:prstGeom>
          <a:solidFill>
            <a:schemeClr val="bg2">
              <a:alpha val="20000"/>
            </a:schemeClr>
          </a:solidFill>
          <a:ln w="9525">
            <a:solidFill>
              <a:schemeClr val="bg2">
                <a:alpha val="60000"/>
              </a:schemeClr>
            </a:solidFill>
            <a:prstDash val="solid"/>
          </a:ln>
        </p:spPr>
      </p:sp>
      <p:sp>
        <p:nvSpPr>
          <p:cNvPr id="11" name="text-143"/>
          <p:cNvSpPr txBox="1"/>
          <p:nvPr/>
        </p:nvSpPr>
        <p:spPr>
          <a:xfrm>
            <a:off x="3364992" y="2148840"/>
            <a:ext cx="566928" cy="274320"/>
          </a:xfrm>
          <a:prstGeom prst="rect">
            <a:avLst/>
          </a:prstGeom>
          <a:noFill/>
          <a:ln/>
        </p:spPr>
        <p:txBody>
          <a:bodyPr wrap="square" lIns="0" tIns="0" rIns="0" bIns="0" rtlCol="0" anchor="ctr"/>
          <a:lstStyle/>
          <a:p>
            <a:pPr algn="ctr" indent="0" marL="0">
              <a:buNone/>
            </a:pPr>
            <a:r>
              <a:rPr lang="en-US" sz="1100" b="1" dirty="0">
                <a:solidFill>
                  <a:schemeClr val="bg2"/>
                </a:solidFill>
              </a:rPr>
              <a:t>OQQ</a:t>
            </a:r>
            <a:endParaRPr lang="en-US" sz="1100" dirty="0"/>
          </a:p>
        </p:txBody>
      </p:sp>
      <p:sp>
        <p:nvSpPr>
          <p:cNvPr id="12" name="text-144"/>
          <p:cNvSpPr txBox="1"/>
          <p:nvPr/>
        </p:nvSpPr>
        <p:spPr>
          <a:xfrm>
            <a:off x="2084832" y="2514600"/>
            <a:ext cx="3794760" cy="310896"/>
          </a:xfrm>
          <a:prstGeom prst="rect">
            <a:avLst/>
          </a:prstGeom>
          <a:noFill/>
          <a:ln/>
        </p:spPr>
        <p:txBody>
          <a:bodyPr wrap="square" lIns="0" tIns="0" rIns="0" bIns="0" rtlCol="0" anchor="t"/>
          <a:lstStyle/>
          <a:p>
            <a:pPr indent="0" marL="0">
              <a:buNone/>
            </a:pPr>
            <a:r>
              <a:rPr lang="en-US" sz="1300" i="1" dirty="0">
                <a:solidFill>
                  <a:schemeClr val="bg2"/>
                </a:solidFill>
              </a:rPr>
              <a:t>Find micro-segments in any CSV and explain each</a:t>
            </a:r>
            <a:endParaRPr lang="en-US" sz="1300" dirty="0"/>
          </a:p>
        </p:txBody>
      </p:sp>
      <p:sp>
        <p:nvSpPr>
          <p:cNvPr id="13" name="text-145"/>
          <p:cNvSpPr txBox="1"/>
          <p:nvPr/>
        </p:nvSpPr>
        <p:spPr>
          <a:xfrm>
            <a:off x="2084832" y="2871216"/>
            <a:ext cx="3794760" cy="841248"/>
          </a:xfrm>
          <a:prstGeom prst="rect">
            <a:avLst/>
          </a:prstGeom>
          <a:noFill/>
          <a:ln/>
        </p:spPr>
        <p:txBody>
          <a:bodyPr wrap="square" lIns="0" tIns="0" rIns="0" bIns="0" rtlCol="0" anchor="t"/>
          <a:lstStyle/>
          <a:p>
            <a:pPr indent="0" marL="0">
              <a:spcAft>
                <a:spcPts val="200"/>
              </a:spcAft>
              <a:buNone/>
            </a:pPr>
            <a:r>
              <a:rPr lang="en-US" sz="1250" b="1" dirty="0">
                <a:solidFill>
                  <a:schemeClr val="accent2"/>
                </a:solidFill>
              </a:rPr>
              <a:t>Model  </a:t>
            </a:r>
            <a:pPr indent="0" marL="0">
              <a:spcAft>
                <a:spcPts val="200"/>
              </a:spcAft>
              <a:buNone/>
            </a:pPr>
            <a:r>
              <a:rPr lang="en-US" sz="1250" dirty="0">
                <a:solidFill>
                  <a:schemeClr val="bg1"/>
                </a:solidFill>
              </a:rPr>
              <a:t>HDBSCAN + embeddings; gpt-5.6-luna names clusters</a:t>
            </a:r>
            <a:endParaRPr lang="en-US" sz="1250" dirty="0"/>
          </a:p>
          <a:p>
            <a:pPr indent="0" marL="0">
              <a:spcAft>
                <a:spcPts val="200"/>
              </a:spcAft>
              <a:buNone/>
            </a:pPr>
            <a:r>
              <a:rPr lang="en-US" sz="1250" b="1" dirty="0">
                <a:solidFill>
                  <a:schemeClr val="accent2"/>
                </a:solidFill>
              </a:rPr>
              <a:t>Tools  </a:t>
            </a:r>
            <a:pPr indent="0" marL="0">
              <a:spcAft>
                <a:spcPts val="200"/>
              </a:spcAft>
              <a:buNone/>
            </a:pPr>
            <a:r>
              <a:rPr lang="en-US" sz="1250" dirty="0">
                <a:solidFill>
                  <a:schemeClr val="bg1"/>
                </a:solidFill>
              </a:rPr>
              <a:t>column profiler, PCA, z-scores, proxy test</a:t>
            </a:r>
            <a:endParaRPr lang="en-US" sz="1250" dirty="0"/>
          </a:p>
          <a:p>
            <a:pPr indent="0" marL="0">
              <a:spcAft>
                <a:spcPts val="200"/>
              </a:spcAft>
              <a:buNone/>
            </a:pPr>
            <a:r>
              <a:rPr lang="en-US" sz="1250" b="1" dirty="0">
                <a:solidFill>
                  <a:schemeClr val="accent2"/>
                </a:solidFill>
              </a:rPr>
              <a:t>Autonomy  </a:t>
            </a:r>
            <a:pPr indent="0" marL="0">
              <a:spcAft>
                <a:spcPts val="200"/>
              </a:spcAft>
              <a:buNone/>
            </a:pPr>
            <a:r>
              <a:rPr lang="en-US" sz="1250" dirty="0">
                <a:solidFill>
                  <a:schemeClr val="bg1"/>
                </a:solidFill>
              </a:rPr>
              <a:t>picks features, cluster count and noise</a:t>
            </a:r>
            <a:endParaRPr lang="en-US" sz="1250" dirty="0"/>
          </a:p>
        </p:txBody>
      </p:sp>
      <p:sp>
        <p:nvSpPr>
          <p:cNvPr id="14" name="glass-146"/>
          <p:cNvSpPr/>
          <p:nvPr/>
        </p:nvSpPr>
        <p:spPr>
          <a:xfrm>
            <a:off x="6190488" y="1572768"/>
            <a:ext cx="5449824" cy="2212848"/>
          </a:xfrm>
          <a:prstGeom prst="roundRect">
            <a:avLst>
              <a:gd name="adj" fmla="val 5785"/>
            </a:avLst>
          </a:prstGeom>
          <a:solidFill>
            <a:schemeClr val="accent3">
              <a:alpha val="10000"/>
            </a:schemeClr>
          </a:solidFill>
          <a:ln w="12700">
            <a:solidFill>
              <a:schemeClr val="accent3">
                <a:alpha val="40000"/>
              </a:schemeClr>
            </a:solidFill>
            <a:prstDash val="solid"/>
          </a:ln>
        </p:spPr>
      </p:sp>
      <p:pic>
        <p:nvPicPr>
          <p:cNvPr id="15" name="icon3d-147" descr="C:\Users\himat\AppData\Local\Temp\claude\c--Ai-stuffs-MOSAIC\b3ecbbac-d885-4fec-a9f8-3496f8d06c96\scratchpad\build\assets\icon-creative.png">    </p:cNvPr>
          <p:cNvPicPr>
            <a:picLocks noChangeAspect="1"/>
          </p:cNvPicPr>
          <p:nvPr/>
        </p:nvPicPr>
        <p:blipFill>
          <a:blip r:embed="rId2"/>
          <a:stretch>
            <a:fillRect/>
          </a:stretch>
        </p:blipFill>
        <p:spPr>
          <a:xfrm>
            <a:off x="6327648" y="1847088"/>
            <a:ext cx="1234440" cy="1234440"/>
          </a:xfrm>
          <a:prstGeom prst="rect">
            <a:avLst/>
          </a:prstGeom>
        </p:spPr>
      </p:pic>
      <p:sp>
        <p:nvSpPr>
          <p:cNvPr id="16" name="text-148"/>
          <p:cNvSpPr txBox="1"/>
          <p:nvPr/>
        </p:nvSpPr>
        <p:spPr>
          <a:xfrm>
            <a:off x="7726680" y="1755648"/>
            <a:ext cx="3794760" cy="347472"/>
          </a:xfrm>
          <a:prstGeom prst="rect">
            <a:avLst/>
          </a:prstGeom>
          <a:noFill/>
          <a:ln/>
        </p:spPr>
        <p:txBody>
          <a:bodyPr wrap="square" lIns="0" tIns="0" rIns="0" bIns="0" rtlCol="0" anchor="t"/>
          <a:lstStyle/>
          <a:p>
            <a:pPr indent="0" marL="0">
              <a:buNone/>
            </a:pPr>
            <a:r>
              <a:rPr lang="en-US" sz="1600" b="1" dirty="0">
                <a:solidFill>
                  <a:schemeClr val="bg1"/>
                </a:solidFill>
                <a:latin typeface="Century Gothic" pitchFamily="34" charset="0"/>
                <a:ea typeface="Century Gothic" pitchFamily="34" charset="-122"/>
                <a:cs typeface="Century Gothic" pitchFamily="34" charset="-120"/>
              </a:rPr>
              <a:t>Creative Direction</a:t>
            </a:r>
            <a:endParaRPr lang="en-US" sz="1600" dirty="0"/>
          </a:p>
        </p:txBody>
      </p:sp>
      <p:sp>
        <p:nvSpPr>
          <p:cNvPr id="17" name="chip-149"/>
          <p:cNvSpPr/>
          <p:nvPr/>
        </p:nvSpPr>
        <p:spPr>
          <a:xfrm>
            <a:off x="7726680" y="2148840"/>
            <a:ext cx="1188720" cy="274320"/>
          </a:xfrm>
          <a:prstGeom prst="roundRect">
            <a:avLst>
              <a:gd name="adj" fmla="val 50000"/>
            </a:avLst>
          </a:prstGeom>
          <a:solidFill>
            <a:schemeClr val="accent3">
              <a:alpha val="20000"/>
            </a:schemeClr>
          </a:solidFill>
          <a:ln w="9525">
            <a:solidFill>
              <a:schemeClr val="accent3">
                <a:alpha val="60000"/>
              </a:schemeClr>
            </a:solidFill>
            <a:prstDash val="solid"/>
          </a:ln>
        </p:spPr>
      </p:sp>
      <p:sp>
        <p:nvSpPr>
          <p:cNvPr id="18" name="text-150"/>
          <p:cNvSpPr txBox="1"/>
          <p:nvPr/>
        </p:nvSpPr>
        <p:spPr>
          <a:xfrm>
            <a:off x="7726680" y="2148840"/>
            <a:ext cx="1188720" cy="274320"/>
          </a:xfrm>
          <a:prstGeom prst="rect">
            <a:avLst/>
          </a:prstGeom>
          <a:noFill/>
          <a:ln/>
        </p:spPr>
        <p:txBody>
          <a:bodyPr wrap="square" lIns="0" tIns="0" rIns="0" bIns="0" rtlCol="0" anchor="ctr"/>
          <a:lstStyle/>
          <a:p>
            <a:pPr algn="ctr" indent="0" marL="0">
              <a:buNone/>
            </a:pPr>
            <a:r>
              <a:rPr lang="en-US" sz="1100" b="1" dirty="0">
                <a:solidFill>
                  <a:schemeClr val="accent3"/>
                </a:solidFill>
              </a:rPr>
              <a:t>direction-v2</a:t>
            </a:r>
            <a:endParaRPr lang="en-US" sz="1100" dirty="0"/>
          </a:p>
        </p:txBody>
      </p:sp>
      <p:sp>
        <p:nvSpPr>
          <p:cNvPr id="19" name="chip-151"/>
          <p:cNvSpPr/>
          <p:nvPr/>
        </p:nvSpPr>
        <p:spPr>
          <a:xfrm>
            <a:off x="9006840" y="2148840"/>
            <a:ext cx="566928" cy="274320"/>
          </a:xfrm>
          <a:prstGeom prst="roundRect">
            <a:avLst>
              <a:gd name="adj" fmla="val 50000"/>
            </a:avLst>
          </a:prstGeom>
          <a:solidFill>
            <a:schemeClr val="bg2">
              <a:alpha val="20000"/>
            </a:schemeClr>
          </a:solidFill>
          <a:ln w="9525">
            <a:solidFill>
              <a:schemeClr val="bg2">
                <a:alpha val="60000"/>
              </a:schemeClr>
            </a:solidFill>
            <a:prstDash val="solid"/>
          </a:ln>
        </p:spPr>
      </p:sp>
      <p:sp>
        <p:nvSpPr>
          <p:cNvPr id="20" name="text-152"/>
          <p:cNvSpPr txBox="1"/>
          <p:nvPr/>
        </p:nvSpPr>
        <p:spPr>
          <a:xfrm>
            <a:off x="9006840" y="2148840"/>
            <a:ext cx="566928" cy="274320"/>
          </a:xfrm>
          <a:prstGeom prst="rect">
            <a:avLst/>
          </a:prstGeom>
          <a:noFill/>
          <a:ln/>
        </p:spPr>
        <p:txBody>
          <a:bodyPr wrap="square" lIns="0" tIns="0" rIns="0" bIns="0" rtlCol="0" anchor="ctr"/>
          <a:lstStyle/>
          <a:p>
            <a:pPr algn="ctr" indent="0" marL="0">
              <a:buNone/>
            </a:pPr>
            <a:r>
              <a:rPr lang="en-US" sz="1100" b="1" dirty="0">
                <a:solidFill>
                  <a:schemeClr val="bg2"/>
                </a:solidFill>
              </a:rPr>
              <a:t>ABP</a:t>
            </a:r>
            <a:endParaRPr lang="en-US" sz="1100" dirty="0"/>
          </a:p>
        </p:txBody>
      </p:sp>
      <p:sp>
        <p:nvSpPr>
          <p:cNvPr id="21" name="text-153"/>
          <p:cNvSpPr txBox="1"/>
          <p:nvPr/>
        </p:nvSpPr>
        <p:spPr>
          <a:xfrm>
            <a:off x="7726680" y="2514600"/>
            <a:ext cx="3794760" cy="310896"/>
          </a:xfrm>
          <a:prstGeom prst="rect">
            <a:avLst/>
          </a:prstGeom>
          <a:noFill/>
          <a:ln/>
        </p:spPr>
        <p:txBody>
          <a:bodyPr wrap="square" lIns="0" tIns="0" rIns="0" bIns="0" rtlCol="0" anchor="t"/>
          <a:lstStyle/>
          <a:p>
            <a:pPr indent="0" marL="0">
              <a:buNone/>
            </a:pPr>
            <a:r>
              <a:rPr lang="en-US" sz="1300" i="1" dirty="0">
                <a:solidFill>
                  <a:schemeClr val="bg2"/>
                </a:solidFill>
              </a:rPr>
              <a:t>Turn each segment into a short written creative direction</a:t>
            </a:r>
            <a:endParaRPr lang="en-US" sz="1300" dirty="0"/>
          </a:p>
        </p:txBody>
      </p:sp>
      <p:sp>
        <p:nvSpPr>
          <p:cNvPr id="22" name="text-154"/>
          <p:cNvSpPr txBox="1"/>
          <p:nvPr/>
        </p:nvSpPr>
        <p:spPr>
          <a:xfrm>
            <a:off x="7726680" y="2871216"/>
            <a:ext cx="3794760" cy="841248"/>
          </a:xfrm>
          <a:prstGeom prst="rect">
            <a:avLst/>
          </a:prstGeom>
          <a:noFill/>
          <a:ln/>
        </p:spPr>
        <p:txBody>
          <a:bodyPr wrap="square" lIns="0" tIns="0" rIns="0" bIns="0" rtlCol="0" anchor="t"/>
          <a:lstStyle/>
          <a:p>
            <a:pPr indent="0" marL="0">
              <a:spcAft>
                <a:spcPts val="200"/>
              </a:spcAft>
              <a:buNone/>
            </a:pPr>
            <a:r>
              <a:rPr lang="en-US" sz="1250" b="1" dirty="0">
                <a:solidFill>
                  <a:schemeClr val="accent3"/>
                </a:solidFill>
              </a:rPr>
              <a:t>Model  </a:t>
            </a:r>
            <a:pPr indent="0" marL="0">
              <a:spcAft>
                <a:spcPts val="200"/>
              </a:spcAft>
              <a:buNone/>
            </a:pPr>
            <a:r>
              <a:rPr lang="en-US" sz="1250" dirty="0">
                <a:solidFill>
                  <a:schemeClr val="bg1"/>
                </a:solidFill>
              </a:rPr>
              <a:t>gpt-5.6-luna, strict JSON schema</a:t>
            </a:r>
            <a:endParaRPr lang="en-US" sz="1250" dirty="0"/>
          </a:p>
          <a:p>
            <a:pPr indent="0" marL="0">
              <a:spcAft>
                <a:spcPts val="200"/>
              </a:spcAft>
              <a:buNone/>
            </a:pPr>
            <a:r>
              <a:rPr lang="en-US" sz="1250" b="1" dirty="0">
                <a:solidFill>
                  <a:schemeClr val="accent3"/>
                </a:solidFill>
              </a:rPr>
              <a:t>Tools  </a:t>
            </a:r>
            <a:pPr indent="0" marL="0">
              <a:spcAft>
                <a:spcPts val="200"/>
              </a:spcAft>
              <a:buNone/>
            </a:pPr>
            <a:r>
              <a:rPr lang="en-US" sz="1250" dirty="0">
                <a:solidFill>
                  <a:schemeClr val="bg1"/>
                </a:solidFill>
              </a:rPr>
              <a:t>brand profile, palette store, hex validator</a:t>
            </a:r>
            <a:endParaRPr lang="en-US" sz="1250" dirty="0"/>
          </a:p>
          <a:p>
            <a:pPr indent="0" marL="0">
              <a:spcAft>
                <a:spcPts val="200"/>
              </a:spcAft>
              <a:buNone/>
            </a:pPr>
            <a:r>
              <a:rPr lang="en-US" sz="1250" b="1" dirty="0">
                <a:solidFill>
                  <a:schemeClr val="accent3"/>
                </a:solidFill>
              </a:rPr>
              <a:t>Autonomy  </a:t>
            </a:r>
            <a:pPr indent="0" marL="0">
              <a:spcAft>
                <a:spcPts val="200"/>
              </a:spcAft>
              <a:buNone/>
            </a:pPr>
            <a:r>
              <a:rPr lang="en-US" sz="1250" dirty="0">
                <a:solidFill>
                  <a:schemeClr val="bg1"/>
                </a:solidFill>
              </a:rPr>
              <a:t>tone, CTA style, design language, accent</a:t>
            </a:r>
            <a:endParaRPr lang="en-US" sz="1250" dirty="0"/>
          </a:p>
        </p:txBody>
      </p:sp>
      <p:sp>
        <p:nvSpPr>
          <p:cNvPr id="23" name="glass-155"/>
          <p:cNvSpPr/>
          <p:nvPr/>
        </p:nvSpPr>
        <p:spPr>
          <a:xfrm>
            <a:off x="548640" y="3931920"/>
            <a:ext cx="5449824" cy="2212848"/>
          </a:xfrm>
          <a:prstGeom prst="roundRect">
            <a:avLst>
              <a:gd name="adj" fmla="val 5785"/>
            </a:avLst>
          </a:prstGeom>
          <a:solidFill>
            <a:schemeClr val="accent4">
              <a:alpha val="10000"/>
            </a:schemeClr>
          </a:solidFill>
          <a:ln w="12700">
            <a:solidFill>
              <a:schemeClr val="accent4">
                <a:alpha val="40000"/>
              </a:schemeClr>
            </a:solidFill>
            <a:prstDash val="solid"/>
          </a:ln>
        </p:spPr>
      </p:sp>
      <p:pic>
        <p:nvPicPr>
          <p:cNvPr id="24" name="icon3d-156" descr="C:\Users\himat\AppData\Local\Temp\claude\c--Ai-stuffs-MOSAIC\b3ecbbac-d885-4fec-a9f8-3496f8d06c96\scratchpad\build\assets\icon-composer.png">    </p:cNvPr>
          <p:cNvPicPr>
            <a:picLocks noChangeAspect="1"/>
          </p:cNvPicPr>
          <p:nvPr/>
        </p:nvPicPr>
        <p:blipFill>
          <a:blip r:embed="rId3"/>
          <a:stretch>
            <a:fillRect/>
          </a:stretch>
        </p:blipFill>
        <p:spPr>
          <a:xfrm>
            <a:off x="685800" y="4206240"/>
            <a:ext cx="1234440" cy="1234440"/>
          </a:xfrm>
          <a:prstGeom prst="rect">
            <a:avLst/>
          </a:prstGeom>
        </p:spPr>
      </p:pic>
      <p:sp>
        <p:nvSpPr>
          <p:cNvPr id="25" name="text-157"/>
          <p:cNvSpPr txBox="1"/>
          <p:nvPr/>
        </p:nvSpPr>
        <p:spPr>
          <a:xfrm>
            <a:off x="2084832" y="4114800"/>
            <a:ext cx="3794760" cy="347472"/>
          </a:xfrm>
          <a:prstGeom prst="rect">
            <a:avLst/>
          </a:prstGeom>
          <a:noFill/>
          <a:ln/>
        </p:spPr>
        <p:txBody>
          <a:bodyPr wrap="square" lIns="0" tIns="0" rIns="0" bIns="0" rtlCol="0" anchor="t"/>
          <a:lstStyle/>
          <a:p>
            <a:pPr indent="0" marL="0">
              <a:buNone/>
            </a:pPr>
            <a:r>
              <a:rPr lang="en-US" sz="1600" b="1" dirty="0">
                <a:solidFill>
                  <a:schemeClr val="bg1"/>
                </a:solidFill>
                <a:latin typeface="Century Gothic" pitchFamily="34" charset="0"/>
                <a:ea typeface="Century Gothic" pitchFamily="34" charset="-122"/>
                <a:cs typeface="Century Gothic" pitchFamily="34" charset="-120"/>
              </a:rPr>
              <a:t>Email Composer &amp; Assembly</a:t>
            </a:r>
            <a:endParaRPr lang="en-US" sz="1600" dirty="0"/>
          </a:p>
        </p:txBody>
      </p:sp>
      <p:sp>
        <p:nvSpPr>
          <p:cNvPr id="26" name="chip-158"/>
          <p:cNvSpPr/>
          <p:nvPr/>
        </p:nvSpPr>
        <p:spPr>
          <a:xfrm>
            <a:off x="2084832" y="4507992"/>
            <a:ext cx="1188720" cy="274320"/>
          </a:xfrm>
          <a:prstGeom prst="roundRect">
            <a:avLst>
              <a:gd name="adj" fmla="val 50000"/>
            </a:avLst>
          </a:prstGeom>
          <a:solidFill>
            <a:schemeClr val="accent4">
              <a:alpha val="20000"/>
            </a:schemeClr>
          </a:solidFill>
          <a:ln w="9525">
            <a:solidFill>
              <a:schemeClr val="accent4">
                <a:alpha val="60000"/>
              </a:schemeClr>
            </a:solidFill>
            <a:prstDash val="solid"/>
          </a:ln>
        </p:spPr>
      </p:sp>
      <p:sp>
        <p:nvSpPr>
          <p:cNvPr id="27" name="text-159"/>
          <p:cNvSpPr txBox="1"/>
          <p:nvPr/>
        </p:nvSpPr>
        <p:spPr>
          <a:xfrm>
            <a:off x="2084832" y="4507992"/>
            <a:ext cx="1188720" cy="274320"/>
          </a:xfrm>
          <a:prstGeom prst="rect">
            <a:avLst/>
          </a:prstGeom>
          <a:noFill/>
          <a:ln/>
        </p:spPr>
        <p:txBody>
          <a:bodyPr wrap="square" lIns="0" tIns="0" rIns="0" bIns="0" rtlCol="0" anchor="ctr"/>
          <a:lstStyle/>
          <a:p>
            <a:pPr algn="ctr" indent="0" marL="0">
              <a:buNone/>
            </a:pPr>
            <a:r>
              <a:rPr lang="en-US" sz="1100" b="1" dirty="0">
                <a:solidFill>
                  <a:schemeClr val="accent4"/>
                </a:solidFill>
              </a:rPr>
              <a:t>email-v2</a:t>
            </a:r>
            <a:endParaRPr lang="en-US" sz="1100" dirty="0"/>
          </a:p>
        </p:txBody>
      </p:sp>
      <p:sp>
        <p:nvSpPr>
          <p:cNvPr id="28" name="chip-160"/>
          <p:cNvSpPr/>
          <p:nvPr/>
        </p:nvSpPr>
        <p:spPr>
          <a:xfrm>
            <a:off x="3364992" y="4507992"/>
            <a:ext cx="566928" cy="274320"/>
          </a:xfrm>
          <a:prstGeom prst="roundRect">
            <a:avLst>
              <a:gd name="adj" fmla="val 50000"/>
            </a:avLst>
          </a:prstGeom>
          <a:solidFill>
            <a:schemeClr val="bg2">
              <a:alpha val="20000"/>
            </a:schemeClr>
          </a:solidFill>
          <a:ln w="9525">
            <a:solidFill>
              <a:schemeClr val="bg2">
                <a:alpha val="60000"/>
              </a:schemeClr>
            </a:solidFill>
            <a:prstDash val="solid"/>
          </a:ln>
        </p:spPr>
      </p:sp>
      <p:sp>
        <p:nvSpPr>
          <p:cNvPr id="29" name="text-161"/>
          <p:cNvSpPr txBox="1"/>
          <p:nvPr/>
        </p:nvSpPr>
        <p:spPr>
          <a:xfrm>
            <a:off x="3364992" y="4507992"/>
            <a:ext cx="566928" cy="274320"/>
          </a:xfrm>
          <a:prstGeom prst="rect">
            <a:avLst/>
          </a:prstGeom>
          <a:noFill/>
          <a:ln/>
        </p:spPr>
        <p:txBody>
          <a:bodyPr wrap="square" lIns="0" tIns="0" rIns="0" bIns="0" rtlCol="0" anchor="ctr"/>
          <a:lstStyle/>
          <a:p>
            <a:pPr algn="ctr" indent="0" marL="0">
              <a:buNone/>
            </a:pPr>
            <a:r>
              <a:rPr lang="en-US" sz="1100" b="1" dirty="0">
                <a:solidFill>
                  <a:schemeClr val="bg2"/>
                </a:solidFill>
              </a:rPr>
              <a:t>OQQ</a:t>
            </a:r>
            <a:endParaRPr lang="en-US" sz="1100" dirty="0"/>
          </a:p>
        </p:txBody>
      </p:sp>
      <p:sp>
        <p:nvSpPr>
          <p:cNvPr id="30" name="text-162"/>
          <p:cNvSpPr txBox="1"/>
          <p:nvPr/>
        </p:nvSpPr>
        <p:spPr>
          <a:xfrm>
            <a:off x="2084832" y="4873752"/>
            <a:ext cx="3794760" cy="310896"/>
          </a:xfrm>
          <a:prstGeom prst="rect">
            <a:avLst/>
          </a:prstGeom>
          <a:noFill/>
          <a:ln/>
        </p:spPr>
        <p:txBody>
          <a:bodyPr wrap="square" lIns="0" tIns="0" rIns="0" bIns="0" rtlCol="0" anchor="t"/>
          <a:lstStyle/>
          <a:p>
            <a:pPr indent="0" marL="0">
              <a:buNone/>
            </a:pPr>
            <a:r>
              <a:rPr lang="en-US" sz="1300" i="1" dirty="0">
                <a:solidFill>
                  <a:schemeClr val="bg2"/>
                </a:solidFill>
              </a:rPr>
              <a:t>Write each segment’s email and assemble it</a:t>
            </a:r>
            <a:endParaRPr lang="en-US" sz="1300" dirty="0"/>
          </a:p>
        </p:txBody>
      </p:sp>
      <p:sp>
        <p:nvSpPr>
          <p:cNvPr id="31" name="text-163"/>
          <p:cNvSpPr txBox="1"/>
          <p:nvPr/>
        </p:nvSpPr>
        <p:spPr>
          <a:xfrm>
            <a:off x="2084832" y="5230368"/>
            <a:ext cx="3794760" cy="841248"/>
          </a:xfrm>
          <a:prstGeom prst="rect">
            <a:avLst/>
          </a:prstGeom>
          <a:noFill/>
          <a:ln/>
        </p:spPr>
        <p:txBody>
          <a:bodyPr wrap="square" lIns="0" tIns="0" rIns="0" bIns="0" rtlCol="0" anchor="t"/>
          <a:lstStyle/>
          <a:p>
            <a:pPr indent="0" marL="0">
              <a:spcAft>
                <a:spcPts val="200"/>
              </a:spcAft>
              <a:buNone/>
            </a:pPr>
            <a:r>
              <a:rPr lang="en-US" sz="1250" b="1" dirty="0">
                <a:solidFill>
                  <a:schemeClr val="accent4"/>
                </a:solidFill>
              </a:rPr>
              <a:t>Model  </a:t>
            </a:r>
            <a:pPr indent="0" marL="0">
              <a:spcAft>
                <a:spcPts val="200"/>
              </a:spcAft>
              <a:buNone/>
            </a:pPr>
            <a:r>
              <a:rPr lang="en-US" sz="1250" dirty="0">
                <a:solidFill>
                  <a:schemeClr val="bg1"/>
                </a:solidFill>
              </a:rPr>
              <a:t>gpt-5.6-luna, word-capped schema</a:t>
            </a:r>
            <a:endParaRPr lang="en-US" sz="1250" dirty="0"/>
          </a:p>
          <a:p>
            <a:pPr indent="0" marL="0">
              <a:spcAft>
                <a:spcPts val="200"/>
              </a:spcAft>
              <a:buNone/>
            </a:pPr>
            <a:r>
              <a:rPr lang="en-US" sz="1250" b="1" dirty="0">
                <a:solidFill>
                  <a:schemeClr val="accent4"/>
                </a:solidFill>
              </a:rPr>
              <a:t>Tools  </a:t>
            </a:r>
            <a:pPr indent="0" marL="0">
              <a:spcAft>
                <a:spcPts val="200"/>
              </a:spcAft>
              <a:buNone/>
            </a:pPr>
            <a:r>
              <a:rPr lang="en-US" sz="1250" dirty="0">
                <a:solidFill>
                  <a:schemeClr val="bg1"/>
                </a:solidFill>
              </a:rPr>
              <a:t>offer catalogue, block assembler, merge tags</a:t>
            </a:r>
            <a:endParaRPr lang="en-US" sz="1250" dirty="0"/>
          </a:p>
          <a:p>
            <a:pPr indent="0" marL="0">
              <a:spcAft>
                <a:spcPts val="200"/>
              </a:spcAft>
              <a:buNone/>
            </a:pPr>
            <a:r>
              <a:rPr lang="en-US" sz="1250" b="1" dirty="0">
                <a:solidFill>
                  <a:schemeClr val="accent4"/>
                </a:solidFill>
              </a:rPr>
              <a:t>Autonomy  </a:t>
            </a:r>
            <a:pPr indent="0" marL="0">
              <a:spcAft>
                <a:spcPts val="200"/>
              </a:spcAft>
              <a:buNone/>
            </a:pPr>
            <a:r>
              <a:rPr lang="en-US" sz="1250" dirty="0">
                <a:solidFill>
                  <a:schemeClr val="bg1"/>
                </a:solidFill>
              </a:rPr>
              <a:t>copy and which real offers to cite</a:t>
            </a:r>
            <a:endParaRPr lang="en-US" sz="1250" dirty="0"/>
          </a:p>
        </p:txBody>
      </p:sp>
      <p:sp>
        <p:nvSpPr>
          <p:cNvPr id="32" name="glass-164"/>
          <p:cNvSpPr/>
          <p:nvPr/>
        </p:nvSpPr>
        <p:spPr>
          <a:xfrm>
            <a:off x="6190488" y="3931920"/>
            <a:ext cx="5449824" cy="2212848"/>
          </a:xfrm>
          <a:prstGeom prst="roundRect">
            <a:avLst>
              <a:gd name="adj" fmla="val 5785"/>
            </a:avLst>
          </a:prstGeom>
          <a:solidFill>
            <a:schemeClr val="accent5">
              <a:alpha val="10000"/>
            </a:schemeClr>
          </a:solidFill>
          <a:ln w="12700">
            <a:solidFill>
              <a:schemeClr val="accent5">
                <a:alpha val="40000"/>
              </a:schemeClr>
            </a:solidFill>
            <a:prstDash val="solid"/>
          </a:ln>
        </p:spPr>
      </p:sp>
      <p:pic>
        <p:nvPicPr>
          <p:cNvPr id="33" name="icon3d-165" descr="C:\Users\himat\AppData\Local\Temp\claude\c--Ai-stuffs-MOSAIC\b3ecbbac-d885-4fec-a9f8-3496f8d06c96\scratchpad\build\assets\icon-guardian.png">    </p:cNvPr>
          <p:cNvPicPr>
            <a:picLocks noChangeAspect="1"/>
          </p:cNvPicPr>
          <p:nvPr/>
        </p:nvPicPr>
        <p:blipFill>
          <a:blip r:embed="rId4"/>
          <a:stretch>
            <a:fillRect/>
          </a:stretch>
        </p:blipFill>
        <p:spPr>
          <a:xfrm>
            <a:off x="6327648" y="4206240"/>
            <a:ext cx="1234440" cy="1234440"/>
          </a:xfrm>
          <a:prstGeom prst="rect">
            <a:avLst/>
          </a:prstGeom>
        </p:spPr>
      </p:pic>
      <p:sp>
        <p:nvSpPr>
          <p:cNvPr id="34" name="text-166"/>
          <p:cNvSpPr txBox="1"/>
          <p:nvPr/>
        </p:nvSpPr>
        <p:spPr>
          <a:xfrm>
            <a:off x="7726680" y="4114800"/>
            <a:ext cx="3794760" cy="347472"/>
          </a:xfrm>
          <a:prstGeom prst="rect">
            <a:avLst/>
          </a:prstGeom>
          <a:noFill/>
          <a:ln/>
        </p:spPr>
        <p:txBody>
          <a:bodyPr wrap="square" lIns="0" tIns="0" rIns="0" bIns="0" rtlCol="0" anchor="t"/>
          <a:lstStyle/>
          <a:p>
            <a:pPr indent="0" marL="0">
              <a:buNone/>
            </a:pPr>
            <a:r>
              <a:rPr lang="en-US" sz="1600" b="1" dirty="0">
                <a:solidFill>
                  <a:schemeClr val="bg1"/>
                </a:solidFill>
                <a:latin typeface="Century Gothic" pitchFamily="34" charset="0"/>
                <a:ea typeface="Century Gothic" pitchFamily="34" charset="-122"/>
                <a:cs typeface="Century Gothic" pitchFamily="34" charset="-120"/>
              </a:rPr>
              <a:t>Compliance &amp; Brand Guardian</a:t>
            </a:r>
            <a:endParaRPr lang="en-US" sz="1600" dirty="0"/>
          </a:p>
        </p:txBody>
      </p:sp>
      <p:sp>
        <p:nvSpPr>
          <p:cNvPr id="35" name="chip-167"/>
          <p:cNvSpPr/>
          <p:nvPr/>
        </p:nvSpPr>
        <p:spPr>
          <a:xfrm>
            <a:off x="7726680" y="4507992"/>
            <a:ext cx="1188720" cy="274320"/>
          </a:xfrm>
          <a:prstGeom prst="roundRect">
            <a:avLst>
              <a:gd name="adj" fmla="val 50000"/>
            </a:avLst>
          </a:prstGeom>
          <a:solidFill>
            <a:schemeClr val="accent5">
              <a:alpha val="20000"/>
            </a:schemeClr>
          </a:solidFill>
          <a:ln w="9525">
            <a:solidFill>
              <a:schemeClr val="accent5">
                <a:alpha val="60000"/>
              </a:schemeClr>
            </a:solidFill>
            <a:prstDash val="solid"/>
          </a:ln>
        </p:spPr>
      </p:sp>
      <p:sp>
        <p:nvSpPr>
          <p:cNvPr id="36" name="text-168"/>
          <p:cNvSpPr txBox="1"/>
          <p:nvPr/>
        </p:nvSpPr>
        <p:spPr>
          <a:xfrm>
            <a:off x="7726680" y="4507992"/>
            <a:ext cx="1188720" cy="274320"/>
          </a:xfrm>
          <a:prstGeom prst="rect">
            <a:avLst/>
          </a:prstGeom>
          <a:noFill/>
          <a:ln/>
        </p:spPr>
        <p:txBody>
          <a:bodyPr wrap="square" lIns="0" tIns="0" rIns="0" bIns="0" rtlCol="0" anchor="ctr"/>
          <a:lstStyle/>
          <a:p>
            <a:pPr algn="ctr" indent="0" marL="0">
              <a:buNone/>
            </a:pPr>
            <a:r>
              <a:rPr lang="en-US" sz="1100" b="1" dirty="0">
                <a:solidFill>
                  <a:schemeClr val="accent5"/>
                </a:solidFill>
              </a:rPr>
              <a:t>guardian-v4</a:t>
            </a:r>
            <a:endParaRPr lang="en-US" sz="1100" dirty="0"/>
          </a:p>
        </p:txBody>
      </p:sp>
      <p:sp>
        <p:nvSpPr>
          <p:cNvPr id="37" name="chip-169"/>
          <p:cNvSpPr/>
          <p:nvPr/>
        </p:nvSpPr>
        <p:spPr>
          <a:xfrm>
            <a:off x="9006840" y="4507992"/>
            <a:ext cx="566928" cy="274320"/>
          </a:xfrm>
          <a:prstGeom prst="roundRect">
            <a:avLst>
              <a:gd name="adj" fmla="val 50000"/>
            </a:avLst>
          </a:prstGeom>
          <a:solidFill>
            <a:schemeClr val="bg2">
              <a:alpha val="20000"/>
            </a:schemeClr>
          </a:solidFill>
          <a:ln w="9525">
            <a:solidFill>
              <a:schemeClr val="bg2">
                <a:alpha val="60000"/>
              </a:schemeClr>
            </a:solidFill>
            <a:prstDash val="solid"/>
          </a:ln>
        </p:spPr>
      </p:sp>
      <p:sp>
        <p:nvSpPr>
          <p:cNvPr id="38" name="text-170"/>
          <p:cNvSpPr txBox="1"/>
          <p:nvPr/>
        </p:nvSpPr>
        <p:spPr>
          <a:xfrm>
            <a:off x="9006840" y="4507992"/>
            <a:ext cx="566928" cy="274320"/>
          </a:xfrm>
          <a:prstGeom prst="rect">
            <a:avLst/>
          </a:prstGeom>
          <a:noFill/>
          <a:ln/>
        </p:spPr>
        <p:txBody>
          <a:bodyPr wrap="square" lIns="0" tIns="0" rIns="0" bIns="0" rtlCol="0" anchor="ctr"/>
          <a:lstStyle/>
          <a:p>
            <a:pPr algn="ctr" indent="0" marL="0">
              <a:buNone/>
            </a:pPr>
            <a:r>
              <a:rPr lang="en-US" sz="1100" b="1" dirty="0">
                <a:solidFill>
                  <a:schemeClr val="bg2"/>
                </a:solidFill>
              </a:rPr>
              <a:t>ABP</a:t>
            </a:r>
            <a:endParaRPr lang="en-US" sz="1100" dirty="0"/>
          </a:p>
        </p:txBody>
      </p:sp>
      <p:sp>
        <p:nvSpPr>
          <p:cNvPr id="39" name="text-171"/>
          <p:cNvSpPr txBox="1"/>
          <p:nvPr/>
        </p:nvSpPr>
        <p:spPr>
          <a:xfrm>
            <a:off x="7726680" y="4873752"/>
            <a:ext cx="3794760" cy="310896"/>
          </a:xfrm>
          <a:prstGeom prst="rect">
            <a:avLst/>
          </a:prstGeom>
          <a:noFill/>
          <a:ln/>
        </p:spPr>
        <p:txBody>
          <a:bodyPr wrap="square" lIns="0" tIns="0" rIns="0" bIns="0" rtlCol="0" anchor="t"/>
          <a:lstStyle/>
          <a:p>
            <a:pPr indent="0" marL="0">
              <a:buNone/>
            </a:pPr>
            <a:r>
              <a:rPr lang="en-US" sz="1300" i="1" dirty="0">
                <a:solidFill>
                  <a:schemeClr val="bg2"/>
                </a:solidFill>
              </a:rPr>
              <a:t>Adjudicate every email before any send</a:t>
            </a:r>
            <a:endParaRPr lang="en-US" sz="1300" dirty="0"/>
          </a:p>
        </p:txBody>
      </p:sp>
      <p:sp>
        <p:nvSpPr>
          <p:cNvPr id="40" name="text-172"/>
          <p:cNvSpPr txBox="1"/>
          <p:nvPr/>
        </p:nvSpPr>
        <p:spPr>
          <a:xfrm>
            <a:off x="7726680" y="5230368"/>
            <a:ext cx="3794760" cy="841248"/>
          </a:xfrm>
          <a:prstGeom prst="rect">
            <a:avLst/>
          </a:prstGeom>
          <a:noFill/>
          <a:ln/>
        </p:spPr>
        <p:txBody>
          <a:bodyPr wrap="square" lIns="0" tIns="0" rIns="0" bIns="0" rtlCol="0" anchor="t"/>
          <a:lstStyle/>
          <a:p>
            <a:pPr indent="0" marL="0">
              <a:spcAft>
                <a:spcPts val="200"/>
              </a:spcAft>
              <a:buNone/>
            </a:pPr>
            <a:r>
              <a:rPr lang="en-US" sz="1250" b="1" dirty="0">
                <a:solidFill>
                  <a:schemeClr val="accent5"/>
                </a:solidFill>
              </a:rPr>
              <a:t>Model  </a:t>
            </a:r>
            <a:pPr indent="0" marL="0">
              <a:spcAft>
                <a:spcPts val="200"/>
              </a:spcAft>
              <a:buNone/>
            </a:pPr>
            <a:r>
              <a:rPr lang="en-US" sz="1250" dirty="0">
                <a:solidFill>
                  <a:schemeClr val="bg1"/>
                </a:solidFill>
              </a:rPr>
              <a:t>deterministic rule engine — no LLM</a:t>
            </a:r>
            <a:endParaRPr lang="en-US" sz="1250" dirty="0"/>
          </a:p>
          <a:p>
            <a:pPr indent="0" marL="0">
              <a:spcAft>
                <a:spcPts val="200"/>
              </a:spcAft>
              <a:buNone/>
            </a:pPr>
            <a:r>
              <a:rPr lang="en-US" sz="1250" b="1" dirty="0">
                <a:solidFill>
                  <a:schemeClr val="accent5"/>
                </a:solidFill>
              </a:rPr>
              <a:t>Tools  </a:t>
            </a:r>
            <a:pPr indent="0" marL="0">
              <a:spcAft>
                <a:spcPts val="200"/>
              </a:spcAft>
              <a:buNone/>
            </a:pPr>
            <a:r>
              <a:rPr lang="en-US" sz="1250" dirty="0">
                <a:solidFill>
                  <a:schemeClr val="bg1"/>
                </a:solidFill>
              </a:rPr>
              <a:t>consent, PII scan, proxy, catalogue, links</a:t>
            </a:r>
            <a:endParaRPr lang="en-US" sz="1250" dirty="0"/>
          </a:p>
          <a:p>
            <a:pPr indent="0" marL="0">
              <a:spcAft>
                <a:spcPts val="200"/>
              </a:spcAft>
              <a:buNone/>
            </a:pPr>
            <a:r>
              <a:rPr lang="en-US" sz="1250" b="1" dirty="0">
                <a:solidFill>
                  <a:schemeClr val="accent5"/>
                </a:solidFill>
              </a:rPr>
              <a:t>Autonomy  </a:t>
            </a:r>
            <a:pPr indent="0" marL="0">
              <a:spcAft>
                <a:spcPts val="200"/>
              </a:spcAft>
              <a:buNone/>
            </a:pPr>
            <a:r>
              <a:rPr lang="en-US" sz="1250" dirty="0">
                <a:solidFill>
                  <a:schemeClr val="bg1"/>
                </a:solidFill>
              </a:rPr>
              <a:t>veto over every generator</a:t>
            </a:r>
            <a:endParaRPr lang="en-US" sz="1250" dirty="0"/>
          </a:p>
        </p:txBody>
      </p:sp>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173"/>
          <p:cNvSpPr txBox="1"/>
          <p:nvPr/>
        </p:nvSpPr>
        <p:spPr>
          <a:xfrm>
            <a:off x="685800" y="1600200"/>
            <a:ext cx="2743200" cy="1005840"/>
          </a:xfrm>
          <a:prstGeom prst="rect">
            <a:avLst/>
          </a:prstGeom>
          <a:noFill/>
          <a:ln/>
        </p:spPr>
        <p:txBody>
          <a:bodyPr wrap="square" lIns="0" tIns="0" rIns="0" bIns="0" rtlCol="0" anchor="t"/>
          <a:lstStyle/>
          <a:p>
            <a:pPr indent="0" marL="0">
              <a:buNone/>
            </a:pPr>
            <a:r>
              <a:rPr lang="en-US" sz="6400" b="1" dirty="0">
                <a:solidFill>
                  <a:schemeClr val="accent1"/>
                </a:solidFill>
                <a:latin typeface="Century Gothic" pitchFamily="34" charset="0"/>
                <a:ea typeface="Century Gothic" pitchFamily="34" charset="-122"/>
                <a:cs typeface="Century Gothic" pitchFamily="34" charset="-120"/>
              </a:rPr>
              <a:t>02</a:t>
            </a:r>
            <a:endParaRPr lang="en-US" sz="6400" dirty="0"/>
          </a:p>
        </p:txBody>
      </p:sp>
      <p:sp>
        <p:nvSpPr>
          <p:cNvPr id="3" name="Text 0"/>
          <p:cNvSpPr/>
          <p:nvPr>
            <p:ph idx="100" type="title" hasCustomPrompt="1"/>
          </p:nvPr>
        </p:nvSpPr>
        <p:spPr>
          <a:xfrm>
            <a:off x="685800" y="2788920"/>
            <a:ext cx="6217920" cy="868680"/>
          </a:xfrm>
          <a:prstGeom prst="rect">
            <a:avLst/>
          </a:prstGeom>
          <a:noFill/>
          <a:ln/>
        </p:spPr>
        <p:txBody>
          <a:bodyPr wrap="square" lIns="0" tIns="0" rIns="0" bIns="0" rtlCol="0" anchor="t"/>
          <a:lstStyle/>
          <a:p>
            <a:pPr algn="l" indent="0" marL="0">
              <a:buNone/>
            </a:pPr>
            <a:r>
              <a:rPr lang="en-US" sz="4400" b="1" dirty="0">
                <a:solidFill>
                  <a:schemeClr val="bg1"/>
                </a:solidFill>
                <a:latin typeface="Century Gothic" pitchFamily="34" charset="0"/>
                <a:ea typeface="Century Gothic" pitchFamily="34" charset="-122"/>
                <a:cs typeface="Century Gothic" pitchFamily="34" charset="-120"/>
              </a:rPr>
              <a:t>Architecture</a:t>
            </a:r>
            <a:endParaRPr lang="en-US" sz="4400" dirty="0"/>
          </a:p>
        </p:txBody>
      </p:sp>
      <p:sp>
        <p:nvSpPr>
          <p:cNvPr id="4" name="Text 0"/>
          <p:cNvSpPr/>
          <p:nvPr>
            <p:ph idx="101" type="body" hasCustomPrompt="1"/>
          </p:nvPr>
        </p:nvSpPr>
        <p:spPr>
          <a:xfrm>
            <a:off x="685800" y="3794760"/>
            <a:ext cx="4572000" cy="1097280"/>
          </a:xfrm>
          <a:prstGeom prst="rect">
            <a:avLst/>
          </a:prstGeom>
          <a:noFill/>
          <a:ln/>
        </p:spPr>
        <p:txBody>
          <a:bodyPr wrap="square" lIns="0" tIns="0" rIns="0" bIns="0" rtlCol="0" anchor="t"/>
          <a:lstStyle/>
          <a:p>
            <a:pPr algn="l" indent="0" marL="0">
              <a:buNone/>
            </a:pPr>
            <a:r>
              <a:rPr lang="en-US" sz="1800" dirty="0">
                <a:solidFill>
                  <a:schemeClr val="bg2"/>
                </a:solidFill>
              </a:rPr>
              <a:t>Five logical layers, two deployed services, and a typed blackboard instead of agent-to-agent calls.</a:t>
            </a:r>
            <a:endParaRPr lang="en-US" sz="1800" dirty="0"/>
          </a:p>
        </p:txBody>
      </p:sp>
      <p:sp>
        <p:nvSpPr>
          <p:cNvPr id="5" name="tile-174"/>
          <p:cNvSpPr/>
          <p:nvPr/>
        </p:nvSpPr>
        <p:spPr>
          <a:xfrm>
            <a:off x="685800" y="5257800"/>
            <a:ext cx="182880" cy="182880"/>
          </a:xfrm>
          <a:prstGeom prst="roundRect">
            <a:avLst>
              <a:gd name="adj" fmla="val 20000"/>
            </a:avLst>
          </a:prstGeom>
          <a:solidFill>
            <a:schemeClr val="accent6"/>
          </a:solidFill>
          <a:ln/>
        </p:spPr>
      </p:sp>
      <p:sp>
        <p:nvSpPr>
          <p:cNvPr id="6" name="tile-175"/>
          <p:cNvSpPr/>
          <p:nvPr/>
        </p:nvSpPr>
        <p:spPr>
          <a:xfrm>
            <a:off x="941832" y="5257800"/>
            <a:ext cx="182880" cy="182880"/>
          </a:xfrm>
          <a:prstGeom prst="roundRect">
            <a:avLst>
              <a:gd name="adj" fmla="val 20000"/>
            </a:avLst>
          </a:prstGeom>
          <a:solidFill>
            <a:schemeClr val="accent3"/>
          </a:solidFill>
          <a:ln/>
        </p:spPr>
      </p:sp>
      <p:sp>
        <p:nvSpPr>
          <p:cNvPr id="7" name="tile-176"/>
          <p:cNvSpPr/>
          <p:nvPr/>
        </p:nvSpPr>
        <p:spPr>
          <a:xfrm>
            <a:off x="1197864" y="5257800"/>
            <a:ext cx="182880" cy="182880"/>
          </a:xfrm>
          <a:prstGeom prst="roundRect">
            <a:avLst>
              <a:gd name="adj" fmla="val 20000"/>
            </a:avLst>
          </a:prstGeom>
          <a:solidFill>
            <a:schemeClr val="accent2"/>
          </a:solidFill>
          <a:ln/>
        </p:spPr>
      </p:sp>
      <p:sp>
        <p:nvSpPr>
          <p:cNvPr id="8" name="tile-177"/>
          <p:cNvSpPr/>
          <p:nvPr/>
        </p:nvSpPr>
        <p:spPr>
          <a:xfrm>
            <a:off x="1453896" y="5257800"/>
            <a:ext cx="182880" cy="182880"/>
          </a:xfrm>
          <a:prstGeom prst="roundRect">
            <a:avLst>
              <a:gd name="adj" fmla="val 20000"/>
            </a:avLst>
          </a:prstGeom>
          <a:solidFill>
            <a:schemeClr val="accent5"/>
          </a:solidFill>
          <a:ln/>
        </p:spPr>
      </p:sp>
      <p:sp>
        <p:nvSpPr>
          <p:cNvPr id="9" name="tile-178"/>
          <p:cNvSpPr/>
          <p:nvPr/>
        </p:nvSpPr>
        <p:spPr>
          <a:xfrm>
            <a:off x="1709928" y="5257800"/>
            <a:ext cx="182880" cy="182880"/>
          </a:xfrm>
          <a:prstGeom prst="roundRect">
            <a:avLst>
              <a:gd name="adj" fmla="val 20000"/>
            </a:avLst>
          </a:prstGeom>
          <a:solidFill>
            <a:schemeClr val="accent4"/>
          </a:solidFill>
          <a:ln/>
        </p:spPr>
      </p:sp>
      <p:sp>
        <p:nvSpPr>
          <p:cNvPr id="10" name="tile-179"/>
          <p:cNvSpPr/>
          <p:nvPr/>
        </p:nvSpPr>
        <p:spPr>
          <a:xfrm>
            <a:off x="1965960" y="5257800"/>
            <a:ext cx="182880" cy="182880"/>
          </a:xfrm>
          <a:prstGeom prst="roundRect">
            <a:avLst>
              <a:gd name="adj" fmla="val 20000"/>
            </a:avLst>
          </a:prstGeom>
          <a:solidFill>
            <a:schemeClr val="accent1"/>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241280" cy="640080"/>
          </a:xfrm>
          <a:prstGeom prst="rect">
            <a:avLst/>
          </a:prstGeom>
          <a:noFill/>
          <a:ln/>
        </p:spPr>
        <p:txBody>
          <a:bodyPr wrap="square" lIns="0" tIns="0" rIns="0" bIns="0" rtlCol="0" anchor="ctr"/>
          <a:lstStyle/>
          <a:p>
            <a:pPr algn="l" indent="0" marL="0">
              <a:buNone/>
            </a:pPr>
            <a:r>
              <a:rPr lang="en-US" sz="2800" b="1" dirty="0">
                <a:solidFill>
                  <a:schemeClr val="bg1"/>
                </a:solidFill>
                <a:latin typeface="Century Gothic" pitchFamily="34" charset="0"/>
                <a:ea typeface="Century Gothic" pitchFamily="34" charset="-122"/>
                <a:cs typeface="Century Gothic" pitchFamily="34" charset="-120"/>
              </a:rPr>
              <a:t>Logical architecture: five layers</a:t>
            </a:r>
            <a:endParaRPr lang="en-US" sz="2800" dirty="0"/>
          </a:p>
        </p:txBody>
      </p:sp>
      <p:sp>
        <p:nvSpPr>
          <p:cNvPr id="3" name="text-180"/>
          <p:cNvSpPr txBox="1"/>
          <p:nvPr/>
        </p:nvSpPr>
        <p:spPr>
          <a:xfrm>
            <a:off x="548640" y="1005840"/>
            <a:ext cx="10424160" cy="384048"/>
          </a:xfrm>
          <a:prstGeom prst="rect">
            <a:avLst/>
          </a:prstGeom>
          <a:noFill/>
          <a:ln/>
        </p:spPr>
        <p:txBody>
          <a:bodyPr wrap="square" lIns="0" tIns="0" rIns="0" bIns="0" rtlCol="0" anchor="t"/>
          <a:lstStyle/>
          <a:p>
            <a:pPr indent="0" marL="0">
              <a:buNone/>
            </a:pPr>
            <a:r>
              <a:rPr lang="en-US" sz="1600" dirty="0">
                <a:solidFill>
                  <a:schemeClr val="bg2"/>
                </a:solidFill>
              </a:rPr>
              <a:t>Dependencies point down only — the console never touches the database for pipeline state, and agents never call each other.</a:t>
            </a:r>
            <a:endParaRPr lang="en-US" sz="1600" dirty="0"/>
          </a:p>
        </p:txBody>
      </p:sp>
      <p:sp>
        <p:nvSpPr>
          <p:cNvPr id="5" name="glass-181"/>
          <p:cNvSpPr/>
          <p:nvPr/>
        </p:nvSpPr>
        <p:spPr>
          <a:xfrm>
            <a:off x="548640" y="1572768"/>
            <a:ext cx="11091672" cy="804672"/>
          </a:xfrm>
          <a:prstGeom prst="roundRect">
            <a:avLst>
              <a:gd name="adj" fmla="val 15909"/>
            </a:avLst>
          </a:prstGeom>
          <a:solidFill>
            <a:schemeClr val="bg2">
              <a:alpha val="10000"/>
            </a:schemeClr>
          </a:solidFill>
          <a:ln w="12700">
            <a:solidFill>
              <a:schemeClr val="bg2">
                <a:alpha val="35000"/>
              </a:schemeClr>
            </a:solidFill>
            <a:prstDash val="solid"/>
          </a:ln>
        </p:spPr>
      </p:sp>
      <p:sp>
        <p:nvSpPr>
          <p:cNvPr id="6" name="layer-label-182"/>
          <p:cNvSpPr/>
          <p:nvPr/>
        </p:nvSpPr>
        <p:spPr>
          <a:xfrm>
            <a:off x="548640" y="1572768"/>
            <a:ext cx="2240280" cy="804672"/>
          </a:xfrm>
          <a:prstGeom prst="roundRect">
            <a:avLst>
              <a:gd name="adj" fmla="val 15909"/>
            </a:avLst>
          </a:prstGeom>
          <a:solidFill>
            <a:schemeClr val="bg2">
              <a:alpha val="28000"/>
            </a:schemeClr>
          </a:solidFill>
          <a:ln/>
        </p:spPr>
      </p:sp>
      <p:sp>
        <p:nvSpPr>
          <p:cNvPr id="7" name="text-183"/>
          <p:cNvSpPr txBox="1"/>
          <p:nvPr/>
        </p:nvSpPr>
        <p:spPr>
          <a:xfrm>
            <a:off x="731520" y="1572768"/>
            <a:ext cx="2011680" cy="804672"/>
          </a:xfrm>
          <a:prstGeom prst="rect">
            <a:avLst/>
          </a:prstGeom>
          <a:noFill/>
          <a:ln/>
        </p:spPr>
        <p:txBody>
          <a:bodyPr wrap="square" lIns="0" tIns="0" rIns="0" bIns="0" rtlCol="0" anchor="ctr"/>
          <a:lstStyle/>
          <a:p>
            <a:pPr indent="0" marL="0">
              <a:buNone/>
            </a:pPr>
            <a:r>
              <a:rPr lang="en-US" sz="1500" b="1" dirty="0">
                <a:solidFill>
                  <a:schemeClr val="bg1"/>
                </a:solidFill>
                <a:latin typeface="Century Gothic" pitchFamily="34" charset="0"/>
                <a:ea typeface="Century Gothic" pitchFamily="34" charset="-122"/>
                <a:cs typeface="Century Gothic" pitchFamily="34" charset="-120"/>
              </a:rPr>
              <a:t>Presentation</a:t>
            </a:r>
            <a:endParaRPr lang="en-US" sz="1400" dirty="0"/>
          </a:p>
          <a:p>
            <a:pPr indent="0" marL="0">
              <a:buNone/>
            </a:pPr>
            <a:r>
              <a:rPr lang="en-US" sz="1150" dirty="0">
                <a:solidFill>
                  <a:schemeClr val="bg2"/>
                </a:solidFill>
              </a:rPr>
              <a:t>React 18 · Vite · TS</a:t>
            </a:r>
            <a:endParaRPr lang="en-US" sz="1400" dirty="0"/>
          </a:p>
        </p:txBody>
      </p:sp>
      <p:sp>
        <p:nvSpPr>
          <p:cNvPr id="8" name="component-184"/>
          <p:cNvSpPr/>
          <p:nvPr/>
        </p:nvSpPr>
        <p:spPr>
          <a:xfrm>
            <a:off x="2926080" y="1719072"/>
            <a:ext cx="2061972" cy="512064"/>
          </a:xfrm>
          <a:prstGeom prst="roundRect">
            <a:avLst>
              <a:gd name="adj" fmla="val 17857"/>
            </a:avLst>
          </a:prstGeom>
          <a:solidFill>
            <a:schemeClr val="tx1">
              <a:alpha val="70000"/>
            </a:schemeClr>
          </a:solidFill>
          <a:ln w="9525">
            <a:solidFill>
              <a:schemeClr val="bg2">
                <a:alpha val="50000"/>
              </a:schemeClr>
            </a:solidFill>
            <a:prstDash val="solid"/>
          </a:ln>
        </p:spPr>
      </p:sp>
      <p:sp>
        <p:nvSpPr>
          <p:cNvPr id="9" name="text-185"/>
          <p:cNvSpPr txBox="1"/>
          <p:nvPr/>
        </p:nvSpPr>
        <p:spPr>
          <a:xfrm>
            <a:off x="2971800" y="1719072"/>
            <a:ext cx="1970532" cy="512064"/>
          </a:xfrm>
          <a:prstGeom prst="rect">
            <a:avLst/>
          </a:prstGeom>
          <a:noFill/>
          <a:ln/>
        </p:spPr>
        <p:txBody>
          <a:bodyPr wrap="square" lIns="0" tIns="0" rIns="0" bIns="0" rtlCol="0" anchor="ctr"/>
          <a:lstStyle/>
          <a:p>
            <a:pPr algn="ctr" indent="0" marL="0">
              <a:buNone/>
            </a:pPr>
            <a:r>
              <a:rPr lang="en-US" sz="1250" dirty="0">
                <a:solidFill>
                  <a:schemeClr val="bg1"/>
                </a:solidFill>
              </a:rPr>
              <a:t>Five pipeline tabs</a:t>
            </a:r>
            <a:endParaRPr lang="en-US" sz="1250" dirty="0"/>
          </a:p>
        </p:txBody>
      </p:sp>
      <p:sp>
        <p:nvSpPr>
          <p:cNvPr id="10" name="component-186"/>
          <p:cNvSpPr/>
          <p:nvPr/>
        </p:nvSpPr>
        <p:spPr>
          <a:xfrm>
            <a:off x="5097780" y="1719072"/>
            <a:ext cx="2061972" cy="512064"/>
          </a:xfrm>
          <a:prstGeom prst="roundRect">
            <a:avLst>
              <a:gd name="adj" fmla="val 17857"/>
            </a:avLst>
          </a:prstGeom>
          <a:solidFill>
            <a:schemeClr val="tx1">
              <a:alpha val="70000"/>
            </a:schemeClr>
          </a:solidFill>
          <a:ln w="9525">
            <a:solidFill>
              <a:schemeClr val="bg2">
                <a:alpha val="50000"/>
              </a:schemeClr>
            </a:solidFill>
            <a:prstDash val="solid"/>
          </a:ln>
        </p:spPr>
      </p:sp>
      <p:sp>
        <p:nvSpPr>
          <p:cNvPr id="11" name="text-187"/>
          <p:cNvSpPr txBox="1"/>
          <p:nvPr/>
        </p:nvSpPr>
        <p:spPr>
          <a:xfrm>
            <a:off x="5143500" y="1719072"/>
            <a:ext cx="1970532" cy="512064"/>
          </a:xfrm>
          <a:prstGeom prst="rect">
            <a:avLst/>
          </a:prstGeom>
          <a:noFill/>
          <a:ln/>
        </p:spPr>
        <p:txBody>
          <a:bodyPr wrap="square" lIns="0" tIns="0" rIns="0" bIns="0" rtlCol="0" anchor="ctr"/>
          <a:lstStyle/>
          <a:p>
            <a:pPr algn="ctr" indent="0" marL="0">
              <a:buNone/>
            </a:pPr>
            <a:r>
              <a:rPr lang="en-US" sz="1250" dirty="0">
                <a:solidFill>
                  <a:schemeClr val="bg1"/>
                </a:solidFill>
              </a:rPr>
              <a:t>Route guard · pipeline.ts</a:t>
            </a:r>
            <a:endParaRPr lang="en-US" sz="1250" dirty="0"/>
          </a:p>
        </p:txBody>
      </p:sp>
      <p:sp>
        <p:nvSpPr>
          <p:cNvPr id="12" name="component-188"/>
          <p:cNvSpPr/>
          <p:nvPr/>
        </p:nvSpPr>
        <p:spPr>
          <a:xfrm>
            <a:off x="7269480" y="1719072"/>
            <a:ext cx="2061972" cy="512064"/>
          </a:xfrm>
          <a:prstGeom prst="roundRect">
            <a:avLst>
              <a:gd name="adj" fmla="val 17857"/>
            </a:avLst>
          </a:prstGeom>
          <a:solidFill>
            <a:schemeClr val="tx1">
              <a:alpha val="70000"/>
            </a:schemeClr>
          </a:solidFill>
          <a:ln w="9525">
            <a:solidFill>
              <a:schemeClr val="bg2">
                <a:alpha val="50000"/>
              </a:schemeClr>
            </a:solidFill>
            <a:prstDash val="solid"/>
          </a:ln>
        </p:spPr>
      </p:sp>
      <p:sp>
        <p:nvSpPr>
          <p:cNvPr id="13" name="text-189"/>
          <p:cNvSpPr txBox="1"/>
          <p:nvPr/>
        </p:nvSpPr>
        <p:spPr>
          <a:xfrm>
            <a:off x="7315200" y="1719072"/>
            <a:ext cx="1970532" cy="512064"/>
          </a:xfrm>
          <a:prstGeom prst="rect">
            <a:avLst/>
          </a:prstGeom>
          <a:noFill/>
          <a:ln/>
        </p:spPr>
        <p:txBody>
          <a:bodyPr wrap="square" lIns="0" tIns="0" rIns="0" bIns="0" rtlCol="0" anchor="ctr"/>
          <a:lstStyle/>
          <a:p>
            <a:pPr algn="ctr" indent="0" marL="0">
              <a:buNone/>
            </a:pPr>
            <a:r>
              <a:rPr lang="en-US" sz="1250" dirty="0">
                <a:solidFill>
                  <a:schemeClr val="bg1"/>
                </a:solidFill>
              </a:rPr>
              <a:t>Email builder · 20 block types</a:t>
            </a:r>
            <a:endParaRPr lang="en-US" sz="1250" dirty="0"/>
          </a:p>
        </p:txBody>
      </p:sp>
      <p:sp>
        <p:nvSpPr>
          <p:cNvPr id="14" name="component-190"/>
          <p:cNvSpPr/>
          <p:nvPr/>
        </p:nvSpPr>
        <p:spPr>
          <a:xfrm>
            <a:off x="9441180" y="1719072"/>
            <a:ext cx="2061972" cy="512064"/>
          </a:xfrm>
          <a:prstGeom prst="roundRect">
            <a:avLst>
              <a:gd name="adj" fmla="val 17857"/>
            </a:avLst>
          </a:prstGeom>
          <a:solidFill>
            <a:schemeClr val="tx1">
              <a:alpha val="70000"/>
            </a:schemeClr>
          </a:solidFill>
          <a:ln w="9525">
            <a:solidFill>
              <a:schemeClr val="bg2">
                <a:alpha val="50000"/>
              </a:schemeClr>
            </a:solidFill>
            <a:prstDash val="solid"/>
          </a:ln>
        </p:spPr>
      </p:sp>
      <p:sp>
        <p:nvSpPr>
          <p:cNvPr id="15" name="text-191"/>
          <p:cNvSpPr txBox="1"/>
          <p:nvPr/>
        </p:nvSpPr>
        <p:spPr>
          <a:xfrm>
            <a:off x="9486900" y="1719072"/>
            <a:ext cx="1970532" cy="512064"/>
          </a:xfrm>
          <a:prstGeom prst="rect">
            <a:avLst/>
          </a:prstGeom>
          <a:noFill/>
          <a:ln/>
        </p:spPr>
        <p:txBody>
          <a:bodyPr wrap="square" lIns="0" tIns="0" rIns="0" bIns="0" rtlCol="0" anchor="ctr"/>
          <a:lstStyle/>
          <a:p>
            <a:pPr algn="ctr" indent="0" marL="0">
              <a:buNone/>
            </a:pPr>
            <a:r>
              <a:rPr lang="en-US" sz="1250" dirty="0">
                <a:solidFill>
                  <a:schemeClr val="bg1"/>
                </a:solidFill>
              </a:rPr>
              <a:t>Settings · Logs</a:t>
            </a:r>
            <a:endParaRPr lang="en-US" sz="1250" dirty="0"/>
          </a:p>
        </p:txBody>
      </p:sp>
      <p:sp>
        <p:nvSpPr>
          <p:cNvPr id="16" name="connector-192"/>
          <p:cNvSpPr/>
          <p:nvPr/>
        </p:nvSpPr>
        <p:spPr>
          <a:xfrm>
            <a:off x="1664208" y="2386584"/>
            <a:ext cx="91" cy="109728"/>
          </a:xfrm>
          <a:prstGeom prst="line">
            <a:avLst/>
          </a:prstGeom>
          <a:noFill/>
          <a:ln w="15875">
            <a:solidFill>
              <a:schemeClr val="bg2"/>
            </a:solidFill>
            <a:prstDash val="solid"/>
            <a:tailEnd type="triangle"/>
          </a:ln>
        </p:spPr>
      </p:sp>
      <p:sp>
        <p:nvSpPr>
          <p:cNvPr id="17" name="glass-193"/>
          <p:cNvSpPr/>
          <p:nvPr/>
        </p:nvSpPr>
        <p:spPr>
          <a:xfrm>
            <a:off x="548640" y="2505456"/>
            <a:ext cx="11091672" cy="804672"/>
          </a:xfrm>
          <a:prstGeom prst="roundRect">
            <a:avLst>
              <a:gd name="adj" fmla="val 15909"/>
            </a:avLst>
          </a:prstGeom>
          <a:solidFill>
            <a:schemeClr val="accent1">
              <a:alpha val="10000"/>
            </a:schemeClr>
          </a:solidFill>
          <a:ln w="12700">
            <a:solidFill>
              <a:schemeClr val="accent1">
                <a:alpha val="35000"/>
              </a:schemeClr>
            </a:solidFill>
            <a:prstDash val="solid"/>
          </a:ln>
        </p:spPr>
      </p:sp>
      <p:sp>
        <p:nvSpPr>
          <p:cNvPr id="18" name="layer-label-194"/>
          <p:cNvSpPr/>
          <p:nvPr/>
        </p:nvSpPr>
        <p:spPr>
          <a:xfrm>
            <a:off x="548640" y="2505456"/>
            <a:ext cx="2240280" cy="804672"/>
          </a:xfrm>
          <a:prstGeom prst="roundRect">
            <a:avLst>
              <a:gd name="adj" fmla="val 15909"/>
            </a:avLst>
          </a:prstGeom>
          <a:solidFill>
            <a:schemeClr val="accent1">
              <a:alpha val="28000"/>
            </a:schemeClr>
          </a:solidFill>
          <a:ln/>
        </p:spPr>
      </p:sp>
      <p:sp>
        <p:nvSpPr>
          <p:cNvPr id="19" name="text-195"/>
          <p:cNvSpPr txBox="1"/>
          <p:nvPr/>
        </p:nvSpPr>
        <p:spPr>
          <a:xfrm>
            <a:off x="731520" y="2505456"/>
            <a:ext cx="2011680" cy="804672"/>
          </a:xfrm>
          <a:prstGeom prst="rect">
            <a:avLst/>
          </a:prstGeom>
          <a:noFill/>
          <a:ln/>
        </p:spPr>
        <p:txBody>
          <a:bodyPr wrap="square" lIns="0" tIns="0" rIns="0" bIns="0" rtlCol="0" anchor="ctr"/>
          <a:lstStyle/>
          <a:p>
            <a:pPr indent="0" marL="0">
              <a:buNone/>
            </a:pPr>
            <a:r>
              <a:rPr lang="en-US" sz="1500" b="1" dirty="0">
                <a:solidFill>
                  <a:schemeClr val="bg1"/>
                </a:solidFill>
                <a:latin typeface="Century Gothic" pitchFamily="34" charset="0"/>
                <a:ea typeface="Century Gothic" pitchFamily="34" charset="-122"/>
                <a:cs typeface="Century Gothic" pitchFamily="34" charset="-120"/>
              </a:rPr>
              <a:t>Orchestration</a:t>
            </a:r>
            <a:endParaRPr lang="en-US" sz="1400" dirty="0"/>
          </a:p>
          <a:p>
            <a:pPr indent="0" marL="0">
              <a:buNone/>
            </a:pPr>
            <a:r>
              <a:rPr lang="en-US" sz="1150" dirty="0">
                <a:solidFill>
                  <a:schemeClr val="bg2"/>
                </a:solidFill>
              </a:rPr>
              <a:t>FastAPI · Python 3.12</a:t>
            </a:r>
            <a:endParaRPr lang="en-US" sz="1400" dirty="0"/>
          </a:p>
        </p:txBody>
      </p:sp>
      <p:sp>
        <p:nvSpPr>
          <p:cNvPr id="20" name="component-196"/>
          <p:cNvSpPr/>
          <p:nvPr/>
        </p:nvSpPr>
        <p:spPr>
          <a:xfrm>
            <a:off x="2926080" y="2651760"/>
            <a:ext cx="2061972" cy="512064"/>
          </a:xfrm>
          <a:prstGeom prst="roundRect">
            <a:avLst>
              <a:gd name="adj" fmla="val 17857"/>
            </a:avLst>
          </a:prstGeom>
          <a:solidFill>
            <a:schemeClr val="tx1">
              <a:alpha val="70000"/>
            </a:schemeClr>
          </a:solidFill>
          <a:ln w="9525">
            <a:solidFill>
              <a:schemeClr val="accent1">
                <a:alpha val="50000"/>
              </a:schemeClr>
            </a:solidFill>
            <a:prstDash val="solid"/>
          </a:ln>
        </p:spPr>
      </p:sp>
      <p:sp>
        <p:nvSpPr>
          <p:cNvPr id="21" name="text-197"/>
          <p:cNvSpPr txBox="1"/>
          <p:nvPr/>
        </p:nvSpPr>
        <p:spPr>
          <a:xfrm>
            <a:off x="2971800" y="2651760"/>
            <a:ext cx="1970532" cy="512064"/>
          </a:xfrm>
          <a:prstGeom prst="rect">
            <a:avLst/>
          </a:prstGeom>
          <a:noFill/>
          <a:ln/>
        </p:spPr>
        <p:txBody>
          <a:bodyPr wrap="square" lIns="0" tIns="0" rIns="0" bIns="0" rtlCol="0" anchor="ctr"/>
          <a:lstStyle/>
          <a:p>
            <a:pPr algn="ctr" indent="0" marL="0">
              <a:buNone/>
            </a:pPr>
            <a:r>
              <a:rPr lang="en-US" sz="1250" dirty="0">
                <a:solidFill>
                  <a:schemeClr val="bg1"/>
                </a:solidFill>
              </a:rPr>
              <a:t>REST routers</a:t>
            </a:r>
            <a:endParaRPr lang="en-US" sz="1250" dirty="0"/>
          </a:p>
        </p:txBody>
      </p:sp>
      <p:sp>
        <p:nvSpPr>
          <p:cNvPr id="22" name="component-198"/>
          <p:cNvSpPr/>
          <p:nvPr/>
        </p:nvSpPr>
        <p:spPr>
          <a:xfrm>
            <a:off x="5097780" y="2651760"/>
            <a:ext cx="2061972" cy="512064"/>
          </a:xfrm>
          <a:prstGeom prst="roundRect">
            <a:avLst>
              <a:gd name="adj" fmla="val 17857"/>
            </a:avLst>
          </a:prstGeom>
          <a:solidFill>
            <a:schemeClr val="tx1">
              <a:alpha val="70000"/>
            </a:schemeClr>
          </a:solidFill>
          <a:ln w="9525">
            <a:solidFill>
              <a:schemeClr val="accent1">
                <a:alpha val="50000"/>
              </a:schemeClr>
            </a:solidFill>
            <a:prstDash val="solid"/>
          </a:ln>
        </p:spPr>
      </p:sp>
      <p:sp>
        <p:nvSpPr>
          <p:cNvPr id="23" name="text-199"/>
          <p:cNvSpPr txBox="1"/>
          <p:nvPr/>
        </p:nvSpPr>
        <p:spPr>
          <a:xfrm>
            <a:off x="5143500" y="2651760"/>
            <a:ext cx="1970532" cy="512064"/>
          </a:xfrm>
          <a:prstGeom prst="rect">
            <a:avLst/>
          </a:prstGeom>
          <a:noFill/>
          <a:ln/>
        </p:spPr>
        <p:txBody>
          <a:bodyPr wrap="square" lIns="0" tIns="0" rIns="0" bIns="0" rtlCol="0" anchor="ctr"/>
          <a:lstStyle/>
          <a:p>
            <a:pPr algn="ctr" indent="0" marL="0">
              <a:buNone/>
            </a:pPr>
            <a:r>
              <a:rPr lang="en-US" sz="1250" dirty="0">
                <a:solidFill>
                  <a:schemeClr val="bg1"/>
                </a:solidFill>
              </a:rPr>
              <a:t>Job runner + progress</a:t>
            </a:r>
            <a:endParaRPr lang="en-US" sz="1250" dirty="0"/>
          </a:p>
        </p:txBody>
      </p:sp>
      <p:sp>
        <p:nvSpPr>
          <p:cNvPr id="24" name="component-200"/>
          <p:cNvSpPr/>
          <p:nvPr/>
        </p:nvSpPr>
        <p:spPr>
          <a:xfrm>
            <a:off x="7269480" y="2651760"/>
            <a:ext cx="2061972" cy="512064"/>
          </a:xfrm>
          <a:prstGeom prst="roundRect">
            <a:avLst>
              <a:gd name="adj" fmla="val 17857"/>
            </a:avLst>
          </a:prstGeom>
          <a:solidFill>
            <a:schemeClr val="tx1">
              <a:alpha val="70000"/>
            </a:schemeClr>
          </a:solidFill>
          <a:ln w="9525">
            <a:solidFill>
              <a:schemeClr val="accent1">
                <a:alpha val="50000"/>
              </a:schemeClr>
            </a:solidFill>
            <a:prstDash val="solid"/>
          </a:ln>
        </p:spPr>
      </p:sp>
      <p:sp>
        <p:nvSpPr>
          <p:cNvPr id="25" name="text-201"/>
          <p:cNvSpPr txBox="1"/>
          <p:nvPr/>
        </p:nvSpPr>
        <p:spPr>
          <a:xfrm>
            <a:off x="7315200" y="2651760"/>
            <a:ext cx="1970532" cy="512064"/>
          </a:xfrm>
          <a:prstGeom prst="rect">
            <a:avLst/>
          </a:prstGeom>
          <a:noFill/>
          <a:ln/>
        </p:spPr>
        <p:txBody>
          <a:bodyPr wrap="square" lIns="0" tIns="0" rIns="0" bIns="0" rtlCol="0" anchor="ctr"/>
          <a:lstStyle/>
          <a:p>
            <a:pPr algn="ctr" indent="0" marL="0">
              <a:buNone/>
            </a:pPr>
            <a:r>
              <a:rPr lang="en-US" sz="1250" dirty="0">
                <a:solidFill>
                  <a:schemeClr val="bg1"/>
                </a:solidFill>
              </a:rPr>
              <a:t>Gatekeeping · 409 on BLOCK</a:t>
            </a:r>
            <a:endParaRPr lang="en-US" sz="1250" dirty="0"/>
          </a:p>
        </p:txBody>
      </p:sp>
      <p:sp>
        <p:nvSpPr>
          <p:cNvPr id="26" name="component-202"/>
          <p:cNvSpPr/>
          <p:nvPr/>
        </p:nvSpPr>
        <p:spPr>
          <a:xfrm>
            <a:off x="9441180" y="2651760"/>
            <a:ext cx="2061972" cy="512064"/>
          </a:xfrm>
          <a:prstGeom prst="roundRect">
            <a:avLst>
              <a:gd name="adj" fmla="val 17857"/>
            </a:avLst>
          </a:prstGeom>
          <a:solidFill>
            <a:schemeClr val="tx1">
              <a:alpha val="70000"/>
            </a:schemeClr>
          </a:solidFill>
          <a:ln w="9525">
            <a:solidFill>
              <a:schemeClr val="accent1">
                <a:alpha val="50000"/>
              </a:schemeClr>
            </a:solidFill>
            <a:prstDash val="solid"/>
          </a:ln>
        </p:spPr>
      </p:sp>
      <p:sp>
        <p:nvSpPr>
          <p:cNvPr id="27" name="text-203"/>
          <p:cNvSpPr txBox="1"/>
          <p:nvPr/>
        </p:nvSpPr>
        <p:spPr>
          <a:xfrm>
            <a:off x="9486900" y="2651760"/>
            <a:ext cx="1970532" cy="512064"/>
          </a:xfrm>
          <a:prstGeom prst="rect">
            <a:avLst/>
          </a:prstGeom>
          <a:noFill/>
          <a:ln/>
        </p:spPr>
        <p:txBody>
          <a:bodyPr wrap="square" lIns="0" tIns="0" rIns="0" bIns="0" rtlCol="0" anchor="ctr"/>
          <a:lstStyle/>
          <a:p>
            <a:pPr algn="ctr" indent="0" marL="0">
              <a:buNone/>
            </a:pPr>
            <a:r>
              <a:rPr lang="en-US" sz="1250" dirty="0">
                <a:solidFill>
                  <a:schemeClr val="bg1"/>
                </a:solidFill>
              </a:rPr>
              <a:t>LangGraph StateGraph</a:t>
            </a:r>
            <a:endParaRPr lang="en-US" sz="1250" dirty="0"/>
          </a:p>
        </p:txBody>
      </p:sp>
      <p:sp>
        <p:nvSpPr>
          <p:cNvPr id="28" name="connector-204"/>
          <p:cNvSpPr/>
          <p:nvPr/>
        </p:nvSpPr>
        <p:spPr>
          <a:xfrm>
            <a:off x="1664208" y="3319272"/>
            <a:ext cx="91" cy="109728"/>
          </a:xfrm>
          <a:prstGeom prst="line">
            <a:avLst/>
          </a:prstGeom>
          <a:noFill/>
          <a:ln w="15875">
            <a:solidFill>
              <a:schemeClr val="bg2"/>
            </a:solidFill>
            <a:prstDash val="solid"/>
            <a:tailEnd type="triangle"/>
          </a:ln>
        </p:spPr>
      </p:sp>
      <p:sp>
        <p:nvSpPr>
          <p:cNvPr id="29" name="glass-205"/>
          <p:cNvSpPr/>
          <p:nvPr/>
        </p:nvSpPr>
        <p:spPr>
          <a:xfrm>
            <a:off x="548640" y="3438144"/>
            <a:ext cx="11091672" cy="804672"/>
          </a:xfrm>
          <a:prstGeom prst="roundRect">
            <a:avLst>
              <a:gd name="adj" fmla="val 15909"/>
            </a:avLst>
          </a:prstGeom>
          <a:solidFill>
            <a:schemeClr val="accent2">
              <a:alpha val="10000"/>
            </a:schemeClr>
          </a:solidFill>
          <a:ln w="12700">
            <a:solidFill>
              <a:schemeClr val="accent2">
                <a:alpha val="35000"/>
              </a:schemeClr>
            </a:solidFill>
            <a:prstDash val="solid"/>
          </a:ln>
        </p:spPr>
      </p:sp>
      <p:sp>
        <p:nvSpPr>
          <p:cNvPr id="30" name="layer-label-206"/>
          <p:cNvSpPr/>
          <p:nvPr/>
        </p:nvSpPr>
        <p:spPr>
          <a:xfrm>
            <a:off x="548640" y="3438144"/>
            <a:ext cx="2240280" cy="804672"/>
          </a:xfrm>
          <a:prstGeom prst="roundRect">
            <a:avLst>
              <a:gd name="adj" fmla="val 15909"/>
            </a:avLst>
          </a:prstGeom>
          <a:solidFill>
            <a:schemeClr val="accent2">
              <a:alpha val="28000"/>
            </a:schemeClr>
          </a:solidFill>
          <a:ln/>
        </p:spPr>
      </p:sp>
      <p:sp>
        <p:nvSpPr>
          <p:cNvPr id="31" name="text-207"/>
          <p:cNvSpPr txBox="1"/>
          <p:nvPr/>
        </p:nvSpPr>
        <p:spPr>
          <a:xfrm>
            <a:off x="731520" y="3438144"/>
            <a:ext cx="2011680" cy="804672"/>
          </a:xfrm>
          <a:prstGeom prst="rect">
            <a:avLst/>
          </a:prstGeom>
          <a:noFill/>
          <a:ln/>
        </p:spPr>
        <p:txBody>
          <a:bodyPr wrap="square" lIns="0" tIns="0" rIns="0" bIns="0" rtlCol="0" anchor="ctr"/>
          <a:lstStyle/>
          <a:p>
            <a:pPr indent="0" marL="0">
              <a:buNone/>
            </a:pPr>
            <a:r>
              <a:rPr lang="en-US" sz="1500" b="1" dirty="0">
                <a:solidFill>
                  <a:schemeClr val="bg1"/>
                </a:solidFill>
                <a:latin typeface="Century Gothic" pitchFamily="34" charset="0"/>
                <a:ea typeface="Century Gothic" pitchFamily="34" charset="-122"/>
                <a:cs typeface="Century Gothic" pitchFamily="34" charset="-120"/>
              </a:rPr>
              <a:t>Agents</a:t>
            </a:r>
            <a:endParaRPr lang="en-US" sz="1400" dirty="0"/>
          </a:p>
          <a:p>
            <a:pPr indent="0" marL="0">
              <a:buNone/>
            </a:pPr>
            <a:r>
              <a:rPr lang="en-US" sz="1150" dirty="0">
                <a:solidFill>
                  <a:schemeClr val="bg2"/>
                </a:solidFill>
              </a:rPr>
              <a:t>one decision each</a:t>
            </a:r>
            <a:endParaRPr lang="en-US" sz="1400" dirty="0"/>
          </a:p>
        </p:txBody>
      </p:sp>
      <p:sp>
        <p:nvSpPr>
          <p:cNvPr id="32" name="component-208"/>
          <p:cNvSpPr/>
          <p:nvPr/>
        </p:nvSpPr>
        <p:spPr>
          <a:xfrm>
            <a:off x="2926080" y="3584448"/>
            <a:ext cx="1627632" cy="512064"/>
          </a:xfrm>
          <a:prstGeom prst="roundRect">
            <a:avLst>
              <a:gd name="adj" fmla="val 17857"/>
            </a:avLst>
          </a:prstGeom>
          <a:solidFill>
            <a:schemeClr val="tx1">
              <a:alpha val="70000"/>
            </a:schemeClr>
          </a:solidFill>
          <a:ln w="9525">
            <a:solidFill>
              <a:schemeClr val="accent2">
                <a:alpha val="50000"/>
              </a:schemeClr>
            </a:solidFill>
            <a:prstDash val="solid"/>
          </a:ln>
        </p:spPr>
      </p:sp>
      <p:sp>
        <p:nvSpPr>
          <p:cNvPr id="33" name="text-209"/>
          <p:cNvSpPr txBox="1"/>
          <p:nvPr/>
        </p:nvSpPr>
        <p:spPr>
          <a:xfrm>
            <a:off x="2971800" y="3584448"/>
            <a:ext cx="1536192" cy="512064"/>
          </a:xfrm>
          <a:prstGeom prst="rect">
            <a:avLst/>
          </a:prstGeom>
          <a:noFill/>
          <a:ln/>
        </p:spPr>
        <p:txBody>
          <a:bodyPr wrap="square" lIns="0" tIns="0" rIns="0" bIns="0" rtlCol="0" anchor="ctr"/>
          <a:lstStyle/>
          <a:p>
            <a:pPr algn="ctr" indent="0" marL="0">
              <a:buNone/>
            </a:pPr>
            <a:r>
              <a:rPr lang="en-US" sz="1250" dirty="0">
                <a:solidFill>
                  <a:schemeClr val="bg1"/>
                </a:solidFill>
              </a:rPr>
              <a:t>Segmentation · seg-v3</a:t>
            </a:r>
            <a:endParaRPr lang="en-US" sz="1250" dirty="0"/>
          </a:p>
        </p:txBody>
      </p:sp>
      <p:sp>
        <p:nvSpPr>
          <p:cNvPr id="34" name="component-210"/>
          <p:cNvSpPr/>
          <p:nvPr/>
        </p:nvSpPr>
        <p:spPr>
          <a:xfrm>
            <a:off x="4663440" y="3584448"/>
            <a:ext cx="1627632" cy="512064"/>
          </a:xfrm>
          <a:prstGeom prst="roundRect">
            <a:avLst>
              <a:gd name="adj" fmla="val 17857"/>
            </a:avLst>
          </a:prstGeom>
          <a:solidFill>
            <a:schemeClr val="tx1">
              <a:alpha val="70000"/>
            </a:schemeClr>
          </a:solidFill>
          <a:ln w="9525">
            <a:solidFill>
              <a:schemeClr val="accent2">
                <a:alpha val="50000"/>
              </a:schemeClr>
            </a:solidFill>
            <a:prstDash val="solid"/>
          </a:ln>
        </p:spPr>
      </p:sp>
      <p:sp>
        <p:nvSpPr>
          <p:cNvPr id="35" name="text-211"/>
          <p:cNvSpPr txBox="1"/>
          <p:nvPr/>
        </p:nvSpPr>
        <p:spPr>
          <a:xfrm>
            <a:off x="4709160" y="3584448"/>
            <a:ext cx="1536192" cy="512064"/>
          </a:xfrm>
          <a:prstGeom prst="rect">
            <a:avLst/>
          </a:prstGeom>
          <a:noFill/>
          <a:ln/>
        </p:spPr>
        <p:txBody>
          <a:bodyPr wrap="square" lIns="0" tIns="0" rIns="0" bIns="0" rtlCol="0" anchor="ctr"/>
          <a:lstStyle/>
          <a:p>
            <a:pPr algn="ctr" indent="0" marL="0">
              <a:buNone/>
            </a:pPr>
            <a:r>
              <a:rPr lang="en-US" sz="1250" dirty="0">
                <a:solidFill>
                  <a:schemeClr val="bg1"/>
                </a:solidFill>
              </a:rPr>
              <a:t>Creative · direction-v2</a:t>
            </a:r>
            <a:endParaRPr lang="en-US" sz="1250" dirty="0"/>
          </a:p>
        </p:txBody>
      </p:sp>
      <p:sp>
        <p:nvSpPr>
          <p:cNvPr id="36" name="component-212"/>
          <p:cNvSpPr/>
          <p:nvPr/>
        </p:nvSpPr>
        <p:spPr>
          <a:xfrm>
            <a:off x="6400800" y="3584448"/>
            <a:ext cx="1627632" cy="512064"/>
          </a:xfrm>
          <a:prstGeom prst="roundRect">
            <a:avLst>
              <a:gd name="adj" fmla="val 17857"/>
            </a:avLst>
          </a:prstGeom>
          <a:solidFill>
            <a:schemeClr val="tx1">
              <a:alpha val="70000"/>
            </a:schemeClr>
          </a:solidFill>
          <a:ln w="9525">
            <a:solidFill>
              <a:schemeClr val="accent2">
                <a:alpha val="50000"/>
              </a:schemeClr>
            </a:solidFill>
            <a:prstDash val="solid"/>
          </a:ln>
        </p:spPr>
      </p:sp>
      <p:sp>
        <p:nvSpPr>
          <p:cNvPr id="37" name="text-213"/>
          <p:cNvSpPr txBox="1"/>
          <p:nvPr/>
        </p:nvSpPr>
        <p:spPr>
          <a:xfrm>
            <a:off x="6446520" y="3584448"/>
            <a:ext cx="1536192" cy="512064"/>
          </a:xfrm>
          <a:prstGeom prst="rect">
            <a:avLst/>
          </a:prstGeom>
          <a:noFill/>
          <a:ln/>
        </p:spPr>
        <p:txBody>
          <a:bodyPr wrap="square" lIns="0" tIns="0" rIns="0" bIns="0" rtlCol="0" anchor="ctr"/>
          <a:lstStyle/>
          <a:p>
            <a:pPr algn="ctr" indent="0" marL="0">
              <a:buNone/>
            </a:pPr>
            <a:r>
              <a:rPr lang="en-US" sz="1250" dirty="0">
                <a:solidFill>
                  <a:schemeClr val="bg1"/>
                </a:solidFill>
              </a:rPr>
              <a:t>Composer · email-v2</a:t>
            </a:r>
            <a:endParaRPr lang="en-US" sz="1250" dirty="0"/>
          </a:p>
        </p:txBody>
      </p:sp>
      <p:sp>
        <p:nvSpPr>
          <p:cNvPr id="38" name="component-214"/>
          <p:cNvSpPr/>
          <p:nvPr/>
        </p:nvSpPr>
        <p:spPr>
          <a:xfrm>
            <a:off x="8138160" y="3584448"/>
            <a:ext cx="1627632" cy="512064"/>
          </a:xfrm>
          <a:prstGeom prst="roundRect">
            <a:avLst>
              <a:gd name="adj" fmla="val 17857"/>
            </a:avLst>
          </a:prstGeom>
          <a:solidFill>
            <a:schemeClr val="tx1">
              <a:alpha val="70000"/>
            </a:schemeClr>
          </a:solidFill>
          <a:ln w="9525">
            <a:solidFill>
              <a:schemeClr val="accent2">
                <a:alpha val="50000"/>
              </a:schemeClr>
            </a:solidFill>
            <a:prstDash val="solid"/>
          </a:ln>
        </p:spPr>
      </p:sp>
      <p:sp>
        <p:nvSpPr>
          <p:cNvPr id="39" name="text-215"/>
          <p:cNvSpPr txBox="1"/>
          <p:nvPr/>
        </p:nvSpPr>
        <p:spPr>
          <a:xfrm>
            <a:off x="8183880" y="3584448"/>
            <a:ext cx="1536192" cy="512064"/>
          </a:xfrm>
          <a:prstGeom prst="rect">
            <a:avLst/>
          </a:prstGeom>
          <a:noFill/>
          <a:ln/>
        </p:spPr>
        <p:txBody>
          <a:bodyPr wrap="square" lIns="0" tIns="0" rIns="0" bIns="0" rtlCol="0" anchor="ctr"/>
          <a:lstStyle/>
          <a:p>
            <a:pPr algn="ctr" indent="0" marL="0">
              <a:buNone/>
            </a:pPr>
            <a:r>
              <a:rPr lang="en-US" sz="1250" dirty="0">
                <a:solidFill>
                  <a:schemeClr val="bg1"/>
                </a:solidFill>
              </a:rPr>
              <a:t>Guardian · guardian-v4</a:t>
            </a:r>
            <a:endParaRPr lang="en-US" sz="1250" dirty="0"/>
          </a:p>
        </p:txBody>
      </p:sp>
      <p:sp>
        <p:nvSpPr>
          <p:cNvPr id="40" name="component-216"/>
          <p:cNvSpPr/>
          <p:nvPr/>
        </p:nvSpPr>
        <p:spPr>
          <a:xfrm>
            <a:off x="9875520" y="3584448"/>
            <a:ext cx="1627632" cy="512064"/>
          </a:xfrm>
          <a:prstGeom prst="roundRect">
            <a:avLst>
              <a:gd name="adj" fmla="val 17857"/>
            </a:avLst>
          </a:prstGeom>
          <a:solidFill>
            <a:schemeClr val="tx1">
              <a:alpha val="70000"/>
            </a:schemeClr>
          </a:solidFill>
          <a:ln w="9525">
            <a:solidFill>
              <a:schemeClr val="accent2">
                <a:alpha val="50000"/>
              </a:schemeClr>
            </a:solidFill>
            <a:prstDash val="solid"/>
          </a:ln>
        </p:spPr>
      </p:sp>
      <p:sp>
        <p:nvSpPr>
          <p:cNvPr id="41" name="text-217"/>
          <p:cNvSpPr txBox="1"/>
          <p:nvPr/>
        </p:nvSpPr>
        <p:spPr>
          <a:xfrm>
            <a:off x="9921240" y="3584448"/>
            <a:ext cx="1536192" cy="512064"/>
          </a:xfrm>
          <a:prstGeom prst="rect">
            <a:avLst/>
          </a:prstGeom>
          <a:noFill/>
          <a:ln/>
        </p:spPr>
        <p:txBody>
          <a:bodyPr wrap="square" lIns="0" tIns="0" rIns="0" bIns="0" rtlCol="0" anchor="ctr"/>
          <a:lstStyle/>
          <a:p>
            <a:pPr algn="ctr" indent="0" marL="0">
              <a:buNone/>
            </a:pPr>
            <a:r>
              <a:rPr lang="en-US" sz="1250" dirty="0">
                <a:solidFill>
                  <a:schemeClr val="bg1"/>
                </a:solidFill>
              </a:rPr>
              <a:t>Evaluator · eval-v1</a:t>
            </a:r>
            <a:endParaRPr lang="en-US" sz="1250" dirty="0"/>
          </a:p>
        </p:txBody>
      </p:sp>
      <p:sp>
        <p:nvSpPr>
          <p:cNvPr id="42" name="connector-218"/>
          <p:cNvSpPr/>
          <p:nvPr/>
        </p:nvSpPr>
        <p:spPr>
          <a:xfrm>
            <a:off x="1664208" y="4251960"/>
            <a:ext cx="91" cy="109728"/>
          </a:xfrm>
          <a:prstGeom prst="line">
            <a:avLst/>
          </a:prstGeom>
          <a:noFill/>
          <a:ln w="15875">
            <a:solidFill>
              <a:schemeClr val="bg2"/>
            </a:solidFill>
            <a:prstDash val="solid"/>
            <a:tailEnd type="triangle"/>
          </a:ln>
        </p:spPr>
      </p:sp>
      <p:sp>
        <p:nvSpPr>
          <p:cNvPr id="43" name="glass-219"/>
          <p:cNvSpPr/>
          <p:nvPr/>
        </p:nvSpPr>
        <p:spPr>
          <a:xfrm>
            <a:off x="548640" y="4370832"/>
            <a:ext cx="11091672" cy="804672"/>
          </a:xfrm>
          <a:prstGeom prst="roundRect">
            <a:avLst>
              <a:gd name="adj" fmla="val 15909"/>
            </a:avLst>
          </a:prstGeom>
          <a:solidFill>
            <a:schemeClr val="accent5">
              <a:alpha val="10000"/>
            </a:schemeClr>
          </a:solidFill>
          <a:ln w="12700">
            <a:solidFill>
              <a:schemeClr val="accent5">
                <a:alpha val="35000"/>
              </a:schemeClr>
            </a:solidFill>
            <a:prstDash val="solid"/>
          </a:ln>
        </p:spPr>
      </p:sp>
      <p:sp>
        <p:nvSpPr>
          <p:cNvPr id="44" name="layer-label-220"/>
          <p:cNvSpPr/>
          <p:nvPr/>
        </p:nvSpPr>
        <p:spPr>
          <a:xfrm>
            <a:off x="548640" y="4370832"/>
            <a:ext cx="2240280" cy="804672"/>
          </a:xfrm>
          <a:prstGeom prst="roundRect">
            <a:avLst>
              <a:gd name="adj" fmla="val 15909"/>
            </a:avLst>
          </a:prstGeom>
          <a:solidFill>
            <a:schemeClr val="accent5">
              <a:alpha val="28000"/>
            </a:schemeClr>
          </a:solidFill>
          <a:ln/>
        </p:spPr>
      </p:sp>
      <p:sp>
        <p:nvSpPr>
          <p:cNvPr id="45" name="text-221"/>
          <p:cNvSpPr txBox="1"/>
          <p:nvPr/>
        </p:nvSpPr>
        <p:spPr>
          <a:xfrm>
            <a:off x="731520" y="4370832"/>
            <a:ext cx="2011680" cy="804672"/>
          </a:xfrm>
          <a:prstGeom prst="rect">
            <a:avLst/>
          </a:prstGeom>
          <a:noFill/>
          <a:ln/>
        </p:spPr>
        <p:txBody>
          <a:bodyPr wrap="square" lIns="0" tIns="0" rIns="0" bIns="0" rtlCol="0" anchor="ctr"/>
          <a:lstStyle/>
          <a:p>
            <a:pPr indent="0" marL="0">
              <a:buNone/>
            </a:pPr>
            <a:r>
              <a:rPr lang="en-US" sz="1500" b="1" dirty="0">
                <a:solidFill>
                  <a:schemeClr val="bg1"/>
                </a:solidFill>
                <a:latin typeface="Century Gothic" pitchFamily="34" charset="0"/>
                <a:ea typeface="Century Gothic" pitchFamily="34" charset="-122"/>
                <a:cs typeface="Century Gothic" pitchFamily="34" charset="-120"/>
              </a:rPr>
              <a:t>Common services</a:t>
            </a:r>
            <a:endParaRPr lang="en-US" sz="1400" dirty="0"/>
          </a:p>
          <a:p>
            <a:pPr indent="0" marL="0">
              <a:buNone/>
            </a:pPr>
            <a:r>
              <a:rPr lang="en-US" sz="1150" dirty="0">
                <a:solidFill>
                  <a:schemeClr val="bg2"/>
                </a:solidFill>
              </a:rPr>
              <a:t>shared by every agent</a:t>
            </a:r>
            <a:endParaRPr lang="en-US" sz="1400" dirty="0"/>
          </a:p>
        </p:txBody>
      </p:sp>
      <p:sp>
        <p:nvSpPr>
          <p:cNvPr id="46" name="component-222"/>
          <p:cNvSpPr/>
          <p:nvPr/>
        </p:nvSpPr>
        <p:spPr>
          <a:xfrm>
            <a:off x="2926080" y="4517136"/>
            <a:ext cx="1338072" cy="512064"/>
          </a:xfrm>
          <a:prstGeom prst="roundRect">
            <a:avLst>
              <a:gd name="adj" fmla="val 17857"/>
            </a:avLst>
          </a:prstGeom>
          <a:solidFill>
            <a:schemeClr val="tx1">
              <a:alpha val="70000"/>
            </a:schemeClr>
          </a:solidFill>
          <a:ln w="9525">
            <a:solidFill>
              <a:schemeClr val="accent5">
                <a:alpha val="50000"/>
              </a:schemeClr>
            </a:solidFill>
            <a:prstDash val="solid"/>
          </a:ln>
        </p:spPr>
      </p:sp>
      <p:sp>
        <p:nvSpPr>
          <p:cNvPr id="47" name="text-223"/>
          <p:cNvSpPr txBox="1"/>
          <p:nvPr/>
        </p:nvSpPr>
        <p:spPr>
          <a:xfrm>
            <a:off x="2971800" y="4517136"/>
            <a:ext cx="1246632" cy="512064"/>
          </a:xfrm>
          <a:prstGeom prst="rect">
            <a:avLst/>
          </a:prstGeom>
          <a:noFill/>
          <a:ln/>
        </p:spPr>
        <p:txBody>
          <a:bodyPr wrap="square" lIns="0" tIns="0" rIns="0" bIns="0" rtlCol="0" anchor="ctr"/>
          <a:lstStyle/>
          <a:p>
            <a:pPr algn="ctr" indent="0" marL="0">
              <a:buNone/>
            </a:pPr>
            <a:r>
              <a:rPr lang="en-US" sz="1250" dirty="0">
                <a:solidFill>
                  <a:schemeClr val="bg1"/>
                </a:solidFill>
              </a:rPr>
              <a:t>OpenRouter client</a:t>
            </a:r>
            <a:endParaRPr lang="en-US" sz="1250" dirty="0"/>
          </a:p>
        </p:txBody>
      </p:sp>
      <p:sp>
        <p:nvSpPr>
          <p:cNvPr id="48" name="component-224"/>
          <p:cNvSpPr/>
          <p:nvPr/>
        </p:nvSpPr>
        <p:spPr>
          <a:xfrm>
            <a:off x="4373880" y="4517136"/>
            <a:ext cx="1338072" cy="512064"/>
          </a:xfrm>
          <a:prstGeom prst="roundRect">
            <a:avLst>
              <a:gd name="adj" fmla="val 17857"/>
            </a:avLst>
          </a:prstGeom>
          <a:solidFill>
            <a:schemeClr val="tx1">
              <a:alpha val="70000"/>
            </a:schemeClr>
          </a:solidFill>
          <a:ln w="9525">
            <a:solidFill>
              <a:schemeClr val="accent5">
                <a:alpha val="50000"/>
              </a:schemeClr>
            </a:solidFill>
            <a:prstDash val="solid"/>
          </a:ln>
        </p:spPr>
      </p:sp>
      <p:sp>
        <p:nvSpPr>
          <p:cNvPr id="49" name="text-225"/>
          <p:cNvSpPr txBox="1"/>
          <p:nvPr/>
        </p:nvSpPr>
        <p:spPr>
          <a:xfrm>
            <a:off x="4419600" y="4517136"/>
            <a:ext cx="1246632" cy="512064"/>
          </a:xfrm>
          <a:prstGeom prst="rect">
            <a:avLst/>
          </a:prstGeom>
          <a:noFill/>
          <a:ln/>
        </p:spPr>
        <p:txBody>
          <a:bodyPr wrap="square" lIns="0" tIns="0" rIns="0" bIns="0" rtlCol="0" anchor="ctr"/>
          <a:lstStyle/>
          <a:p>
            <a:pPr algn="ctr" indent="0" marL="0">
              <a:buNone/>
            </a:pPr>
            <a:r>
              <a:rPr lang="en-US" sz="1250" dirty="0">
                <a:solidFill>
                  <a:schemeClr val="bg1"/>
                </a:solidFill>
              </a:rPr>
              <a:t>Decision Ledger</a:t>
            </a:r>
            <a:endParaRPr lang="en-US" sz="1250" dirty="0"/>
          </a:p>
        </p:txBody>
      </p:sp>
      <p:sp>
        <p:nvSpPr>
          <p:cNvPr id="50" name="component-226"/>
          <p:cNvSpPr/>
          <p:nvPr/>
        </p:nvSpPr>
        <p:spPr>
          <a:xfrm>
            <a:off x="5821680" y="4517136"/>
            <a:ext cx="1338072" cy="512064"/>
          </a:xfrm>
          <a:prstGeom prst="roundRect">
            <a:avLst>
              <a:gd name="adj" fmla="val 17857"/>
            </a:avLst>
          </a:prstGeom>
          <a:solidFill>
            <a:schemeClr val="tx1">
              <a:alpha val="70000"/>
            </a:schemeClr>
          </a:solidFill>
          <a:ln w="9525">
            <a:solidFill>
              <a:schemeClr val="accent5">
                <a:alpha val="50000"/>
              </a:schemeClr>
            </a:solidFill>
            <a:prstDash val="solid"/>
          </a:ln>
        </p:spPr>
      </p:sp>
      <p:sp>
        <p:nvSpPr>
          <p:cNvPr id="51" name="text-227"/>
          <p:cNvSpPr txBox="1"/>
          <p:nvPr/>
        </p:nvSpPr>
        <p:spPr>
          <a:xfrm>
            <a:off x="5867400" y="4517136"/>
            <a:ext cx="1246632" cy="512064"/>
          </a:xfrm>
          <a:prstGeom prst="rect">
            <a:avLst/>
          </a:prstGeom>
          <a:noFill/>
          <a:ln/>
        </p:spPr>
        <p:txBody>
          <a:bodyPr wrap="square" lIns="0" tIns="0" rIns="0" bIns="0" rtlCol="0" anchor="ctr"/>
          <a:lstStyle/>
          <a:p>
            <a:pPr algn="ctr" indent="0" marL="0">
              <a:buNone/>
            </a:pPr>
            <a:r>
              <a:rPr lang="en-US" sz="1250" dirty="0">
                <a:solidFill>
                  <a:schemeClr val="bg1"/>
                </a:solidFill>
              </a:rPr>
              <a:t>Activity log + cost</a:t>
            </a:r>
            <a:endParaRPr lang="en-US" sz="1250" dirty="0"/>
          </a:p>
        </p:txBody>
      </p:sp>
      <p:sp>
        <p:nvSpPr>
          <p:cNvPr id="52" name="component-228"/>
          <p:cNvSpPr/>
          <p:nvPr/>
        </p:nvSpPr>
        <p:spPr>
          <a:xfrm>
            <a:off x="7269480" y="4517136"/>
            <a:ext cx="1338072" cy="512064"/>
          </a:xfrm>
          <a:prstGeom prst="roundRect">
            <a:avLst>
              <a:gd name="adj" fmla="val 17857"/>
            </a:avLst>
          </a:prstGeom>
          <a:solidFill>
            <a:schemeClr val="tx1">
              <a:alpha val="70000"/>
            </a:schemeClr>
          </a:solidFill>
          <a:ln w="9525">
            <a:solidFill>
              <a:schemeClr val="accent5">
                <a:alpha val="50000"/>
              </a:schemeClr>
            </a:solidFill>
            <a:prstDash val="solid"/>
          </a:ln>
        </p:spPr>
      </p:sp>
      <p:sp>
        <p:nvSpPr>
          <p:cNvPr id="53" name="text-229"/>
          <p:cNvSpPr txBox="1"/>
          <p:nvPr/>
        </p:nvSpPr>
        <p:spPr>
          <a:xfrm>
            <a:off x="7315200" y="4517136"/>
            <a:ext cx="1246632" cy="512064"/>
          </a:xfrm>
          <a:prstGeom prst="rect">
            <a:avLst/>
          </a:prstGeom>
          <a:noFill/>
          <a:ln/>
        </p:spPr>
        <p:txBody>
          <a:bodyPr wrap="square" lIns="0" tIns="0" rIns="0" bIns="0" rtlCol="0" anchor="ctr"/>
          <a:lstStyle/>
          <a:p>
            <a:pPr algn="ctr" indent="0" marL="0">
              <a:buNone/>
            </a:pPr>
            <a:r>
              <a:rPr lang="en-US" sz="1250" dirty="0">
                <a:solidFill>
                  <a:schemeClr val="bg1"/>
                </a:solidFill>
              </a:rPr>
              <a:t>CSV profiler</a:t>
            </a:r>
            <a:endParaRPr lang="en-US" sz="1250" dirty="0"/>
          </a:p>
        </p:txBody>
      </p:sp>
      <p:sp>
        <p:nvSpPr>
          <p:cNvPr id="54" name="component-230"/>
          <p:cNvSpPr/>
          <p:nvPr/>
        </p:nvSpPr>
        <p:spPr>
          <a:xfrm>
            <a:off x="8717280" y="4517136"/>
            <a:ext cx="1338072" cy="512064"/>
          </a:xfrm>
          <a:prstGeom prst="roundRect">
            <a:avLst>
              <a:gd name="adj" fmla="val 17857"/>
            </a:avLst>
          </a:prstGeom>
          <a:solidFill>
            <a:schemeClr val="tx1">
              <a:alpha val="70000"/>
            </a:schemeClr>
          </a:solidFill>
          <a:ln w="9525">
            <a:solidFill>
              <a:schemeClr val="accent5">
                <a:alpha val="50000"/>
              </a:schemeClr>
            </a:solidFill>
            <a:prstDash val="solid"/>
          </a:ln>
        </p:spPr>
      </p:sp>
      <p:sp>
        <p:nvSpPr>
          <p:cNvPr id="55" name="text-231"/>
          <p:cNvSpPr txBox="1"/>
          <p:nvPr/>
        </p:nvSpPr>
        <p:spPr>
          <a:xfrm>
            <a:off x="8763000" y="4517136"/>
            <a:ext cx="1246632" cy="512064"/>
          </a:xfrm>
          <a:prstGeom prst="rect">
            <a:avLst/>
          </a:prstGeom>
          <a:noFill/>
          <a:ln/>
        </p:spPr>
        <p:txBody>
          <a:bodyPr wrap="square" lIns="0" tIns="0" rIns="0" bIns="0" rtlCol="0" anchor="ctr"/>
          <a:lstStyle/>
          <a:p>
            <a:pPr algn="ctr" indent="0" marL="0">
              <a:buNone/>
            </a:pPr>
            <a:r>
              <a:rPr lang="en-US" sz="1250" dirty="0">
                <a:solidFill>
                  <a:schemeClr val="bg1"/>
                </a:solidFill>
              </a:rPr>
              <a:t>Brand context</a:t>
            </a:r>
            <a:endParaRPr lang="en-US" sz="1250" dirty="0"/>
          </a:p>
        </p:txBody>
      </p:sp>
      <p:sp>
        <p:nvSpPr>
          <p:cNvPr id="56" name="component-232"/>
          <p:cNvSpPr/>
          <p:nvPr/>
        </p:nvSpPr>
        <p:spPr>
          <a:xfrm>
            <a:off x="10165080" y="4517136"/>
            <a:ext cx="1338072" cy="512064"/>
          </a:xfrm>
          <a:prstGeom prst="roundRect">
            <a:avLst>
              <a:gd name="adj" fmla="val 17857"/>
            </a:avLst>
          </a:prstGeom>
          <a:solidFill>
            <a:schemeClr val="tx1">
              <a:alpha val="70000"/>
            </a:schemeClr>
          </a:solidFill>
          <a:ln w="9525">
            <a:solidFill>
              <a:schemeClr val="accent5">
                <a:alpha val="50000"/>
              </a:schemeClr>
            </a:solidFill>
            <a:prstDash val="solid"/>
          </a:ln>
        </p:spPr>
      </p:sp>
      <p:sp>
        <p:nvSpPr>
          <p:cNvPr id="57" name="text-233"/>
          <p:cNvSpPr txBox="1"/>
          <p:nvPr/>
        </p:nvSpPr>
        <p:spPr>
          <a:xfrm>
            <a:off x="10210800" y="4517136"/>
            <a:ext cx="1246632" cy="512064"/>
          </a:xfrm>
          <a:prstGeom prst="rect">
            <a:avLst/>
          </a:prstGeom>
          <a:noFill/>
          <a:ln/>
        </p:spPr>
        <p:txBody>
          <a:bodyPr wrap="square" lIns="0" tIns="0" rIns="0" bIns="0" rtlCol="0" anchor="ctr"/>
          <a:lstStyle/>
          <a:p>
            <a:pPr algn="ctr" indent="0" marL="0">
              <a:buNone/>
            </a:pPr>
            <a:r>
              <a:rPr lang="en-US" sz="1250" dirty="0">
                <a:solidFill>
                  <a:schemeClr val="bg1"/>
                </a:solidFill>
              </a:rPr>
              <a:t>Storage + Mailer</a:t>
            </a:r>
            <a:endParaRPr lang="en-US" sz="1250" dirty="0"/>
          </a:p>
        </p:txBody>
      </p:sp>
      <p:sp>
        <p:nvSpPr>
          <p:cNvPr id="58" name="connector-234"/>
          <p:cNvSpPr/>
          <p:nvPr/>
        </p:nvSpPr>
        <p:spPr>
          <a:xfrm>
            <a:off x="1664208" y="5184648"/>
            <a:ext cx="91" cy="109728"/>
          </a:xfrm>
          <a:prstGeom prst="line">
            <a:avLst/>
          </a:prstGeom>
          <a:noFill/>
          <a:ln w="15875">
            <a:solidFill>
              <a:schemeClr val="bg2"/>
            </a:solidFill>
            <a:prstDash val="solid"/>
            <a:tailEnd type="triangle"/>
          </a:ln>
        </p:spPr>
      </p:sp>
      <p:sp>
        <p:nvSpPr>
          <p:cNvPr id="59" name="glass-235"/>
          <p:cNvSpPr/>
          <p:nvPr/>
        </p:nvSpPr>
        <p:spPr>
          <a:xfrm>
            <a:off x="548640" y="5303520"/>
            <a:ext cx="11091672" cy="804672"/>
          </a:xfrm>
          <a:prstGeom prst="roundRect">
            <a:avLst>
              <a:gd name="adj" fmla="val 15909"/>
            </a:avLst>
          </a:prstGeom>
          <a:solidFill>
            <a:schemeClr val="accent4">
              <a:alpha val="10000"/>
            </a:schemeClr>
          </a:solidFill>
          <a:ln w="12700">
            <a:solidFill>
              <a:schemeClr val="accent4">
                <a:alpha val="35000"/>
              </a:schemeClr>
            </a:solidFill>
            <a:prstDash val="solid"/>
          </a:ln>
        </p:spPr>
      </p:sp>
      <p:sp>
        <p:nvSpPr>
          <p:cNvPr id="60" name="layer-label-236"/>
          <p:cNvSpPr/>
          <p:nvPr/>
        </p:nvSpPr>
        <p:spPr>
          <a:xfrm>
            <a:off x="548640" y="5303520"/>
            <a:ext cx="2240280" cy="804672"/>
          </a:xfrm>
          <a:prstGeom prst="roundRect">
            <a:avLst>
              <a:gd name="adj" fmla="val 15909"/>
            </a:avLst>
          </a:prstGeom>
          <a:solidFill>
            <a:schemeClr val="accent4">
              <a:alpha val="28000"/>
            </a:schemeClr>
          </a:solidFill>
          <a:ln/>
        </p:spPr>
      </p:sp>
      <p:sp>
        <p:nvSpPr>
          <p:cNvPr id="61" name="text-237"/>
          <p:cNvSpPr txBox="1"/>
          <p:nvPr/>
        </p:nvSpPr>
        <p:spPr>
          <a:xfrm>
            <a:off x="731520" y="5303520"/>
            <a:ext cx="2011680" cy="804672"/>
          </a:xfrm>
          <a:prstGeom prst="rect">
            <a:avLst/>
          </a:prstGeom>
          <a:noFill/>
          <a:ln/>
        </p:spPr>
        <p:txBody>
          <a:bodyPr wrap="square" lIns="0" tIns="0" rIns="0" bIns="0" rtlCol="0" anchor="ctr"/>
          <a:lstStyle/>
          <a:p>
            <a:pPr indent="0" marL="0">
              <a:buNone/>
            </a:pPr>
            <a:r>
              <a:rPr lang="en-US" sz="1500" b="1" dirty="0">
                <a:solidFill>
                  <a:schemeClr val="bg1"/>
                </a:solidFill>
                <a:latin typeface="Century Gothic" pitchFamily="34" charset="0"/>
                <a:ea typeface="Century Gothic" pitchFamily="34" charset="-122"/>
                <a:cs typeface="Century Gothic" pitchFamily="34" charset="-120"/>
              </a:rPr>
              <a:t>Data &amp; external</a:t>
            </a:r>
            <a:endParaRPr lang="en-US" sz="1400" dirty="0"/>
          </a:p>
          <a:p>
            <a:pPr indent="0" marL="0">
              <a:buNone/>
            </a:pPr>
            <a:r>
              <a:rPr lang="en-US" sz="1150" dirty="0">
                <a:solidFill>
                  <a:schemeClr val="bg2"/>
                </a:solidFill>
              </a:rPr>
              <a:t>managed services</a:t>
            </a:r>
            <a:endParaRPr lang="en-US" sz="1400" dirty="0"/>
          </a:p>
        </p:txBody>
      </p:sp>
      <p:sp>
        <p:nvSpPr>
          <p:cNvPr id="62" name="component-238"/>
          <p:cNvSpPr/>
          <p:nvPr/>
        </p:nvSpPr>
        <p:spPr>
          <a:xfrm>
            <a:off x="2926080" y="5449824"/>
            <a:ext cx="2061972" cy="512064"/>
          </a:xfrm>
          <a:prstGeom prst="roundRect">
            <a:avLst>
              <a:gd name="adj" fmla="val 17857"/>
            </a:avLst>
          </a:prstGeom>
          <a:solidFill>
            <a:schemeClr val="tx1">
              <a:alpha val="70000"/>
            </a:schemeClr>
          </a:solidFill>
          <a:ln w="9525">
            <a:solidFill>
              <a:schemeClr val="accent4">
                <a:alpha val="50000"/>
              </a:schemeClr>
            </a:solidFill>
            <a:prstDash val="solid"/>
          </a:ln>
        </p:spPr>
      </p:sp>
      <p:sp>
        <p:nvSpPr>
          <p:cNvPr id="63" name="text-239"/>
          <p:cNvSpPr txBox="1"/>
          <p:nvPr/>
        </p:nvSpPr>
        <p:spPr>
          <a:xfrm>
            <a:off x="2971800" y="5449824"/>
            <a:ext cx="1970532" cy="512064"/>
          </a:xfrm>
          <a:prstGeom prst="rect">
            <a:avLst/>
          </a:prstGeom>
          <a:noFill/>
          <a:ln/>
        </p:spPr>
        <p:txBody>
          <a:bodyPr wrap="square" lIns="0" tIns="0" rIns="0" bIns="0" rtlCol="0" anchor="ctr"/>
          <a:lstStyle/>
          <a:p>
            <a:pPr algn="ctr" indent="0" marL="0">
              <a:buNone/>
            </a:pPr>
            <a:r>
              <a:rPr lang="en-US" sz="1250" dirty="0">
                <a:solidFill>
                  <a:schemeClr val="bg1"/>
                </a:solidFill>
              </a:rPr>
              <a:t>Supabase Postgres</a:t>
            </a:r>
            <a:endParaRPr lang="en-US" sz="1250" dirty="0"/>
          </a:p>
        </p:txBody>
      </p:sp>
      <p:sp>
        <p:nvSpPr>
          <p:cNvPr id="64" name="component-240"/>
          <p:cNvSpPr/>
          <p:nvPr/>
        </p:nvSpPr>
        <p:spPr>
          <a:xfrm>
            <a:off x="5097780" y="5449824"/>
            <a:ext cx="2061972" cy="512064"/>
          </a:xfrm>
          <a:prstGeom prst="roundRect">
            <a:avLst>
              <a:gd name="adj" fmla="val 17857"/>
            </a:avLst>
          </a:prstGeom>
          <a:solidFill>
            <a:schemeClr val="tx1">
              <a:alpha val="70000"/>
            </a:schemeClr>
          </a:solidFill>
          <a:ln w="9525">
            <a:solidFill>
              <a:schemeClr val="accent4">
                <a:alpha val="50000"/>
              </a:schemeClr>
            </a:solidFill>
            <a:prstDash val="solid"/>
          </a:ln>
        </p:spPr>
      </p:sp>
      <p:sp>
        <p:nvSpPr>
          <p:cNvPr id="65" name="text-241"/>
          <p:cNvSpPr txBox="1"/>
          <p:nvPr/>
        </p:nvSpPr>
        <p:spPr>
          <a:xfrm>
            <a:off x="5143500" y="5449824"/>
            <a:ext cx="1970532" cy="512064"/>
          </a:xfrm>
          <a:prstGeom prst="rect">
            <a:avLst/>
          </a:prstGeom>
          <a:noFill/>
          <a:ln/>
        </p:spPr>
        <p:txBody>
          <a:bodyPr wrap="square" lIns="0" tIns="0" rIns="0" bIns="0" rtlCol="0" anchor="ctr"/>
          <a:lstStyle/>
          <a:p>
            <a:pPr algn="ctr" indent="0" marL="0">
              <a:buNone/>
            </a:pPr>
            <a:r>
              <a:rPr lang="en-US" sz="1250" dirty="0">
                <a:solidFill>
                  <a:schemeClr val="bg1"/>
                </a:solidFill>
              </a:rPr>
              <a:t>Supabase Storage</a:t>
            </a:r>
            <a:endParaRPr lang="en-US" sz="1250" dirty="0"/>
          </a:p>
        </p:txBody>
      </p:sp>
      <p:sp>
        <p:nvSpPr>
          <p:cNvPr id="66" name="component-242"/>
          <p:cNvSpPr/>
          <p:nvPr/>
        </p:nvSpPr>
        <p:spPr>
          <a:xfrm>
            <a:off x="7269480" y="5449824"/>
            <a:ext cx="2061972" cy="512064"/>
          </a:xfrm>
          <a:prstGeom prst="roundRect">
            <a:avLst>
              <a:gd name="adj" fmla="val 17857"/>
            </a:avLst>
          </a:prstGeom>
          <a:solidFill>
            <a:schemeClr val="tx1">
              <a:alpha val="70000"/>
            </a:schemeClr>
          </a:solidFill>
          <a:ln w="9525">
            <a:solidFill>
              <a:schemeClr val="accent4">
                <a:alpha val="50000"/>
              </a:schemeClr>
            </a:solidFill>
            <a:prstDash val="solid"/>
          </a:ln>
        </p:spPr>
      </p:sp>
      <p:sp>
        <p:nvSpPr>
          <p:cNvPr id="67" name="text-243"/>
          <p:cNvSpPr txBox="1"/>
          <p:nvPr/>
        </p:nvSpPr>
        <p:spPr>
          <a:xfrm>
            <a:off x="7315200" y="5449824"/>
            <a:ext cx="1970532" cy="512064"/>
          </a:xfrm>
          <a:prstGeom prst="rect">
            <a:avLst/>
          </a:prstGeom>
          <a:noFill/>
          <a:ln/>
        </p:spPr>
        <p:txBody>
          <a:bodyPr wrap="square" lIns="0" tIns="0" rIns="0" bIns="0" rtlCol="0" anchor="ctr"/>
          <a:lstStyle/>
          <a:p>
            <a:pPr algn="ctr" indent="0" marL="0">
              <a:buNone/>
            </a:pPr>
            <a:r>
              <a:rPr lang="en-US" sz="1250" dirty="0">
                <a:solidFill>
                  <a:schemeClr val="bg1"/>
                </a:solidFill>
              </a:rPr>
              <a:t>OpenRouter models</a:t>
            </a:r>
            <a:endParaRPr lang="en-US" sz="1250" dirty="0"/>
          </a:p>
        </p:txBody>
      </p:sp>
      <p:sp>
        <p:nvSpPr>
          <p:cNvPr id="68" name="component-244"/>
          <p:cNvSpPr/>
          <p:nvPr/>
        </p:nvSpPr>
        <p:spPr>
          <a:xfrm>
            <a:off x="9441180" y="5449824"/>
            <a:ext cx="2061972" cy="512064"/>
          </a:xfrm>
          <a:prstGeom prst="roundRect">
            <a:avLst>
              <a:gd name="adj" fmla="val 17857"/>
            </a:avLst>
          </a:prstGeom>
          <a:solidFill>
            <a:schemeClr val="tx1">
              <a:alpha val="70000"/>
            </a:schemeClr>
          </a:solidFill>
          <a:ln w="9525">
            <a:solidFill>
              <a:schemeClr val="accent4">
                <a:alpha val="50000"/>
              </a:schemeClr>
            </a:solidFill>
            <a:prstDash val="solid"/>
          </a:ln>
        </p:spPr>
      </p:sp>
      <p:sp>
        <p:nvSpPr>
          <p:cNvPr id="69" name="text-245"/>
          <p:cNvSpPr txBox="1"/>
          <p:nvPr/>
        </p:nvSpPr>
        <p:spPr>
          <a:xfrm>
            <a:off x="9486900" y="5449824"/>
            <a:ext cx="1970532" cy="512064"/>
          </a:xfrm>
          <a:prstGeom prst="rect">
            <a:avLst/>
          </a:prstGeom>
          <a:noFill/>
          <a:ln/>
        </p:spPr>
        <p:txBody>
          <a:bodyPr wrap="square" lIns="0" tIns="0" rIns="0" bIns="0" rtlCol="0" anchor="ctr"/>
          <a:lstStyle/>
          <a:p>
            <a:pPr algn="ctr" indent="0" marL="0">
              <a:buNone/>
            </a:pPr>
            <a:r>
              <a:rPr lang="en-US" sz="1250" dirty="0">
                <a:solidFill>
                  <a:schemeClr val="bg1"/>
                </a:solidFill>
              </a:rPr>
              <a:t>Resend dispatch</a:t>
            </a:r>
            <a:endParaRPr lang="en-US" sz="1250" dirty="0"/>
          </a:p>
        </p:txBody>
      </p:sp>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241280" cy="640080"/>
          </a:xfrm>
          <a:prstGeom prst="rect">
            <a:avLst/>
          </a:prstGeom>
          <a:noFill/>
          <a:ln/>
        </p:spPr>
        <p:txBody>
          <a:bodyPr wrap="square" lIns="0" tIns="0" rIns="0" bIns="0" rtlCol="0" anchor="ctr"/>
          <a:lstStyle/>
          <a:p>
            <a:pPr algn="l" indent="0" marL="0">
              <a:buNone/>
            </a:pPr>
            <a:r>
              <a:rPr lang="en-US" sz="2800" b="1" dirty="0">
                <a:solidFill>
                  <a:schemeClr val="bg1"/>
                </a:solidFill>
                <a:latin typeface="Century Gothic" pitchFamily="34" charset="0"/>
                <a:ea typeface="Century Gothic" pitchFamily="34" charset="-122"/>
                <a:cs typeface="Century Gothic" pitchFamily="34" charset="-120"/>
              </a:rPr>
              <a:t>Physical architecture: two services on Railway</a:t>
            </a:r>
            <a:endParaRPr lang="en-US" sz="2800" dirty="0"/>
          </a:p>
        </p:txBody>
      </p:sp>
      <p:sp>
        <p:nvSpPr>
          <p:cNvPr id="3" name="text-246"/>
          <p:cNvSpPr txBox="1"/>
          <p:nvPr/>
        </p:nvSpPr>
        <p:spPr>
          <a:xfrm>
            <a:off x="548640" y="1005840"/>
            <a:ext cx="10424160" cy="384048"/>
          </a:xfrm>
          <a:prstGeom prst="rect">
            <a:avLst/>
          </a:prstGeom>
          <a:noFill/>
          <a:ln/>
        </p:spPr>
        <p:txBody>
          <a:bodyPr wrap="square" lIns="0" tIns="0" rIns="0" bIns="0" rtlCol="0" anchor="t"/>
          <a:lstStyle/>
          <a:p>
            <a:pPr indent="0" marL="0">
              <a:buNone/>
            </a:pPr>
            <a:r>
              <a:rPr lang="en-US" sz="1600" dirty="0">
                <a:solidFill>
                  <a:schemeClr val="bg2"/>
                </a:solidFill>
              </a:rPr>
              <a:t>One repo, two deployables, three managed services. Secrets never leave the server.</a:t>
            </a:r>
            <a:endParaRPr lang="en-US" sz="1600" dirty="0"/>
          </a:p>
        </p:txBody>
      </p:sp>
      <p:sp>
        <p:nvSpPr>
          <p:cNvPr id="5" name="glass-247"/>
          <p:cNvSpPr/>
          <p:nvPr/>
        </p:nvSpPr>
        <p:spPr>
          <a:xfrm>
            <a:off x="548640" y="1600200"/>
            <a:ext cx="2423160" cy="1097280"/>
          </a:xfrm>
          <a:prstGeom prst="roundRect">
            <a:avLst>
              <a:gd name="adj" fmla="val 11667"/>
            </a:avLst>
          </a:prstGeom>
          <a:solidFill>
            <a:schemeClr val="tx2">
              <a:alpha val="78000"/>
            </a:schemeClr>
          </a:solidFill>
          <a:ln w="9525">
            <a:solidFill>
              <a:schemeClr val="bg2">
                <a:alpha val="22000"/>
              </a:schemeClr>
            </a:solidFill>
            <a:prstDash val="solid"/>
          </a:ln>
        </p:spPr>
      </p:sp>
      <p:sp>
        <p:nvSpPr>
          <p:cNvPr id="6" name="icon-ring-248"/>
          <p:cNvSpPr/>
          <p:nvPr/>
        </p:nvSpPr>
        <p:spPr>
          <a:xfrm>
            <a:off x="713232" y="1897380"/>
            <a:ext cx="502920" cy="502920"/>
          </a:xfrm>
          <a:prstGeom prst="ellipse">
            <a:avLst/>
          </a:prstGeom>
          <a:solidFill>
            <a:schemeClr val="bg2">
              <a:alpha val="18000"/>
            </a:schemeClr>
          </a:solidFill>
          <a:ln w="12700">
            <a:solidFill>
              <a:schemeClr val="bg2">
                <a:alpha val="70000"/>
              </a:schemeClr>
            </a:solidFill>
            <a:prstDash val="solid"/>
          </a:ln>
        </p:spPr>
      </p:sp>
      <p:pic>
        <p:nvPicPr>
          <p:cNvPr id="7" name="icon-249" descr="preencoded.png">    </p:cNvPr>
          <p:cNvPicPr>
            <a:picLocks noChangeAspect="1"/>
          </p:cNvPicPr>
          <p:nvPr/>
        </p:nvPicPr>
        <p:blipFill>
          <a:blip r:embed="rId1"/>
          <a:stretch>
            <a:fillRect/>
          </a:stretch>
        </p:blipFill>
        <p:spPr>
          <a:xfrm>
            <a:off x="843991" y="2028139"/>
            <a:ext cx="241402" cy="241402"/>
          </a:xfrm>
          <a:prstGeom prst="rect">
            <a:avLst/>
          </a:prstGeom>
        </p:spPr>
      </p:pic>
      <p:sp>
        <p:nvSpPr>
          <p:cNvPr id="8" name="text-250"/>
          <p:cNvSpPr txBox="1"/>
          <p:nvPr/>
        </p:nvSpPr>
        <p:spPr>
          <a:xfrm>
            <a:off x="1353312" y="1600200"/>
            <a:ext cx="1508760" cy="1097280"/>
          </a:xfrm>
          <a:prstGeom prst="rect">
            <a:avLst/>
          </a:prstGeom>
          <a:noFill/>
          <a:ln/>
        </p:spPr>
        <p:txBody>
          <a:bodyPr wrap="square" lIns="0" tIns="0" rIns="0" bIns="0" rtlCol="0" anchor="ctr"/>
          <a:lstStyle/>
          <a:p>
            <a:pPr indent="0" marL="0">
              <a:buNone/>
            </a:pPr>
            <a:r>
              <a:rPr lang="en-US" sz="1450" b="1" dirty="0">
                <a:solidFill>
                  <a:schemeClr val="bg1"/>
                </a:solidFill>
              </a:rPr>
              <a:t>GitHub</a:t>
            </a:r>
            <a:endParaRPr lang="en-US" sz="1400" dirty="0"/>
          </a:p>
          <a:p>
            <a:pPr indent="0" marL="0">
              <a:buNone/>
            </a:pPr>
            <a:r>
              <a:rPr lang="en-US" sz="1200" dirty="0">
                <a:solidFill>
                  <a:schemeClr val="bg2"/>
                </a:solidFill>
              </a:rPr>
              <a:t>repo + Actions CI</a:t>
            </a:r>
            <a:endParaRPr lang="en-US" sz="1400" dirty="0"/>
          </a:p>
        </p:txBody>
      </p:sp>
      <p:sp>
        <p:nvSpPr>
          <p:cNvPr id="9" name="glass-251"/>
          <p:cNvSpPr/>
          <p:nvPr/>
        </p:nvSpPr>
        <p:spPr>
          <a:xfrm>
            <a:off x="548640" y="3703320"/>
            <a:ext cx="2423160" cy="1325880"/>
          </a:xfrm>
          <a:prstGeom prst="roundRect">
            <a:avLst>
              <a:gd name="adj" fmla="val 9655"/>
            </a:avLst>
          </a:prstGeom>
          <a:solidFill>
            <a:schemeClr val="tx2">
              <a:alpha val="78000"/>
            </a:schemeClr>
          </a:solidFill>
          <a:ln w="9525">
            <a:solidFill>
              <a:schemeClr val="bg2">
                <a:alpha val="22000"/>
              </a:schemeClr>
            </a:solidFill>
            <a:prstDash val="solid"/>
          </a:ln>
        </p:spPr>
      </p:sp>
      <p:sp>
        <p:nvSpPr>
          <p:cNvPr id="10" name="icon-ring-252"/>
          <p:cNvSpPr/>
          <p:nvPr/>
        </p:nvSpPr>
        <p:spPr>
          <a:xfrm>
            <a:off x="713232" y="4114800"/>
            <a:ext cx="502920" cy="502920"/>
          </a:xfrm>
          <a:prstGeom prst="ellipse">
            <a:avLst/>
          </a:prstGeom>
          <a:solidFill>
            <a:schemeClr val="bg2">
              <a:alpha val="18000"/>
            </a:schemeClr>
          </a:solidFill>
          <a:ln w="12700">
            <a:solidFill>
              <a:schemeClr val="bg2">
                <a:alpha val="70000"/>
              </a:schemeClr>
            </a:solidFill>
            <a:prstDash val="solid"/>
          </a:ln>
        </p:spPr>
      </p:sp>
      <p:pic>
        <p:nvPicPr>
          <p:cNvPr id="11" name="icon-253" descr="preencoded.png">    </p:cNvPr>
          <p:cNvPicPr>
            <a:picLocks noChangeAspect="1"/>
          </p:cNvPicPr>
          <p:nvPr/>
        </p:nvPicPr>
        <p:blipFill>
          <a:blip r:embed="rId2"/>
          <a:stretch>
            <a:fillRect/>
          </a:stretch>
        </p:blipFill>
        <p:spPr>
          <a:xfrm>
            <a:off x="843991" y="4245559"/>
            <a:ext cx="241402" cy="241402"/>
          </a:xfrm>
          <a:prstGeom prst="rect">
            <a:avLst/>
          </a:prstGeom>
        </p:spPr>
      </p:pic>
      <p:sp>
        <p:nvSpPr>
          <p:cNvPr id="12" name="text-254"/>
          <p:cNvSpPr txBox="1"/>
          <p:nvPr/>
        </p:nvSpPr>
        <p:spPr>
          <a:xfrm>
            <a:off x="1353312" y="3703320"/>
            <a:ext cx="1508760" cy="1325880"/>
          </a:xfrm>
          <a:prstGeom prst="rect">
            <a:avLst/>
          </a:prstGeom>
          <a:noFill/>
          <a:ln/>
        </p:spPr>
        <p:txBody>
          <a:bodyPr wrap="square" lIns="0" tIns="0" rIns="0" bIns="0" rtlCol="0" anchor="ctr"/>
          <a:lstStyle/>
          <a:p>
            <a:pPr indent="0" marL="0">
              <a:buNone/>
            </a:pPr>
            <a:r>
              <a:rPr lang="en-US" sz="1450" b="1" dirty="0">
                <a:solidFill>
                  <a:schemeClr val="bg1"/>
                </a:solidFill>
              </a:rPr>
              <a:t>Operator’s browser</a:t>
            </a:r>
            <a:endParaRPr lang="en-US" sz="1400" dirty="0"/>
          </a:p>
          <a:p>
            <a:pPr indent="0" marL="0">
              <a:buNone/>
            </a:pPr>
            <a:r>
              <a:rPr lang="en-US" sz="1200" dirty="0">
                <a:solidFill>
                  <a:schemeClr val="bg2"/>
                </a:solidFill>
              </a:rPr>
              <a:t>console UI; preview = what ships</a:t>
            </a:r>
            <a:endParaRPr lang="en-US" sz="1400" dirty="0"/>
          </a:p>
        </p:txBody>
      </p:sp>
      <p:sp>
        <p:nvSpPr>
          <p:cNvPr id="13" name="railway-group"/>
          <p:cNvSpPr/>
          <p:nvPr/>
        </p:nvSpPr>
        <p:spPr>
          <a:xfrm>
            <a:off x="3337560" y="1572768"/>
            <a:ext cx="5074920" cy="4617720"/>
          </a:xfrm>
          <a:prstGeom prst="roundRect">
            <a:avLst>
              <a:gd name="adj" fmla="val 3564"/>
            </a:avLst>
          </a:prstGeom>
          <a:solidFill>
            <a:schemeClr val="accent1">
              <a:alpha val="6000"/>
            </a:schemeClr>
          </a:solidFill>
          <a:ln w="12700">
            <a:solidFill>
              <a:schemeClr val="accent1">
                <a:alpha val="60000"/>
              </a:schemeClr>
            </a:solidFill>
            <a:prstDash val="dash"/>
          </a:ln>
        </p:spPr>
      </p:sp>
      <p:sp>
        <p:nvSpPr>
          <p:cNvPr id="14" name="text-255"/>
          <p:cNvSpPr txBox="1"/>
          <p:nvPr/>
        </p:nvSpPr>
        <p:spPr>
          <a:xfrm>
            <a:off x="3566160" y="1691640"/>
            <a:ext cx="457200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RAILWAY · TWO SERVICES, ONE REPO</a:t>
            </a:r>
            <a:endParaRPr lang="en-US" sz="1100" dirty="0"/>
          </a:p>
        </p:txBody>
      </p:sp>
      <p:sp>
        <p:nvSpPr>
          <p:cNvPr id="15" name="glass-256"/>
          <p:cNvSpPr/>
          <p:nvPr/>
        </p:nvSpPr>
        <p:spPr>
          <a:xfrm>
            <a:off x="3566160" y="2057400"/>
            <a:ext cx="4617720" cy="1508760"/>
          </a:xfrm>
          <a:prstGeom prst="roundRect">
            <a:avLst>
              <a:gd name="adj" fmla="val 8485"/>
            </a:avLst>
          </a:prstGeom>
          <a:solidFill>
            <a:schemeClr val="accent1">
              <a:alpha val="12000"/>
            </a:schemeClr>
          </a:solidFill>
          <a:ln w="12700">
            <a:solidFill>
              <a:schemeClr val="accent1">
                <a:alpha val="55000"/>
              </a:schemeClr>
            </a:solidFill>
            <a:prstDash val="solid"/>
          </a:ln>
        </p:spPr>
      </p:sp>
      <p:sp>
        <p:nvSpPr>
          <p:cNvPr id="16" name="icon-ring-257"/>
          <p:cNvSpPr/>
          <p:nvPr/>
        </p:nvSpPr>
        <p:spPr>
          <a:xfrm>
            <a:off x="3730752" y="2560320"/>
            <a:ext cx="502920" cy="502920"/>
          </a:xfrm>
          <a:prstGeom prst="ellipse">
            <a:avLst/>
          </a:prstGeom>
          <a:solidFill>
            <a:schemeClr val="accent1">
              <a:alpha val="18000"/>
            </a:schemeClr>
          </a:solidFill>
          <a:ln w="12700">
            <a:solidFill>
              <a:schemeClr val="accent1">
                <a:alpha val="70000"/>
              </a:schemeClr>
            </a:solidFill>
            <a:prstDash val="solid"/>
          </a:ln>
        </p:spPr>
      </p:sp>
      <p:pic>
        <p:nvPicPr>
          <p:cNvPr id="17" name="icon-258" descr="preencoded.png">    </p:cNvPr>
          <p:cNvPicPr>
            <a:picLocks noChangeAspect="1"/>
          </p:cNvPicPr>
          <p:nvPr/>
        </p:nvPicPr>
        <p:blipFill>
          <a:blip r:embed="rId3"/>
          <a:stretch>
            <a:fillRect/>
          </a:stretch>
        </p:blipFill>
        <p:spPr>
          <a:xfrm>
            <a:off x="3861511" y="2691079"/>
            <a:ext cx="241402" cy="241402"/>
          </a:xfrm>
          <a:prstGeom prst="rect">
            <a:avLst/>
          </a:prstGeom>
        </p:spPr>
      </p:pic>
      <p:sp>
        <p:nvSpPr>
          <p:cNvPr id="18" name="text-259"/>
          <p:cNvSpPr txBox="1"/>
          <p:nvPr/>
        </p:nvSpPr>
        <p:spPr>
          <a:xfrm>
            <a:off x="4370832" y="2057400"/>
            <a:ext cx="3703320" cy="1508760"/>
          </a:xfrm>
          <a:prstGeom prst="rect">
            <a:avLst/>
          </a:prstGeom>
          <a:noFill/>
          <a:ln/>
        </p:spPr>
        <p:txBody>
          <a:bodyPr wrap="square" lIns="0" tIns="0" rIns="0" bIns="0" rtlCol="0" anchor="ctr"/>
          <a:lstStyle/>
          <a:p>
            <a:pPr indent="0" marL="0">
              <a:buNone/>
            </a:pPr>
            <a:r>
              <a:rPr lang="en-US" sz="1450" b="1" dirty="0">
                <a:solidFill>
                  <a:schemeClr val="bg1"/>
                </a:solidFill>
              </a:rPr>
              <a:t>Campaign Console</a:t>
            </a:r>
            <a:endParaRPr lang="en-US" sz="1400" dirty="0"/>
          </a:p>
          <a:p>
            <a:pPr indent="0" marL="0">
              <a:buNone/>
            </a:pPr>
            <a:r>
              <a:rPr lang="en-US" sz="1200" dirty="0">
                <a:solidFill>
                  <a:schemeClr val="bg2"/>
                </a:solidFill>
              </a:rPr>
              <a:t>static SPA · Nixpacks · serve -s dist · VITE_* inlined at build time</a:t>
            </a:r>
            <a:endParaRPr lang="en-US" sz="1400" dirty="0"/>
          </a:p>
        </p:txBody>
      </p:sp>
      <p:sp>
        <p:nvSpPr>
          <p:cNvPr id="19" name="glass-260"/>
          <p:cNvSpPr/>
          <p:nvPr/>
        </p:nvSpPr>
        <p:spPr>
          <a:xfrm>
            <a:off x="3566160" y="3931920"/>
            <a:ext cx="4617720" cy="2057400"/>
          </a:xfrm>
          <a:prstGeom prst="roundRect">
            <a:avLst>
              <a:gd name="adj" fmla="val 6222"/>
            </a:avLst>
          </a:prstGeom>
          <a:solidFill>
            <a:schemeClr val="accent2">
              <a:alpha val="12000"/>
            </a:schemeClr>
          </a:solidFill>
          <a:ln w="12700">
            <a:solidFill>
              <a:schemeClr val="accent2">
                <a:alpha val="55000"/>
              </a:schemeClr>
            </a:solidFill>
            <a:prstDash val="solid"/>
          </a:ln>
        </p:spPr>
      </p:sp>
      <p:sp>
        <p:nvSpPr>
          <p:cNvPr id="20" name="icon-ring-261"/>
          <p:cNvSpPr/>
          <p:nvPr/>
        </p:nvSpPr>
        <p:spPr>
          <a:xfrm>
            <a:off x="3730752" y="4709160"/>
            <a:ext cx="502920" cy="502920"/>
          </a:xfrm>
          <a:prstGeom prst="ellipse">
            <a:avLst/>
          </a:prstGeom>
          <a:solidFill>
            <a:schemeClr val="accent2">
              <a:alpha val="18000"/>
            </a:schemeClr>
          </a:solidFill>
          <a:ln w="12700">
            <a:solidFill>
              <a:schemeClr val="accent2">
                <a:alpha val="70000"/>
              </a:schemeClr>
            </a:solidFill>
            <a:prstDash val="solid"/>
          </a:ln>
        </p:spPr>
      </p:sp>
      <p:pic>
        <p:nvPicPr>
          <p:cNvPr id="21" name="icon-262" descr="preencoded.png">    </p:cNvPr>
          <p:cNvPicPr>
            <a:picLocks noChangeAspect="1"/>
          </p:cNvPicPr>
          <p:nvPr/>
        </p:nvPicPr>
        <p:blipFill>
          <a:blip r:embed="rId4"/>
          <a:stretch>
            <a:fillRect/>
          </a:stretch>
        </p:blipFill>
        <p:spPr>
          <a:xfrm>
            <a:off x="3861511" y="4839919"/>
            <a:ext cx="241402" cy="241402"/>
          </a:xfrm>
          <a:prstGeom prst="rect">
            <a:avLst/>
          </a:prstGeom>
        </p:spPr>
      </p:pic>
      <p:sp>
        <p:nvSpPr>
          <p:cNvPr id="22" name="text-263"/>
          <p:cNvSpPr txBox="1"/>
          <p:nvPr/>
        </p:nvSpPr>
        <p:spPr>
          <a:xfrm>
            <a:off x="4370832" y="3931920"/>
            <a:ext cx="3703320" cy="2057400"/>
          </a:xfrm>
          <a:prstGeom prst="rect">
            <a:avLst/>
          </a:prstGeom>
          <a:noFill/>
          <a:ln/>
        </p:spPr>
        <p:txBody>
          <a:bodyPr wrap="square" lIns="0" tIns="0" rIns="0" bIns="0" rtlCol="0" anchor="ctr"/>
          <a:lstStyle/>
          <a:p>
            <a:pPr indent="0" marL="0">
              <a:buNone/>
            </a:pPr>
            <a:r>
              <a:rPr lang="en-US" sz="1450" b="1" dirty="0">
                <a:solidFill>
                  <a:schemeClr val="bg1"/>
                </a:solidFill>
              </a:rPr>
              <a:t>MOSAIC Orchestrator</a:t>
            </a:r>
            <a:endParaRPr lang="en-US" sz="1400" dirty="0"/>
          </a:p>
          <a:p>
            <a:pPr indent="0" marL="0">
              <a:buNone/>
            </a:pPr>
            <a:r>
              <a:rPr lang="en-US" sz="1200" dirty="0">
                <a:solidFill>
                  <a:schemeClr val="bg2"/>
                </a:solidFill>
              </a:rPr>
              <a:t>FastAPI · Docker python:3.12-slim · 1 worker, 1 replica · healthcheck /api/health · restart on failure ×10</a:t>
            </a:r>
            <a:endParaRPr lang="en-US" sz="1400" dirty="0"/>
          </a:p>
        </p:txBody>
      </p:sp>
      <p:sp>
        <p:nvSpPr>
          <p:cNvPr id="23" name="glass-264"/>
          <p:cNvSpPr/>
          <p:nvPr/>
        </p:nvSpPr>
        <p:spPr>
          <a:xfrm>
            <a:off x="8778240" y="1600200"/>
            <a:ext cx="2862072" cy="1600200"/>
          </a:xfrm>
          <a:prstGeom prst="roundRect">
            <a:avLst>
              <a:gd name="adj" fmla="val 8000"/>
            </a:avLst>
          </a:prstGeom>
          <a:solidFill>
            <a:schemeClr val="accent4">
              <a:alpha val="12000"/>
            </a:schemeClr>
          </a:solidFill>
          <a:ln w="12700">
            <a:solidFill>
              <a:schemeClr val="accent4">
                <a:alpha val="55000"/>
              </a:schemeClr>
            </a:solidFill>
            <a:prstDash val="solid"/>
          </a:ln>
        </p:spPr>
      </p:sp>
      <p:sp>
        <p:nvSpPr>
          <p:cNvPr id="24" name="icon-ring-265"/>
          <p:cNvSpPr/>
          <p:nvPr/>
        </p:nvSpPr>
        <p:spPr>
          <a:xfrm>
            <a:off x="8942832" y="2148840"/>
            <a:ext cx="502920" cy="502920"/>
          </a:xfrm>
          <a:prstGeom prst="ellipse">
            <a:avLst/>
          </a:prstGeom>
          <a:solidFill>
            <a:schemeClr val="accent4">
              <a:alpha val="18000"/>
            </a:schemeClr>
          </a:solidFill>
          <a:ln w="12700">
            <a:solidFill>
              <a:schemeClr val="accent4">
                <a:alpha val="70000"/>
              </a:schemeClr>
            </a:solidFill>
            <a:prstDash val="solid"/>
          </a:ln>
        </p:spPr>
      </p:sp>
      <p:pic>
        <p:nvPicPr>
          <p:cNvPr id="25" name="icon-266" descr="preencoded.png">    </p:cNvPr>
          <p:cNvPicPr>
            <a:picLocks noChangeAspect="1"/>
          </p:cNvPicPr>
          <p:nvPr/>
        </p:nvPicPr>
        <p:blipFill>
          <a:blip r:embed="rId5"/>
          <a:stretch>
            <a:fillRect/>
          </a:stretch>
        </p:blipFill>
        <p:spPr>
          <a:xfrm>
            <a:off x="9073591" y="2279599"/>
            <a:ext cx="241402" cy="241402"/>
          </a:xfrm>
          <a:prstGeom prst="rect">
            <a:avLst/>
          </a:prstGeom>
        </p:spPr>
      </p:pic>
      <p:sp>
        <p:nvSpPr>
          <p:cNvPr id="26" name="text-267"/>
          <p:cNvSpPr txBox="1"/>
          <p:nvPr/>
        </p:nvSpPr>
        <p:spPr>
          <a:xfrm>
            <a:off x="9582912" y="1600200"/>
            <a:ext cx="1947672" cy="1600200"/>
          </a:xfrm>
          <a:prstGeom prst="rect">
            <a:avLst/>
          </a:prstGeom>
          <a:noFill/>
          <a:ln/>
        </p:spPr>
        <p:txBody>
          <a:bodyPr wrap="square" lIns="0" tIns="0" rIns="0" bIns="0" rtlCol="0" anchor="ctr"/>
          <a:lstStyle/>
          <a:p>
            <a:pPr indent="0" marL="0">
              <a:buNone/>
            </a:pPr>
            <a:r>
              <a:rPr lang="en-US" sz="1450" b="1" dirty="0">
                <a:solidFill>
                  <a:schemeClr val="bg1"/>
                </a:solidFill>
              </a:rPr>
              <a:t>Supabase</a:t>
            </a:r>
            <a:endParaRPr lang="en-US" sz="1400" dirty="0"/>
          </a:p>
          <a:p>
            <a:pPr indent="0" marL="0">
              <a:buNone/>
            </a:pPr>
            <a:r>
              <a:rPr lang="en-US" sz="1200" dirty="0">
                <a:solidFill>
                  <a:schemeClr val="bg2"/>
                </a:solidFill>
              </a:rPr>
              <a:t>Postgres: state, ledger, evals · Storage: email images</a:t>
            </a:r>
            <a:endParaRPr lang="en-US" sz="1400" dirty="0"/>
          </a:p>
        </p:txBody>
      </p:sp>
      <p:sp>
        <p:nvSpPr>
          <p:cNvPr id="27" name="glass-268"/>
          <p:cNvSpPr/>
          <p:nvPr/>
        </p:nvSpPr>
        <p:spPr>
          <a:xfrm>
            <a:off x="8778240" y="3429000"/>
            <a:ext cx="2862072" cy="868680"/>
          </a:xfrm>
          <a:prstGeom prst="roundRect">
            <a:avLst>
              <a:gd name="adj" fmla="val 14737"/>
            </a:avLst>
          </a:prstGeom>
          <a:solidFill>
            <a:schemeClr val="accent3">
              <a:alpha val="12000"/>
            </a:schemeClr>
          </a:solidFill>
          <a:ln w="12700">
            <a:solidFill>
              <a:schemeClr val="accent3">
                <a:alpha val="55000"/>
              </a:schemeClr>
            </a:solidFill>
            <a:prstDash val="solid"/>
          </a:ln>
        </p:spPr>
      </p:sp>
      <p:sp>
        <p:nvSpPr>
          <p:cNvPr id="28" name="icon-ring-269"/>
          <p:cNvSpPr/>
          <p:nvPr/>
        </p:nvSpPr>
        <p:spPr>
          <a:xfrm>
            <a:off x="8942832" y="3611880"/>
            <a:ext cx="502920" cy="502920"/>
          </a:xfrm>
          <a:prstGeom prst="ellipse">
            <a:avLst/>
          </a:prstGeom>
          <a:solidFill>
            <a:schemeClr val="accent3">
              <a:alpha val="18000"/>
            </a:schemeClr>
          </a:solidFill>
          <a:ln w="12700">
            <a:solidFill>
              <a:schemeClr val="accent3">
                <a:alpha val="70000"/>
              </a:schemeClr>
            </a:solidFill>
            <a:prstDash val="solid"/>
          </a:ln>
        </p:spPr>
      </p:sp>
      <p:pic>
        <p:nvPicPr>
          <p:cNvPr id="29" name="icon-270" descr="preencoded.png">    </p:cNvPr>
          <p:cNvPicPr>
            <a:picLocks noChangeAspect="1"/>
          </p:cNvPicPr>
          <p:nvPr/>
        </p:nvPicPr>
        <p:blipFill>
          <a:blip r:embed="rId6"/>
          <a:stretch>
            <a:fillRect/>
          </a:stretch>
        </p:blipFill>
        <p:spPr>
          <a:xfrm>
            <a:off x="9073591" y="3742639"/>
            <a:ext cx="241402" cy="241402"/>
          </a:xfrm>
          <a:prstGeom prst="rect">
            <a:avLst/>
          </a:prstGeom>
        </p:spPr>
      </p:pic>
      <p:sp>
        <p:nvSpPr>
          <p:cNvPr id="30" name="text-271"/>
          <p:cNvSpPr txBox="1"/>
          <p:nvPr/>
        </p:nvSpPr>
        <p:spPr>
          <a:xfrm>
            <a:off x="9582912" y="3429000"/>
            <a:ext cx="1947672" cy="868680"/>
          </a:xfrm>
          <a:prstGeom prst="rect">
            <a:avLst/>
          </a:prstGeom>
          <a:noFill/>
          <a:ln/>
        </p:spPr>
        <p:txBody>
          <a:bodyPr wrap="square" lIns="0" tIns="0" rIns="0" bIns="0" rtlCol="0" anchor="ctr"/>
          <a:lstStyle/>
          <a:p>
            <a:pPr indent="0" marL="0">
              <a:buNone/>
            </a:pPr>
            <a:r>
              <a:rPr lang="en-US" sz="1450" b="1" dirty="0">
                <a:solidFill>
                  <a:schemeClr val="bg1"/>
                </a:solidFill>
              </a:rPr>
              <a:t>OpenRouter</a:t>
            </a:r>
            <a:endParaRPr lang="en-US" sz="1400" dirty="0"/>
          </a:p>
          <a:p>
            <a:pPr indent="0" marL="0">
              <a:buNone/>
            </a:pPr>
            <a:r>
              <a:rPr lang="en-US" sz="1200" dirty="0">
                <a:solidFill>
                  <a:schemeClr val="bg2"/>
                </a:solidFill>
              </a:rPr>
              <a:t>gpt-5.6-luna · embeddings</a:t>
            </a:r>
            <a:endParaRPr lang="en-US" sz="1400" dirty="0"/>
          </a:p>
        </p:txBody>
      </p:sp>
      <p:sp>
        <p:nvSpPr>
          <p:cNvPr id="31" name="glass-272"/>
          <p:cNvSpPr/>
          <p:nvPr/>
        </p:nvSpPr>
        <p:spPr>
          <a:xfrm>
            <a:off x="8778240" y="4526280"/>
            <a:ext cx="2862072" cy="777240"/>
          </a:xfrm>
          <a:prstGeom prst="roundRect">
            <a:avLst>
              <a:gd name="adj" fmla="val 16471"/>
            </a:avLst>
          </a:prstGeom>
          <a:solidFill>
            <a:schemeClr val="accent3">
              <a:alpha val="12000"/>
            </a:schemeClr>
          </a:solidFill>
          <a:ln w="12700">
            <a:solidFill>
              <a:schemeClr val="accent3">
                <a:alpha val="55000"/>
              </a:schemeClr>
            </a:solidFill>
            <a:prstDash val="solid"/>
          </a:ln>
        </p:spPr>
      </p:sp>
      <p:sp>
        <p:nvSpPr>
          <p:cNvPr id="32" name="icon-ring-273"/>
          <p:cNvSpPr/>
          <p:nvPr/>
        </p:nvSpPr>
        <p:spPr>
          <a:xfrm>
            <a:off x="8942832" y="4663440"/>
            <a:ext cx="502920" cy="502920"/>
          </a:xfrm>
          <a:prstGeom prst="ellipse">
            <a:avLst/>
          </a:prstGeom>
          <a:solidFill>
            <a:schemeClr val="accent3">
              <a:alpha val="18000"/>
            </a:schemeClr>
          </a:solidFill>
          <a:ln w="12700">
            <a:solidFill>
              <a:schemeClr val="accent3">
                <a:alpha val="70000"/>
              </a:schemeClr>
            </a:solidFill>
            <a:prstDash val="solid"/>
          </a:ln>
        </p:spPr>
      </p:sp>
      <p:pic>
        <p:nvPicPr>
          <p:cNvPr id="33" name="icon-274" descr="preencoded.png">    </p:cNvPr>
          <p:cNvPicPr>
            <a:picLocks noChangeAspect="1"/>
          </p:cNvPicPr>
          <p:nvPr/>
        </p:nvPicPr>
        <p:blipFill>
          <a:blip r:embed="rId7"/>
          <a:stretch>
            <a:fillRect/>
          </a:stretch>
        </p:blipFill>
        <p:spPr>
          <a:xfrm>
            <a:off x="9073591" y="4794199"/>
            <a:ext cx="241402" cy="241402"/>
          </a:xfrm>
          <a:prstGeom prst="rect">
            <a:avLst/>
          </a:prstGeom>
        </p:spPr>
      </p:pic>
      <p:sp>
        <p:nvSpPr>
          <p:cNvPr id="34" name="text-275"/>
          <p:cNvSpPr txBox="1"/>
          <p:nvPr/>
        </p:nvSpPr>
        <p:spPr>
          <a:xfrm>
            <a:off x="9582912" y="4526280"/>
            <a:ext cx="1947672" cy="777240"/>
          </a:xfrm>
          <a:prstGeom prst="rect">
            <a:avLst/>
          </a:prstGeom>
          <a:noFill/>
          <a:ln/>
        </p:spPr>
        <p:txBody>
          <a:bodyPr wrap="square" lIns="0" tIns="0" rIns="0" bIns="0" rtlCol="0" anchor="ctr"/>
          <a:lstStyle/>
          <a:p>
            <a:pPr indent="0" marL="0">
              <a:buNone/>
            </a:pPr>
            <a:r>
              <a:rPr lang="en-US" sz="1450" b="1" dirty="0">
                <a:solidFill>
                  <a:schemeClr val="bg1"/>
                </a:solidFill>
              </a:rPr>
              <a:t>Resend</a:t>
            </a:r>
            <a:endParaRPr lang="en-US" sz="1400" dirty="0"/>
          </a:p>
          <a:p>
            <a:pPr indent="0" marL="0">
              <a:buNone/>
            </a:pPr>
            <a:r>
              <a:rPr lang="en-US" sz="1200" dirty="0">
                <a:solidFill>
                  <a:schemeClr val="bg2"/>
                </a:solidFill>
              </a:rPr>
              <a:t>real dispatch</a:t>
            </a:r>
            <a:endParaRPr lang="en-US" sz="1400" dirty="0"/>
          </a:p>
        </p:txBody>
      </p:sp>
      <p:sp>
        <p:nvSpPr>
          <p:cNvPr id="35" name="glass-276"/>
          <p:cNvSpPr/>
          <p:nvPr/>
        </p:nvSpPr>
        <p:spPr>
          <a:xfrm>
            <a:off x="8778240" y="5486400"/>
            <a:ext cx="2862072" cy="704088"/>
          </a:xfrm>
          <a:prstGeom prst="roundRect">
            <a:avLst>
              <a:gd name="adj" fmla="val 18182"/>
            </a:avLst>
          </a:prstGeom>
          <a:solidFill>
            <a:schemeClr val="accent5">
              <a:alpha val="12000"/>
            </a:schemeClr>
          </a:solidFill>
          <a:ln w="12700">
            <a:solidFill>
              <a:schemeClr val="accent5">
                <a:alpha val="55000"/>
              </a:schemeClr>
            </a:solidFill>
            <a:prstDash val="solid"/>
          </a:ln>
        </p:spPr>
      </p:sp>
      <p:sp>
        <p:nvSpPr>
          <p:cNvPr id="36" name="icon-ring-277"/>
          <p:cNvSpPr/>
          <p:nvPr/>
        </p:nvSpPr>
        <p:spPr>
          <a:xfrm>
            <a:off x="8942832" y="5586984"/>
            <a:ext cx="502920" cy="502920"/>
          </a:xfrm>
          <a:prstGeom prst="ellipse">
            <a:avLst/>
          </a:prstGeom>
          <a:solidFill>
            <a:schemeClr val="accent5">
              <a:alpha val="18000"/>
            </a:schemeClr>
          </a:solidFill>
          <a:ln w="12700">
            <a:solidFill>
              <a:schemeClr val="accent5">
                <a:alpha val="70000"/>
              </a:schemeClr>
            </a:solidFill>
            <a:prstDash val="solid"/>
          </a:ln>
        </p:spPr>
      </p:sp>
      <p:pic>
        <p:nvPicPr>
          <p:cNvPr id="37" name="icon-278" descr="preencoded.png">    </p:cNvPr>
          <p:cNvPicPr>
            <a:picLocks noChangeAspect="1"/>
          </p:cNvPicPr>
          <p:nvPr/>
        </p:nvPicPr>
        <p:blipFill>
          <a:blip r:embed="rId8"/>
          <a:stretch>
            <a:fillRect/>
          </a:stretch>
        </p:blipFill>
        <p:spPr>
          <a:xfrm>
            <a:off x="9073591" y="5717743"/>
            <a:ext cx="241402" cy="241402"/>
          </a:xfrm>
          <a:prstGeom prst="rect">
            <a:avLst/>
          </a:prstGeom>
        </p:spPr>
      </p:pic>
      <p:sp>
        <p:nvSpPr>
          <p:cNvPr id="38" name="text-279"/>
          <p:cNvSpPr txBox="1"/>
          <p:nvPr/>
        </p:nvSpPr>
        <p:spPr>
          <a:xfrm>
            <a:off x="9582912" y="5486400"/>
            <a:ext cx="1947672" cy="704088"/>
          </a:xfrm>
          <a:prstGeom prst="rect">
            <a:avLst/>
          </a:prstGeom>
          <a:noFill/>
          <a:ln/>
        </p:spPr>
        <p:txBody>
          <a:bodyPr wrap="square" lIns="0" tIns="0" rIns="0" bIns="0" rtlCol="0" anchor="ctr"/>
          <a:lstStyle/>
          <a:p>
            <a:pPr indent="0" marL="0">
              <a:buNone/>
            </a:pPr>
            <a:r>
              <a:rPr lang="en-US" sz="1450" b="1" dirty="0">
                <a:solidFill>
                  <a:schemeClr val="bg1"/>
                </a:solidFill>
              </a:rPr>
              <a:t>Recipient inbox</a:t>
            </a:r>
            <a:endParaRPr lang="en-US" sz="1400" dirty="0"/>
          </a:p>
          <a:p>
            <a:pPr indent="0" marL="0">
              <a:buNone/>
            </a:pPr>
            <a:r>
              <a:rPr lang="en-US" sz="1200" dirty="0">
                <a:solidFill>
                  <a:schemeClr val="bg2"/>
                </a:solidFill>
              </a:rPr>
              <a:t>confirmed address</a:t>
            </a:r>
            <a:endParaRPr lang="en-US" sz="1400" dirty="0"/>
          </a:p>
        </p:txBody>
      </p:sp>
      <p:sp>
        <p:nvSpPr>
          <p:cNvPr id="39" name="connector-280"/>
          <p:cNvSpPr/>
          <p:nvPr/>
        </p:nvSpPr>
        <p:spPr>
          <a:xfrm>
            <a:off x="2990088" y="2148840"/>
            <a:ext cx="329184" cy="91"/>
          </a:xfrm>
          <a:prstGeom prst="line">
            <a:avLst/>
          </a:prstGeom>
          <a:noFill/>
          <a:ln w="22225">
            <a:solidFill>
              <a:schemeClr val="bg2"/>
            </a:solidFill>
            <a:prstDash val="solid"/>
            <a:tailEnd type="triangle"/>
          </a:ln>
        </p:spPr>
      </p:sp>
      <p:sp>
        <p:nvSpPr>
          <p:cNvPr id="40" name="connector-281"/>
          <p:cNvSpPr/>
          <p:nvPr/>
        </p:nvSpPr>
        <p:spPr>
          <a:xfrm>
            <a:off x="2990088" y="4069080"/>
            <a:ext cx="164592" cy="91"/>
          </a:xfrm>
          <a:prstGeom prst="line">
            <a:avLst/>
          </a:prstGeom>
          <a:noFill/>
          <a:ln w="22225">
            <a:solidFill>
              <a:schemeClr val="bg2"/>
            </a:solidFill>
            <a:prstDash val="solid"/>
          </a:ln>
        </p:spPr>
      </p:sp>
      <p:sp>
        <p:nvSpPr>
          <p:cNvPr id="41" name="connector-282"/>
          <p:cNvSpPr/>
          <p:nvPr/>
        </p:nvSpPr>
        <p:spPr>
          <a:xfrm flipV="1">
            <a:off x="3154680" y="2807208"/>
            <a:ext cx="91" cy="1261872"/>
          </a:xfrm>
          <a:prstGeom prst="line">
            <a:avLst/>
          </a:prstGeom>
          <a:noFill/>
          <a:ln w="22225">
            <a:solidFill>
              <a:schemeClr val="bg2"/>
            </a:solidFill>
            <a:prstDash val="solid"/>
          </a:ln>
        </p:spPr>
      </p:sp>
      <p:sp>
        <p:nvSpPr>
          <p:cNvPr id="42" name="connector-283"/>
          <p:cNvSpPr/>
          <p:nvPr/>
        </p:nvSpPr>
        <p:spPr>
          <a:xfrm>
            <a:off x="3154680" y="2807208"/>
            <a:ext cx="393192" cy="91"/>
          </a:xfrm>
          <a:prstGeom prst="line">
            <a:avLst/>
          </a:prstGeom>
          <a:noFill/>
          <a:ln w="22225">
            <a:solidFill>
              <a:schemeClr val="bg2"/>
            </a:solidFill>
            <a:prstDash val="solid"/>
            <a:tailEnd type="triangle"/>
          </a:ln>
        </p:spPr>
      </p:sp>
      <p:sp>
        <p:nvSpPr>
          <p:cNvPr id="43" name="connector-284"/>
          <p:cNvSpPr/>
          <p:nvPr/>
        </p:nvSpPr>
        <p:spPr>
          <a:xfrm>
            <a:off x="2990088" y="4754880"/>
            <a:ext cx="557784" cy="91"/>
          </a:xfrm>
          <a:prstGeom prst="line">
            <a:avLst/>
          </a:prstGeom>
          <a:noFill/>
          <a:ln w="22225">
            <a:solidFill>
              <a:schemeClr val="bg2"/>
            </a:solidFill>
            <a:prstDash val="solid"/>
            <a:tailEnd type="triangle"/>
          </a:ln>
        </p:spPr>
      </p:sp>
      <p:sp>
        <p:nvSpPr>
          <p:cNvPr id="44" name="connector-285"/>
          <p:cNvSpPr/>
          <p:nvPr/>
        </p:nvSpPr>
        <p:spPr>
          <a:xfrm>
            <a:off x="8202168" y="4224528"/>
            <a:ext cx="256032" cy="91"/>
          </a:xfrm>
          <a:prstGeom prst="line">
            <a:avLst/>
          </a:prstGeom>
          <a:noFill/>
          <a:ln w="22225">
            <a:solidFill>
              <a:schemeClr val="accent4"/>
            </a:solidFill>
            <a:prstDash val="solid"/>
          </a:ln>
        </p:spPr>
      </p:sp>
      <p:sp>
        <p:nvSpPr>
          <p:cNvPr id="45" name="connector-286"/>
          <p:cNvSpPr/>
          <p:nvPr/>
        </p:nvSpPr>
        <p:spPr>
          <a:xfrm flipV="1">
            <a:off x="8458200" y="2395728"/>
            <a:ext cx="91" cy="1828800"/>
          </a:xfrm>
          <a:prstGeom prst="line">
            <a:avLst/>
          </a:prstGeom>
          <a:noFill/>
          <a:ln w="22225">
            <a:solidFill>
              <a:schemeClr val="accent4"/>
            </a:solidFill>
            <a:prstDash val="solid"/>
          </a:ln>
        </p:spPr>
      </p:sp>
      <p:sp>
        <p:nvSpPr>
          <p:cNvPr id="46" name="connector-287"/>
          <p:cNvSpPr/>
          <p:nvPr/>
        </p:nvSpPr>
        <p:spPr>
          <a:xfrm>
            <a:off x="8458200" y="2395728"/>
            <a:ext cx="301752" cy="91"/>
          </a:xfrm>
          <a:prstGeom prst="line">
            <a:avLst/>
          </a:prstGeom>
          <a:noFill/>
          <a:ln w="22225">
            <a:solidFill>
              <a:schemeClr val="accent4"/>
            </a:solidFill>
            <a:prstDash val="solid"/>
            <a:tailEnd type="triangle"/>
          </a:ln>
        </p:spPr>
      </p:sp>
      <p:sp>
        <p:nvSpPr>
          <p:cNvPr id="47" name="connector-288"/>
          <p:cNvSpPr/>
          <p:nvPr/>
        </p:nvSpPr>
        <p:spPr>
          <a:xfrm>
            <a:off x="8202168" y="4553712"/>
            <a:ext cx="411480" cy="91"/>
          </a:xfrm>
          <a:prstGeom prst="line">
            <a:avLst/>
          </a:prstGeom>
          <a:noFill/>
          <a:ln w="22225">
            <a:solidFill>
              <a:schemeClr val="accent3"/>
            </a:solidFill>
            <a:prstDash val="solid"/>
          </a:ln>
        </p:spPr>
      </p:sp>
      <p:sp>
        <p:nvSpPr>
          <p:cNvPr id="48" name="connector-289"/>
          <p:cNvSpPr/>
          <p:nvPr/>
        </p:nvSpPr>
        <p:spPr>
          <a:xfrm flipV="1">
            <a:off x="8613648" y="3858768"/>
            <a:ext cx="91" cy="694944"/>
          </a:xfrm>
          <a:prstGeom prst="line">
            <a:avLst/>
          </a:prstGeom>
          <a:noFill/>
          <a:ln w="22225">
            <a:solidFill>
              <a:schemeClr val="accent3"/>
            </a:solidFill>
            <a:prstDash val="solid"/>
          </a:ln>
        </p:spPr>
      </p:sp>
      <p:sp>
        <p:nvSpPr>
          <p:cNvPr id="49" name="connector-290"/>
          <p:cNvSpPr/>
          <p:nvPr/>
        </p:nvSpPr>
        <p:spPr>
          <a:xfrm>
            <a:off x="8613648" y="3858768"/>
            <a:ext cx="146304" cy="91"/>
          </a:xfrm>
          <a:prstGeom prst="line">
            <a:avLst/>
          </a:prstGeom>
          <a:noFill/>
          <a:ln w="22225">
            <a:solidFill>
              <a:schemeClr val="accent3"/>
            </a:solidFill>
            <a:prstDash val="solid"/>
            <a:tailEnd type="triangle"/>
          </a:ln>
        </p:spPr>
      </p:sp>
      <p:sp>
        <p:nvSpPr>
          <p:cNvPr id="50" name="connector-291"/>
          <p:cNvSpPr/>
          <p:nvPr/>
        </p:nvSpPr>
        <p:spPr>
          <a:xfrm>
            <a:off x="8202168" y="4910328"/>
            <a:ext cx="557784" cy="91"/>
          </a:xfrm>
          <a:prstGeom prst="line">
            <a:avLst/>
          </a:prstGeom>
          <a:noFill/>
          <a:ln w="22225">
            <a:solidFill>
              <a:schemeClr val="accent3"/>
            </a:solidFill>
            <a:prstDash val="solid"/>
            <a:tailEnd type="triangle"/>
          </a:ln>
        </p:spPr>
      </p:sp>
      <p:sp>
        <p:nvSpPr>
          <p:cNvPr id="51" name="connector-292"/>
          <p:cNvSpPr/>
          <p:nvPr/>
        </p:nvSpPr>
        <p:spPr>
          <a:xfrm>
            <a:off x="10204704" y="5321808"/>
            <a:ext cx="91" cy="146304"/>
          </a:xfrm>
          <a:prstGeom prst="line">
            <a:avLst/>
          </a:prstGeom>
          <a:noFill/>
          <a:ln w="22225">
            <a:solidFill>
              <a:schemeClr val="accent5"/>
            </a:solidFill>
            <a:prstDash val="solid"/>
            <a:tailEnd type="triangle"/>
          </a:ln>
        </p:spPr>
      </p:sp>
      <p:sp>
        <p:nvSpPr>
          <p:cNvPr id="52" name="text-293"/>
          <p:cNvSpPr txBox="1"/>
          <p:nvPr/>
        </p:nvSpPr>
        <p:spPr>
          <a:xfrm>
            <a:off x="548640" y="5138928"/>
            <a:ext cx="2423160" cy="274320"/>
          </a:xfrm>
          <a:prstGeom prst="rect">
            <a:avLst/>
          </a:prstGeom>
          <a:noFill/>
          <a:ln/>
        </p:spPr>
        <p:txBody>
          <a:bodyPr wrap="square" lIns="0" tIns="0" rIns="0" bIns="0" rtlCol="0" anchor="t"/>
          <a:lstStyle/>
          <a:p>
            <a:pPr algn="ctr" indent="0" marL="0">
              <a:buNone/>
            </a:pPr>
            <a:r>
              <a:rPr lang="en-US" sz="1100" dirty="0">
                <a:solidFill>
                  <a:schemeClr val="bg2"/>
                </a:solidFill>
              </a:rPr>
              <a:t>HTTPS · REST/JSON</a:t>
            </a:r>
            <a:endParaRPr lang="en-US" sz="1100" dirty="0"/>
          </a:p>
        </p:txBody>
      </p:sp>
      <p:sp>
        <p:nvSpPr>
          <p:cNvPr id="53" name="text-294"/>
          <p:cNvSpPr txBox="1"/>
          <p:nvPr/>
        </p:nvSpPr>
        <p:spPr>
          <a:xfrm>
            <a:off x="548640" y="2761488"/>
            <a:ext cx="2423160" cy="274320"/>
          </a:xfrm>
          <a:prstGeom prst="rect">
            <a:avLst/>
          </a:prstGeom>
          <a:noFill/>
          <a:ln/>
        </p:spPr>
        <p:txBody>
          <a:bodyPr wrap="square" lIns="0" tIns="0" rIns="0" bIns="0" rtlCol="0" anchor="t"/>
          <a:lstStyle/>
          <a:p>
            <a:pPr algn="ctr" indent="0" marL="0">
              <a:buNone/>
            </a:pPr>
            <a:r>
              <a:rPr lang="en-US" sz="1100" dirty="0">
                <a:solidFill>
                  <a:schemeClr val="bg2"/>
                </a:solidFill>
              </a:rPr>
              <a:t>builds on push to master</a:t>
            </a:r>
            <a:endParaRPr lang="en-US" sz="1100" dirty="0"/>
          </a:p>
        </p:txBody>
      </p:sp>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241280" cy="640080"/>
          </a:xfrm>
          <a:prstGeom prst="rect">
            <a:avLst/>
          </a:prstGeom>
          <a:noFill/>
          <a:ln/>
        </p:spPr>
        <p:txBody>
          <a:bodyPr wrap="square" lIns="0" tIns="0" rIns="0" bIns="0" rtlCol="0" anchor="ctr"/>
          <a:lstStyle/>
          <a:p>
            <a:pPr algn="l" indent="0" marL="0">
              <a:buNone/>
            </a:pPr>
            <a:r>
              <a:rPr lang="en-US" sz="2800" b="1" dirty="0">
                <a:solidFill>
                  <a:schemeClr val="bg1"/>
                </a:solidFill>
                <a:latin typeface="Century Gothic" pitchFamily="34" charset="0"/>
                <a:ea typeface="Century Gothic" pitchFamily="34" charset="-122"/>
                <a:cs typeface="Century Gothic" pitchFamily="34" charset="-120"/>
              </a:rPr>
              <a:t>Agents never call each other</a:t>
            </a:r>
            <a:endParaRPr lang="en-US" sz="2800" dirty="0"/>
          </a:p>
        </p:txBody>
      </p:sp>
      <p:sp>
        <p:nvSpPr>
          <p:cNvPr id="3" name="text-295"/>
          <p:cNvSpPr txBox="1"/>
          <p:nvPr/>
        </p:nvSpPr>
        <p:spPr>
          <a:xfrm>
            <a:off x="548640" y="1005840"/>
            <a:ext cx="10424160" cy="384048"/>
          </a:xfrm>
          <a:prstGeom prst="rect">
            <a:avLst/>
          </a:prstGeom>
          <a:noFill/>
          <a:ln/>
        </p:spPr>
        <p:txBody>
          <a:bodyPr wrap="square" lIns="0" tIns="0" rIns="0" bIns="0" rtlCol="0" anchor="t"/>
          <a:lstStyle/>
          <a:p>
            <a:pPr indent="0" marL="0">
              <a:buNone/>
            </a:pPr>
            <a:r>
              <a:rPr lang="en-US" sz="1600" dirty="0">
                <a:solidFill>
                  <a:schemeClr val="bg2"/>
                </a:solidFill>
              </a:rPr>
              <a:t>They share a typed blackboard; every transition is appended to the Decision Ledger.</a:t>
            </a:r>
            <a:endParaRPr lang="en-US" sz="1600" dirty="0"/>
          </a:p>
        </p:txBody>
      </p:sp>
      <p:sp>
        <p:nvSpPr>
          <p:cNvPr id="5" name="glass-296"/>
          <p:cNvSpPr/>
          <p:nvPr/>
        </p:nvSpPr>
        <p:spPr>
          <a:xfrm>
            <a:off x="2377440" y="1572768"/>
            <a:ext cx="3246120" cy="713232"/>
          </a:xfrm>
          <a:prstGeom prst="roundRect">
            <a:avLst>
              <a:gd name="adj" fmla="val 17949"/>
            </a:avLst>
          </a:prstGeom>
          <a:solidFill>
            <a:schemeClr val="accent1">
              <a:alpha val="18000"/>
            </a:schemeClr>
          </a:solidFill>
          <a:ln w="12700">
            <a:solidFill>
              <a:schemeClr val="accent1">
                <a:alpha val="60000"/>
              </a:schemeClr>
            </a:solidFill>
            <a:prstDash val="solid"/>
          </a:ln>
        </p:spPr>
      </p:sp>
      <p:pic>
        <p:nvPicPr>
          <p:cNvPr id="6" name="icon3d-297" descr="C:\Users\himat\AppData\Local\Temp\claude\c--Ai-stuffs-MOSAIC\b3ecbbac-d885-4fec-a9f8-3496f8d06c96\scratchpad\build\assets\icon-orchestrator.png">    </p:cNvPr>
          <p:cNvPicPr>
            <a:picLocks noChangeAspect="1"/>
          </p:cNvPicPr>
          <p:nvPr/>
        </p:nvPicPr>
        <p:blipFill>
          <a:blip r:embed="rId1"/>
          <a:stretch>
            <a:fillRect/>
          </a:stretch>
        </p:blipFill>
        <p:spPr>
          <a:xfrm>
            <a:off x="2468880" y="1591056"/>
            <a:ext cx="658368" cy="658368"/>
          </a:xfrm>
          <a:prstGeom prst="rect">
            <a:avLst/>
          </a:prstGeom>
        </p:spPr>
      </p:pic>
      <p:sp>
        <p:nvSpPr>
          <p:cNvPr id="7" name="text-298"/>
          <p:cNvSpPr txBox="1"/>
          <p:nvPr/>
        </p:nvSpPr>
        <p:spPr>
          <a:xfrm>
            <a:off x="3200400" y="1572768"/>
            <a:ext cx="2377440" cy="713232"/>
          </a:xfrm>
          <a:prstGeom prst="rect">
            <a:avLst/>
          </a:prstGeom>
          <a:noFill/>
          <a:ln/>
        </p:spPr>
        <p:txBody>
          <a:bodyPr wrap="square" lIns="0" tIns="0" rIns="0" bIns="0" rtlCol="0" anchor="ctr"/>
          <a:lstStyle/>
          <a:p>
            <a:pPr indent="0" marL="0">
              <a:buNone/>
            </a:pPr>
            <a:r>
              <a:rPr lang="en-US" sz="1500" b="1" dirty="0">
                <a:solidFill>
                  <a:schemeClr val="bg1"/>
                </a:solidFill>
              </a:rPr>
              <a:t>Orchestrator</a:t>
            </a:r>
            <a:endParaRPr lang="en-US" sz="1500" dirty="0"/>
          </a:p>
          <a:p>
            <a:pPr indent="0" marL="0">
              <a:buNone/>
            </a:pPr>
            <a:r>
              <a:rPr lang="en-US" sz="1150" dirty="0">
                <a:solidFill>
                  <a:schemeClr val="bg2"/>
                </a:solidFill>
              </a:rPr>
              <a:t>LangGraph · owns state + gate</a:t>
            </a:r>
            <a:endParaRPr lang="en-US" sz="1500" dirty="0"/>
          </a:p>
        </p:txBody>
      </p:sp>
      <p:sp>
        <p:nvSpPr>
          <p:cNvPr id="8" name="glass-299"/>
          <p:cNvSpPr/>
          <p:nvPr/>
        </p:nvSpPr>
        <p:spPr>
          <a:xfrm>
            <a:off x="2377440" y="2697480"/>
            <a:ext cx="3246120" cy="2194560"/>
          </a:xfrm>
          <a:prstGeom prst="roundRect">
            <a:avLst>
              <a:gd name="adj" fmla="val 5833"/>
            </a:avLst>
          </a:prstGeom>
          <a:solidFill>
            <a:schemeClr val="accent4">
              <a:alpha val="16000"/>
            </a:schemeClr>
          </a:solidFill>
          <a:ln w="19050">
            <a:solidFill>
              <a:schemeClr val="accent4">
                <a:alpha val="75000"/>
              </a:schemeClr>
            </a:solidFill>
            <a:prstDash val="solid"/>
          </a:ln>
          <a:effectLst>
            <a:outerShdw sx="100000" sy="100000" kx="0" ky="0" algn="bl" rotWithShape="0" blurRad="177800" dist="38100" dir="5400000">
              <a:srgbClr val="000000">
                <a:alpha val="35000"/>
              </a:srgbClr>
            </a:outerShdw>
          </a:effectLst>
        </p:spPr>
      </p:sp>
      <p:sp>
        <p:nvSpPr>
          <p:cNvPr id="9" name="text-300"/>
          <p:cNvSpPr txBox="1"/>
          <p:nvPr/>
        </p:nvSpPr>
        <p:spPr>
          <a:xfrm>
            <a:off x="2560320" y="2816352"/>
            <a:ext cx="2926080" cy="365760"/>
          </a:xfrm>
          <a:prstGeom prst="rect">
            <a:avLst/>
          </a:prstGeom>
          <a:noFill/>
          <a:ln/>
        </p:spPr>
        <p:txBody>
          <a:bodyPr wrap="square" lIns="0" tIns="0" rIns="0" bIns="0" rtlCol="0" anchor="t"/>
          <a:lstStyle/>
          <a:p>
            <a:pPr indent="0" marL="0">
              <a:buNone/>
            </a:pPr>
            <a:r>
              <a:rPr lang="en-US" sz="1700" b="1" dirty="0">
                <a:solidFill>
                  <a:schemeClr val="accent4"/>
                </a:solidFill>
                <a:latin typeface="Century Gothic" pitchFamily="34" charset="0"/>
                <a:ea typeface="Century Gothic" pitchFamily="34" charset="-122"/>
                <a:cs typeface="Century Gothic" pitchFamily="34" charset="-120"/>
              </a:rPr>
              <a:t>Shared blackboard</a:t>
            </a:r>
            <a:endParaRPr lang="en-US" sz="1700" dirty="0"/>
          </a:p>
        </p:txBody>
      </p:sp>
      <p:sp>
        <p:nvSpPr>
          <p:cNvPr id="10" name="text-301"/>
          <p:cNvSpPr txBox="1"/>
          <p:nvPr/>
        </p:nvSpPr>
        <p:spPr>
          <a:xfrm>
            <a:off x="2560320" y="3172968"/>
            <a:ext cx="2926080" cy="320040"/>
          </a:xfrm>
          <a:prstGeom prst="rect">
            <a:avLst/>
          </a:prstGeom>
          <a:noFill/>
          <a:ln/>
        </p:spPr>
        <p:txBody>
          <a:bodyPr wrap="square" lIns="0" tIns="0" rIns="0" bIns="0" rtlCol="0" anchor="t"/>
          <a:lstStyle/>
          <a:p>
            <a:pPr indent="0" marL="0">
              <a:buNone/>
            </a:pPr>
            <a:r>
              <a:rPr lang="en-US" sz="1150" dirty="0">
                <a:solidFill>
                  <a:schemeClr val="bg2"/>
                </a:solidFill>
              </a:rPr>
              <a:t>WorkspaceState + Supabase · typed at the boundary</a:t>
            </a:r>
            <a:endParaRPr lang="en-US" sz="1150" dirty="0"/>
          </a:p>
        </p:txBody>
      </p:sp>
      <p:sp>
        <p:nvSpPr>
          <p:cNvPr id="11" name="artifact-302"/>
          <p:cNvSpPr/>
          <p:nvPr/>
        </p:nvSpPr>
        <p:spPr>
          <a:xfrm>
            <a:off x="2560320" y="3611880"/>
            <a:ext cx="1371600" cy="384048"/>
          </a:xfrm>
          <a:prstGeom prst="roundRect">
            <a:avLst>
              <a:gd name="adj" fmla="val 19048"/>
            </a:avLst>
          </a:prstGeom>
          <a:solidFill>
            <a:schemeClr val="tx1">
              <a:alpha val="75000"/>
            </a:schemeClr>
          </a:solidFill>
          <a:ln w="9525">
            <a:solidFill>
              <a:schemeClr val="accent4">
                <a:alpha val="50000"/>
              </a:schemeClr>
            </a:solidFill>
            <a:prstDash val="solid"/>
          </a:ln>
        </p:spPr>
      </p:sp>
      <p:sp>
        <p:nvSpPr>
          <p:cNvPr id="12" name="text-303"/>
          <p:cNvSpPr txBox="1"/>
          <p:nvPr/>
        </p:nvSpPr>
        <p:spPr>
          <a:xfrm>
            <a:off x="2560320" y="3611880"/>
            <a:ext cx="1371600" cy="384048"/>
          </a:xfrm>
          <a:prstGeom prst="rect">
            <a:avLst/>
          </a:prstGeom>
          <a:noFill/>
          <a:ln/>
        </p:spPr>
        <p:txBody>
          <a:bodyPr wrap="square" lIns="0" tIns="0" rIns="0" bIns="0" rtlCol="0" anchor="ctr"/>
          <a:lstStyle/>
          <a:p>
            <a:pPr algn="ctr" indent="0" marL="0">
              <a:buNone/>
            </a:pPr>
            <a:r>
              <a:rPr lang="en-US" sz="1150" dirty="0">
                <a:solidFill>
                  <a:schemeClr val="bg1"/>
                </a:solidFill>
              </a:rPr>
              <a:t>SegmentBrief</a:t>
            </a:r>
            <a:endParaRPr lang="en-US" sz="1150" dirty="0"/>
          </a:p>
        </p:txBody>
      </p:sp>
      <p:sp>
        <p:nvSpPr>
          <p:cNvPr id="13" name="artifact-304"/>
          <p:cNvSpPr/>
          <p:nvPr/>
        </p:nvSpPr>
        <p:spPr>
          <a:xfrm>
            <a:off x="4023360" y="3611880"/>
            <a:ext cx="1371600" cy="384048"/>
          </a:xfrm>
          <a:prstGeom prst="roundRect">
            <a:avLst>
              <a:gd name="adj" fmla="val 19048"/>
            </a:avLst>
          </a:prstGeom>
          <a:solidFill>
            <a:schemeClr val="tx1">
              <a:alpha val="75000"/>
            </a:schemeClr>
          </a:solidFill>
          <a:ln w="9525">
            <a:solidFill>
              <a:schemeClr val="accent4">
                <a:alpha val="50000"/>
              </a:schemeClr>
            </a:solidFill>
            <a:prstDash val="solid"/>
          </a:ln>
        </p:spPr>
      </p:sp>
      <p:sp>
        <p:nvSpPr>
          <p:cNvPr id="14" name="text-305"/>
          <p:cNvSpPr txBox="1"/>
          <p:nvPr/>
        </p:nvSpPr>
        <p:spPr>
          <a:xfrm>
            <a:off x="4023360" y="3611880"/>
            <a:ext cx="1371600" cy="384048"/>
          </a:xfrm>
          <a:prstGeom prst="rect">
            <a:avLst/>
          </a:prstGeom>
          <a:noFill/>
          <a:ln/>
        </p:spPr>
        <p:txBody>
          <a:bodyPr wrap="square" lIns="0" tIns="0" rIns="0" bIns="0" rtlCol="0" anchor="ctr"/>
          <a:lstStyle/>
          <a:p>
            <a:pPr algn="ctr" indent="0" marL="0">
              <a:buNone/>
            </a:pPr>
            <a:r>
              <a:rPr lang="en-US" sz="1150" dirty="0">
                <a:solidFill>
                  <a:schemeClr val="bg1"/>
                </a:solidFill>
              </a:rPr>
              <a:t>CreativeDirection</a:t>
            </a:r>
            <a:endParaRPr lang="en-US" sz="1150" dirty="0"/>
          </a:p>
        </p:txBody>
      </p:sp>
      <p:sp>
        <p:nvSpPr>
          <p:cNvPr id="15" name="artifact-306"/>
          <p:cNvSpPr/>
          <p:nvPr/>
        </p:nvSpPr>
        <p:spPr>
          <a:xfrm>
            <a:off x="2560320" y="4114800"/>
            <a:ext cx="1371600" cy="384048"/>
          </a:xfrm>
          <a:prstGeom prst="roundRect">
            <a:avLst>
              <a:gd name="adj" fmla="val 19048"/>
            </a:avLst>
          </a:prstGeom>
          <a:solidFill>
            <a:schemeClr val="tx1">
              <a:alpha val="75000"/>
            </a:schemeClr>
          </a:solidFill>
          <a:ln w="9525">
            <a:solidFill>
              <a:schemeClr val="accent4">
                <a:alpha val="50000"/>
              </a:schemeClr>
            </a:solidFill>
            <a:prstDash val="solid"/>
          </a:ln>
        </p:spPr>
      </p:sp>
      <p:sp>
        <p:nvSpPr>
          <p:cNvPr id="16" name="text-307"/>
          <p:cNvSpPr txBox="1"/>
          <p:nvPr/>
        </p:nvSpPr>
        <p:spPr>
          <a:xfrm>
            <a:off x="2560320" y="4114800"/>
            <a:ext cx="1371600" cy="384048"/>
          </a:xfrm>
          <a:prstGeom prst="rect">
            <a:avLst/>
          </a:prstGeom>
          <a:noFill/>
          <a:ln/>
        </p:spPr>
        <p:txBody>
          <a:bodyPr wrap="square" lIns="0" tIns="0" rIns="0" bIns="0" rtlCol="0" anchor="ctr"/>
          <a:lstStyle/>
          <a:p>
            <a:pPr algn="ctr" indent="0" marL="0">
              <a:buNone/>
            </a:pPr>
            <a:r>
              <a:rPr lang="en-US" sz="1150" dirty="0">
                <a:solidFill>
                  <a:schemeClr val="bg1"/>
                </a:solidFill>
              </a:rPr>
              <a:t>SegmentEmail</a:t>
            </a:r>
            <a:endParaRPr lang="en-US" sz="1150" dirty="0"/>
          </a:p>
        </p:txBody>
      </p:sp>
      <p:sp>
        <p:nvSpPr>
          <p:cNvPr id="17" name="artifact-308"/>
          <p:cNvSpPr/>
          <p:nvPr/>
        </p:nvSpPr>
        <p:spPr>
          <a:xfrm>
            <a:off x="4023360" y="4114800"/>
            <a:ext cx="1371600" cy="384048"/>
          </a:xfrm>
          <a:prstGeom prst="roundRect">
            <a:avLst>
              <a:gd name="adj" fmla="val 19048"/>
            </a:avLst>
          </a:prstGeom>
          <a:solidFill>
            <a:schemeClr val="tx1">
              <a:alpha val="75000"/>
            </a:schemeClr>
          </a:solidFill>
          <a:ln w="9525">
            <a:solidFill>
              <a:schemeClr val="accent4">
                <a:alpha val="50000"/>
              </a:schemeClr>
            </a:solidFill>
            <a:prstDash val="solid"/>
          </a:ln>
        </p:spPr>
      </p:sp>
      <p:sp>
        <p:nvSpPr>
          <p:cNvPr id="18" name="text-309"/>
          <p:cNvSpPr txBox="1"/>
          <p:nvPr/>
        </p:nvSpPr>
        <p:spPr>
          <a:xfrm>
            <a:off x="4023360" y="4114800"/>
            <a:ext cx="1371600" cy="384048"/>
          </a:xfrm>
          <a:prstGeom prst="rect">
            <a:avLst/>
          </a:prstGeom>
          <a:noFill/>
          <a:ln/>
        </p:spPr>
        <p:txBody>
          <a:bodyPr wrap="square" lIns="0" tIns="0" rIns="0" bIns="0" rtlCol="0" anchor="ctr"/>
          <a:lstStyle/>
          <a:p>
            <a:pPr algn="ctr" indent="0" marL="0">
              <a:buNone/>
            </a:pPr>
            <a:r>
              <a:rPr lang="en-US" sz="1150" dirty="0">
                <a:solidFill>
                  <a:schemeClr val="bg1"/>
                </a:solidFill>
              </a:rPr>
              <a:t>GuardianVerdict</a:t>
            </a:r>
            <a:endParaRPr lang="en-US" sz="1150" dirty="0"/>
          </a:p>
        </p:txBody>
      </p:sp>
      <p:sp>
        <p:nvSpPr>
          <p:cNvPr id="19" name="glass-310"/>
          <p:cNvSpPr/>
          <p:nvPr/>
        </p:nvSpPr>
        <p:spPr>
          <a:xfrm>
            <a:off x="548640" y="2331720"/>
            <a:ext cx="1508760" cy="1234440"/>
          </a:xfrm>
          <a:prstGeom prst="roundRect">
            <a:avLst>
              <a:gd name="adj" fmla="val 10370"/>
            </a:avLst>
          </a:prstGeom>
          <a:solidFill>
            <a:schemeClr val="accent2">
              <a:alpha val="14000"/>
            </a:schemeClr>
          </a:solidFill>
          <a:ln w="12700">
            <a:solidFill>
              <a:schemeClr val="accent2">
                <a:alpha val="55000"/>
              </a:schemeClr>
            </a:solidFill>
            <a:prstDash val="solid"/>
          </a:ln>
        </p:spPr>
      </p:sp>
      <p:pic>
        <p:nvPicPr>
          <p:cNvPr id="20" name="icon3d-311" descr="C:\Users\himat\AppData\Local\Temp\claude\c--Ai-stuffs-MOSAIC\b3ecbbac-d885-4fec-a9f8-3496f8d06c96\scratchpad\build\assets\icon-segmentation.png">    </p:cNvPr>
          <p:cNvPicPr>
            <a:picLocks noChangeAspect="1"/>
          </p:cNvPicPr>
          <p:nvPr/>
        </p:nvPicPr>
        <p:blipFill>
          <a:blip r:embed="rId2"/>
          <a:stretch>
            <a:fillRect/>
          </a:stretch>
        </p:blipFill>
        <p:spPr>
          <a:xfrm>
            <a:off x="960120" y="2386584"/>
            <a:ext cx="713232" cy="713232"/>
          </a:xfrm>
          <a:prstGeom prst="rect">
            <a:avLst/>
          </a:prstGeom>
        </p:spPr>
      </p:pic>
      <p:sp>
        <p:nvSpPr>
          <p:cNvPr id="21" name="num-bg-312"/>
          <p:cNvSpPr/>
          <p:nvPr/>
        </p:nvSpPr>
        <p:spPr>
          <a:xfrm>
            <a:off x="640080" y="2423160"/>
            <a:ext cx="292608" cy="292608"/>
          </a:xfrm>
          <a:prstGeom prst="ellipse">
            <a:avLst/>
          </a:prstGeom>
          <a:solidFill>
            <a:schemeClr val="accent2"/>
          </a:solidFill>
          <a:ln/>
        </p:spPr>
      </p:sp>
      <p:sp>
        <p:nvSpPr>
          <p:cNvPr id="22" name="text-313"/>
          <p:cNvSpPr txBox="1"/>
          <p:nvPr/>
        </p:nvSpPr>
        <p:spPr>
          <a:xfrm>
            <a:off x="640080" y="2423160"/>
            <a:ext cx="292608" cy="292608"/>
          </a:xfrm>
          <a:prstGeom prst="rect">
            <a:avLst/>
          </a:prstGeom>
          <a:noFill/>
          <a:ln/>
        </p:spPr>
        <p:txBody>
          <a:bodyPr wrap="square" lIns="0" tIns="0" rIns="0" bIns="0" rtlCol="0" anchor="ctr"/>
          <a:lstStyle/>
          <a:p>
            <a:pPr algn="ctr" indent="0" marL="0">
              <a:buNone/>
            </a:pPr>
            <a:r>
              <a:rPr lang="en-US" sz="1300" b="1" dirty="0">
                <a:solidFill>
                  <a:schemeClr val="tx1"/>
                </a:solidFill>
                <a:latin typeface="Century Gothic" pitchFamily="34" charset="0"/>
                <a:ea typeface="Century Gothic" pitchFamily="34" charset="-122"/>
                <a:cs typeface="Century Gothic" pitchFamily="34" charset="-120"/>
              </a:rPr>
              <a:t>1</a:t>
            </a:r>
            <a:endParaRPr lang="en-US" sz="1300" dirty="0"/>
          </a:p>
        </p:txBody>
      </p:sp>
      <p:sp>
        <p:nvSpPr>
          <p:cNvPr id="23" name="text-314"/>
          <p:cNvSpPr txBox="1"/>
          <p:nvPr/>
        </p:nvSpPr>
        <p:spPr>
          <a:xfrm>
            <a:off x="548640" y="3136392"/>
            <a:ext cx="1508760" cy="347472"/>
          </a:xfrm>
          <a:prstGeom prst="rect">
            <a:avLst/>
          </a:prstGeom>
          <a:noFill/>
          <a:ln/>
        </p:spPr>
        <p:txBody>
          <a:bodyPr wrap="square" lIns="0" tIns="0" rIns="0" bIns="0" rtlCol="0" anchor="t"/>
          <a:lstStyle/>
          <a:p>
            <a:pPr algn="ctr" indent="0" marL="0">
              <a:buNone/>
            </a:pPr>
            <a:r>
              <a:rPr lang="en-US" sz="1350" b="1" dirty="0">
                <a:solidFill>
                  <a:schemeClr val="bg1"/>
                </a:solidFill>
              </a:rPr>
              <a:t>Segmentation</a:t>
            </a:r>
            <a:endParaRPr lang="en-US" sz="1350" dirty="0"/>
          </a:p>
        </p:txBody>
      </p:sp>
      <p:sp>
        <p:nvSpPr>
          <p:cNvPr id="24" name="glass-315"/>
          <p:cNvSpPr/>
          <p:nvPr/>
        </p:nvSpPr>
        <p:spPr>
          <a:xfrm>
            <a:off x="5989320" y="2331720"/>
            <a:ext cx="1508760" cy="1234440"/>
          </a:xfrm>
          <a:prstGeom prst="roundRect">
            <a:avLst>
              <a:gd name="adj" fmla="val 10370"/>
            </a:avLst>
          </a:prstGeom>
          <a:solidFill>
            <a:schemeClr val="accent3">
              <a:alpha val="14000"/>
            </a:schemeClr>
          </a:solidFill>
          <a:ln w="12700">
            <a:solidFill>
              <a:schemeClr val="accent3">
                <a:alpha val="55000"/>
              </a:schemeClr>
            </a:solidFill>
            <a:prstDash val="solid"/>
          </a:ln>
        </p:spPr>
      </p:sp>
      <p:pic>
        <p:nvPicPr>
          <p:cNvPr id="25" name="icon3d-316" descr="C:\Users\himat\AppData\Local\Temp\claude\c--Ai-stuffs-MOSAIC\b3ecbbac-d885-4fec-a9f8-3496f8d06c96\scratchpad\build\assets\icon-creative.png">    </p:cNvPr>
          <p:cNvPicPr>
            <a:picLocks noChangeAspect="1"/>
          </p:cNvPicPr>
          <p:nvPr/>
        </p:nvPicPr>
        <p:blipFill>
          <a:blip r:embed="rId3"/>
          <a:stretch>
            <a:fillRect/>
          </a:stretch>
        </p:blipFill>
        <p:spPr>
          <a:xfrm>
            <a:off x="6400800" y="2386584"/>
            <a:ext cx="713232" cy="713232"/>
          </a:xfrm>
          <a:prstGeom prst="rect">
            <a:avLst/>
          </a:prstGeom>
        </p:spPr>
      </p:pic>
      <p:sp>
        <p:nvSpPr>
          <p:cNvPr id="26" name="num-bg-317"/>
          <p:cNvSpPr/>
          <p:nvPr/>
        </p:nvSpPr>
        <p:spPr>
          <a:xfrm>
            <a:off x="6080760" y="2423160"/>
            <a:ext cx="292608" cy="292608"/>
          </a:xfrm>
          <a:prstGeom prst="ellipse">
            <a:avLst/>
          </a:prstGeom>
          <a:solidFill>
            <a:schemeClr val="accent3"/>
          </a:solidFill>
          <a:ln/>
        </p:spPr>
      </p:sp>
      <p:sp>
        <p:nvSpPr>
          <p:cNvPr id="27" name="text-318"/>
          <p:cNvSpPr txBox="1"/>
          <p:nvPr/>
        </p:nvSpPr>
        <p:spPr>
          <a:xfrm>
            <a:off x="6080760" y="2423160"/>
            <a:ext cx="292608" cy="292608"/>
          </a:xfrm>
          <a:prstGeom prst="rect">
            <a:avLst/>
          </a:prstGeom>
          <a:noFill/>
          <a:ln/>
        </p:spPr>
        <p:txBody>
          <a:bodyPr wrap="square" lIns="0" tIns="0" rIns="0" bIns="0" rtlCol="0" anchor="ctr"/>
          <a:lstStyle/>
          <a:p>
            <a:pPr algn="ctr" indent="0" marL="0">
              <a:buNone/>
            </a:pPr>
            <a:r>
              <a:rPr lang="en-US" sz="1300" b="1" dirty="0">
                <a:solidFill>
                  <a:schemeClr val="tx1"/>
                </a:solidFill>
                <a:latin typeface="Century Gothic" pitchFamily="34" charset="0"/>
                <a:ea typeface="Century Gothic" pitchFamily="34" charset="-122"/>
                <a:cs typeface="Century Gothic" pitchFamily="34" charset="-120"/>
              </a:rPr>
              <a:t>2</a:t>
            </a:r>
            <a:endParaRPr lang="en-US" sz="1300" dirty="0"/>
          </a:p>
        </p:txBody>
      </p:sp>
      <p:sp>
        <p:nvSpPr>
          <p:cNvPr id="28" name="text-319"/>
          <p:cNvSpPr txBox="1"/>
          <p:nvPr/>
        </p:nvSpPr>
        <p:spPr>
          <a:xfrm>
            <a:off x="5989320" y="3136392"/>
            <a:ext cx="1508760" cy="347472"/>
          </a:xfrm>
          <a:prstGeom prst="rect">
            <a:avLst/>
          </a:prstGeom>
          <a:noFill/>
          <a:ln/>
        </p:spPr>
        <p:txBody>
          <a:bodyPr wrap="square" lIns="0" tIns="0" rIns="0" bIns="0" rtlCol="0" anchor="t"/>
          <a:lstStyle/>
          <a:p>
            <a:pPr algn="ctr" indent="0" marL="0">
              <a:buNone/>
            </a:pPr>
            <a:r>
              <a:rPr lang="en-US" sz="1350" b="1" dirty="0">
                <a:solidFill>
                  <a:schemeClr val="bg1"/>
                </a:solidFill>
              </a:rPr>
              <a:t>Creative</a:t>
            </a:r>
            <a:endParaRPr lang="en-US" sz="1350" dirty="0"/>
          </a:p>
        </p:txBody>
      </p:sp>
      <p:sp>
        <p:nvSpPr>
          <p:cNvPr id="29" name="glass-320"/>
          <p:cNvSpPr/>
          <p:nvPr/>
        </p:nvSpPr>
        <p:spPr>
          <a:xfrm>
            <a:off x="5989320" y="3977640"/>
            <a:ext cx="1508760" cy="1234440"/>
          </a:xfrm>
          <a:prstGeom prst="roundRect">
            <a:avLst>
              <a:gd name="adj" fmla="val 10370"/>
            </a:avLst>
          </a:prstGeom>
          <a:solidFill>
            <a:schemeClr val="accent4">
              <a:alpha val="14000"/>
            </a:schemeClr>
          </a:solidFill>
          <a:ln w="12700">
            <a:solidFill>
              <a:schemeClr val="accent4">
                <a:alpha val="55000"/>
              </a:schemeClr>
            </a:solidFill>
            <a:prstDash val="solid"/>
          </a:ln>
        </p:spPr>
      </p:sp>
      <p:pic>
        <p:nvPicPr>
          <p:cNvPr id="30" name="icon3d-321" descr="C:\Users\himat\AppData\Local\Temp\claude\c--Ai-stuffs-MOSAIC\b3ecbbac-d885-4fec-a9f8-3496f8d06c96\scratchpad\build\assets\icon-composer.png">    </p:cNvPr>
          <p:cNvPicPr>
            <a:picLocks noChangeAspect="1"/>
          </p:cNvPicPr>
          <p:nvPr/>
        </p:nvPicPr>
        <p:blipFill>
          <a:blip r:embed="rId4"/>
          <a:stretch>
            <a:fillRect/>
          </a:stretch>
        </p:blipFill>
        <p:spPr>
          <a:xfrm>
            <a:off x="6400800" y="4032504"/>
            <a:ext cx="713232" cy="713232"/>
          </a:xfrm>
          <a:prstGeom prst="rect">
            <a:avLst/>
          </a:prstGeom>
        </p:spPr>
      </p:pic>
      <p:sp>
        <p:nvSpPr>
          <p:cNvPr id="31" name="num-bg-322"/>
          <p:cNvSpPr/>
          <p:nvPr/>
        </p:nvSpPr>
        <p:spPr>
          <a:xfrm>
            <a:off x="6080760" y="4069080"/>
            <a:ext cx="292608" cy="292608"/>
          </a:xfrm>
          <a:prstGeom prst="ellipse">
            <a:avLst/>
          </a:prstGeom>
          <a:solidFill>
            <a:schemeClr val="accent4"/>
          </a:solidFill>
          <a:ln/>
        </p:spPr>
      </p:sp>
      <p:sp>
        <p:nvSpPr>
          <p:cNvPr id="32" name="text-323"/>
          <p:cNvSpPr txBox="1"/>
          <p:nvPr/>
        </p:nvSpPr>
        <p:spPr>
          <a:xfrm>
            <a:off x="6080760" y="4069080"/>
            <a:ext cx="292608" cy="292608"/>
          </a:xfrm>
          <a:prstGeom prst="rect">
            <a:avLst/>
          </a:prstGeom>
          <a:noFill/>
          <a:ln/>
        </p:spPr>
        <p:txBody>
          <a:bodyPr wrap="square" lIns="0" tIns="0" rIns="0" bIns="0" rtlCol="0" anchor="ctr"/>
          <a:lstStyle/>
          <a:p>
            <a:pPr algn="ctr" indent="0" marL="0">
              <a:buNone/>
            </a:pPr>
            <a:r>
              <a:rPr lang="en-US" sz="1300" b="1" dirty="0">
                <a:solidFill>
                  <a:schemeClr val="tx1"/>
                </a:solidFill>
                <a:latin typeface="Century Gothic" pitchFamily="34" charset="0"/>
                <a:ea typeface="Century Gothic" pitchFamily="34" charset="-122"/>
                <a:cs typeface="Century Gothic" pitchFamily="34" charset="-120"/>
              </a:rPr>
              <a:t>3</a:t>
            </a:r>
            <a:endParaRPr lang="en-US" sz="1300" dirty="0"/>
          </a:p>
        </p:txBody>
      </p:sp>
      <p:sp>
        <p:nvSpPr>
          <p:cNvPr id="33" name="text-324"/>
          <p:cNvSpPr txBox="1"/>
          <p:nvPr/>
        </p:nvSpPr>
        <p:spPr>
          <a:xfrm>
            <a:off x="5989320" y="4782312"/>
            <a:ext cx="1508760" cy="347472"/>
          </a:xfrm>
          <a:prstGeom prst="rect">
            <a:avLst/>
          </a:prstGeom>
          <a:noFill/>
          <a:ln/>
        </p:spPr>
        <p:txBody>
          <a:bodyPr wrap="square" lIns="0" tIns="0" rIns="0" bIns="0" rtlCol="0" anchor="t"/>
          <a:lstStyle/>
          <a:p>
            <a:pPr algn="ctr" indent="0" marL="0">
              <a:buNone/>
            </a:pPr>
            <a:r>
              <a:rPr lang="en-US" sz="1350" b="1" dirty="0">
                <a:solidFill>
                  <a:schemeClr val="bg1"/>
                </a:solidFill>
              </a:rPr>
              <a:t>Composer</a:t>
            </a:r>
            <a:endParaRPr lang="en-US" sz="1350" dirty="0"/>
          </a:p>
        </p:txBody>
      </p:sp>
      <p:sp>
        <p:nvSpPr>
          <p:cNvPr id="34" name="glass-325"/>
          <p:cNvSpPr/>
          <p:nvPr/>
        </p:nvSpPr>
        <p:spPr>
          <a:xfrm>
            <a:off x="548640" y="3977640"/>
            <a:ext cx="1508760" cy="1234440"/>
          </a:xfrm>
          <a:prstGeom prst="roundRect">
            <a:avLst>
              <a:gd name="adj" fmla="val 10370"/>
            </a:avLst>
          </a:prstGeom>
          <a:solidFill>
            <a:schemeClr val="accent5">
              <a:alpha val="14000"/>
            </a:schemeClr>
          </a:solidFill>
          <a:ln w="12700">
            <a:solidFill>
              <a:schemeClr val="accent5">
                <a:alpha val="55000"/>
              </a:schemeClr>
            </a:solidFill>
            <a:prstDash val="solid"/>
          </a:ln>
        </p:spPr>
      </p:sp>
      <p:pic>
        <p:nvPicPr>
          <p:cNvPr id="35" name="icon3d-326" descr="C:\Users\himat\AppData\Local\Temp\claude\c--Ai-stuffs-MOSAIC\b3ecbbac-d885-4fec-a9f8-3496f8d06c96\scratchpad\build\assets\icon-guardian.png">    </p:cNvPr>
          <p:cNvPicPr>
            <a:picLocks noChangeAspect="1"/>
          </p:cNvPicPr>
          <p:nvPr/>
        </p:nvPicPr>
        <p:blipFill>
          <a:blip r:embed="rId5"/>
          <a:stretch>
            <a:fillRect/>
          </a:stretch>
        </p:blipFill>
        <p:spPr>
          <a:xfrm>
            <a:off x="960120" y="4032504"/>
            <a:ext cx="713232" cy="713232"/>
          </a:xfrm>
          <a:prstGeom prst="rect">
            <a:avLst/>
          </a:prstGeom>
        </p:spPr>
      </p:pic>
      <p:sp>
        <p:nvSpPr>
          <p:cNvPr id="36" name="num-bg-327"/>
          <p:cNvSpPr/>
          <p:nvPr/>
        </p:nvSpPr>
        <p:spPr>
          <a:xfrm>
            <a:off x="640080" y="4069080"/>
            <a:ext cx="292608" cy="292608"/>
          </a:xfrm>
          <a:prstGeom prst="ellipse">
            <a:avLst/>
          </a:prstGeom>
          <a:solidFill>
            <a:schemeClr val="accent5"/>
          </a:solidFill>
          <a:ln/>
        </p:spPr>
      </p:sp>
      <p:sp>
        <p:nvSpPr>
          <p:cNvPr id="37" name="text-328"/>
          <p:cNvSpPr txBox="1"/>
          <p:nvPr/>
        </p:nvSpPr>
        <p:spPr>
          <a:xfrm>
            <a:off x="640080" y="4069080"/>
            <a:ext cx="292608" cy="292608"/>
          </a:xfrm>
          <a:prstGeom prst="rect">
            <a:avLst/>
          </a:prstGeom>
          <a:noFill/>
          <a:ln/>
        </p:spPr>
        <p:txBody>
          <a:bodyPr wrap="square" lIns="0" tIns="0" rIns="0" bIns="0" rtlCol="0" anchor="ctr"/>
          <a:lstStyle/>
          <a:p>
            <a:pPr algn="ctr" indent="0" marL="0">
              <a:buNone/>
            </a:pPr>
            <a:r>
              <a:rPr lang="en-US" sz="1300" b="1" dirty="0">
                <a:solidFill>
                  <a:schemeClr val="tx1"/>
                </a:solidFill>
                <a:latin typeface="Century Gothic" pitchFamily="34" charset="0"/>
                <a:ea typeface="Century Gothic" pitchFamily="34" charset="-122"/>
                <a:cs typeface="Century Gothic" pitchFamily="34" charset="-120"/>
              </a:rPr>
              <a:t>4</a:t>
            </a:r>
            <a:endParaRPr lang="en-US" sz="1300" dirty="0"/>
          </a:p>
        </p:txBody>
      </p:sp>
      <p:sp>
        <p:nvSpPr>
          <p:cNvPr id="38" name="text-329"/>
          <p:cNvSpPr txBox="1"/>
          <p:nvPr/>
        </p:nvSpPr>
        <p:spPr>
          <a:xfrm>
            <a:off x="548640" y="4782312"/>
            <a:ext cx="1508760" cy="347472"/>
          </a:xfrm>
          <a:prstGeom prst="rect">
            <a:avLst/>
          </a:prstGeom>
          <a:noFill/>
          <a:ln/>
        </p:spPr>
        <p:txBody>
          <a:bodyPr wrap="square" lIns="0" tIns="0" rIns="0" bIns="0" rtlCol="0" anchor="t"/>
          <a:lstStyle/>
          <a:p>
            <a:pPr algn="ctr" indent="0" marL="0">
              <a:buNone/>
            </a:pPr>
            <a:r>
              <a:rPr lang="en-US" sz="1350" b="1" dirty="0">
                <a:solidFill>
                  <a:schemeClr val="bg1"/>
                </a:solidFill>
              </a:rPr>
              <a:t>Guardian</a:t>
            </a:r>
            <a:endParaRPr lang="en-US" sz="1350" dirty="0"/>
          </a:p>
        </p:txBody>
      </p:sp>
      <p:sp>
        <p:nvSpPr>
          <p:cNvPr id="39" name="connector-330"/>
          <p:cNvSpPr/>
          <p:nvPr/>
        </p:nvSpPr>
        <p:spPr>
          <a:xfrm>
            <a:off x="2075688" y="2880360"/>
            <a:ext cx="283464" cy="91"/>
          </a:xfrm>
          <a:prstGeom prst="line">
            <a:avLst/>
          </a:prstGeom>
          <a:noFill/>
          <a:ln w="22225">
            <a:solidFill>
              <a:schemeClr val="accent2"/>
            </a:solidFill>
            <a:prstDash val="solid"/>
            <a:headEnd type="triangle"/>
            <a:tailEnd type="triangle"/>
          </a:ln>
        </p:spPr>
      </p:sp>
      <p:sp>
        <p:nvSpPr>
          <p:cNvPr id="40" name="connector-331"/>
          <p:cNvSpPr/>
          <p:nvPr/>
        </p:nvSpPr>
        <p:spPr>
          <a:xfrm flipH="1">
            <a:off x="5641848" y="2880360"/>
            <a:ext cx="329184" cy="91"/>
          </a:xfrm>
          <a:prstGeom prst="line">
            <a:avLst/>
          </a:prstGeom>
          <a:noFill/>
          <a:ln w="22225">
            <a:solidFill>
              <a:schemeClr val="accent3"/>
            </a:solidFill>
            <a:prstDash val="solid"/>
            <a:headEnd type="triangle"/>
            <a:tailEnd type="triangle"/>
          </a:ln>
        </p:spPr>
      </p:sp>
      <p:sp>
        <p:nvSpPr>
          <p:cNvPr id="41" name="connector-332"/>
          <p:cNvSpPr/>
          <p:nvPr/>
        </p:nvSpPr>
        <p:spPr>
          <a:xfrm flipH="1">
            <a:off x="5641848" y="4572000"/>
            <a:ext cx="329184" cy="91"/>
          </a:xfrm>
          <a:prstGeom prst="line">
            <a:avLst/>
          </a:prstGeom>
          <a:noFill/>
          <a:ln w="22225">
            <a:solidFill>
              <a:schemeClr val="accent4"/>
            </a:solidFill>
            <a:prstDash val="solid"/>
            <a:headEnd type="triangle"/>
            <a:tailEnd type="triangle"/>
          </a:ln>
        </p:spPr>
      </p:sp>
      <p:sp>
        <p:nvSpPr>
          <p:cNvPr id="42" name="connector-333"/>
          <p:cNvSpPr/>
          <p:nvPr/>
        </p:nvSpPr>
        <p:spPr>
          <a:xfrm>
            <a:off x="2075688" y="4572000"/>
            <a:ext cx="283464" cy="91"/>
          </a:xfrm>
          <a:prstGeom prst="line">
            <a:avLst/>
          </a:prstGeom>
          <a:noFill/>
          <a:ln w="22225">
            <a:solidFill>
              <a:schemeClr val="accent5"/>
            </a:solidFill>
            <a:prstDash val="solid"/>
            <a:headEnd type="triangle"/>
            <a:tailEnd type="triangle"/>
          </a:ln>
        </p:spPr>
      </p:sp>
      <p:sp>
        <p:nvSpPr>
          <p:cNvPr id="43" name="connector-334"/>
          <p:cNvSpPr/>
          <p:nvPr/>
        </p:nvSpPr>
        <p:spPr>
          <a:xfrm>
            <a:off x="4005072" y="2304288"/>
            <a:ext cx="91" cy="374904"/>
          </a:xfrm>
          <a:prstGeom prst="line">
            <a:avLst/>
          </a:prstGeom>
          <a:noFill/>
          <a:ln w="22225">
            <a:solidFill>
              <a:schemeClr val="accent1"/>
            </a:solidFill>
            <a:prstDash val="solid"/>
            <a:tailEnd type="triangle"/>
          </a:ln>
        </p:spPr>
      </p:sp>
      <p:sp>
        <p:nvSpPr>
          <p:cNvPr id="44" name="connector-335"/>
          <p:cNvSpPr/>
          <p:nvPr/>
        </p:nvSpPr>
        <p:spPr>
          <a:xfrm>
            <a:off x="4005072" y="4910328"/>
            <a:ext cx="91" cy="466344"/>
          </a:xfrm>
          <a:prstGeom prst="line">
            <a:avLst/>
          </a:prstGeom>
          <a:noFill/>
          <a:ln w="22225">
            <a:solidFill>
              <a:schemeClr val="accent1"/>
            </a:solidFill>
            <a:prstDash val="solid"/>
            <a:tailEnd type="triangle"/>
          </a:ln>
        </p:spPr>
      </p:sp>
      <p:sp>
        <p:nvSpPr>
          <p:cNvPr id="45" name="glass-336"/>
          <p:cNvSpPr/>
          <p:nvPr/>
        </p:nvSpPr>
        <p:spPr>
          <a:xfrm>
            <a:off x="2377440" y="5394960"/>
            <a:ext cx="3246120" cy="777240"/>
          </a:xfrm>
          <a:prstGeom prst="roundRect">
            <a:avLst>
              <a:gd name="adj" fmla="val 16471"/>
            </a:avLst>
          </a:prstGeom>
          <a:solidFill>
            <a:schemeClr val="accent1">
              <a:alpha val="18000"/>
            </a:schemeClr>
          </a:solidFill>
          <a:ln w="12700">
            <a:solidFill>
              <a:schemeClr val="accent1">
                <a:alpha val="60000"/>
              </a:schemeClr>
            </a:solidFill>
            <a:prstDash val="solid"/>
          </a:ln>
        </p:spPr>
      </p:sp>
      <p:sp>
        <p:nvSpPr>
          <p:cNvPr id="46" name="text-337"/>
          <p:cNvSpPr txBox="1"/>
          <p:nvPr/>
        </p:nvSpPr>
        <p:spPr>
          <a:xfrm>
            <a:off x="2377440" y="5394960"/>
            <a:ext cx="3246120" cy="777240"/>
          </a:xfrm>
          <a:prstGeom prst="rect">
            <a:avLst/>
          </a:prstGeom>
          <a:noFill/>
          <a:ln/>
        </p:spPr>
        <p:txBody>
          <a:bodyPr wrap="square" lIns="0" tIns="0" rIns="0" bIns="0" rtlCol="0" anchor="ctr"/>
          <a:lstStyle/>
          <a:p>
            <a:pPr algn="ctr" indent="0" marL="0">
              <a:buNone/>
            </a:pPr>
            <a:r>
              <a:rPr lang="en-US" sz="1450" b="1" dirty="0">
                <a:solidFill>
                  <a:schemeClr val="bg1"/>
                </a:solidFill>
              </a:rPr>
              <a:t>Decision Ledger</a:t>
            </a:r>
            <a:endParaRPr lang="en-US" sz="1450" dirty="0"/>
          </a:p>
          <a:p>
            <a:pPr algn="ctr" indent="0" marL="0">
              <a:buNone/>
            </a:pPr>
            <a:r>
              <a:rPr lang="en-US" sz="1150" dirty="0">
                <a:solidFill>
                  <a:schemeClr val="bg2"/>
                </a:solidFill>
              </a:rPr>
              <a:t>prompt + model version · lineage</a:t>
            </a:r>
            <a:endParaRPr lang="en-US" sz="1450" dirty="0"/>
          </a:p>
        </p:txBody>
      </p:sp>
      <p:sp>
        <p:nvSpPr>
          <p:cNvPr id="47" name="glass-338"/>
          <p:cNvSpPr/>
          <p:nvPr/>
        </p:nvSpPr>
        <p:spPr>
          <a:xfrm>
            <a:off x="7909560" y="1572768"/>
            <a:ext cx="3730752" cy="4599432"/>
          </a:xfrm>
          <a:prstGeom prst="roundRect">
            <a:avLst>
              <a:gd name="adj" fmla="val 3431"/>
            </a:avLst>
          </a:prstGeom>
          <a:solidFill>
            <a:schemeClr val="tx2">
              <a:alpha val="78000"/>
            </a:schemeClr>
          </a:solidFill>
          <a:ln w="9525">
            <a:solidFill>
              <a:schemeClr val="bg2">
                <a:alpha val="22000"/>
              </a:schemeClr>
            </a:solidFill>
            <a:prstDash val="solid"/>
          </a:ln>
        </p:spPr>
      </p:sp>
      <p:sp>
        <p:nvSpPr>
          <p:cNvPr id="48" name="text-339"/>
          <p:cNvSpPr txBox="1"/>
          <p:nvPr/>
        </p:nvSpPr>
        <p:spPr>
          <a:xfrm>
            <a:off x="8138160" y="1737360"/>
            <a:ext cx="3383280" cy="365760"/>
          </a:xfrm>
          <a:prstGeom prst="rect">
            <a:avLst/>
          </a:prstGeom>
          <a:noFill/>
          <a:ln/>
        </p:spPr>
        <p:txBody>
          <a:bodyPr wrap="square" lIns="0" tIns="0" rIns="0" bIns="0" rtlCol="0" anchor="t"/>
          <a:lstStyle/>
          <a:p>
            <a:pPr indent="0" marL="0">
              <a:buNone/>
            </a:pPr>
            <a:r>
              <a:rPr lang="en-US" sz="1700" b="1" dirty="0">
                <a:solidFill>
                  <a:schemeClr val="bg1"/>
                </a:solidFill>
                <a:latin typeface="Century Gothic" pitchFamily="34" charset="0"/>
                <a:ea typeface="Century Gothic" pitchFamily="34" charset="-122"/>
                <a:cs typeface="Century Gothic" pitchFamily="34" charset="-120"/>
              </a:rPr>
              <a:t>One stage, end to end</a:t>
            </a:r>
            <a:endParaRPr lang="en-US" sz="1700" dirty="0"/>
          </a:p>
        </p:txBody>
      </p:sp>
      <p:sp>
        <p:nvSpPr>
          <p:cNvPr id="49" name="num-bg-340"/>
          <p:cNvSpPr/>
          <p:nvPr/>
        </p:nvSpPr>
        <p:spPr>
          <a:xfrm>
            <a:off x="8138160" y="2286000"/>
            <a:ext cx="365760" cy="365760"/>
          </a:xfrm>
          <a:prstGeom prst="ellipse">
            <a:avLst/>
          </a:prstGeom>
          <a:solidFill>
            <a:schemeClr val="accent1"/>
          </a:solidFill>
          <a:ln/>
        </p:spPr>
      </p:sp>
      <p:sp>
        <p:nvSpPr>
          <p:cNvPr id="50" name="text-341"/>
          <p:cNvSpPr txBox="1"/>
          <p:nvPr/>
        </p:nvSpPr>
        <p:spPr>
          <a:xfrm>
            <a:off x="8138160" y="2286000"/>
            <a:ext cx="365760" cy="365760"/>
          </a:xfrm>
          <a:prstGeom prst="rect">
            <a:avLst/>
          </a:prstGeom>
          <a:noFill/>
          <a:ln/>
        </p:spPr>
        <p:txBody>
          <a:bodyPr wrap="square" lIns="0" tIns="0" rIns="0" bIns="0" rtlCol="0" anchor="ctr"/>
          <a:lstStyle/>
          <a:p>
            <a:pPr algn="ctr" indent="0" marL="0">
              <a:buNone/>
            </a:pPr>
            <a:r>
              <a:rPr lang="en-US" sz="1300" b="1" dirty="0">
                <a:solidFill>
                  <a:schemeClr val="tx1"/>
                </a:solidFill>
                <a:latin typeface="Century Gothic" pitchFamily="34" charset="0"/>
                <a:ea typeface="Century Gothic" pitchFamily="34" charset="-122"/>
                <a:cs typeface="Century Gothic" pitchFamily="34" charset="-120"/>
              </a:rPr>
              <a:t>1</a:t>
            </a:r>
            <a:endParaRPr lang="en-US" sz="1300" dirty="0"/>
          </a:p>
        </p:txBody>
      </p:sp>
      <p:sp>
        <p:nvSpPr>
          <p:cNvPr id="51" name="text-342"/>
          <p:cNvSpPr txBox="1"/>
          <p:nvPr/>
        </p:nvSpPr>
        <p:spPr>
          <a:xfrm>
            <a:off x="8641080" y="2267712"/>
            <a:ext cx="2834640" cy="868680"/>
          </a:xfrm>
          <a:prstGeom prst="rect">
            <a:avLst/>
          </a:prstGeom>
          <a:noFill/>
          <a:ln/>
        </p:spPr>
        <p:txBody>
          <a:bodyPr wrap="square" lIns="0" tIns="0" rIns="0" bIns="0" rtlCol="0" anchor="t"/>
          <a:lstStyle/>
          <a:p>
            <a:pPr indent="0" marL="0">
              <a:buNone/>
            </a:pPr>
            <a:r>
              <a:rPr lang="en-US" sz="1350" dirty="0">
                <a:solidFill>
                  <a:schemeClr val="bg1"/>
                </a:solidFill>
              </a:rPr>
              <a:t>Console POSTs a stage. The API checks its guards and returns a job id at once.</a:t>
            </a:r>
            <a:endParaRPr lang="en-US" sz="1350" dirty="0"/>
          </a:p>
        </p:txBody>
      </p:sp>
      <p:sp>
        <p:nvSpPr>
          <p:cNvPr id="52" name="num-bg-343"/>
          <p:cNvSpPr/>
          <p:nvPr/>
        </p:nvSpPr>
        <p:spPr>
          <a:xfrm>
            <a:off x="8138160" y="3236976"/>
            <a:ext cx="365760" cy="365760"/>
          </a:xfrm>
          <a:prstGeom prst="ellipse">
            <a:avLst/>
          </a:prstGeom>
          <a:solidFill>
            <a:schemeClr val="accent1"/>
          </a:solidFill>
          <a:ln/>
        </p:spPr>
      </p:sp>
      <p:sp>
        <p:nvSpPr>
          <p:cNvPr id="53" name="text-344"/>
          <p:cNvSpPr txBox="1"/>
          <p:nvPr/>
        </p:nvSpPr>
        <p:spPr>
          <a:xfrm>
            <a:off x="8138160" y="3236976"/>
            <a:ext cx="365760" cy="365760"/>
          </a:xfrm>
          <a:prstGeom prst="rect">
            <a:avLst/>
          </a:prstGeom>
          <a:noFill/>
          <a:ln/>
        </p:spPr>
        <p:txBody>
          <a:bodyPr wrap="square" lIns="0" tIns="0" rIns="0" bIns="0" rtlCol="0" anchor="ctr"/>
          <a:lstStyle/>
          <a:p>
            <a:pPr algn="ctr" indent="0" marL="0">
              <a:buNone/>
            </a:pPr>
            <a:r>
              <a:rPr lang="en-US" sz="1300" b="1" dirty="0">
                <a:solidFill>
                  <a:schemeClr val="tx1"/>
                </a:solidFill>
                <a:latin typeface="Century Gothic" pitchFamily="34" charset="0"/>
                <a:ea typeface="Century Gothic" pitchFamily="34" charset="-122"/>
                <a:cs typeface="Century Gothic" pitchFamily="34" charset="-120"/>
              </a:rPr>
              <a:t>2</a:t>
            </a:r>
            <a:endParaRPr lang="en-US" sz="1300" dirty="0"/>
          </a:p>
        </p:txBody>
      </p:sp>
      <p:sp>
        <p:nvSpPr>
          <p:cNvPr id="54" name="text-345"/>
          <p:cNvSpPr txBox="1"/>
          <p:nvPr/>
        </p:nvSpPr>
        <p:spPr>
          <a:xfrm>
            <a:off x="8641080" y="3218688"/>
            <a:ext cx="2834640" cy="868680"/>
          </a:xfrm>
          <a:prstGeom prst="rect">
            <a:avLst/>
          </a:prstGeom>
          <a:noFill/>
          <a:ln/>
        </p:spPr>
        <p:txBody>
          <a:bodyPr wrap="square" lIns="0" tIns="0" rIns="0" bIns="0" rtlCol="0" anchor="t"/>
          <a:lstStyle/>
          <a:p>
            <a:pPr indent="0" marL="0">
              <a:buNone/>
            </a:pPr>
            <a:r>
              <a:rPr lang="en-US" sz="1350" dirty="0">
                <a:solidFill>
                  <a:schemeClr val="bg1"/>
                </a:solidFill>
              </a:rPr>
              <a:t>A worker thread runs the agent; it reads upstream artifacts from the blackboard.</a:t>
            </a:r>
            <a:endParaRPr lang="en-US" sz="1350" dirty="0"/>
          </a:p>
        </p:txBody>
      </p:sp>
      <p:sp>
        <p:nvSpPr>
          <p:cNvPr id="55" name="num-bg-346"/>
          <p:cNvSpPr/>
          <p:nvPr/>
        </p:nvSpPr>
        <p:spPr>
          <a:xfrm>
            <a:off x="8138160" y="4187952"/>
            <a:ext cx="365760" cy="365760"/>
          </a:xfrm>
          <a:prstGeom prst="ellipse">
            <a:avLst/>
          </a:prstGeom>
          <a:solidFill>
            <a:schemeClr val="accent1"/>
          </a:solidFill>
          <a:ln/>
        </p:spPr>
      </p:sp>
      <p:sp>
        <p:nvSpPr>
          <p:cNvPr id="56" name="text-347"/>
          <p:cNvSpPr txBox="1"/>
          <p:nvPr/>
        </p:nvSpPr>
        <p:spPr>
          <a:xfrm>
            <a:off x="8138160" y="4187952"/>
            <a:ext cx="365760" cy="365760"/>
          </a:xfrm>
          <a:prstGeom prst="rect">
            <a:avLst/>
          </a:prstGeom>
          <a:noFill/>
          <a:ln/>
        </p:spPr>
        <p:txBody>
          <a:bodyPr wrap="square" lIns="0" tIns="0" rIns="0" bIns="0" rtlCol="0" anchor="ctr"/>
          <a:lstStyle/>
          <a:p>
            <a:pPr algn="ctr" indent="0" marL="0">
              <a:buNone/>
            </a:pPr>
            <a:r>
              <a:rPr lang="en-US" sz="1300" b="1" dirty="0">
                <a:solidFill>
                  <a:schemeClr val="tx1"/>
                </a:solidFill>
                <a:latin typeface="Century Gothic" pitchFamily="34" charset="0"/>
                <a:ea typeface="Century Gothic" pitchFamily="34" charset="-122"/>
                <a:cs typeface="Century Gothic" pitchFamily="34" charset="-120"/>
              </a:rPr>
              <a:t>3</a:t>
            </a:r>
            <a:endParaRPr lang="en-US" sz="1300" dirty="0"/>
          </a:p>
        </p:txBody>
      </p:sp>
      <p:sp>
        <p:nvSpPr>
          <p:cNvPr id="57" name="text-348"/>
          <p:cNvSpPr txBox="1"/>
          <p:nvPr/>
        </p:nvSpPr>
        <p:spPr>
          <a:xfrm>
            <a:off x="8641080" y="4169664"/>
            <a:ext cx="2834640" cy="868680"/>
          </a:xfrm>
          <a:prstGeom prst="rect">
            <a:avLst/>
          </a:prstGeom>
          <a:noFill/>
          <a:ln/>
        </p:spPr>
        <p:txBody>
          <a:bodyPr wrap="square" lIns="0" tIns="0" rIns="0" bIns="0" rtlCol="0" anchor="t"/>
          <a:lstStyle/>
          <a:p>
            <a:pPr indent="0" marL="0">
              <a:buNone/>
            </a:pPr>
            <a:r>
              <a:rPr lang="en-US" sz="1350" dirty="0">
                <a:solidFill>
                  <a:schemeClr val="bg1"/>
                </a:solidFill>
              </a:rPr>
              <a:t>Model calls return schema-typed JSON; outputs are written back and the ledger appended.</a:t>
            </a:r>
            <a:endParaRPr lang="en-US" sz="1350" dirty="0"/>
          </a:p>
        </p:txBody>
      </p:sp>
      <p:sp>
        <p:nvSpPr>
          <p:cNvPr id="58" name="num-bg-349"/>
          <p:cNvSpPr/>
          <p:nvPr/>
        </p:nvSpPr>
        <p:spPr>
          <a:xfrm>
            <a:off x="8138160" y="5138928"/>
            <a:ext cx="365760" cy="365760"/>
          </a:xfrm>
          <a:prstGeom prst="ellipse">
            <a:avLst/>
          </a:prstGeom>
          <a:solidFill>
            <a:schemeClr val="accent1"/>
          </a:solidFill>
          <a:ln/>
        </p:spPr>
      </p:sp>
      <p:sp>
        <p:nvSpPr>
          <p:cNvPr id="59" name="text-350"/>
          <p:cNvSpPr txBox="1"/>
          <p:nvPr/>
        </p:nvSpPr>
        <p:spPr>
          <a:xfrm>
            <a:off x="8138160" y="5138928"/>
            <a:ext cx="365760" cy="365760"/>
          </a:xfrm>
          <a:prstGeom prst="rect">
            <a:avLst/>
          </a:prstGeom>
          <a:noFill/>
          <a:ln/>
        </p:spPr>
        <p:txBody>
          <a:bodyPr wrap="square" lIns="0" tIns="0" rIns="0" bIns="0" rtlCol="0" anchor="ctr"/>
          <a:lstStyle/>
          <a:p>
            <a:pPr algn="ctr" indent="0" marL="0">
              <a:buNone/>
            </a:pPr>
            <a:r>
              <a:rPr lang="en-US" sz="1300" b="1" dirty="0">
                <a:solidFill>
                  <a:schemeClr val="tx1"/>
                </a:solidFill>
                <a:latin typeface="Century Gothic" pitchFamily="34" charset="0"/>
                <a:ea typeface="Century Gothic" pitchFamily="34" charset="-122"/>
                <a:cs typeface="Century Gothic" pitchFamily="34" charset="-120"/>
              </a:rPr>
              <a:t>4</a:t>
            </a:r>
            <a:endParaRPr lang="en-US" sz="1300" dirty="0"/>
          </a:p>
        </p:txBody>
      </p:sp>
      <p:sp>
        <p:nvSpPr>
          <p:cNvPr id="60" name="text-351"/>
          <p:cNvSpPr txBox="1"/>
          <p:nvPr/>
        </p:nvSpPr>
        <p:spPr>
          <a:xfrm>
            <a:off x="8641080" y="5120640"/>
            <a:ext cx="2834640" cy="868680"/>
          </a:xfrm>
          <a:prstGeom prst="rect">
            <a:avLst/>
          </a:prstGeom>
          <a:noFill/>
          <a:ln/>
        </p:spPr>
        <p:txBody>
          <a:bodyPr wrap="square" lIns="0" tIns="0" rIns="0" bIns="0" rtlCol="0" anchor="t"/>
          <a:lstStyle/>
          <a:p>
            <a:pPr indent="0" marL="0">
              <a:buNone/>
            </a:pPr>
            <a:r>
              <a:rPr lang="en-US" sz="1350" dirty="0">
                <a:solidFill>
                  <a:schemeClr val="bg1"/>
                </a:solidFill>
              </a:rPr>
              <a:t>Console polls /api/jobs/{id} for named steps, then refreshes; the next tab unlocks.</a:t>
            </a:r>
            <a:endParaRPr lang="en-US" sz="1350" dirty="0"/>
          </a:p>
        </p:txBody>
      </p:sp>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352"/>
          <p:cNvSpPr txBox="1"/>
          <p:nvPr/>
        </p:nvSpPr>
        <p:spPr>
          <a:xfrm>
            <a:off x="685800" y="1600200"/>
            <a:ext cx="2743200" cy="1005840"/>
          </a:xfrm>
          <a:prstGeom prst="rect">
            <a:avLst/>
          </a:prstGeom>
          <a:noFill/>
          <a:ln/>
        </p:spPr>
        <p:txBody>
          <a:bodyPr wrap="square" lIns="0" tIns="0" rIns="0" bIns="0" rtlCol="0" anchor="t"/>
          <a:lstStyle/>
          <a:p>
            <a:pPr indent="0" marL="0">
              <a:buNone/>
            </a:pPr>
            <a:r>
              <a:rPr lang="en-US" sz="6400" b="1" dirty="0">
                <a:solidFill>
                  <a:schemeClr val="accent1"/>
                </a:solidFill>
                <a:latin typeface="Century Gothic" pitchFamily="34" charset="0"/>
                <a:ea typeface="Century Gothic" pitchFamily="34" charset="-122"/>
                <a:cs typeface="Century Gothic" pitchFamily="34" charset="-120"/>
              </a:rPr>
              <a:t>03</a:t>
            </a:r>
            <a:endParaRPr lang="en-US" sz="6400" dirty="0"/>
          </a:p>
        </p:txBody>
      </p:sp>
      <p:sp>
        <p:nvSpPr>
          <p:cNvPr id="3" name="Text 0"/>
          <p:cNvSpPr/>
          <p:nvPr>
            <p:ph idx="100" type="title" hasCustomPrompt="1"/>
          </p:nvPr>
        </p:nvSpPr>
        <p:spPr>
          <a:xfrm>
            <a:off x="685800" y="2788920"/>
            <a:ext cx="6217920" cy="868680"/>
          </a:xfrm>
          <a:prstGeom prst="rect">
            <a:avLst/>
          </a:prstGeom>
          <a:noFill/>
          <a:ln/>
        </p:spPr>
        <p:txBody>
          <a:bodyPr wrap="square" lIns="0" tIns="0" rIns="0" bIns="0" rtlCol="0" anchor="t"/>
          <a:lstStyle/>
          <a:p>
            <a:pPr algn="l" indent="0" marL="0">
              <a:buNone/>
            </a:pPr>
            <a:r>
              <a:rPr lang="en-US" sz="4400" b="1" dirty="0">
                <a:solidFill>
                  <a:schemeClr val="bg1"/>
                </a:solidFill>
                <a:latin typeface="Century Gothic" pitchFamily="34" charset="0"/>
                <a:ea typeface="Century Gothic" pitchFamily="34" charset="-122"/>
                <a:cs typeface="Century Gothic" pitchFamily="34" charset="-120"/>
              </a:rPr>
              <a:t>Agent design</a:t>
            </a:r>
            <a:endParaRPr lang="en-US" sz="4400" dirty="0"/>
          </a:p>
        </p:txBody>
      </p:sp>
      <p:sp>
        <p:nvSpPr>
          <p:cNvPr id="4" name="Text 0"/>
          <p:cNvSpPr/>
          <p:nvPr>
            <p:ph idx="101" type="body" hasCustomPrompt="1"/>
          </p:nvPr>
        </p:nvSpPr>
        <p:spPr>
          <a:xfrm>
            <a:off x="685800" y="3794760"/>
            <a:ext cx="4572000" cy="1097280"/>
          </a:xfrm>
          <a:prstGeom prst="rect">
            <a:avLst/>
          </a:prstGeom>
          <a:noFill/>
          <a:ln/>
        </p:spPr>
        <p:txBody>
          <a:bodyPr wrap="square" lIns="0" tIns="0" rIns="0" bIns="0" rtlCol="0" anchor="t"/>
          <a:lstStyle/>
          <a:p>
            <a:pPr algn="l" indent="0" marL="0">
              <a:buNone/>
            </a:pPr>
            <a:r>
              <a:rPr lang="en-US" sz="1800" dirty="0">
                <a:solidFill>
                  <a:schemeClr val="bg2"/>
                </a:solidFill>
              </a:rPr>
              <a:t>How each agent reasons, what it is allowed to decide, and what code decides instead.</a:t>
            </a:r>
            <a:endParaRPr lang="en-US" sz="1800" dirty="0"/>
          </a:p>
        </p:txBody>
      </p:sp>
      <p:sp>
        <p:nvSpPr>
          <p:cNvPr id="5" name="tile-353"/>
          <p:cNvSpPr/>
          <p:nvPr/>
        </p:nvSpPr>
        <p:spPr>
          <a:xfrm>
            <a:off x="685800" y="5257800"/>
            <a:ext cx="182880" cy="182880"/>
          </a:xfrm>
          <a:prstGeom prst="roundRect">
            <a:avLst>
              <a:gd name="adj" fmla="val 20000"/>
            </a:avLst>
          </a:prstGeom>
          <a:solidFill>
            <a:schemeClr val="accent6"/>
          </a:solidFill>
          <a:ln/>
        </p:spPr>
      </p:sp>
      <p:sp>
        <p:nvSpPr>
          <p:cNvPr id="6" name="tile-354"/>
          <p:cNvSpPr/>
          <p:nvPr/>
        </p:nvSpPr>
        <p:spPr>
          <a:xfrm>
            <a:off x="941832" y="5257800"/>
            <a:ext cx="182880" cy="182880"/>
          </a:xfrm>
          <a:prstGeom prst="roundRect">
            <a:avLst>
              <a:gd name="adj" fmla="val 20000"/>
            </a:avLst>
          </a:prstGeom>
          <a:solidFill>
            <a:schemeClr val="accent3"/>
          </a:solidFill>
          <a:ln/>
        </p:spPr>
      </p:sp>
      <p:sp>
        <p:nvSpPr>
          <p:cNvPr id="7" name="tile-355"/>
          <p:cNvSpPr/>
          <p:nvPr/>
        </p:nvSpPr>
        <p:spPr>
          <a:xfrm>
            <a:off x="1197864" y="5257800"/>
            <a:ext cx="182880" cy="182880"/>
          </a:xfrm>
          <a:prstGeom prst="roundRect">
            <a:avLst>
              <a:gd name="adj" fmla="val 20000"/>
            </a:avLst>
          </a:prstGeom>
          <a:solidFill>
            <a:schemeClr val="accent2"/>
          </a:solidFill>
          <a:ln/>
        </p:spPr>
      </p:sp>
      <p:sp>
        <p:nvSpPr>
          <p:cNvPr id="8" name="tile-356"/>
          <p:cNvSpPr/>
          <p:nvPr/>
        </p:nvSpPr>
        <p:spPr>
          <a:xfrm>
            <a:off x="1453896" y="5257800"/>
            <a:ext cx="182880" cy="182880"/>
          </a:xfrm>
          <a:prstGeom prst="roundRect">
            <a:avLst>
              <a:gd name="adj" fmla="val 20000"/>
            </a:avLst>
          </a:prstGeom>
          <a:solidFill>
            <a:schemeClr val="accent5"/>
          </a:solidFill>
          <a:ln/>
        </p:spPr>
      </p:sp>
      <p:sp>
        <p:nvSpPr>
          <p:cNvPr id="9" name="tile-357"/>
          <p:cNvSpPr/>
          <p:nvPr/>
        </p:nvSpPr>
        <p:spPr>
          <a:xfrm>
            <a:off x="1709928" y="5257800"/>
            <a:ext cx="182880" cy="182880"/>
          </a:xfrm>
          <a:prstGeom prst="roundRect">
            <a:avLst>
              <a:gd name="adj" fmla="val 20000"/>
            </a:avLst>
          </a:prstGeom>
          <a:solidFill>
            <a:schemeClr val="accent4"/>
          </a:solidFill>
          <a:ln/>
        </p:spPr>
      </p:sp>
      <p:sp>
        <p:nvSpPr>
          <p:cNvPr id="10" name="tile-358"/>
          <p:cNvSpPr/>
          <p:nvPr/>
        </p:nvSpPr>
        <p:spPr>
          <a:xfrm>
            <a:off x="1965960" y="5257800"/>
            <a:ext cx="182880" cy="182880"/>
          </a:xfrm>
          <a:prstGeom prst="roundRect">
            <a:avLst>
              <a:gd name="adj" fmla="val 20000"/>
            </a:avLst>
          </a:prstGeom>
          <a:solidFill>
            <a:schemeClr val="accent1"/>
          </a:solidFill>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241280" cy="640080"/>
          </a:xfrm>
          <a:prstGeom prst="rect">
            <a:avLst/>
          </a:prstGeom>
          <a:noFill/>
          <a:ln/>
        </p:spPr>
        <p:txBody>
          <a:bodyPr wrap="square" lIns="0" tIns="0" rIns="0" bIns="0" rtlCol="0" anchor="ctr"/>
          <a:lstStyle/>
          <a:p>
            <a:pPr algn="l" indent="0" marL="0">
              <a:buNone/>
            </a:pPr>
            <a:r>
              <a:rPr lang="en-US" sz="2800" b="1" dirty="0">
                <a:solidFill>
                  <a:schemeClr val="bg1"/>
                </a:solidFill>
                <a:latin typeface="Century Gothic" pitchFamily="34" charset="0"/>
                <a:ea typeface="Century Gothic" pitchFamily="34" charset="-122"/>
                <a:cs typeface="Century Gothic" pitchFamily="34" charset="-120"/>
              </a:rPr>
              <a:t>Segments that explain themselves</a:t>
            </a:r>
            <a:endParaRPr lang="en-US" sz="2800" dirty="0"/>
          </a:p>
        </p:txBody>
      </p:sp>
      <p:sp>
        <p:nvSpPr>
          <p:cNvPr id="3" name="text-359"/>
          <p:cNvSpPr txBox="1"/>
          <p:nvPr/>
        </p:nvSpPr>
        <p:spPr>
          <a:xfrm>
            <a:off x="548640" y="1005840"/>
            <a:ext cx="10424160" cy="384048"/>
          </a:xfrm>
          <a:prstGeom prst="rect">
            <a:avLst/>
          </a:prstGeom>
          <a:noFill/>
          <a:ln/>
        </p:spPr>
        <p:txBody>
          <a:bodyPr wrap="square" lIns="0" tIns="0" rIns="0" bIns="0" rtlCol="0" anchor="t"/>
          <a:lstStyle/>
          <a:p>
            <a:pPr indent="0" marL="0">
              <a:buNone/>
            </a:pPr>
            <a:r>
              <a:rPr lang="en-US" sz="1600" dirty="0">
                <a:solidFill>
                  <a:schemeClr val="bg2"/>
                </a:solidFill>
              </a:rPr>
              <a:t>The model only names what the numbers already found — and every segment is tested for hidden bias.</a:t>
            </a:r>
            <a:endParaRPr lang="en-US" sz="1600" dirty="0"/>
          </a:p>
        </p:txBody>
      </p:sp>
      <p:pic>
        <p:nvPicPr>
          <p:cNvPr id="5" name="icon3d-360" descr="C:\Users\himat\AppData\Local\Temp\claude\c--Ai-stuffs-MOSAIC\b3ecbbac-d885-4fec-a9f8-3496f8d06c96\scratchpad\build\assets\icon-segmentation.png">    </p:cNvPr>
          <p:cNvPicPr>
            <a:picLocks noChangeAspect="1"/>
          </p:cNvPicPr>
          <p:nvPr/>
        </p:nvPicPr>
        <p:blipFill>
          <a:blip r:embed="rId1"/>
          <a:stretch>
            <a:fillRect/>
          </a:stretch>
        </p:blipFill>
        <p:spPr>
          <a:xfrm>
            <a:off x="457200" y="1463040"/>
            <a:ext cx="868680" cy="868680"/>
          </a:xfrm>
          <a:prstGeom prst="rect">
            <a:avLst/>
          </a:prstGeom>
        </p:spPr>
      </p:pic>
      <p:sp>
        <p:nvSpPr>
          <p:cNvPr id="6" name="text-361"/>
          <p:cNvSpPr txBox="1"/>
          <p:nvPr/>
        </p:nvSpPr>
        <p:spPr>
          <a:xfrm>
            <a:off x="1371600" y="1691640"/>
            <a:ext cx="4206240" cy="411480"/>
          </a:xfrm>
          <a:prstGeom prst="rect">
            <a:avLst/>
          </a:prstGeom>
          <a:noFill/>
          <a:ln/>
        </p:spPr>
        <p:txBody>
          <a:bodyPr wrap="square" lIns="0" tIns="0" rIns="0" bIns="0" rtlCol="0" anchor="t"/>
          <a:lstStyle/>
          <a:p>
            <a:pPr indent="0" marL="0">
              <a:buNone/>
            </a:pPr>
            <a:r>
              <a:rPr lang="en-US" sz="1500" b="1" dirty="0">
                <a:solidFill>
                  <a:schemeClr val="accent2"/>
                </a:solidFill>
                <a:latin typeface="Century Gothic" pitchFamily="34" charset="0"/>
                <a:ea typeface="Century Gothic" pitchFamily="34" charset="-122"/>
                <a:cs typeface="Century Gothic" pitchFamily="34" charset="-120"/>
              </a:rPr>
              <a:t>Segmentation &amp; Insight · seg-v3</a:t>
            </a:r>
            <a:endParaRPr lang="en-US" sz="1500" dirty="0"/>
          </a:p>
        </p:txBody>
      </p:sp>
      <p:sp>
        <p:nvSpPr>
          <p:cNvPr id="7" name="num-bg-362"/>
          <p:cNvSpPr/>
          <p:nvPr/>
        </p:nvSpPr>
        <p:spPr>
          <a:xfrm>
            <a:off x="548640" y="2432304"/>
            <a:ext cx="365760" cy="365760"/>
          </a:xfrm>
          <a:prstGeom prst="ellipse">
            <a:avLst/>
          </a:prstGeom>
          <a:solidFill>
            <a:schemeClr val="accent2"/>
          </a:solidFill>
          <a:ln/>
        </p:spPr>
      </p:sp>
      <p:sp>
        <p:nvSpPr>
          <p:cNvPr id="8" name="text-363"/>
          <p:cNvSpPr txBox="1"/>
          <p:nvPr/>
        </p:nvSpPr>
        <p:spPr>
          <a:xfrm>
            <a:off x="548640" y="2432304"/>
            <a:ext cx="365760" cy="365760"/>
          </a:xfrm>
          <a:prstGeom prst="rect">
            <a:avLst/>
          </a:prstGeom>
          <a:noFill/>
          <a:ln/>
        </p:spPr>
        <p:txBody>
          <a:bodyPr wrap="square" lIns="0" tIns="0" rIns="0" bIns="0" rtlCol="0" anchor="ctr"/>
          <a:lstStyle/>
          <a:p>
            <a:pPr algn="ctr" indent="0" marL="0">
              <a:buNone/>
            </a:pPr>
            <a:r>
              <a:rPr lang="en-US" sz="1300" b="1" dirty="0">
                <a:solidFill>
                  <a:schemeClr val="tx1"/>
                </a:solidFill>
                <a:latin typeface="Century Gothic" pitchFamily="34" charset="0"/>
                <a:ea typeface="Century Gothic" pitchFamily="34" charset="-122"/>
                <a:cs typeface="Century Gothic" pitchFamily="34" charset="-120"/>
              </a:rPr>
              <a:t>1</a:t>
            </a:r>
            <a:endParaRPr lang="en-US" sz="1300" dirty="0"/>
          </a:p>
        </p:txBody>
      </p:sp>
      <p:sp>
        <p:nvSpPr>
          <p:cNvPr id="9" name="text-364"/>
          <p:cNvSpPr txBox="1"/>
          <p:nvPr/>
        </p:nvSpPr>
        <p:spPr>
          <a:xfrm>
            <a:off x="1078992" y="2377440"/>
            <a:ext cx="4480560" cy="292608"/>
          </a:xfrm>
          <a:prstGeom prst="rect">
            <a:avLst/>
          </a:prstGeom>
          <a:noFill/>
          <a:ln/>
        </p:spPr>
        <p:txBody>
          <a:bodyPr wrap="square" lIns="0" tIns="0" rIns="0" bIns="0" rtlCol="0" anchor="t"/>
          <a:lstStyle/>
          <a:p>
            <a:pPr indent="0" marL="0">
              <a:buNone/>
            </a:pPr>
            <a:r>
              <a:rPr lang="en-US" sz="1500" b="1" dirty="0">
                <a:solidFill>
                  <a:schemeClr val="bg1"/>
                </a:solidFill>
              </a:rPr>
              <a:t>Profile any CSV</a:t>
            </a:r>
            <a:endParaRPr lang="en-US" sz="1500" dirty="0"/>
          </a:p>
        </p:txBody>
      </p:sp>
      <p:sp>
        <p:nvSpPr>
          <p:cNvPr id="10" name="text-365"/>
          <p:cNvSpPr txBox="1"/>
          <p:nvPr/>
        </p:nvSpPr>
        <p:spPr>
          <a:xfrm>
            <a:off x="1078992" y="2670048"/>
            <a:ext cx="4480560" cy="274320"/>
          </a:xfrm>
          <a:prstGeom prst="rect">
            <a:avLst/>
          </a:prstGeom>
          <a:noFill/>
          <a:ln/>
        </p:spPr>
        <p:txBody>
          <a:bodyPr wrap="square" lIns="0" tIns="0" rIns="0" bIns="0" rtlCol="0" anchor="t"/>
          <a:lstStyle/>
          <a:p>
            <a:pPr indent="0" marL="0">
              <a:buNone/>
            </a:pPr>
            <a:r>
              <a:rPr lang="en-US" sz="1250" dirty="0">
                <a:solidFill>
                  <a:schemeClr val="bg2"/>
                </a:solidFill>
              </a:rPr>
              <a:t>numeric · categorical · text · identifier · constant</a:t>
            </a:r>
            <a:endParaRPr lang="en-US" sz="1250" dirty="0"/>
          </a:p>
        </p:txBody>
      </p:sp>
      <p:sp>
        <p:nvSpPr>
          <p:cNvPr id="11" name="num-bg-366"/>
          <p:cNvSpPr/>
          <p:nvPr/>
        </p:nvSpPr>
        <p:spPr>
          <a:xfrm>
            <a:off x="548640" y="3054096"/>
            <a:ext cx="365760" cy="365760"/>
          </a:xfrm>
          <a:prstGeom prst="ellipse">
            <a:avLst/>
          </a:prstGeom>
          <a:solidFill>
            <a:schemeClr val="accent3"/>
          </a:solidFill>
          <a:ln/>
        </p:spPr>
      </p:sp>
      <p:sp>
        <p:nvSpPr>
          <p:cNvPr id="12" name="text-367"/>
          <p:cNvSpPr txBox="1"/>
          <p:nvPr/>
        </p:nvSpPr>
        <p:spPr>
          <a:xfrm>
            <a:off x="548640" y="3054096"/>
            <a:ext cx="365760" cy="365760"/>
          </a:xfrm>
          <a:prstGeom prst="rect">
            <a:avLst/>
          </a:prstGeom>
          <a:noFill/>
          <a:ln/>
        </p:spPr>
        <p:txBody>
          <a:bodyPr wrap="square" lIns="0" tIns="0" rIns="0" bIns="0" rtlCol="0" anchor="ctr"/>
          <a:lstStyle/>
          <a:p>
            <a:pPr algn="ctr" indent="0" marL="0">
              <a:buNone/>
            </a:pPr>
            <a:r>
              <a:rPr lang="en-US" sz="1300" b="1" dirty="0">
                <a:solidFill>
                  <a:schemeClr val="tx1"/>
                </a:solidFill>
                <a:latin typeface="Century Gothic" pitchFamily="34" charset="0"/>
                <a:ea typeface="Century Gothic" pitchFamily="34" charset="-122"/>
                <a:cs typeface="Century Gothic" pitchFamily="34" charset="-120"/>
              </a:rPr>
              <a:t>2</a:t>
            </a:r>
            <a:endParaRPr lang="en-US" sz="1300" dirty="0"/>
          </a:p>
        </p:txBody>
      </p:sp>
      <p:sp>
        <p:nvSpPr>
          <p:cNvPr id="13" name="text-368"/>
          <p:cNvSpPr txBox="1"/>
          <p:nvPr/>
        </p:nvSpPr>
        <p:spPr>
          <a:xfrm>
            <a:off x="1078992" y="2999232"/>
            <a:ext cx="4480560" cy="292608"/>
          </a:xfrm>
          <a:prstGeom prst="rect">
            <a:avLst/>
          </a:prstGeom>
          <a:noFill/>
          <a:ln/>
        </p:spPr>
        <p:txBody>
          <a:bodyPr wrap="square" lIns="0" tIns="0" rIns="0" bIns="0" rtlCol="0" anchor="t"/>
          <a:lstStyle/>
          <a:p>
            <a:pPr indent="0" marL="0">
              <a:buNone/>
            </a:pPr>
            <a:r>
              <a:rPr lang="en-US" sz="1500" b="1" dirty="0">
                <a:solidFill>
                  <a:schemeClr val="bg1"/>
                </a:solidFill>
              </a:rPr>
              <a:t>Hold out protected columns</a:t>
            </a:r>
            <a:endParaRPr lang="en-US" sz="1500" dirty="0"/>
          </a:p>
        </p:txBody>
      </p:sp>
      <p:sp>
        <p:nvSpPr>
          <p:cNvPr id="14" name="text-369"/>
          <p:cNvSpPr txBox="1"/>
          <p:nvPr/>
        </p:nvSpPr>
        <p:spPr>
          <a:xfrm>
            <a:off x="1078992" y="3291840"/>
            <a:ext cx="4480560" cy="274320"/>
          </a:xfrm>
          <a:prstGeom prst="rect">
            <a:avLst/>
          </a:prstGeom>
          <a:noFill/>
          <a:ln/>
        </p:spPr>
        <p:txBody>
          <a:bodyPr wrap="square" lIns="0" tIns="0" rIns="0" bIns="0" rtlCol="0" anchor="t"/>
          <a:lstStyle/>
          <a:p>
            <a:pPr indent="0" marL="0">
              <a:buNone/>
            </a:pPr>
            <a:r>
              <a:rPr lang="en-US" sz="1250" dirty="0">
                <a:solidFill>
                  <a:schemeClr val="bg2"/>
                </a:solidFill>
              </a:rPr>
              <a:t>age, gender and the like never enter the matrix</a:t>
            </a:r>
            <a:endParaRPr lang="en-US" sz="1250" dirty="0"/>
          </a:p>
        </p:txBody>
      </p:sp>
      <p:sp>
        <p:nvSpPr>
          <p:cNvPr id="15" name="num-bg-370"/>
          <p:cNvSpPr/>
          <p:nvPr/>
        </p:nvSpPr>
        <p:spPr>
          <a:xfrm>
            <a:off x="548640" y="3675888"/>
            <a:ext cx="365760" cy="365760"/>
          </a:xfrm>
          <a:prstGeom prst="ellipse">
            <a:avLst/>
          </a:prstGeom>
          <a:solidFill>
            <a:schemeClr val="accent2"/>
          </a:solidFill>
          <a:ln/>
        </p:spPr>
      </p:sp>
      <p:sp>
        <p:nvSpPr>
          <p:cNvPr id="16" name="text-371"/>
          <p:cNvSpPr txBox="1"/>
          <p:nvPr/>
        </p:nvSpPr>
        <p:spPr>
          <a:xfrm>
            <a:off x="548640" y="3675888"/>
            <a:ext cx="365760" cy="365760"/>
          </a:xfrm>
          <a:prstGeom prst="rect">
            <a:avLst/>
          </a:prstGeom>
          <a:noFill/>
          <a:ln/>
        </p:spPr>
        <p:txBody>
          <a:bodyPr wrap="square" lIns="0" tIns="0" rIns="0" bIns="0" rtlCol="0" anchor="ctr"/>
          <a:lstStyle/>
          <a:p>
            <a:pPr algn="ctr" indent="0" marL="0">
              <a:buNone/>
            </a:pPr>
            <a:r>
              <a:rPr lang="en-US" sz="1300" b="1" dirty="0">
                <a:solidFill>
                  <a:schemeClr val="tx1"/>
                </a:solidFill>
                <a:latin typeface="Century Gothic" pitchFamily="34" charset="0"/>
                <a:ea typeface="Century Gothic" pitchFamily="34" charset="-122"/>
                <a:cs typeface="Century Gothic" pitchFamily="34" charset="-120"/>
              </a:rPr>
              <a:t>3</a:t>
            </a:r>
            <a:endParaRPr lang="en-US" sz="1300" dirty="0"/>
          </a:p>
        </p:txBody>
      </p:sp>
      <p:sp>
        <p:nvSpPr>
          <p:cNvPr id="17" name="text-372"/>
          <p:cNvSpPr txBox="1"/>
          <p:nvPr/>
        </p:nvSpPr>
        <p:spPr>
          <a:xfrm>
            <a:off x="1078992" y="3621024"/>
            <a:ext cx="4480560" cy="292608"/>
          </a:xfrm>
          <a:prstGeom prst="rect">
            <a:avLst/>
          </a:prstGeom>
          <a:noFill/>
          <a:ln/>
        </p:spPr>
        <p:txBody>
          <a:bodyPr wrap="square" lIns="0" tIns="0" rIns="0" bIns="0" rtlCol="0" anchor="t"/>
          <a:lstStyle/>
          <a:p>
            <a:pPr indent="0" marL="0">
              <a:buNone/>
            </a:pPr>
            <a:r>
              <a:rPr lang="en-US" sz="1500" b="1" dirty="0">
                <a:solidFill>
                  <a:schemeClr val="bg1"/>
                </a:solidFill>
              </a:rPr>
              <a:t>Cluster with HDBSCAN</a:t>
            </a:r>
            <a:endParaRPr lang="en-US" sz="1500" dirty="0"/>
          </a:p>
        </p:txBody>
      </p:sp>
      <p:sp>
        <p:nvSpPr>
          <p:cNvPr id="18" name="text-373"/>
          <p:cNvSpPr txBox="1"/>
          <p:nvPr/>
        </p:nvSpPr>
        <p:spPr>
          <a:xfrm>
            <a:off x="1078992" y="3913632"/>
            <a:ext cx="4480560" cy="274320"/>
          </a:xfrm>
          <a:prstGeom prst="rect">
            <a:avLst/>
          </a:prstGeom>
          <a:noFill/>
          <a:ln/>
        </p:spPr>
        <p:txBody>
          <a:bodyPr wrap="square" lIns="0" tIns="0" rIns="0" bIns="0" rtlCol="0" anchor="t"/>
          <a:lstStyle/>
          <a:p>
            <a:pPr indent="0" marL="0">
              <a:buNone/>
            </a:pPr>
            <a:r>
              <a:rPr lang="en-US" sz="1250" dirty="0">
                <a:solidFill>
                  <a:schemeClr val="bg2"/>
                </a:solidFill>
              </a:rPr>
              <a:t>leaf selection; contacts may stay as noise</a:t>
            </a:r>
            <a:endParaRPr lang="en-US" sz="1250" dirty="0"/>
          </a:p>
        </p:txBody>
      </p:sp>
      <p:sp>
        <p:nvSpPr>
          <p:cNvPr id="19" name="num-bg-374"/>
          <p:cNvSpPr/>
          <p:nvPr/>
        </p:nvSpPr>
        <p:spPr>
          <a:xfrm>
            <a:off x="548640" y="4297680"/>
            <a:ext cx="365760" cy="365760"/>
          </a:xfrm>
          <a:prstGeom prst="ellipse">
            <a:avLst/>
          </a:prstGeom>
          <a:solidFill>
            <a:schemeClr val="accent2"/>
          </a:solidFill>
          <a:ln/>
        </p:spPr>
      </p:sp>
      <p:sp>
        <p:nvSpPr>
          <p:cNvPr id="20" name="text-375"/>
          <p:cNvSpPr txBox="1"/>
          <p:nvPr/>
        </p:nvSpPr>
        <p:spPr>
          <a:xfrm>
            <a:off x="548640" y="4297680"/>
            <a:ext cx="365760" cy="365760"/>
          </a:xfrm>
          <a:prstGeom prst="rect">
            <a:avLst/>
          </a:prstGeom>
          <a:noFill/>
          <a:ln/>
        </p:spPr>
        <p:txBody>
          <a:bodyPr wrap="square" lIns="0" tIns="0" rIns="0" bIns="0" rtlCol="0" anchor="ctr"/>
          <a:lstStyle/>
          <a:p>
            <a:pPr algn="ctr" indent="0" marL="0">
              <a:buNone/>
            </a:pPr>
            <a:r>
              <a:rPr lang="en-US" sz="1300" b="1" dirty="0">
                <a:solidFill>
                  <a:schemeClr val="tx1"/>
                </a:solidFill>
                <a:latin typeface="Century Gothic" pitchFamily="34" charset="0"/>
                <a:ea typeface="Century Gothic" pitchFamily="34" charset="-122"/>
                <a:cs typeface="Century Gothic" pitchFamily="34" charset="-120"/>
              </a:rPr>
              <a:t>4</a:t>
            </a:r>
            <a:endParaRPr lang="en-US" sz="1300" dirty="0"/>
          </a:p>
        </p:txBody>
      </p:sp>
      <p:sp>
        <p:nvSpPr>
          <p:cNvPr id="21" name="text-376"/>
          <p:cNvSpPr txBox="1"/>
          <p:nvPr/>
        </p:nvSpPr>
        <p:spPr>
          <a:xfrm>
            <a:off x="1078992" y="4242816"/>
            <a:ext cx="4480560" cy="292608"/>
          </a:xfrm>
          <a:prstGeom prst="rect">
            <a:avLst/>
          </a:prstGeom>
          <a:noFill/>
          <a:ln/>
        </p:spPr>
        <p:txBody>
          <a:bodyPr wrap="square" lIns="0" tIns="0" rIns="0" bIns="0" rtlCol="0" anchor="t"/>
          <a:lstStyle/>
          <a:p>
            <a:pPr indent="0" marL="0">
              <a:buNone/>
            </a:pPr>
            <a:r>
              <a:rPr lang="en-US" sz="1500" b="1" dirty="0">
                <a:solidFill>
                  <a:schemeClr val="bg1"/>
                </a:solidFill>
              </a:rPr>
              <a:t>Explain, then name</a:t>
            </a:r>
            <a:endParaRPr lang="en-US" sz="1500" dirty="0"/>
          </a:p>
        </p:txBody>
      </p:sp>
      <p:sp>
        <p:nvSpPr>
          <p:cNvPr id="22" name="text-377"/>
          <p:cNvSpPr txBox="1"/>
          <p:nvPr/>
        </p:nvSpPr>
        <p:spPr>
          <a:xfrm>
            <a:off x="1078992" y="4535424"/>
            <a:ext cx="4480560" cy="274320"/>
          </a:xfrm>
          <a:prstGeom prst="rect">
            <a:avLst/>
          </a:prstGeom>
          <a:noFill/>
          <a:ln/>
        </p:spPr>
        <p:txBody>
          <a:bodyPr wrap="square" lIns="0" tIns="0" rIns="0" bIns="0" rtlCol="0" anchor="t"/>
          <a:lstStyle/>
          <a:p>
            <a:pPr indent="0" marL="0">
              <a:buNone/>
            </a:pPr>
            <a:r>
              <a:rPr lang="en-US" sz="1250" dirty="0">
                <a:solidFill>
                  <a:schemeClr val="bg2"/>
                </a:solidFill>
              </a:rPr>
              <a:t>top-4 z-scored traits → 2–4 word name</a:t>
            </a:r>
            <a:endParaRPr lang="en-US" sz="1250" dirty="0"/>
          </a:p>
        </p:txBody>
      </p:sp>
      <p:sp>
        <p:nvSpPr>
          <p:cNvPr id="23" name="num-bg-378"/>
          <p:cNvSpPr/>
          <p:nvPr/>
        </p:nvSpPr>
        <p:spPr>
          <a:xfrm>
            <a:off x="548640" y="4919472"/>
            <a:ext cx="365760" cy="365760"/>
          </a:xfrm>
          <a:prstGeom prst="ellipse">
            <a:avLst/>
          </a:prstGeom>
          <a:solidFill>
            <a:schemeClr val="accent3"/>
          </a:solidFill>
          <a:ln/>
        </p:spPr>
      </p:sp>
      <p:sp>
        <p:nvSpPr>
          <p:cNvPr id="24" name="text-379"/>
          <p:cNvSpPr txBox="1"/>
          <p:nvPr/>
        </p:nvSpPr>
        <p:spPr>
          <a:xfrm>
            <a:off x="548640" y="4919472"/>
            <a:ext cx="365760" cy="365760"/>
          </a:xfrm>
          <a:prstGeom prst="rect">
            <a:avLst/>
          </a:prstGeom>
          <a:noFill/>
          <a:ln/>
        </p:spPr>
        <p:txBody>
          <a:bodyPr wrap="square" lIns="0" tIns="0" rIns="0" bIns="0" rtlCol="0" anchor="ctr"/>
          <a:lstStyle/>
          <a:p>
            <a:pPr algn="ctr" indent="0" marL="0">
              <a:buNone/>
            </a:pPr>
            <a:r>
              <a:rPr lang="en-US" sz="1300" b="1" dirty="0">
                <a:solidFill>
                  <a:schemeClr val="tx1"/>
                </a:solidFill>
                <a:latin typeface="Century Gothic" pitchFamily="34" charset="0"/>
                <a:ea typeface="Century Gothic" pitchFamily="34" charset="-122"/>
                <a:cs typeface="Century Gothic" pitchFamily="34" charset="-120"/>
              </a:rPr>
              <a:t>5</a:t>
            </a:r>
            <a:endParaRPr lang="en-US" sz="1300" dirty="0"/>
          </a:p>
        </p:txBody>
      </p:sp>
      <p:sp>
        <p:nvSpPr>
          <p:cNvPr id="25" name="text-380"/>
          <p:cNvSpPr txBox="1"/>
          <p:nvPr/>
        </p:nvSpPr>
        <p:spPr>
          <a:xfrm>
            <a:off x="1078992" y="4864608"/>
            <a:ext cx="4480560" cy="292608"/>
          </a:xfrm>
          <a:prstGeom prst="rect">
            <a:avLst/>
          </a:prstGeom>
          <a:noFill/>
          <a:ln/>
        </p:spPr>
        <p:txBody>
          <a:bodyPr wrap="square" lIns="0" tIns="0" rIns="0" bIns="0" rtlCol="0" anchor="t"/>
          <a:lstStyle/>
          <a:p>
            <a:pPr indent="0" marL="0">
              <a:buNone/>
            </a:pPr>
            <a:r>
              <a:rPr lang="en-US" sz="1500" b="1" dirty="0">
                <a:solidFill>
                  <a:schemeClr val="bg1"/>
                </a:solidFill>
              </a:rPr>
              <a:t>Proxy-test every segment</a:t>
            </a:r>
            <a:endParaRPr lang="en-US" sz="1500" dirty="0"/>
          </a:p>
        </p:txBody>
      </p:sp>
      <p:sp>
        <p:nvSpPr>
          <p:cNvPr id="26" name="text-381"/>
          <p:cNvSpPr txBox="1"/>
          <p:nvPr/>
        </p:nvSpPr>
        <p:spPr>
          <a:xfrm>
            <a:off x="1078992" y="5157216"/>
            <a:ext cx="4480560" cy="274320"/>
          </a:xfrm>
          <a:prstGeom prst="rect">
            <a:avLst/>
          </a:prstGeom>
          <a:noFill/>
          <a:ln/>
        </p:spPr>
        <p:txBody>
          <a:bodyPr wrap="square" lIns="0" tIns="0" rIns="0" bIns="0" rtlCol="0" anchor="t"/>
          <a:lstStyle/>
          <a:p>
            <a:pPr indent="0" marL="0">
              <a:buNone/>
            </a:pPr>
            <a:r>
              <a:rPr lang="en-US" sz="1250" dirty="0">
                <a:solidFill>
                  <a:schemeClr val="bg2"/>
                </a:solidFill>
              </a:rPr>
              <a:t>&gt; 0.35 deviation on a held-out attribute ⇒ flag</a:t>
            </a:r>
            <a:endParaRPr lang="en-US" sz="1250" dirty="0"/>
          </a:p>
        </p:txBody>
      </p:sp>
      <p:sp>
        <p:nvSpPr>
          <p:cNvPr id="27" name="glass-382"/>
          <p:cNvSpPr/>
          <p:nvPr/>
        </p:nvSpPr>
        <p:spPr>
          <a:xfrm>
            <a:off x="548640" y="5559552"/>
            <a:ext cx="1572768" cy="640080"/>
          </a:xfrm>
          <a:prstGeom prst="roundRect">
            <a:avLst>
              <a:gd name="adj" fmla="val 20000"/>
            </a:avLst>
          </a:prstGeom>
          <a:solidFill>
            <a:schemeClr val="accent2">
              <a:alpha val="14000"/>
            </a:schemeClr>
          </a:solidFill>
          <a:ln w="12700">
            <a:solidFill>
              <a:schemeClr val="accent2">
                <a:alpha val="45000"/>
              </a:schemeClr>
            </a:solidFill>
            <a:prstDash val="solid"/>
          </a:ln>
        </p:spPr>
      </p:sp>
      <p:sp>
        <p:nvSpPr>
          <p:cNvPr id="28" name="text-383"/>
          <p:cNvSpPr txBox="1"/>
          <p:nvPr/>
        </p:nvSpPr>
        <p:spPr>
          <a:xfrm>
            <a:off x="548640" y="5559552"/>
            <a:ext cx="1572768" cy="640080"/>
          </a:xfrm>
          <a:prstGeom prst="rect">
            <a:avLst/>
          </a:prstGeom>
          <a:noFill/>
          <a:ln/>
        </p:spPr>
        <p:txBody>
          <a:bodyPr wrap="square" lIns="0" tIns="0" rIns="0" bIns="0" rtlCol="0" anchor="ctr"/>
          <a:lstStyle/>
          <a:p>
            <a:pPr algn="ctr" indent="0" marL="0">
              <a:buNone/>
            </a:pPr>
            <a:r>
              <a:rPr lang="en-US" sz="1800" b="1" dirty="0">
                <a:solidFill>
                  <a:schemeClr val="accent2"/>
                </a:solidFill>
                <a:latin typeface="Century Gothic" pitchFamily="34" charset="0"/>
                <a:ea typeface="Century Gothic" pitchFamily="34" charset="-122"/>
                <a:cs typeface="Century Gothic" pitchFamily="34" charset="-120"/>
              </a:rPr>
              <a:t>6  </a:t>
            </a:r>
            <a:pPr algn="ctr" indent="0" marL="0">
              <a:buNone/>
            </a:pPr>
            <a:r>
              <a:rPr lang="en-US" sz="1200" dirty="0">
                <a:solidFill>
                  <a:schemeClr val="bg2"/>
                </a:solidFill>
              </a:rPr>
              <a:t>segments</a:t>
            </a:r>
            <a:endParaRPr lang="en-US" sz="1400" dirty="0"/>
          </a:p>
        </p:txBody>
      </p:sp>
      <p:sp>
        <p:nvSpPr>
          <p:cNvPr id="29" name="glass-384"/>
          <p:cNvSpPr/>
          <p:nvPr/>
        </p:nvSpPr>
        <p:spPr>
          <a:xfrm>
            <a:off x="2249424" y="5559552"/>
            <a:ext cx="1572768" cy="640080"/>
          </a:xfrm>
          <a:prstGeom prst="roundRect">
            <a:avLst>
              <a:gd name="adj" fmla="val 20000"/>
            </a:avLst>
          </a:prstGeom>
          <a:solidFill>
            <a:schemeClr val="accent2">
              <a:alpha val="14000"/>
            </a:schemeClr>
          </a:solidFill>
          <a:ln w="12700">
            <a:solidFill>
              <a:schemeClr val="accent2">
                <a:alpha val="45000"/>
              </a:schemeClr>
            </a:solidFill>
            <a:prstDash val="solid"/>
          </a:ln>
        </p:spPr>
      </p:sp>
      <p:sp>
        <p:nvSpPr>
          <p:cNvPr id="30" name="text-385"/>
          <p:cNvSpPr txBox="1"/>
          <p:nvPr/>
        </p:nvSpPr>
        <p:spPr>
          <a:xfrm>
            <a:off x="2249424" y="5559552"/>
            <a:ext cx="1572768" cy="640080"/>
          </a:xfrm>
          <a:prstGeom prst="rect">
            <a:avLst/>
          </a:prstGeom>
          <a:noFill/>
          <a:ln/>
        </p:spPr>
        <p:txBody>
          <a:bodyPr wrap="square" lIns="0" tIns="0" rIns="0" bIns="0" rtlCol="0" anchor="ctr"/>
          <a:lstStyle/>
          <a:p>
            <a:pPr algn="ctr" indent="0" marL="0">
              <a:buNone/>
            </a:pPr>
            <a:r>
              <a:rPr lang="en-US" sz="1800" b="1" dirty="0">
                <a:solidFill>
                  <a:schemeClr val="accent2"/>
                </a:solidFill>
                <a:latin typeface="Century Gothic" pitchFamily="34" charset="0"/>
                <a:ea typeface="Century Gothic" pitchFamily="34" charset="-122"/>
                <a:cs typeface="Century Gothic" pitchFamily="34" charset="-120"/>
              </a:rPr>
              <a:t>0.382  </a:t>
            </a:r>
            <a:pPr algn="ctr" indent="0" marL="0">
              <a:buNone/>
            </a:pPr>
            <a:r>
              <a:rPr lang="en-US" sz="1200" dirty="0">
                <a:solidFill>
                  <a:schemeClr val="bg2"/>
                </a:solidFill>
              </a:rPr>
              <a:t>silhouette</a:t>
            </a:r>
            <a:endParaRPr lang="en-US" sz="1400" dirty="0"/>
          </a:p>
        </p:txBody>
      </p:sp>
      <p:sp>
        <p:nvSpPr>
          <p:cNvPr id="31" name="glass-386"/>
          <p:cNvSpPr/>
          <p:nvPr/>
        </p:nvSpPr>
        <p:spPr>
          <a:xfrm>
            <a:off x="3950208" y="5559552"/>
            <a:ext cx="1572768" cy="640080"/>
          </a:xfrm>
          <a:prstGeom prst="roundRect">
            <a:avLst>
              <a:gd name="adj" fmla="val 20000"/>
            </a:avLst>
          </a:prstGeom>
          <a:solidFill>
            <a:schemeClr val="accent2">
              <a:alpha val="14000"/>
            </a:schemeClr>
          </a:solidFill>
          <a:ln w="12700">
            <a:solidFill>
              <a:schemeClr val="accent2">
                <a:alpha val="45000"/>
              </a:schemeClr>
            </a:solidFill>
            <a:prstDash val="solid"/>
          </a:ln>
        </p:spPr>
      </p:sp>
      <p:sp>
        <p:nvSpPr>
          <p:cNvPr id="32" name="text-387"/>
          <p:cNvSpPr txBox="1"/>
          <p:nvPr/>
        </p:nvSpPr>
        <p:spPr>
          <a:xfrm>
            <a:off x="3950208" y="5559552"/>
            <a:ext cx="1572768" cy="640080"/>
          </a:xfrm>
          <a:prstGeom prst="rect">
            <a:avLst/>
          </a:prstGeom>
          <a:noFill/>
          <a:ln/>
        </p:spPr>
        <p:txBody>
          <a:bodyPr wrap="square" lIns="0" tIns="0" rIns="0" bIns="0" rtlCol="0" anchor="ctr"/>
          <a:lstStyle/>
          <a:p>
            <a:pPr algn="ctr" indent="0" marL="0">
              <a:buNone/>
            </a:pPr>
            <a:r>
              <a:rPr lang="en-US" sz="1800" b="1" dirty="0">
                <a:solidFill>
                  <a:schemeClr val="accent2"/>
                </a:solidFill>
                <a:latin typeface="Century Gothic" pitchFamily="34" charset="0"/>
                <a:ea typeface="Century Gothic" pitchFamily="34" charset="-122"/>
                <a:cs typeface="Century Gothic" pitchFamily="34" charset="-120"/>
              </a:rPr>
              <a:t>25.6%  </a:t>
            </a:r>
            <a:pPr algn="ctr" indent="0" marL="0">
              <a:buNone/>
            </a:pPr>
            <a:r>
              <a:rPr lang="en-US" sz="1200" dirty="0">
                <a:solidFill>
                  <a:schemeClr val="bg2"/>
                </a:solidFill>
              </a:rPr>
              <a:t>noise</a:t>
            </a:r>
            <a:endParaRPr lang="en-US" sz="1400" dirty="0"/>
          </a:p>
        </p:txBody>
      </p:sp>
      <p:sp>
        <p:nvSpPr>
          <p:cNvPr id="33" name="browser-frame-388"/>
          <p:cNvSpPr/>
          <p:nvPr/>
        </p:nvSpPr>
        <p:spPr>
          <a:xfrm>
            <a:off x="5888736" y="1517904"/>
            <a:ext cx="5751576" cy="4326990"/>
          </a:xfrm>
          <a:prstGeom prst="roundRect">
            <a:avLst>
              <a:gd name="adj" fmla="val 2113"/>
            </a:avLst>
          </a:prstGeom>
          <a:solidFill>
            <a:schemeClr val="tx2"/>
          </a:solidFill>
          <a:ln w="9525">
            <a:solidFill>
              <a:schemeClr val="bg2">
                <a:alpha val="30000"/>
              </a:schemeClr>
            </a:solidFill>
            <a:prstDash val="solid"/>
          </a:ln>
          <a:effectLst>
            <a:outerShdw sx="100000" sy="100000" kx="0" ky="0" algn="bl" rotWithShape="0" blurRad="177800" dist="38100" dir="5400000">
              <a:srgbClr val="000000">
                <a:alpha val="35000"/>
              </a:srgbClr>
            </a:outerShdw>
          </a:effectLst>
        </p:spPr>
      </p:sp>
      <p:sp>
        <p:nvSpPr>
          <p:cNvPr id="34" name="frame-dot-389"/>
          <p:cNvSpPr/>
          <p:nvPr/>
        </p:nvSpPr>
        <p:spPr>
          <a:xfrm>
            <a:off x="6016752" y="1627632"/>
            <a:ext cx="91440" cy="91440"/>
          </a:xfrm>
          <a:prstGeom prst="ellipse">
            <a:avLst/>
          </a:prstGeom>
          <a:solidFill>
            <a:schemeClr val="accent6"/>
          </a:solidFill>
          <a:ln/>
        </p:spPr>
      </p:sp>
      <p:sp>
        <p:nvSpPr>
          <p:cNvPr id="35" name="frame-dot-390"/>
          <p:cNvSpPr/>
          <p:nvPr/>
        </p:nvSpPr>
        <p:spPr>
          <a:xfrm>
            <a:off x="6172200" y="1627632"/>
            <a:ext cx="91440" cy="91440"/>
          </a:xfrm>
          <a:prstGeom prst="ellipse">
            <a:avLst/>
          </a:prstGeom>
          <a:solidFill>
            <a:schemeClr val="accent3"/>
          </a:solidFill>
          <a:ln/>
        </p:spPr>
      </p:sp>
      <p:sp>
        <p:nvSpPr>
          <p:cNvPr id="36" name="frame-dot-391"/>
          <p:cNvSpPr/>
          <p:nvPr/>
        </p:nvSpPr>
        <p:spPr>
          <a:xfrm>
            <a:off x="6327648" y="1627632"/>
            <a:ext cx="91440" cy="91440"/>
          </a:xfrm>
          <a:prstGeom prst="ellipse">
            <a:avLst/>
          </a:prstGeom>
          <a:solidFill>
            <a:schemeClr val="accent5"/>
          </a:solidFill>
          <a:ln/>
        </p:spPr>
      </p:sp>
      <p:pic>
        <p:nvPicPr>
          <p:cNvPr id="37" name="screenshot-392" descr="C:\Ai stuffs\MOSAIC\docs\media\console\segments.jpg">    </p:cNvPr>
          <p:cNvPicPr>
            <a:picLocks noChangeAspect="1"/>
          </p:cNvPicPr>
          <p:nvPr/>
        </p:nvPicPr>
        <p:blipFill>
          <a:blip r:embed="rId2"/>
          <a:stretch>
            <a:fillRect/>
          </a:stretch>
        </p:blipFill>
        <p:spPr>
          <a:xfrm>
            <a:off x="5943600" y="1810512"/>
            <a:ext cx="5641848" cy="3979518"/>
          </a:xfrm>
          <a:prstGeom prst="rect">
            <a:avLst/>
          </a:prstGeom>
        </p:spPr>
      </p:pic>
      <p:sp>
        <p:nvSpPr>
          <p:cNvPr id="38" name="text-393"/>
          <p:cNvSpPr txBox="1"/>
          <p:nvPr/>
        </p:nvSpPr>
        <p:spPr>
          <a:xfrm>
            <a:off x="5943600" y="5918046"/>
            <a:ext cx="5641848" cy="274320"/>
          </a:xfrm>
          <a:prstGeom prst="rect">
            <a:avLst/>
          </a:prstGeom>
          <a:noFill/>
          <a:ln/>
        </p:spPr>
        <p:txBody>
          <a:bodyPr wrap="square" lIns="0" tIns="0" rIns="0" bIns="0" rtlCol="0" anchor="t"/>
          <a:lstStyle/>
          <a:p>
            <a:pPr algn="ctr" indent="0" marL="0">
              <a:buNone/>
            </a:pPr>
            <a:r>
              <a:rPr lang="en-US" sz="1100" i="1" dirty="0">
                <a:solidFill>
                  <a:schemeClr val="bg2"/>
                </a:solidFill>
              </a:rPr>
              <a:t>Segments tab — z-scored traits per segment; the age-proxy flag sits on the card</a:t>
            </a:r>
            <a:endParaRPr lang="en-US" sz="1100" dirty="0"/>
          </a:p>
        </p:txBody>
      </p:sp>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241280" cy="640080"/>
          </a:xfrm>
          <a:prstGeom prst="rect">
            <a:avLst/>
          </a:prstGeom>
          <a:noFill/>
          <a:ln/>
        </p:spPr>
        <p:txBody>
          <a:bodyPr wrap="square" lIns="0" tIns="0" rIns="0" bIns="0" rtlCol="0" anchor="ctr"/>
          <a:lstStyle/>
          <a:p>
            <a:pPr algn="l" indent="0" marL="0">
              <a:buNone/>
            </a:pPr>
            <a:r>
              <a:rPr lang="en-US" sz="2800" b="1" dirty="0">
                <a:solidFill>
                  <a:schemeClr val="bg1"/>
                </a:solidFill>
                <a:latin typeface="Century Gothic" pitchFamily="34" charset="0"/>
                <a:ea typeface="Century Gothic" pitchFamily="34" charset="-122"/>
                <a:cs typeface="Century Gothic" pitchFamily="34" charset="-120"/>
              </a:rPr>
              <a:t>The model writes words; code builds the email</a:t>
            </a:r>
            <a:endParaRPr lang="en-US" sz="2800" dirty="0"/>
          </a:p>
        </p:txBody>
      </p:sp>
      <p:sp>
        <p:nvSpPr>
          <p:cNvPr id="3" name="text-394"/>
          <p:cNvSpPr txBox="1"/>
          <p:nvPr/>
        </p:nvSpPr>
        <p:spPr>
          <a:xfrm>
            <a:off x="548640" y="1005840"/>
            <a:ext cx="10424160" cy="384048"/>
          </a:xfrm>
          <a:prstGeom prst="rect">
            <a:avLst/>
          </a:prstGeom>
          <a:noFill/>
          <a:ln/>
        </p:spPr>
        <p:txBody>
          <a:bodyPr wrap="square" lIns="0" tIns="0" rIns="0" bIns="0" rtlCol="0" anchor="t"/>
          <a:lstStyle/>
          <a:p>
            <a:pPr indent="0" marL="0">
              <a:buNone/>
            </a:pPr>
            <a:r>
              <a:rPr lang="en-US" sz="1600" dirty="0">
                <a:solidFill>
                  <a:schemeClr val="bg2"/>
                </a:solidFill>
              </a:rPr>
              <a:t>A bad model response can shorten the copy — it cannot produce an unrenderable or off-brand template.</a:t>
            </a:r>
            <a:endParaRPr lang="en-US" sz="1600" dirty="0"/>
          </a:p>
        </p:txBody>
      </p:sp>
      <p:sp>
        <p:nvSpPr>
          <p:cNvPr id="5" name="glass-395"/>
          <p:cNvSpPr/>
          <p:nvPr/>
        </p:nvSpPr>
        <p:spPr>
          <a:xfrm>
            <a:off x="548640" y="1572768"/>
            <a:ext cx="5257800" cy="2194560"/>
          </a:xfrm>
          <a:prstGeom prst="roundRect">
            <a:avLst>
              <a:gd name="adj" fmla="val 5833"/>
            </a:avLst>
          </a:prstGeom>
          <a:solidFill>
            <a:schemeClr val="accent3">
              <a:alpha val="12000"/>
            </a:schemeClr>
          </a:solidFill>
          <a:ln w="12700">
            <a:solidFill>
              <a:schemeClr val="accent3">
                <a:alpha val="50000"/>
              </a:schemeClr>
            </a:solidFill>
            <a:prstDash val="solid"/>
          </a:ln>
        </p:spPr>
      </p:sp>
      <p:pic>
        <p:nvPicPr>
          <p:cNvPr id="6" name="icon3d-396" descr="C:\Users\himat\AppData\Local\Temp\claude\c--Ai-stuffs-MOSAIC\b3ecbbac-d885-4fec-a9f8-3496f8d06c96\scratchpad\build\assets\icon-creative.png">    </p:cNvPr>
          <p:cNvPicPr>
            <a:picLocks noChangeAspect="1"/>
          </p:cNvPicPr>
          <p:nvPr/>
        </p:nvPicPr>
        <p:blipFill>
          <a:blip r:embed="rId1"/>
          <a:stretch>
            <a:fillRect/>
          </a:stretch>
        </p:blipFill>
        <p:spPr>
          <a:xfrm>
            <a:off x="658368" y="1664208"/>
            <a:ext cx="822960" cy="822960"/>
          </a:xfrm>
          <a:prstGeom prst="rect">
            <a:avLst/>
          </a:prstGeom>
        </p:spPr>
      </p:pic>
      <p:sp>
        <p:nvSpPr>
          <p:cNvPr id="7" name="text-397"/>
          <p:cNvSpPr txBox="1"/>
          <p:nvPr/>
        </p:nvSpPr>
        <p:spPr>
          <a:xfrm>
            <a:off x="1572768" y="1783080"/>
            <a:ext cx="4114800" cy="411480"/>
          </a:xfrm>
          <a:prstGeom prst="rect">
            <a:avLst/>
          </a:prstGeom>
          <a:noFill/>
          <a:ln/>
        </p:spPr>
        <p:txBody>
          <a:bodyPr wrap="square" lIns="0" tIns="0" rIns="0" bIns="0" rtlCol="0" anchor="t"/>
          <a:lstStyle/>
          <a:p>
            <a:pPr indent="0" marL="0">
              <a:buNone/>
            </a:pPr>
            <a:r>
              <a:rPr lang="en-US" sz="1500" b="1" dirty="0">
                <a:solidFill>
                  <a:schemeClr val="accent3"/>
                </a:solidFill>
                <a:latin typeface="Century Gothic" pitchFamily="34" charset="0"/>
                <a:ea typeface="Century Gothic" pitchFamily="34" charset="-122"/>
                <a:cs typeface="Century Gothic" pitchFamily="34" charset="-120"/>
              </a:rPr>
              <a:t>Creative Direction · direction-v2</a:t>
            </a:r>
            <a:endParaRPr lang="en-US" sz="1500" dirty="0"/>
          </a:p>
        </p:txBody>
      </p:sp>
      <p:sp>
        <p:nvSpPr>
          <p:cNvPr id="8" name="text-398"/>
          <p:cNvSpPr txBox="1"/>
          <p:nvPr/>
        </p:nvSpPr>
        <p:spPr>
          <a:xfrm>
            <a:off x="822960" y="2606040"/>
            <a:ext cx="4846320" cy="109728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bg1"/>
                </a:solidFill>
              </a:rPr>
              <a:t>Six fields, each capped to a phrase</a:t>
            </a:r>
            <a:endParaRPr lang="en-US" sz="1400" dirty="0"/>
          </a:p>
          <a:p>
            <a:pPr marL="177800" indent="-177800">
              <a:spcAft>
                <a:spcPts val="600"/>
              </a:spcAft>
              <a:buSzPct val="100000"/>
              <a:buChar char="•"/>
            </a:pPr>
            <a:r>
              <a:rPr lang="en-US" sz="1400" dirty="0">
                <a:solidFill>
                  <a:schemeClr val="bg1"/>
                </a:solidFill>
              </a:rPr>
              <a:t>Accent validated as hex; falls back to the palette</a:t>
            </a:r>
            <a:endParaRPr lang="en-US" sz="1400" dirty="0"/>
          </a:p>
          <a:p>
            <a:pPr marL="177800" indent="-177800">
              <a:spcAft>
                <a:spcPts val="600"/>
              </a:spcAft>
              <a:buSzPct val="100000"/>
              <a:buChar char="•"/>
            </a:pPr>
            <a:r>
              <a:rPr lang="en-US" sz="1400" dirty="0">
                <a:solidFill>
                  <a:schemeClr val="bg1"/>
                </a:solidFill>
              </a:rPr>
              <a:t>No urgency, scarcity or protected attributes</a:t>
            </a:r>
            <a:endParaRPr lang="en-US" sz="1400" dirty="0"/>
          </a:p>
        </p:txBody>
      </p:sp>
      <p:sp>
        <p:nvSpPr>
          <p:cNvPr id="9" name="glass-399"/>
          <p:cNvSpPr/>
          <p:nvPr/>
        </p:nvSpPr>
        <p:spPr>
          <a:xfrm>
            <a:off x="548640" y="3931920"/>
            <a:ext cx="5257800" cy="2240280"/>
          </a:xfrm>
          <a:prstGeom prst="roundRect">
            <a:avLst>
              <a:gd name="adj" fmla="val 5714"/>
            </a:avLst>
          </a:prstGeom>
          <a:solidFill>
            <a:schemeClr val="accent4">
              <a:alpha val="12000"/>
            </a:schemeClr>
          </a:solidFill>
          <a:ln w="12700">
            <a:solidFill>
              <a:schemeClr val="accent4">
                <a:alpha val="50000"/>
              </a:schemeClr>
            </a:solidFill>
            <a:prstDash val="solid"/>
          </a:ln>
        </p:spPr>
      </p:sp>
      <p:pic>
        <p:nvPicPr>
          <p:cNvPr id="10" name="icon3d-400" descr="C:\Users\himat\AppData\Local\Temp\claude\c--Ai-stuffs-MOSAIC\b3ecbbac-d885-4fec-a9f8-3496f8d06c96\scratchpad\build\assets\icon-composer.png">    </p:cNvPr>
          <p:cNvPicPr>
            <a:picLocks noChangeAspect="1"/>
          </p:cNvPicPr>
          <p:nvPr/>
        </p:nvPicPr>
        <p:blipFill>
          <a:blip r:embed="rId2"/>
          <a:stretch>
            <a:fillRect/>
          </a:stretch>
        </p:blipFill>
        <p:spPr>
          <a:xfrm>
            <a:off x="658368" y="4023360"/>
            <a:ext cx="822960" cy="822960"/>
          </a:xfrm>
          <a:prstGeom prst="rect">
            <a:avLst/>
          </a:prstGeom>
        </p:spPr>
      </p:pic>
      <p:sp>
        <p:nvSpPr>
          <p:cNvPr id="11" name="text-401"/>
          <p:cNvSpPr txBox="1"/>
          <p:nvPr/>
        </p:nvSpPr>
        <p:spPr>
          <a:xfrm>
            <a:off x="1572768" y="4142232"/>
            <a:ext cx="4114800" cy="411480"/>
          </a:xfrm>
          <a:prstGeom prst="rect">
            <a:avLst/>
          </a:prstGeom>
          <a:noFill/>
          <a:ln/>
        </p:spPr>
        <p:txBody>
          <a:bodyPr wrap="square" lIns="0" tIns="0" rIns="0" bIns="0" rtlCol="0" anchor="t"/>
          <a:lstStyle/>
          <a:p>
            <a:pPr indent="0" marL="0">
              <a:buNone/>
            </a:pPr>
            <a:r>
              <a:rPr lang="en-US" sz="1500" b="1" dirty="0">
                <a:solidFill>
                  <a:schemeClr val="accent4"/>
                </a:solidFill>
                <a:latin typeface="Century Gothic" pitchFamily="34" charset="0"/>
                <a:ea typeface="Century Gothic" pitchFamily="34" charset="-122"/>
                <a:cs typeface="Century Gothic" pitchFamily="34" charset="-120"/>
              </a:rPr>
              <a:t>Email Composer · email-v2</a:t>
            </a:r>
            <a:endParaRPr lang="en-US" sz="1500" dirty="0"/>
          </a:p>
        </p:txBody>
      </p:sp>
      <p:sp>
        <p:nvSpPr>
          <p:cNvPr id="12" name="text-402"/>
          <p:cNvSpPr txBox="1"/>
          <p:nvPr/>
        </p:nvSpPr>
        <p:spPr>
          <a:xfrm>
            <a:off x="822960" y="4937760"/>
            <a:ext cx="4846320" cy="11887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bg1"/>
                </a:solidFill>
              </a:rPr>
              <a:t>Model writes content only, under word caps</a:t>
            </a:r>
            <a:endParaRPr lang="en-US" sz="1400" dirty="0"/>
          </a:p>
          <a:p>
            <a:pPr marL="177800" indent="-177800">
              <a:spcAft>
                <a:spcPts val="600"/>
              </a:spcAft>
              <a:buSzPct val="100000"/>
              <a:buChar char="•"/>
            </a:pPr>
            <a:r>
              <a:rPr lang="en-US" sz="1400" dirty="0">
                <a:solidFill>
                  <a:schemeClr val="bg1"/>
                </a:solidFill>
              </a:rPr>
              <a:t>Code builds the layout as the builder’s EmailBlock[]</a:t>
            </a:r>
            <a:endParaRPr lang="en-US" sz="1400" dirty="0"/>
          </a:p>
          <a:p>
            <a:pPr marL="177800" indent="-177800">
              <a:spcAft>
                <a:spcPts val="600"/>
              </a:spcAft>
              <a:buSzPct val="100000"/>
              <a:buChar char="•"/>
            </a:pPr>
            <a:r>
              <a:rPr lang="en-US" sz="1400" dirty="0">
                <a:solidFill>
                  <a:schemeClr val="bg1"/>
                </a:solidFill>
              </a:rPr>
              <a:t>Uncited offers dropped; coupon only when cited</a:t>
            </a:r>
            <a:endParaRPr lang="en-US" sz="1400" dirty="0"/>
          </a:p>
          <a:p>
            <a:pPr marL="177800" indent="-177800">
              <a:spcAft>
                <a:spcPts val="600"/>
              </a:spcAft>
              <a:buSzPct val="100000"/>
              <a:buChar char="•"/>
            </a:pPr>
            <a:r>
              <a:rPr lang="en-US" sz="1400" dirty="0">
                <a:solidFill>
                  <a:schemeClr val="bg1"/>
                </a:solidFill>
              </a:rPr>
              <a:t>Greeting merge tag inserted by code</a:t>
            </a:r>
            <a:endParaRPr lang="en-US" sz="1400" dirty="0"/>
          </a:p>
        </p:txBody>
      </p:sp>
      <p:sp>
        <p:nvSpPr>
          <p:cNvPr id="13" name="browser-frame-403"/>
          <p:cNvSpPr/>
          <p:nvPr/>
        </p:nvSpPr>
        <p:spPr>
          <a:xfrm>
            <a:off x="6117336" y="1517904"/>
            <a:ext cx="5522976" cy="4165745"/>
          </a:xfrm>
          <a:prstGeom prst="roundRect">
            <a:avLst>
              <a:gd name="adj" fmla="val 2195"/>
            </a:avLst>
          </a:prstGeom>
          <a:solidFill>
            <a:schemeClr val="tx2"/>
          </a:solidFill>
          <a:ln w="9525">
            <a:solidFill>
              <a:schemeClr val="bg2">
                <a:alpha val="30000"/>
              </a:schemeClr>
            </a:solidFill>
            <a:prstDash val="solid"/>
          </a:ln>
          <a:effectLst>
            <a:outerShdw sx="100000" sy="100000" kx="0" ky="0" algn="bl" rotWithShape="0" blurRad="177800" dist="38100" dir="5400000">
              <a:srgbClr val="000000">
                <a:alpha val="35000"/>
              </a:srgbClr>
            </a:outerShdw>
          </a:effectLst>
        </p:spPr>
      </p:sp>
      <p:sp>
        <p:nvSpPr>
          <p:cNvPr id="14" name="frame-dot-404"/>
          <p:cNvSpPr/>
          <p:nvPr/>
        </p:nvSpPr>
        <p:spPr>
          <a:xfrm>
            <a:off x="6245352" y="1627632"/>
            <a:ext cx="91440" cy="91440"/>
          </a:xfrm>
          <a:prstGeom prst="ellipse">
            <a:avLst/>
          </a:prstGeom>
          <a:solidFill>
            <a:schemeClr val="accent6"/>
          </a:solidFill>
          <a:ln/>
        </p:spPr>
      </p:sp>
      <p:sp>
        <p:nvSpPr>
          <p:cNvPr id="15" name="frame-dot-405"/>
          <p:cNvSpPr/>
          <p:nvPr/>
        </p:nvSpPr>
        <p:spPr>
          <a:xfrm>
            <a:off x="6400800" y="1627632"/>
            <a:ext cx="91440" cy="91440"/>
          </a:xfrm>
          <a:prstGeom prst="ellipse">
            <a:avLst/>
          </a:prstGeom>
          <a:solidFill>
            <a:schemeClr val="accent3"/>
          </a:solidFill>
          <a:ln/>
        </p:spPr>
      </p:sp>
      <p:sp>
        <p:nvSpPr>
          <p:cNvPr id="16" name="frame-dot-406"/>
          <p:cNvSpPr/>
          <p:nvPr/>
        </p:nvSpPr>
        <p:spPr>
          <a:xfrm>
            <a:off x="6556248" y="1627632"/>
            <a:ext cx="91440" cy="91440"/>
          </a:xfrm>
          <a:prstGeom prst="ellipse">
            <a:avLst/>
          </a:prstGeom>
          <a:solidFill>
            <a:schemeClr val="accent5"/>
          </a:solidFill>
          <a:ln/>
        </p:spPr>
      </p:sp>
      <p:pic>
        <p:nvPicPr>
          <p:cNvPr id="17" name="screenshot-407" descr="C:\Ai stuffs\MOSAIC\docs\media\console\emails.jpg">    </p:cNvPr>
          <p:cNvPicPr>
            <a:picLocks noChangeAspect="1"/>
          </p:cNvPicPr>
          <p:nvPr/>
        </p:nvPicPr>
        <p:blipFill>
          <a:blip r:embed="rId3"/>
          <a:stretch>
            <a:fillRect/>
          </a:stretch>
        </p:blipFill>
        <p:spPr>
          <a:xfrm>
            <a:off x="6172200" y="1810512"/>
            <a:ext cx="5413248" cy="3818273"/>
          </a:xfrm>
          <a:prstGeom prst="rect">
            <a:avLst/>
          </a:prstGeom>
        </p:spPr>
      </p:pic>
      <p:sp>
        <p:nvSpPr>
          <p:cNvPr id="18" name="text-408"/>
          <p:cNvSpPr txBox="1"/>
          <p:nvPr/>
        </p:nvSpPr>
        <p:spPr>
          <a:xfrm>
            <a:off x="6172200" y="5756801"/>
            <a:ext cx="5413248" cy="274320"/>
          </a:xfrm>
          <a:prstGeom prst="rect">
            <a:avLst/>
          </a:prstGeom>
          <a:noFill/>
          <a:ln/>
        </p:spPr>
        <p:txBody>
          <a:bodyPr wrap="square" lIns="0" tIns="0" rIns="0" bIns="0" rtlCol="0" anchor="t"/>
          <a:lstStyle/>
          <a:p>
            <a:pPr algn="ctr" indent="0" marL="0">
              <a:buNone/>
            </a:pPr>
            <a:r>
              <a:rPr lang="en-US" sz="1100" i="1" dirty="0">
                <a:solidFill>
                  <a:schemeClr val="bg2"/>
                </a:solidFill>
              </a:rPr>
              <a:t>Email Review — one composed email per segment, editable in the builder</a:t>
            </a:r>
            <a:endParaRPr lang="en-US" sz="1100" dirty="0"/>
          </a:p>
        </p:txBody>
      </p:sp>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241280" cy="640080"/>
          </a:xfrm>
          <a:prstGeom prst="rect">
            <a:avLst/>
          </a:prstGeom>
          <a:noFill/>
          <a:ln/>
        </p:spPr>
        <p:txBody>
          <a:bodyPr wrap="square" lIns="0" tIns="0" rIns="0" bIns="0" rtlCol="0" anchor="ctr"/>
          <a:lstStyle/>
          <a:p>
            <a:pPr algn="l" indent="0" marL="0">
              <a:buNone/>
            </a:pPr>
            <a:r>
              <a:rPr lang="en-US" sz="2800" b="1" dirty="0">
                <a:solidFill>
                  <a:schemeClr val="bg1"/>
                </a:solidFill>
                <a:latin typeface="Century Gothic" pitchFamily="34" charset="0"/>
                <a:ea typeface="Century Gothic" pitchFamily="34" charset="-122"/>
                <a:cs typeface="Century Gothic" pitchFamily="34" charset="-120"/>
              </a:rPr>
              <a:t>Ten checks between a draft and an inbox</a:t>
            </a:r>
            <a:endParaRPr lang="en-US" sz="2800" dirty="0"/>
          </a:p>
        </p:txBody>
      </p:sp>
      <p:sp>
        <p:nvSpPr>
          <p:cNvPr id="3" name="text-409"/>
          <p:cNvSpPr txBox="1"/>
          <p:nvPr/>
        </p:nvSpPr>
        <p:spPr>
          <a:xfrm>
            <a:off x="548640" y="1005840"/>
            <a:ext cx="10424160" cy="384048"/>
          </a:xfrm>
          <a:prstGeom prst="rect">
            <a:avLst/>
          </a:prstGeom>
          <a:noFill/>
          <a:ln/>
        </p:spPr>
        <p:txBody>
          <a:bodyPr wrap="square" lIns="0" tIns="0" rIns="0" bIns="0" rtlCol="0" anchor="t"/>
          <a:lstStyle/>
          <a:p>
            <a:pPr indent="0" marL="0">
              <a:buNone/>
            </a:pPr>
            <a:r>
              <a:rPr lang="en-US" sz="1600" dirty="0">
                <a:solidFill>
                  <a:schemeClr val="bg2"/>
                </a:solidFill>
              </a:rPr>
              <a:t>Deterministic, re-run after every edit. Any failed block check ⇒ BLOCK; any other failure ⇒ REVISE; none ⇒ PASS.</a:t>
            </a:r>
            <a:endParaRPr lang="en-US" sz="1600" dirty="0"/>
          </a:p>
        </p:txBody>
      </p:sp>
      <p:sp>
        <p:nvSpPr>
          <p:cNvPr id="5" name="glass-410"/>
          <p:cNvSpPr/>
          <p:nvPr/>
        </p:nvSpPr>
        <p:spPr>
          <a:xfrm>
            <a:off x="548640" y="1572768"/>
            <a:ext cx="2560320" cy="3383280"/>
          </a:xfrm>
          <a:prstGeom prst="roundRect">
            <a:avLst>
              <a:gd name="adj" fmla="val 5000"/>
            </a:avLst>
          </a:prstGeom>
          <a:solidFill>
            <a:schemeClr val="accent5">
              <a:alpha val="8000"/>
            </a:schemeClr>
          </a:solidFill>
          <a:ln w="12700">
            <a:solidFill>
              <a:schemeClr val="accent5">
                <a:alpha val="35000"/>
              </a:schemeClr>
            </a:solidFill>
            <a:prstDash val="solid"/>
          </a:ln>
        </p:spPr>
      </p:sp>
      <p:sp>
        <p:nvSpPr>
          <p:cNvPr id="6" name="text-411"/>
          <p:cNvSpPr txBox="1"/>
          <p:nvPr/>
        </p:nvSpPr>
        <p:spPr>
          <a:xfrm>
            <a:off x="731520" y="1691640"/>
            <a:ext cx="2194560" cy="274320"/>
          </a:xfrm>
          <a:prstGeom prst="rect">
            <a:avLst/>
          </a:prstGeom>
          <a:noFill/>
          <a:ln/>
        </p:spPr>
        <p:txBody>
          <a:bodyPr wrap="square" lIns="0" tIns="0" rIns="0" bIns="0" rtlCol="0" anchor="t"/>
          <a:lstStyle/>
          <a:p>
            <a:pPr indent="0" marL="0">
              <a:buNone/>
            </a:pPr>
            <a:r>
              <a:rPr lang="en-US" sz="1200" b="1" spc="150" kern="0" dirty="0">
                <a:solidFill>
                  <a:schemeClr val="accent5"/>
                </a:solidFill>
              </a:rPr>
              <a:t>COMPLIANCE</a:t>
            </a:r>
            <a:endParaRPr lang="en-US" sz="1200" dirty="0"/>
          </a:p>
        </p:txBody>
      </p:sp>
      <p:sp>
        <p:nvSpPr>
          <p:cNvPr id="7" name="text-412"/>
          <p:cNvSpPr txBox="1"/>
          <p:nvPr/>
        </p:nvSpPr>
        <p:spPr>
          <a:xfrm>
            <a:off x="731520" y="1947672"/>
            <a:ext cx="2194560" cy="274320"/>
          </a:xfrm>
          <a:prstGeom prst="rect">
            <a:avLst/>
          </a:prstGeom>
          <a:noFill/>
          <a:ln/>
        </p:spPr>
        <p:txBody>
          <a:bodyPr wrap="square" lIns="0" tIns="0" rIns="0" bIns="0" rtlCol="0" anchor="t"/>
          <a:lstStyle/>
          <a:p>
            <a:pPr indent="0" marL="0">
              <a:buNone/>
            </a:pPr>
            <a:r>
              <a:rPr lang="en-US" sz="1200" i="1" dirty="0">
                <a:solidFill>
                  <a:schemeClr val="bg2"/>
                </a:solidFill>
              </a:rPr>
              <a:t>may we lawfully send this?</a:t>
            </a:r>
            <a:endParaRPr lang="en-US" sz="1200" dirty="0"/>
          </a:p>
        </p:txBody>
      </p:sp>
      <p:sp>
        <p:nvSpPr>
          <p:cNvPr id="8" name="check-413"/>
          <p:cNvSpPr/>
          <p:nvPr/>
        </p:nvSpPr>
        <p:spPr>
          <a:xfrm>
            <a:off x="685800" y="2331720"/>
            <a:ext cx="2286000" cy="548640"/>
          </a:xfrm>
          <a:prstGeom prst="roundRect">
            <a:avLst>
              <a:gd name="adj" fmla="val 13333"/>
            </a:avLst>
          </a:prstGeom>
          <a:solidFill>
            <a:schemeClr val="tx1">
              <a:alpha val="75000"/>
            </a:schemeClr>
          </a:solidFill>
          <a:ln w="6350">
            <a:solidFill>
              <a:schemeClr val="bg2">
                <a:alpha val="20000"/>
              </a:schemeClr>
            </a:solidFill>
            <a:prstDash val="solid"/>
          </a:ln>
        </p:spPr>
      </p:sp>
      <p:sp>
        <p:nvSpPr>
          <p:cNvPr id="9" name="text-414"/>
          <p:cNvSpPr txBox="1"/>
          <p:nvPr/>
        </p:nvSpPr>
        <p:spPr>
          <a:xfrm>
            <a:off x="795528" y="2331720"/>
            <a:ext cx="1417320" cy="548640"/>
          </a:xfrm>
          <a:prstGeom prst="rect">
            <a:avLst/>
          </a:prstGeom>
          <a:noFill/>
          <a:ln/>
        </p:spPr>
        <p:txBody>
          <a:bodyPr wrap="square" lIns="0" tIns="0" rIns="0" bIns="0" rtlCol="0" anchor="ctr"/>
          <a:lstStyle/>
          <a:p>
            <a:pPr indent="0" marL="0">
              <a:buNone/>
            </a:pPr>
            <a:r>
              <a:rPr lang="en-US" sz="1250" b="1" dirty="0">
                <a:solidFill>
                  <a:schemeClr val="bg1"/>
                </a:solidFill>
              </a:rPr>
              <a:t>Marketing consent</a:t>
            </a:r>
            <a:endParaRPr lang="en-US" sz="1250" dirty="0"/>
          </a:p>
        </p:txBody>
      </p:sp>
      <p:sp>
        <p:nvSpPr>
          <p:cNvPr id="10" name="chip-415"/>
          <p:cNvSpPr/>
          <p:nvPr/>
        </p:nvSpPr>
        <p:spPr>
          <a:xfrm>
            <a:off x="2258568" y="2478024"/>
            <a:ext cx="640080" cy="256032"/>
          </a:xfrm>
          <a:prstGeom prst="roundRect">
            <a:avLst>
              <a:gd name="adj" fmla="val 50000"/>
            </a:avLst>
          </a:prstGeom>
          <a:solidFill>
            <a:schemeClr val="accent6">
              <a:alpha val="20000"/>
            </a:schemeClr>
          </a:solidFill>
          <a:ln w="9525">
            <a:solidFill>
              <a:schemeClr val="accent6">
                <a:alpha val="60000"/>
              </a:schemeClr>
            </a:solidFill>
            <a:prstDash val="solid"/>
          </a:ln>
        </p:spPr>
      </p:sp>
      <p:sp>
        <p:nvSpPr>
          <p:cNvPr id="11" name="text-416"/>
          <p:cNvSpPr txBox="1"/>
          <p:nvPr/>
        </p:nvSpPr>
        <p:spPr>
          <a:xfrm>
            <a:off x="2258568" y="2478024"/>
            <a:ext cx="640080" cy="256032"/>
          </a:xfrm>
          <a:prstGeom prst="rect">
            <a:avLst/>
          </a:prstGeom>
          <a:noFill/>
          <a:ln/>
        </p:spPr>
        <p:txBody>
          <a:bodyPr wrap="square" lIns="0" tIns="0" rIns="0" bIns="0" rtlCol="0" anchor="ctr"/>
          <a:lstStyle/>
          <a:p>
            <a:pPr algn="ctr" indent="0" marL="0">
              <a:buNone/>
            </a:pPr>
            <a:r>
              <a:rPr lang="en-US" sz="1050" b="1" dirty="0">
                <a:solidFill>
                  <a:schemeClr val="accent6"/>
                </a:solidFill>
              </a:rPr>
              <a:t>block</a:t>
            </a:r>
            <a:endParaRPr lang="en-US" sz="1050" dirty="0"/>
          </a:p>
        </p:txBody>
      </p:sp>
      <p:sp>
        <p:nvSpPr>
          <p:cNvPr id="12" name="check-417"/>
          <p:cNvSpPr/>
          <p:nvPr/>
        </p:nvSpPr>
        <p:spPr>
          <a:xfrm>
            <a:off x="685800" y="2971800"/>
            <a:ext cx="2286000" cy="548640"/>
          </a:xfrm>
          <a:prstGeom prst="roundRect">
            <a:avLst>
              <a:gd name="adj" fmla="val 13333"/>
            </a:avLst>
          </a:prstGeom>
          <a:solidFill>
            <a:schemeClr val="tx1">
              <a:alpha val="75000"/>
            </a:schemeClr>
          </a:solidFill>
          <a:ln w="6350">
            <a:solidFill>
              <a:schemeClr val="bg2">
                <a:alpha val="20000"/>
              </a:schemeClr>
            </a:solidFill>
            <a:prstDash val="solid"/>
          </a:ln>
        </p:spPr>
      </p:sp>
      <p:sp>
        <p:nvSpPr>
          <p:cNvPr id="13" name="text-418"/>
          <p:cNvSpPr txBox="1"/>
          <p:nvPr/>
        </p:nvSpPr>
        <p:spPr>
          <a:xfrm>
            <a:off x="795528" y="2971800"/>
            <a:ext cx="1417320" cy="548640"/>
          </a:xfrm>
          <a:prstGeom prst="rect">
            <a:avLst/>
          </a:prstGeom>
          <a:noFill/>
          <a:ln/>
        </p:spPr>
        <p:txBody>
          <a:bodyPr wrap="square" lIns="0" tIns="0" rIns="0" bIns="0" rtlCol="0" anchor="ctr"/>
          <a:lstStyle/>
          <a:p>
            <a:pPr indent="0" marL="0">
              <a:buNone/>
            </a:pPr>
            <a:r>
              <a:rPr lang="en-US" sz="1250" b="1" dirty="0">
                <a:solidFill>
                  <a:schemeClr val="bg1"/>
                </a:solidFill>
              </a:rPr>
              <a:t>Unsubscribe route</a:t>
            </a:r>
            <a:endParaRPr lang="en-US" sz="1250" dirty="0"/>
          </a:p>
        </p:txBody>
      </p:sp>
      <p:sp>
        <p:nvSpPr>
          <p:cNvPr id="14" name="chip-419"/>
          <p:cNvSpPr/>
          <p:nvPr/>
        </p:nvSpPr>
        <p:spPr>
          <a:xfrm>
            <a:off x="2258568" y="3118104"/>
            <a:ext cx="640080" cy="256032"/>
          </a:xfrm>
          <a:prstGeom prst="roundRect">
            <a:avLst>
              <a:gd name="adj" fmla="val 50000"/>
            </a:avLst>
          </a:prstGeom>
          <a:solidFill>
            <a:schemeClr val="accent6">
              <a:alpha val="20000"/>
            </a:schemeClr>
          </a:solidFill>
          <a:ln w="9525">
            <a:solidFill>
              <a:schemeClr val="accent6">
                <a:alpha val="60000"/>
              </a:schemeClr>
            </a:solidFill>
            <a:prstDash val="solid"/>
          </a:ln>
        </p:spPr>
      </p:sp>
      <p:sp>
        <p:nvSpPr>
          <p:cNvPr id="15" name="text-420"/>
          <p:cNvSpPr txBox="1"/>
          <p:nvPr/>
        </p:nvSpPr>
        <p:spPr>
          <a:xfrm>
            <a:off x="2258568" y="3118104"/>
            <a:ext cx="640080" cy="256032"/>
          </a:xfrm>
          <a:prstGeom prst="rect">
            <a:avLst/>
          </a:prstGeom>
          <a:noFill/>
          <a:ln/>
        </p:spPr>
        <p:txBody>
          <a:bodyPr wrap="square" lIns="0" tIns="0" rIns="0" bIns="0" rtlCol="0" anchor="ctr"/>
          <a:lstStyle/>
          <a:p>
            <a:pPr algn="ctr" indent="0" marL="0">
              <a:buNone/>
            </a:pPr>
            <a:r>
              <a:rPr lang="en-US" sz="1050" b="1" dirty="0">
                <a:solidFill>
                  <a:schemeClr val="accent6"/>
                </a:solidFill>
              </a:rPr>
              <a:t>block</a:t>
            </a:r>
            <a:endParaRPr lang="en-US" sz="1050" dirty="0"/>
          </a:p>
        </p:txBody>
      </p:sp>
      <p:sp>
        <p:nvSpPr>
          <p:cNvPr id="16" name="check-421"/>
          <p:cNvSpPr/>
          <p:nvPr/>
        </p:nvSpPr>
        <p:spPr>
          <a:xfrm>
            <a:off x="685800" y="3611880"/>
            <a:ext cx="2286000" cy="548640"/>
          </a:xfrm>
          <a:prstGeom prst="roundRect">
            <a:avLst>
              <a:gd name="adj" fmla="val 13333"/>
            </a:avLst>
          </a:prstGeom>
          <a:solidFill>
            <a:schemeClr val="tx1">
              <a:alpha val="75000"/>
            </a:schemeClr>
          </a:solidFill>
          <a:ln w="6350">
            <a:solidFill>
              <a:schemeClr val="bg2">
                <a:alpha val="20000"/>
              </a:schemeClr>
            </a:solidFill>
            <a:prstDash val="solid"/>
          </a:ln>
        </p:spPr>
      </p:sp>
      <p:sp>
        <p:nvSpPr>
          <p:cNvPr id="17" name="text-422"/>
          <p:cNvSpPr txBox="1"/>
          <p:nvPr/>
        </p:nvSpPr>
        <p:spPr>
          <a:xfrm>
            <a:off x="795528" y="3611880"/>
            <a:ext cx="1417320" cy="548640"/>
          </a:xfrm>
          <a:prstGeom prst="rect">
            <a:avLst/>
          </a:prstGeom>
          <a:noFill/>
          <a:ln/>
        </p:spPr>
        <p:txBody>
          <a:bodyPr wrap="square" lIns="0" tIns="0" rIns="0" bIns="0" rtlCol="0" anchor="ctr"/>
          <a:lstStyle/>
          <a:p>
            <a:pPr indent="0" marL="0">
              <a:buNone/>
            </a:pPr>
            <a:r>
              <a:rPr lang="en-US" sz="1250" b="1" dirty="0">
                <a:solidFill>
                  <a:schemeClr val="bg1"/>
                </a:solidFill>
              </a:rPr>
              <a:t>No leaked identifiers</a:t>
            </a:r>
            <a:endParaRPr lang="en-US" sz="1250" dirty="0"/>
          </a:p>
        </p:txBody>
      </p:sp>
      <p:sp>
        <p:nvSpPr>
          <p:cNvPr id="18" name="chip-423"/>
          <p:cNvSpPr/>
          <p:nvPr/>
        </p:nvSpPr>
        <p:spPr>
          <a:xfrm>
            <a:off x="2258568" y="3758184"/>
            <a:ext cx="640080" cy="256032"/>
          </a:xfrm>
          <a:prstGeom prst="roundRect">
            <a:avLst>
              <a:gd name="adj" fmla="val 50000"/>
            </a:avLst>
          </a:prstGeom>
          <a:solidFill>
            <a:schemeClr val="accent6">
              <a:alpha val="20000"/>
            </a:schemeClr>
          </a:solidFill>
          <a:ln w="9525">
            <a:solidFill>
              <a:schemeClr val="accent6">
                <a:alpha val="60000"/>
              </a:schemeClr>
            </a:solidFill>
            <a:prstDash val="solid"/>
          </a:ln>
        </p:spPr>
      </p:sp>
      <p:sp>
        <p:nvSpPr>
          <p:cNvPr id="19" name="text-424"/>
          <p:cNvSpPr txBox="1"/>
          <p:nvPr/>
        </p:nvSpPr>
        <p:spPr>
          <a:xfrm>
            <a:off x="2258568" y="3758184"/>
            <a:ext cx="640080" cy="256032"/>
          </a:xfrm>
          <a:prstGeom prst="rect">
            <a:avLst/>
          </a:prstGeom>
          <a:noFill/>
          <a:ln/>
        </p:spPr>
        <p:txBody>
          <a:bodyPr wrap="square" lIns="0" tIns="0" rIns="0" bIns="0" rtlCol="0" anchor="ctr"/>
          <a:lstStyle/>
          <a:p>
            <a:pPr algn="ctr" indent="0" marL="0">
              <a:buNone/>
            </a:pPr>
            <a:r>
              <a:rPr lang="en-US" sz="1050" b="1" dirty="0">
                <a:solidFill>
                  <a:schemeClr val="accent6"/>
                </a:solidFill>
              </a:rPr>
              <a:t>block</a:t>
            </a:r>
            <a:endParaRPr lang="en-US" sz="1050" dirty="0"/>
          </a:p>
        </p:txBody>
      </p:sp>
      <p:sp>
        <p:nvSpPr>
          <p:cNvPr id="20" name="check-425"/>
          <p:cNvSpPr/>
          <p:nvPr/>
        </p:nvSpPr>
        <p:spPr>
          <a:xfrm>
            <a:off x="685800" y="4251960"/>
            <a:ext cx="2286000" cy="548640"/>
          </a:xfrm>
          <a:prstGeom prst="roundRect">
            <a:avLst>
              <a:gd name="adj" fmla="val 13333"/>
            </a:avLst>
          </a:prstGeom>
          <a:solidFill>
            <a:schemeClr val="tx1">
              <a:alpha val="75000"/>
            </a:schemeClr>
          </a:solidFill>
          <a:ln w="6350">
            <a:solidFill>
              <a:schemeClr val="bg2">
                <a:alpha val="20000"/>
              </a:schemeClr>
            </a:solidFill>
            <a:prstDash val="solid"/>
          </a:ln>
        </p:spPr>
      </p:sp>
      <p:sp>
        <p:nvSpPr>
          <p:cNvPr id="21" name="text-426"/>
          <p:cNvSpPr txBox="1"/>
          <p:nvPr/>
        </p:nvSpPr>
        <p:spPr>
          <a:xfrm>
            <a:off x="795528" y="4251960"/>
            <a:ext cx="1417320" cy="548640"/>
          </a:xfrm>
          <a:prstGeom prst="rect">
            <a:avLst/>
          </a:prstGeom>
          <a:noFill/>
          <a:ln/>
        </p:spPr>
        <p:txBody>
          <a:bodyPr wrap="square" lIns="0" tIns="0" rIns="0" bIns="0" rtlCol="0" anchor="ctr"/>
          <a:lstStyle/>
          <a:p>
            <a:pPr indent="0" marL="0">
              <a:buNone/>
            </a:pPr>
            <a:r>
              <a:rPr lang="en-US" sz="1250" b="1" dirty="0">
                <a:solidFill>
                  <a:schemeClr val="bg1"/>
                </a:solidFill>
              </a:rPr>
              <a:t>Protected-attribute proxy</a:t>
            </a:r>
            <a:endParaRPr lang="en-US" sz="1250" dirty="0"/>
          </a:p>
        </p:txBody>
      </p:sp>
      <p:sp>
        <p:nvSpPr>
          <p:cNvPr id="22" name="chip-427"/>
          <p:cNvSpPr/>
          <p:nvPr/>
        </p:nvSpPr>
        <p:spPr>
          <a:xfrm>
            <a:off x="2258568" y="4398264"/>
            <a:ext cx="640080" cy="256032"/>
          </a:xfrm>
          <a:prstGeom prst="roundRect">
            <a:avLst>
              <a:gd name="adj" fmla="val 50000"/>
            </a:avLst>
          </a:prstGeom>
          <a:solidFill>
            <a:schemeClr val="accent3">
              <a:alpha val="20000"/>
            </a:schemeClr>
          </a:solidFill>
          <a:ln w="9525">
            <a:solidFill>
              <a:schemeClr val="accent3">
                <a:alpha val="60000"/>
              </a:schemeClr>
            </a:solidFill>
            <a:prstDash val="solid"/>
          </a:ln>
        </p:spPr>
      </p:sp>
      <p:sp>
        <p:nvSpPr>
          <p:cNvPr id="23" name="text-428"/>
          <p:cNvSpPr txBox="1"/>
          <p:nvPr/>
        </p:nvSpPr>
        <p:spPr>
          <a:xfrm>
            <a:off x="2258568" y="4398264"/>
            <a:ext cx="640080" cy="256032"/>
          </a:xfrm>
          <a:prstGeom prst="rect">
            <a:avLst/>
          </a:prstGeom>
          <a:noFill/>
          <a:ln/>
        </p:spPr>
        <p:txBody>
          <a:bodyPr wrap="square" lIns="0" tIns="0" rIns="0" bIns="0" rtlCol="0" anchor="ctr"/>
          <a:lstStyle/>
          <a:p>
            <a:pPr algn="ctr" indent="0" marL="0">
              <a:buNone/>
            </a:pPr>
            <a:r>
              <a:rPr lang="en-US" sz="1050" b="1" dirty="0">
                <a:solidFill>
                  <a:schemeClr val="accent3"/>
                </a:solidFill>
              </a:rPr>
              <a:t>revise</a:t>
            </a:r>
            <a:endParaRPr lang="en-US" sz="1050" dirty="0"/>
          </a:p>
        </p:txBody>
      </p:sp>
      <p:sp>
        <p:nvSpPr>
          <p:cNvPr id="24" name="glass-429"/>
          <p:cNvSpPr/>
          <p:nvPr/>
        </p:nvSpPr>
        <p:spPr>
          <a:xfrm>
            <a:off x="3246120" y="1572768"/>
            <a:ext cx="2560320" cy="3383280"/>
          </a:xfrm>
          <a:prstGeom prst="roundRect">
            <a:avLst>
              <a:gd name="adj" fmla="val 5000"/>
            </a:avLst>
          </a:prstGeom>
          <a:solidFill>
            <a:schemeClr val="accent5">
              <a:alpha val="8000"/>
            </a:schemeClr>
          </a:solidFill>
          <a:ln w="12700">
            <a:solidFill>
              <a:schemeClr val="accent5">
                <a:alpha val="35000"/>
              </a:schemeClr>
            </a:solidFill>
            <a:prstDash val="solid"/>
          </a:ln>
        </p:spPr>
      </p:sp>
      <p:sp>
        <p:nvSpPr>
          <p:cNvPr id="25" name="text-430"/>
          <p:cNvSpPr txBox="1"/>
          <p:nvPr/>
        </p:nvSpPr>
        <p:spPr>
          <a:xfrm>
            <a:off x="3429000" y="1691640"/>
            <a:ext cx="2194560" cy="274320"/>
          </a:xfrm>
          <a:prstGeom prst="rect">
            <a:avLst/>
          </a:prstGeom>
          <a:noFill/>
          <a:ln/>
        </p:spPr>
        <p:txBody>
          <a:bodyPr wrap="square" lIns="0" tIns="0" rIns="0" bIns="0" rtlCol="0" anchor="t"/>
          <a:lstStyle/>
          <a:p>
            <a:pPr indent="0" marL="0">
              <a:buNone/>
            </a:pPr>
            <a:r>
              <a:rPr lang="en-US" sz="1200" b="1" spc="150" kern="0" dirty="0">
                <a:solidFill>
                  <a:schemeClr val="accent5"/>
                </a:solidFill>
              </a:rPr>
              <a:t>CONTENT</a:t>
            </a:r>
            <a:endParaRPr lang="en-US" sz="1200" dirty="0"/>
          </a:p>
        </p:txBody>
      </p:sp>
      <p:sp>
        <p:nvSpPr>
          <p:cNvPr id="26" name="text-431"/>
          <p:cNvSpPr txBox="1"/>
          <p:nvPr/>
        </p:nvSpPr>
        <p:spPr>
          <a:xfrm>
            <a:off x="3429000" y="1947672"/>
            <a:ext cx="2194560" cy="274320"/>
          </a:xfrm>
          <a:prstGeom prst="rect">
            <a:avLst/>
          </a:prstGeom>
          <a:noFill/>
          <a:ln/>
        </p:spPr>
        <p:txBody>
          <a:bodyPr wrap="square" lIns="0" tIns="0" rIns="0" bIns="0" rtlCol="0" anchor="t"/>
          <a:lstStyle/>
          <a:p>
            <a:pPr indent="0" marL="0">
              <a:buNone/>
            </a:pPr>
            <a:r>
              <a:rPr lang="en-US" sz="1200" i="1" dirty="0">
                <a:solidFill>
                  <a:schemeClr val="bg2"/>
                </a:solidFill>
              </a:rPr>
              <a:t>does the copy hold up?</a:t>
            </a:r>
            <a:endParaRPr lang="en-US" sz="1200" dirty="0"/>
          </a:p>
        </p:txBody>
      </p:sp>
      <p:sp>
        <p:nvSpPr>
          <p:cNvPr id="27" name="check-432"/>
          <p:cNvSpPr/>
          <p:nvPr/>
        </p:nvSpPr>
        <p:spPr>
          <a:xfrm>
            <a:off x="3383280" y="2331720"/>
            <a:ext cx="2286000" cy="548640"/>
          </a:xfrm>
          <a:prstGeom prst="roundRect">
            <a:avLst>
              <a:gd name="adj" fmla="val 13333"/>
            </a:avLst>
          </a:prstGeom>
          <a:solidFill>
            <a:schemeClr val="tx1">
              <a:alpha val="75000"/>
            </a:schemeClr>
          </a:solidFill>
          <a:ln w="6350">
            <a:solidFill>
              <a:schemeClr val="bg2">
                <a:alpha val="20000"/>
              </a:schemeClr>
            </a:solidFill>
            <a:prstDash val="solid"/>
          </a:ln>
        </p:spPr>
      </p:sp>
      <p:sp>
        <p:nvSpPr>
          <p:cNvPr id="28" name="text-433"/>
          <p:cNvSpPr txBox="1"/>
          <p:nvPr/>
        </p:nvSpPr>
        <p:spPr>
          <a:xfrm>
            <a:off x="3493008" y="2331720"/>
            <a:ext cx="1417320" cy="548640"/>
          </a:xfrm>
          <a:prstGeom prst="rect">
            <a:avLst/>
          </a:prstGeom>
          <a:noFill/>
          <a:ln/>
        </p:spPr>
        <p:txBody>
          <a:bodyPr wrap="square" lIns="0" tIns="0" rIns="0" bIns="0" rtlCol="0" anchor="ctr"/>
          <a:lstStyle/>
          <a:p>
            <a:pPr indent="0" marL="0">
              <a:buNone/>
            </a:pPr>
            <a:r>
              <a:rPr lang="en-US" sz="1250" b="1" dirty="0">
                <a:solidFill>
                  <a:schemeClr val="bg1"/>
                </a:solidFill>
              </a:rPr>
              <a:t>No instruction injection</a:t>
            </a:r>
            <a:endParaRPr lang="en-US" sz="1250" dirty="0"/>
          </a:p>
        </p:txBody>
      </p:sp>
      <p:sp>
        <p:nvSpPr>
          <p:cNvPr id="29" name="chip-434"/>
          <p:cNvSpPr/>
          <p:nvPr/>
        </p:nvSpPr>
        <p:spPr>
          <a:xfrm>
            <a:off x="4956048" y="2478024"/>
            <a:ext cx="640080" cy="256032"/>
          </a:xfrm>
          <a:prstGeom prst="roundRect">
            <a:avLst>
              <a:gd name="adj" fmla="val 50000"/>
            </a:avLst>
          </a:prstGeom>
          <a:solidFill>
            <a:schemeClr val="accent6">
              <a:alpha val="20000"/>
            </a:schemeClr>
          </a:solidFill>
          <a:ln w="9525">
            <a:solidFill>
              <a:schemeClr val="accent6">
                <a:alpha val="60000"/>
              </a:schemeClr>
            </a:solidFill>
            <a:prstDash val="solid"/>
          </a:ln>
        </p:spPr>
      </p:sp>
      <p:sp>
        <p:nvSpPr>
          <p:cNvPr id="30" name="text-435"/>
          <p:cNvSpPr txBox="1"/>
          <p:nvPr/>
        </p:nvSpPr>
        <p:spPr>
          <a:xfrm>
            <a:off x="4956048" y="2478024"/>
            <a:ext cx="640080" cy="256032"/>
          </a:xfrm>
          <a:prstGeom prst="rect">
            <a:avLst/>
          </a:prstGeom>
          <a:noFill/>
          <a:ln/>
        </p:spPr>
        <p:txBody>
          <a:bodyPr wrap="square" lIns="0" tIns="0" rIns="0" bIns="0" rtlCol="0" anchor="ctr"/>
          <a:lstStyle/>
          <a:p>
            <a:pPr algn="ctr" indent="0" marL="0">
              <a:buNone/>
            </a:pPr>
            <a:r>
              <a:rPr lang="en-US" sz="1050" b="1" dirty="0">
                <a:solidFill>
                  <a:schemeClr val="accent6"/>
                </a:solidFill>
              </a:rPr>
              <a:t>block</a:t>
            </a:r>
            <a:endParaRPr lang="en-US" sz="1050" dirty="0"/>
          </a:p>
        </p:txBody>
      </p:sp>
      <p:sp>
        <p:nvSpPr>
          <p:cNvPr id="31" name="check-436"/>
          <p:cNvSpPr/>
          <p:nvPr/>
        </p:nvSpPr>
        <p:spPr>
          <a:xfrm>
            <a:off x="3383280" y="2971800"/>
            <a:ext cx="2286000" cy="548640"/>
          </a:xfrm>
          <a:prstGeom prst="roundRect">
            <a:avLst>
              <a:gd name="adj" fmla="val 13333"/>
            </a:avLst>
          </a:prstGeom>
          <a:solidFill>
            <a:schemeClr val="tx1">
              <a:alpha val="75000"/>
            </a:schemeClr>
          </a:solidFill>
          <a:ln w="6350">
            <a:solidFill>
              <a:schemeClr val="bg2">
                <a:alpha val="20000"/>
              </a:schemeClr>
            </a:solidFill>
            <a:prstDash val="solid"/>
          </a:ln>
        </p:spPr>
      </p:sp>
      <p:sp>
        <p:nvSpPr>
          <p:cNvPr id="32" name="text-437"/>
          <p:cNvSpPr txBox="1"/>
          <p:nvPr/>
        </p:nvSpPr>
        <p:spPr>
          <a:xfrm>
            <a:off x="3493008" y="2971800"/>
            <a:ext cx="1417320" cy="548640"/>
          </a:xfrm>
          <a:prstGeom prst="rect">
            <a:avLst/>
          </a:prstGeom>
          <a:noFill/>
          <a:ln/>
        </p:spPr>
        <p:txBody>
          <a:bodyPr wrap="square" lIns="0" tIns="0" rIns="0" bIns="0" rtlCol="0" anchor="ctr"/>
          <a:lstStyle/>
          <a:p>
            <a:pPr indent="0" marL="0">
              <a:buNone/>
            </a:pPr>
            <a:r>
              <a:rPr lang="en-US" sz="1250" b="1" dirty="0">
                <a:solidFill>
                  <a:schemeClr val="bg1"/>
                </a:solidFill>
              </a:rPr>
              <a:t>Offer grounding</a:t>
            </a:r>
            <a:endParaRPr lang="en-US" sz="1250" dirty="0"/>
          </a:p>
        </p:txBody>
      </p:sp>
      <p:sp>
        <p:nvSpPr>
          <p:cNvPr id="33" name="chip-438"/>
          <p:cNvSpPr/>
          <p:nvPr/>
        </p:nvSpPr>
        <p:spPr>
          <a:xfrm>
            <a:off x="4956048" y="3118104"/>
            <a:ext cx="640080" cy="256032"/>
          </a:xfrm>
          <a:prstGeom prst="roundRect">
            <a:avLst>
              <a:gd name="adj" fmla="val 50000"/>
            </a:avLst>
          </a:prstGeom>
          <a:solidFill>
            <a:schemeClr val="accent3">
              <a:alpha val="20000"/>
            </a:schemeClr>
          </a:solidFill>
          <a:ln w="9525">
            <a:solidFill>
              <a:schemeClr val="accent3">
                <a:alpha val="60000"/>
              </a:schemeClr>
            </a:solidFill>
            <a:prstDash val="solid"/>
          </a:ln>
        </p:spPr>
      </p:sp>
      <p:sp>
        <p:nvSpPr>
          <p:cNvPr id="34" name="text-439"/>
          <p:cNvSpPr txBox="1"/>
          <p:nvPr/>
        </p:nvSpPr>
        <p:spPr>
          <a:xfrm>
            <a:off x="4956048" y="3118104"/>
            <a:ext cx="640080" cy="256032"/>
          </a:xfrm>
          <a:prstGeom prst="rect">
            <a:avLst/>
          </a:prstGeom>
          <a:noFill/>
          <a:ln/>
        </p:spPr>
        <p:txBody>
          <a:bodyPr wrap="square" lIns="0" tIns="0" rIns="0" bIns="0" rtlCol="0" anchor="ctr"/>
          <a:lstStyle/>
          <a:p>
            <a:pPr algn="ctr" indent="0" marL="0">
              <a:buNone/>
            </a:pPr>
            <a:r>
              <a:rPr lang="en-US" sz="1050" b="1" dirty="0">
                <a:solidFill>
                  <a:schemeClr val="accent3"/>
                </a:solidFill>
              </a:rPr>
              <a:t>revise</a:t>
            </a:r>
            <a:endParaRPr lang="en-US" sz="1050" dirty="0"/>
          </a:p>
        </p:txBody>
      </p:sp>
      <p:sp>
        <p:nvSpPr>
          <p:cNvPr id="35" name="check-440"/>
          <p:cNvSpPr/>
          <p:nvPr/>
        </p:nvSpPr>
        <p:spPr>
          <a:xfrm>
            <a:off x="3383280" y="3611880"/>
            <a:ext cx="2286000" cy="548640"/>
          </a:xfrm>
          <a:prstGeom prst="roundRect">
            <a:avLst>
              <a:gd name="adj" fmla="val 13333"/>
            </a:avLst>
          </a:prstGeom>
          <a:solidFill>
            <a:schemeClr val="tx1">
              <a:alpha val="75000"/>
            </a:schemeClr>
          </a:solidFill>
          <a:ln w="6350">
            <a:solidFill>
              <a:schemeClr val="bg2">
                <a:alpha val="20000"/>
              </a:schemeClr>
            </a:solidFill>
            <a:prstDash val="solid"/>
          </a:ln>
        </p:spPr>
      </p:sp>
      <p:sp>
        <p:nvSpPr>
          <p:cNvPr id="36" name="text-441"/>
          <p:cNvSpPr txBox="1"/>
          <p:nvPr/>
        </p:nvSpPr>
        <p:spPr>
          <a:xfrm>
            <a:off x="3493008" y="3611880"/>
            <a:ext cx="1417320" cy="548640"/>
          </a:xfrm>
          <a:prstGeom prst="rect">
            <a:avLst/>
          </a:prstGeom>
          <a:noFill/>
          <a:ln/>
        </p:spPr>
        <p:txBody>
          <a:bodyPr wrap="square" lIns="0" tIns="0" rIns="0" bIns="0" rtlCol="0" anchor="ctr"/>
          <a:lstStyle/>
          <a:p>
            <a:pPr indent="0" marL="0">
              <a:buNone/>
            </a:pPr>
            <a:r>
              <a:rPr lang="en-US" sz="1250" b="1" dirty="0">
                <a:solidFill>
                  <a:schemeClr val="bg1"/>
                </a:solidFill>
              </a:rPr>
              <a:t>Personalisation tags</a:t>
            </a:r>
            <a:endParaRPr lang="en-US" sz="1250" dirty="0"/>
          </a:p>
        </p:txBody>
      </p:sp>
      <p:sp>
        <p:nvSpPr>
          <p:cNvPr id="37" name="chip-442"/>
          <p:cNvSpPr/>
          <p:nvPr/>
        </p:nvSpPr>
        <p:spPr>
          <a:xfrm>
            <a:off x="4956048" y="3758184"/>
            <a:ext cx="640080" cy="256032"/>
          </a:xfrm>
          <a:prstGeom prst="roundRect">
            <a:avLst>
              <a:gd name="adj" fmla="val 50000"/>
            </a:avLst>
          </a:prstGeom>
          <a:solidFill>
            <a:schemeClr val="accent6">
              <a:alpha val="20000"/>
            </a:schemeClr>
          </a:solidFill>
          <a:ln w="9525">
            <a:solidFill>
              <a:schemeClr val="accent6">
                <a:alpha val="60000"/>
              </a:schemeClr>
            </a:solidFill>
            <a:prstDash val="solid"/>
          </a:ln>
        </p:spPr>
      </p:sp>
      <p:sp>
        <p:nvSpPr>
          <p:cNvPr id="38" name="text-443"/>
          <p:cNvSpPr txBox="1"/>
          <p:nvPr/>
        </p:nvSpPr>
        <p:spPr>
          <a:xfrm>
            <a:off x="4956048" y="3758184"/>
            <a:ext cx="640080" cy="256032"/>
          </a:xfrm>
          <a:prstGeom prst="rect">
            <a:avLst/>
          </a:prstGeom>
          <a:noFill/>
          <a:ln/>
        </p:spPr>
        <p:txBody>
          <a:bodyPr wrap="square" lIns="0" tIns="0" rIns="0" bIns="0" rtlCol="0" anchor="ctr"/>
          <a:lstStyle/>
          <a:p>
            <a:pPr algn="ctr" indent="0" marL="0">
              <a:buNone/>
            </a:pPr>
            <a:r>
              <a:rPr lang="en-US" sz="1050" b="1" dirty="0">
                <a:solidFill>
                  <a:schemeClr val="accent6"/>
                </a:solidFill>
              </a:rPr>
              <a:t>block</a:t>
            </a:r>
            <a:endParaRPr lang="en-US" sz="1050" dirty="0"/>
          </a:p>
        </p:txBody>
      </p:sp>
      <p:sp>
        <p:nvSpPr>
          <p:cNvPr id="39" name="glass-444"/>
          <p:cNvSpPr/>
          <p:nvPr/>
        </p:nvSpPr>
        <p:spPr>
          <a:xfrm>
            <a:off x="5943600" y="1572768"/>
            <a:ext cx="2560320" cy="3383280"/>
          </a:xfrm>
          <a:prstGeom prst="roundRect">
            <a:avLst>
              <a:gd name="adj" fmla="val 5000"/>
            </a:avLst>
          </a:prstGeom>
          <a:solidFill>
            <a:schemeClr val="accent5">
              <a:alpha val="8000"/>
            </a:schemeClr>
          </a:solidFill>
          <a:ln w="12700">
            <a:solidFill>
              <a:schemeClr val="accent5">
                <a:alpha val="35000"/>
              </a:schemeClr>
            </a:solidFill>
            <a:prstDash val="solid"/>
          </a:ln>
        </p:spPr>
      </p:sp>
      <p:sp>
        <p:nvSpPr>
          <p:cNvPr id="40" name="text-445"/>
          <p:cNvSpPr txBox="1"/>
          <p:nvPr/>
        </p:nvSpPr>
        <p:spPr>
          <a:xfrm>
            <a:off x="6126480" y="1691640"/>
            <a:ext cx="2194560" cy="274320"/>
          </a:xfrm>
          <a:prstGeom prst="rect">
            <a:avLst/>
          </a:prstGeom>
          <a:noFill/>
          <a:ln/>
        </p:spPr>
        <p:txBody>
          <a:bodyPr wrap="square" lIns="0" tIns="0" rIns="0" bIns="0" rtlCol="0" anchor="t"/>
          <a:lstStyle/>
          <a:p>
            <a:pPr indent="0" marL="0">
              <a:buNone/>
            </a:pPr>
            <a:r>
              <a:rPr lang="en-US" sz="1200" b="1" spc="150" kern="0" dirty="0">
                <a:solidFill>
                  <a:schemeClr val="accent5"/>
                </a:solidFill>
              </a:rPr>
              <a:t>DELIVERABILITY</a:t>
            </a:r>
            <a:endParaRPr lang="en-US" sz="1200" dirty="0"/>
          </a:p>
        </p:txBody>
      </p:sp>
      <p:sp>
        <p:nvSpPr>
          <p:cNvPr id="41" name="text-446"/>
          <p:cNvSpPr txBox="1"/>
          <p:nvPr/>
        </p:nvSpPr>
        <p:spPr>
          <a:xfrm>
            <a:off x="6126480" y="1947672"/>
            <a:ext cx="2194560" cy="274320"/>
          </a:xfrm>
          <a:prstGeom prst="rect">
            <a:avLst/>
          </a:prstGeom>
          <a:noFill/>
          <a:ln/>
        </p:spPr>
        <p:txBody>
          <a:bodyPr wrap="square" lIns="0" tIns="0" rIns="0" bIns="0" rtlCol="0" anchor="t"/>
          <a:lstStyle/>
          <a:p>
            <a:pPr indent="0" marL="0">
              <a:buNone/>
            </a:pPr>
            <a:r>
              <a:rPr lang="en-US" sz="1200" i="1" dirty="0">
                <a:solidFill>
                  <a:schemeClr val="bg2"/>
                </a:solidFill>
              </a:rPr>
              <a:t>will it land and render?</a:t>
            </a:r>
            <a:endParaRPr lang="en-US" sz="1200" dirty="0"/>
          </a:p>
        </p:txBody>
      </p:sp>
      <p:sp>
        <p:nvSpPr>
          <p:cNvPr id="42" name="check-447"/>
          <p:cNvSpPr/>
          <p:nvPr/>
        </p:nvSpPr>
        <p:spPr>
          <a:xfrm>
            <a:off x="6080760" y="2331720"/>
            <a:ext cx="2286000" cy="548640"/>
          </a:xfrm>
          <a:prstGeom prst="roundRect">
            <a:avLst>
              <a:gd name="adj" fmla="val 13333"/>
            </a:avLst>
          </a:prstGeom>
          <a:solidFill>
            <a:schemeClr val="tx1">
              <a:alpha val="75000"/>
            </a:schemeClr>
          </a:solidFill>
          <a:ln w="6350">
            <a:solidFill>
              <a:schemeClr val="bg2">
                <a:alpha val="20000"/>
              </a:schemeClr>
            </a:solidFill>
            <a:prstDash val="solid"/>
          </a:ln>
        </p:spPr>
      </p:sp>
      <p:sp>
        <p:nvSpPr>
          <p:cNvPr id="43" name="text-448"/>
          <p:cNvSpPr txBox="1"/>
          <p:nvPr/>
        </p:nvSpPr>
        <p:spPr>
          <a:xfrm>
            <a:off x="6190488" y="2331720"/>
            <a:ext cx="1417320" cy="548640"/>
          </a:xfrm>
          <a:prstGeom prst="rect">
            <a:avLst/>
          </a:prstGeom>
          <a:noFill/>
          <a:ln/>
        </p:spPr>
        <p:txBody>
          <a:bodyPr wrap="square" lIns="0" tIns="0" rIns="0" bIns="0" rtlCol="0" anchor="ctr"/>
          <a:lstStyle/>
          <a:p>
            <a:pPr indent="0" marL="0">
              <a:buNone/>
            </a:pPr>
            <a:r>
              <a:rPr lang="en-US" sz="1250" b="1" dirty="0">
                <a:solidFill>
                  <a:schemeClr val="bg1"/>
                </a:solidFill>
              </a:rPr>
              <a:t>Subject line</a:t>
            </a:r>
            <a:endParaRPr lang="en-US" sz="1250" dirty="0"/>
          </a:p>
        </p:txBody>
      </p:sp>
      <p:sp>
        <p:nvSpPr>
          <p:cNvPr id="44" name="chip-449"/>
          <p:cNvSpPr/>
          <p:nvPr/>
        </p:nvSpPr>
        <p:spPr>
          <a:xfrm>
            <a:off x="7653528" y="2478024"/>
            <a:ext cx="640080" cy="256032"/>
          </a:xfrm>
          <a:prstGeom prst="roundRect">
            <a:avLst>
              <a:gd name="adj" fmla="val 50000"/>
            </a:avLst>
          </a:prstGeom>
          <a:solidFill>
            <a:schemeClr val="accent3">
              <a:alpha val="20000"/>
            </a:schemeClr>
          </a:solidFill>
          <a:ln w="9525">
            <a:solidFill>
              <a:schemeClr val="accent3">
                <a:alpha val="60000"/>
              </a:schemeClr>
            </a:solidFill>
            <a:prstDash val="solid"/>
          </a:ln>
        </p:spPr>
      </p:sp>
      <p:sp>
        <p:nvSpPr>
          <p:cNvPr id="45" name="text-450"/>
          <p:cNvSpPr txBox="1"/>
          <p:nvPr/>
        </p:nvSpPr>
        <p:spPr>
          <a:xfrm>
            <a:off x="7653528" y="2478024"/>
            <a:ext cx="640080" cy="256032"/>
          </a:xfrm>
          <a:prstGeom prst="rect">
            <a:avLst/>
          </a:prstGeom>
          <a:noFill/>
          <a:ln/>
        </p:spPr>
        <p:txBody>
          <a:bodyPr wrap="square" lIns="0" tIns="0" rIns="0" bIns="0" rtlCol="0" anchor="ctr"/>
          <a:lstStyle/>
          <a:p>
            <a:pPr algn="ctr" indent="0" marL="0">
              <a:buNone/>
            </a:pPr>
            <a:r>
              <a:rPr lang="en-US" sz="1050" b="1" dirty="0">
                <a:solidFill>
                  <a:schemeClr val="accent3"/>
                </a:solidFill>
              </a:rPr>
              <a:t>revise</a:t>
            </a:r>
            <a:endParaRPr lang="en-US" sz="1050" dirty="0"/>
          </a:p>
        </p:txBody>
      </p:sp>
      <p:sp>
        <p:nvSpPr>
          <p:cNvPr id="46" name="check-451"/>
          <p:cNvSpPr/>
          <p:nvPr/>
        </p:nvSpPr>
        <p:spPr>
          <a:xfrm>
            <a:off x="6080760" y="2971800"/>
            <a:ext cx="2286000" cy="548640"/>
          </a:xfrm>
          <a:prstGeom prst="roundRect">
            <a:avLst>
              <a:gd name="adj" fmla="val 13333"/>
            </a:avLst>
          </a:prstGeom>
          <a:solidFill>
            <a:schemeClr val="tx1">
              <a:alpha val="75000"/>
            </a:schemeClr>
          </a:solidFill>
          <a:ln w="6350">
            <a:solidFill>
              <a:schemeClr val="bg2">
                <a:alpha val="20000"/>
              </a:schemeClr>
            </a:solidFill>
            <a:prstDash val="solid"/>
          </a:ln>
        </p:spPr>
      </p:sp>
      <p:sp>
        <p:nvSpPr>
          <p:cNvPr id="47" name="text-452"/>
          <p:cNvSpPr txBox="1"/>
          <p:nvPr/>
        </p:nvSpPr>
        <p:spPr>
          <a:xfrm>
            <a:off x="6190488" y="2971800"/>
            <a:ext cx="1417320" cy="548640"/>
          </a:xfrm>
          <a:prstGeom prst="rect">
            <a:avLst/>
          </a:prstGeom>
          <a:noFill/>
          <a:ln/>
        </p:spPr>
        <p:txBody>
          <a:bodyPr wrap="square" lIns="0" tIns="0" rIns="0" bIns="0" rtlCol="0" anchor="ctr"/>
          <a:lstStyle/>
          <a:p>
            <a:pPr indent="0" marL="0">
              <a:buNone/>
            </a:pPr>
            <a:r>
              <a:rPr lang="en-US" sz="1250" b="1" dirty="0">
                <a:solidFill>
                  <a:schemeClr val="bg1"/>
                </a:solidFill>
              </a:rPr>
              <a:t>Link integrity</a:t>
            </a:r>
            <a:endParaRPr lang="en-US" sz="1250" dirty="0"/>
          </a:p>
        </p:txBody>
      </p:sp>
      <p:sp>
        <p:nvSpPr>
          <p:cNvPr id="48" name="chip-453"/>
          <p:cNvSpPr/>
          <p:nvPr/>
        </p:nvSpPr>
        <p:spPr>
          <a:xfrm>
            <a:off x="7653528" y="3118104"/>
            <a:ext cx="640080" cy="256032"/>
          </a:xfrm>
          <a:prstGeom prst="roundRect">
            <a:avLst>
              <a:gd name="adj" fmla="val 50000"/>
            </a:avLst>
          </a:prstGeom>
          <a:solidFill>
            <a:schemeClr val="accent3">
              <a:alpha val="20000"/>
            </a:schemeClr>
          </a:solidFill>
          <a:ln w="9525">
            <a:solidFill>
              <a:schemeClr val="accent3">
                <a:alpha val="60000"/>
              </a:schemeClr>
            </a:solidFill>
            <a:prstDash val="solid"/>
          </a:ln>
        </p:spPr>
      </p:sp>
      <p:sp>
        <p:nvSpPr>
          <p:cNvPr id="49" name="text-454"/>
          <p:cNvSpPr txBox="1"/>
          <p:nvPr/>
        </p:nvSpPr>
        <p:spPr>
          <a:xfrm>
            <a:off x="7653528" y="3118104"/>
            <a:ext cx="640080" cy="256032"/>
          </a:xfrm>
          <a:prstGeom prst="rect">
            <a:avLst/>
          </a:prstGeom>
          <a:noFill/>
          <a:ln/>
        </p:spPr>
        <p:txBody>
          <a:bodyPr wrap="square" lIns="0" tIns="0" rIns="0" bIns="0" rtlCol="0" anchor="ctr"/>
          <a:lstStyle/>
          <a:p>
            <a:pPr algn="ctr" indent="0" marL="0">
              <a:buNone/>
            </a:pPr>
            <a:r>
              <a:rPr lang="en-US" sz="1050" b="1" dirty="0">
                <a:solidFill>
                  <a:schemeClr val="accent3"/>
                </a:solidFill>
              </a:rPr>
              <a:t>revise</a:t>
            </a:r>
            <a:endParaRPr lang="en-US" sz="1050" dirty="0"/>
          </a:p>
        </p:txBody>
      </p:sp>
      <p:sp>
        <p:nvSpPr>
          <p:cNvPr id="50" name="check-455"/>
          <p:cNvSpPr/>
          <p:nvPr/>
        </p:nvSpPr>
        <p:spPr>
          <a:xfrm>
            <a:off x="6080760" y="3611880"/>
            <a:ext cx="2286000" cy="548640"/>
          </a:xfrm>
          <a:prstGeom prst="roundRect">
            <a:avLst>
              <a:gd name="adj" fmla="val 13333"/>
            </a:avLst>
          </a:prstGeom>
          <a:solidFill>
            <a:schemeClr val="tx1">
              <a:alpha val="75000"/>
            </a:schemeClr>
          </a:solidFill>
          <a:ln w="6350">
            <a:solidFill>
              <a:schemeClr val="bg2">
                <a:alpha val="20000"/>
              </a:schemeClr>
            </a:solidFill>
            <a:prstDash val="solid"/>
          </a:ln>
        </p:spPr>
      </p:sp>
      <p:sp>
        <p:nvSpPr>
          <p:cNvPr id="51" name="text-456"/>
          <p:cNvSpPr txBox="1"/>
          <p:nvPr/>
        </p:nvSpPr>
        <p:spPr>
          <a:xfrm>
            <a:off x="6190488" y="3611880"/>
            <a:ext cx="1417320" cy="548640"/>
          </a:xfrm>
          <a:prstGeom prst="rect">
            <a:avLst/>
          </a:prstGeom>
          <a:noFill/>
          <a:ln/>
        </p:spPr>
        <p:txBody>
          <a:bodyPr wrap="square" lIns="0" tIns="0" rIns="0" bIns="0" rtlCol="0" anchor="ctr"/>
          <a:lstStyle/>
          <a:p>
            <a:pPr indent="0" marL="0">
              <a:buNone/>
            </a:pPr>
            <a:r>
              <a:rPr lang="en-US" sz="1250" b="1" dirty="0">
                <a:solidFill>
                  <a:schemeClr val="bg1"/>
                </a:solidFill>
              </a:rPr>
              <a:t>Image sources</a:t>
            </a:r>
            <a:endParaRPr lang="en-US" sz="1250" dirty="0"/>
          </a:p>
        </p:txBody>
      </p:sp>
      <p:sp>
        <p:nvSpPr>
          <p:cNvPr id="52" name="chip-457"/>
          <p:cNvSpPr/>
          <p:nvPr/>
        </p:nvSpPr>
        <p:spPr>
          <a:xfrm>
            <a:off x="7653528" y="3758184"/>
            <a:ext cx="640080" cy="256032"/>
          </a:xfrm>
          <a:prstGeom prst="roundRect">
            <a:avLst>
              <a:gd name="adj" fmla="val 50000"/>
            </a:avLst>
          </a:prstGeom>
          <a:solidFill>
            <a:schemeClr val="accent3">
              <a:alpha val="20000"/>
            </a:schemeClr>
          </a:solidFill>
          <a:ln w="9525">
            <a:solidFill>
              <a:schemeClr val="accent3">
                <a:alpha val="60000"/>
              </a:schemeClr>
            </a:solidFill>
            <a:prstDash val="solid"/>
          </a:ln>
        </p:spPr>
      </p:sp>
      <p:sp>
        <p:nvSpPr>
          <p:cNvPr id="53" name="text-458"/>
          <p:cNvSpPr txBox="1"/>
          <p:nvPr/>
        </p:nvSpPr>
        <p:spPr>
          <a:xfrm>
            <a:off x="7653528" y="3758184"/>
            <a:ext cx="640080" cy="256032"/>
          </a:xfrm>
          <a:prstGeom prst="rect">
            <a:avLst/>
          </a:prstGeom>
          <a:noFill/>
          <a:ln/>
        </p:spPr>
        <p:txBody>
          <a:bodyPr wrap="square" lIns="0" tIns="0" rIns="0" bIns="0" rtlCol="0" anchor="ctr"/>
          <a:lstStyle/>
          <a:p>
            <a:pPr algn="ctr" indent="0" marL="0">
              <a:buNone/>
            </a:pPr>
            <a:r>
              <a:rPr lang="en-US" sz="1050" b="1" dirty="0">
                <a:solidFill>
                  <a:schemeClr val="accent3"/>
                </a:solidFill>
              </a:rPr>
              <a:t>revise</a:t>
            </a:r>
            <a:endParaRPr lang="en-US" sz="1050" dirty="0"/>
          </a:p>
        </p:txBody>
      </p:sp>
      <p:sp>
        <p:nvSpPr>
          <p:cNvPr id="54" name="glass-459"/>
          <p:cNvSpPr/>
          <p:nvPr/>
        </p:nvSpPr>
        <p:spPr>
          <a:xfrm>
            <a:off x="548640" y="5120640"/>
            <a:ext cx="2560320" cy="1051560"/>
          </a:xfrm>
          <a:prstGeom prst="roundRect">
            <a:avLst>
              <a:gd name="adj" fmla="val 12174"/>
            </a:avLst>
          </a:prstGeom>
          <a:solidFill>
            <a:schemeClr val="accent5">
              <a:alpha val="18000"/>
            </a:schemeClr>
          </a:solidFill>
          <a:ln w="12700">
            <a:solidFill>
              <a:schemeClr val="accent5">
                <a:alpha val="70000"/>
              </a:schemeClr>
            </a:solidFill>
            <a:prstDash val="solid"/>
          </a:ln>
        </p:spPr>
      </p:sp>
      <p:sp>
        <p:nvSpPr>
          <p:cNvPr id="55" name="text-460"/>
          <p:cNvSpPr txBox="1"/>
          <p:nvPr/>
        </p:nvSpPr>
        <p:spPr>
          <a:xfrm>
            <a:off x="731520" y="5212080"/>
            <a:ext cx="2194560" cy="384048"/>
          </a:xfrm>
          <a:prstGeom prst="rect">
            <a:avLst/>
          </a:prstGeom>
          <a:noFill/>
          <a:ln/>
        </p:spPr>
        <p:txBody>
          <a:bodyPr wrap="square" lIns="0" tIns="0" rIns="0" bIns="0" rtlCol="0" anchor="t"/>
          <a:lstStyle/>
          <a:p>
            <a:pPr indent="0" marL="0">
              <a:buNone/>
            </a:pPr>
            <a:r>
              <a:rPr lang="en-US" sz="1800" b="1" dirty="0">
                <a:solidFill>
                  <a:schemeClr val="accent5"/>
                </a:solidFill>
                <a:latin typeface="Century Gothic" pitchFamily="34" charset="0"/>
                <a:ea typeface="Century Gothic" pitchFamily="34" charset="-122"/>
                <a:cs typeface="Century Gothic" pitchFamily="34" charset="-120"/>
              </a:rPr>
              <a:t>PASS</a:t>
            </a:r>
            <a:endParaRPr lang="en-US" sz="1800" dirty="0"/>
          </a:p>
        </p:txBody>
      </p:sp>
      <p:sp>
        <p:nvSpPr>
          <p:cNvPr id="56" name="text-461"/>
          <p:cNvSpPr txBox="1"/>
          <p:nvPr/>
        </p:nvSpPr>
        <p:spPr>
          <a:xfrm>
            <a:off x="731520" y="5596128"/>
            <a:ext cx="2240280" cy="502920"/>
          </a:xfrm>
          <a:prstGeom prst="rect">
            <a:avLst/>
          </a:prstGeom>
          <a:noFill/>
          <a:ln/>
        </p:spPr>
        <p:txBody>
          <a:bodyPr wrap="square" lIns="0" tIns="0" rIns="0" bIns="0" rtlCol="0" anchor="t"/>
          <a:lstStyle/>
          <a:p>
            <a:pPr indent="0" marL="0">
              <a:buNone/>
            </a:pPr>
            <a:r>
              <a:rPr lang="en-US" sz="1250" dirty="0">
                <a:solidFill>
                  <a:schemeClr val="bg1"/>
                </a:solidFill>
              </a:rPr>
              <a:t>a person confirms and sends</a:t>
            </a:r>
            <a:endParaRPr lang="en-US" sz="1250" dirty="0"/>
          </a:p>
        </p:txBody>
      </p:sp>
      <p:sp>
        <p:nvSpPr>
          <p:cNvPr id="57" name="glass-462"/>
          <p:cNvSpPr/>
          <p:nvPr/>
        </p:nvSpPr>
        <p:spPr>
          <a:xfrm>
            <a:off x="3246120" y="5120640"/>
            <a:ext cx="2560320" cy="1051560"/>
          </a:xfrm>
          <a:prstGeom prst="roundRect">
            <a:avLst>
              <a:gd name="adj" fmla="val 12174"/>
            </a:avLst>
          </a:prstGeom>
          <a:solidFill>
            <a:schemeClr val="accent3">
              <a:alpha val="18000"/>
            </a:schemeClr>
          </a:solidFill>
          <a:ln w="12700">
            <a:solidFill>
              <a:schemeClr val="accent3">
                <a:alpha val="70000"/>
              </a:schemeClr>
            </a:solidFill>
            <a:prstDash val="solid"/>
          </a:ln>
        </p:spPr>
      </p:sp>
      <p:sp>
        <p:nvSpPr>
          <p:cNvPr id="58" name="text-463"/>
          <p:cNvSpPr txBox="1"/>
          <p:nvPr/>
        </p:nvSpPr>
        <p:spPr>
          <a:xfrm>
            <a:off x="3429000" y="5212080"/>
            <a:ext cx="2194560" cy="384048"/>
          </a:xfrm>
          <a:prstGeom prst="rect">
            <a:avLst/>
          </a:prstGeom>
          <a:noFill/>
          <a:ln/>
        </p:spPr>
        <p:txBody>
          <a:bodyPr wrap="square" lIns="0" tIns="0" rIns="0" bIns="0" rtlCol="0" anchor="t"/>
          <a:lstStyle/>
          <a:p>
            <a:pPr indent="0" marL="0">
              <a:buNone/>
            </a:pPr>
            <a:r>
              <a:rPr lang="en-US" sz="1800" b="1" dirty="0">
                <a:solidFill>
                  <a:schemeClr val="accent3"/>
                </a:solidFill>
                <a:latin typeface="Century Gothic" pitchFamily="34" charset="0"/>
                <a:ea typeface="Century Gothic" pitchFamily="34" charset="-122"/>
                <a:cs typeface="Century Gothic" pitchFamily="34" charset="-120"/>
              </a:rPr>
              <a:t>REVISE</a:t>
            </a:r>
            <a:endParaRPr lang="en-US" sz="1800" dirty="0"/>
          </a:p>
        </p:txBody>
      </p:sp>
      <p:sp>
        <p:nvSpPr>
          <p:cNvPr id="59" name="text-464"/>
          <p:cNvSpPr txBox="1"/>
          <p:nvPr/>
        </p:nvSpPr>
        <p:spPr>
          <a:xfrm>
            <a:off x="3429000" y="5596128"/>
            <a:ext cx="2240280" cy="502920"/>
          </a:xfrm>
          <a:prstGeom prst="rect">
            <a:avLst/>
          </a:prstGeom>
          <a:noFill/>
          <a:ln/>
        </p:spPr>
        <p:txBody>
          <a:bodyPr wrap="square" lIns="0" tIns="0" rIns="0" bIns="0" rtlCol="0" anchor="t"/>
          <a:lstStyle/>
          <a:p>
            <a:pPr indent="0" marL="0">
              <a:buNone/>
            </a:pPr>
            <a:r>
              <a:rPr lang="en-US" sz="1250" dirty="0">
                <a:solidFill>
                  <a:schemeClr val="bg1"/>
                </a:solidFill>
              </a:rPr>
              <a:t>fix it, or ship knowingly</a:t>
            </a:r>
            <a:endParaRPr lang="en-US" sz="1250" dirty="0"/>
          </a:p>
        </p:txBody>
      </p:sp>
      <p:sp>
        <p:nvSpPr>
          <p:cNvPr id="60" name="glass-465"/>
          <p:cNvSpPr/>
          <p:nvPr/>
        </p:nvSpPr>
        <p:spPr>
          <a:xfrm>
            <a:off x="5943600" y="5120640"/>
            <a:ext cx="2560320" cy="1051560"/>
          </a:xfrm>
          <a:prstGeom prst="roundRect">
            <a:avLst>
              <a:gd name="adj" fmla="val 12174"/>
            </a:avLst>
          </a:prstGeom>
          <a:solidFill>
            <a:schemeClr val="accent6">
              <a:alpha val="18000"/>
            </a:schemeClr>
          </a:solidFill>
          <a:ln w="12700">
            <a:solidFill>
              <a:schemeClr val="accent6">
                <a:alpha val="70000"/>
              </a:schemeClr>
            </a:solidFill>
            <a:prstDash val="solid"/>
          </a:ln>
        </p:spPr>
      </p:sp>
      <p:sp>
        <p:nvSpPr>
          <p:cNvPr id="61" name="text-466"/>
          <p:cNvSpPr txBox="1"/>
          <p:nvPr/>
        </p:nvSpPr>
        <p:spPr>
          <a:xfrm>
            <a:off x="6126480" y="5212080"/>
            <a:ext cx="2194560" cy="384048"/>
          </a:xfrm>
          <a:prstGeom prst="rect">
            <a:avLst/>
          </a:prstGeom>
          <a:noFill/>
          <a:ln/>
        </p:spPr>
        <p:txBody>
          <a:bodyPr wrap="square" lIns="0" tIns="0" rIns="0" bIns="0" rtlCol="0" anchor="t"/>
          <a:lstStyle/>
          <a:p>
            <a:pPr indent="0" marL="0">
              <a:buNone/>
            </a:pPr>
            <a:r>
              <a:rPr lang="en-US" sz="1800" b="1" dirty="0">
                <a:solidFill>
                  <a:schemeClr val="accent6"/>
                </a:solidFill>
                <a:latin typeface="Century Gothic" pitchFamily="34" charset="0"/>
                <a:ea typeface="Century Gothic" pitchFamily="34" charset="-122"/>
                <a:cs typeface="Century Gothic" pitchFamily="34" charset="-120"/>
              </a:rPr>
              <a:t>BLOCK</a:t>
            </a:r>
            <a:endParaRPr lang="en-US" sz="1800" dirty="0"/>
          </a:p>
        </p:txBody>
      </p:sp>
      <p:sp>
        <p:nvSpPr>
          <p:cNvPr id="62" name="text-467"/>
          <p:cNvSpPr txBox="1"/>
          <p:nvPr/>
        </p:nvSpPr>
        <p:spPr>
          <a:xfrm>
            <a:off x="6126480" y="5596128"/>
            <a:ext cx="2240280" cy="502920"/>
          </a:xfrm>
          <a:prstGeom prst="rect">
            <a:avLst/>
          </a:prstGeom>
          <a:noFill/>
          <a:ln/>
        </p:spPr>
        <p:txBody>
          <a:bodyPr wrap="square" lIns="0" tIns="0" rIns="0" bIns="0" rtlCol="0" anchor="t"/>
          <a:lstStyle/>
          <a:p>
            <a:pPr indent="0" marL="0">
              <a:buNone/>
            </a:pPr>
            <a:r>
              <a:rPr lang="en-US" sz="1250" dirty="0">
                <a:solidFill>
                  <a:schemeClr val="bg1"/>
                </a:solidFill>
              </a:rPr>
              <a:t>approve + send refused (409)</a:t>
            </a:r>
            <a:endParaRPr lang="en-US" sz="1250" dirty="0"/>
          </a:p>
        </p:txBody>
      </p:sp>
      <p:sp>
        <p:nvSpPr>
          <p:cNvPr id="63" name="glass-468"/>
          <p:cNvSpPr/>
          <p:nvPr/>
        </p:nvSpPr>
        <p:spPr>
          <a:xfrm>
            <a:off x="8732520" y="1572768"/>
            <a:ext cx="2907792" cy="4599432"/>
          </a:xfrm>
          <a:prstGeom prst="roundRect">
            <a:avLst>
              <a:gd name="adj" fmla="val 4403"/>
            </a:avLst>
          </a:prstGeom>
          <a:solidFill>
            <a:schemeClr val="tx2">
              <a:alpha val="78000"/>
            </a:schemeClr>
          </a:solidFill>
          <a:ln w="9525">
            <a:solidFill>
              <a:schemeClr val="bg2">
                <a:alpha val="22000"/>
              </a:schemeClr>
            </a:solidFill>
            <a:prstDash val="solid"/>
          </a:ln>
        </p:spPr>
      </p:sp>
      <p:sp>
        <p:nvSpPr>
          <p:cNvPr id="64" name="text-469"/>
          <p:cNvSpPr txBox="1"/>
          <p:nvPr/>
        </p:nvSpPr>
        <p:spPr>
          <a:xfrm>
            <a:off x="8915400" y="1691640"/>
            <a:ext cx="2560320" cy="292608"/>
          </a:xfrm>
          <a:prstGeom prst="rect">
            <a:avLst/>
          </a:prstGeom>
          <a:noFill/>
          <a:ln/>
        </p:spPr>
        <p:txBody>
          <a:bodyPr wrap="square" lIns="0" tIns="0" rIns="0" bIns="0" rtlCol="0" anchor="t"/>
          <a:lstStyle/>
          <a:p>
            <a:pPr indent="0" marL="0">
              <a:buNone/>
            </a:pPr>
            <a:r>
              <a:rPr lang="en-US" sz="1500" b="1" dirty="0">
                <a:solidFill>
                  <a:schemeClr val="bg1"/>
                </a:solidFill>
                <a:latin typeface="Century Gothic" pitchFamily="34" charset="0"/>
                <a:ea typeface="Century Gothic" pitchFamily="34" charset="-122"/>
                <a:cs typeface="Century Gothic" pitchFamily="34" charset="-120"/>
              </a:rPr>
              <a:t>Demo workspace</a:t>
            </a:r>
            <a:endParaRPr lang="en-US" sz="1500" dirty="0"/>
          </a:p>
        </p:txBody>
      </p:sp>
      <p:sp>
        <p:nvSpPr>
          <p:cNvPr id="65" name="text-470"/>
          <p:cNvSpPr txBox="1"/>
          <p:nvPr/>
        </p:nvSpPr>
        <p:spPr>
          <a:xfrm>
            <a:off x="8915400" y="1984248"/>
            <a:ext cx="2560320" cy="274320"/>
          </a:xfrm>
          <a:prstGeom prst="rect">
            <a:avLst/>
          </a:prstGeom>
          <a:noFill/>
          <a:ln/>
        </p:spPr>
        <p:txBody>
          <a:bodyPr wrap="square" lIns="0" tIns="0" rIns="0" bIns="0" rtlCol="0" anchor="t"/>
          <a:lstStyle/>
          <a:p>
            <a:pPr indent="0" marL="0">
              <a:buNone/>
            </a:pPr>
            <a:r>
              <a:rPr lang="en-US" sz="1200" dirty="0">
                <a:solidFill>
                  <a:schemeClr val="bg2"/>
                </a:solidFill>
              </a:rPr>
              <a:t>re-checked 14 Oct 2026</a:t>
            </a:r>
            <a:endParaRPr lang="en-US" sz="1200" dirty="0"/>
          </a:p>
        </p:txBody>
      </p:sp>
      <p:graphicFrame>
        <p:nvGraphicFramePr>
          <p:cNvPr id="66" name="verdict-donut" descr=""/>
          <p:cNvGraphicFramePr/>
          <p:nvPr/>
        </p:nvGraphicFramePr>
        <p:xfrm>
          <a:off x="8915400" y="2286000"/>
          <a:ext cx="2560320" cy="2377440"/>
        </p:xfrm>
        <a:graphic xmlns:a="http://schemas.openxmlformats.org/drawingml/2006/main">
          <a:graphicData uri="http://schemas.openxmlformats.org/drawingml/2006/chart">
            <c:chart xmlns:c="http://schemas.openxmlformats.org/drawingml/2006/chart" r:id="rId1"/>
          </a:graphicData>
        </a:graphic>
      </p:graphicFrame>
      <p:sp>
        <p:nvSpPr>
          <p:cNvPr id="67" name="text-471"/>
          <p:cNvSpPr txBox="1"/>
          <p:nvPr/>
        </p:nvSpPr>
        <p:spPr>
          <a:xfrm>
            <a:off x="9646920" y="3017520"/>
            <a:ext cx="1097280" cy="914400"/>
          </a:xfrm>
          <a:prstGeom prst="rect">
            <a:avLst/>
          </a:prstGeom>
          <a:noFill/>
          <a:ln/>
        </p:spPr>
        <p:txBody>
          <a:bodyPr wrap="square" lIns="0" tIns="0" rIns="0" bIns="0" rtlCol="0" anchor="ctr"/>
          <a:lstStyle/>
          <a:p>
            <a:pPr algn="ctr" indent="0" marL="0">
              <a:buNone/>
            </a:pPr>
            <a:r>
              <a:rPr lang="en-US" sz="3200" b="1" dirty="0">
                <a:solidFill>
                  <a:schemeClr val="bg1"/>
                </a:solidFill>
                <a:latin typeface="Century Gothic" pitchFamily="34" charset="0"/>
                <a:ea typeface="Century Gothic" pitchFamily="34" charset="-122"/>
                <a:cs typeface="Century Gothic" pitchFamily="34" charset="-120"/>
              </a:rPr>
              <a:t>6</a:t>
            </a:r>
            <a:endParaRPr lang="en-US" sz="1400" dirty="0"/>
          </a:p>
          <a:p>
            <a:pPr algn="ctr" indent="0" marL="0">
              <a:buNone/>
            </a:pPr>
            <a:r>
              <a:rPr lang="en-US" sz="1200" dirty="0">
                <a:solidFill>
                  <a:schemeClr val="bg2"/>
                </a:solidFill>
              </a:rPr>
              <a:t>emails</a:t>
            </a:r>
            <a:endParaRPr lang="en-US" sz="1400" dirty="0"/>
          </a:p>
        </p:txBody>
      </p:sp>
      <p:sp>
        <p:nvSpPr>
          <p:cNvPr id="68" name="legend-dot-472"/>
          <p:cNvSpPr/>
          <p:nvPr/>
        </p:nvSpPr>
        <p:spPr>
          <a:xfrm>
            <a:off x="8961120" y="4937760"/>
            <a:ext cx="164592" cy="164592"/>
          </a:xfrm>
          <a:prstGeom prst="ellipse">
            <a:avLst/>
          </a:prstGeom>
          <a:solidFill>
            <a:schemeClr val="accent5"/>
          </a:solidFill>
          <a:ln/>
        </p:spPr>
      </p:sp>
      <p:sp>
        <p:nvSpPr>
          <p:cNvPr id="69" name="text-473"/>
          <p:cNvSpPr txBox="1"/>
          <p:nvPr/>
        </p:nvSpPr>
        <p:spPr>
          <a:xfrm>
            <a:off x="9235440" y="4846320"/>
            <a:ext cx="2286000" cy="347472"/>
          </a:xfrm>
          <a:prstGeom prst="rect">
            <a:avLst/>
          </a:prstGeom>
          <a:noFill/>
          <a:ln/>
        </p:spPr>
        <p:txBody>
          <a:bodyPr wrap="square" lIns="0" tIns="0" rIns="0" bIns="0" rtlCol="0" anchor="ctr"/>
          <a:lstStyle/>
          <a:p>
            <a:pPr indent="0" marL="0">
              <a:buNone/>
            </a:pPr>
            <a:r>
              <a:rPr lang="en-US" sz="1350" b="1" dirty="0">
                <a:solidFill>
                  <a:schemeClr val="bg1"/>
                </a:solidFill>
              </a:rPr>
              <a:t>5  </a:t>
            </a:r>
            <a:pPr indent="0" marL="0">
              <a:buNone/>
            </a:pPr>
            <a:r>
              <a:rPr lang="en-US" sz="1350" dirty="0">
                <a:solidFill>
                  <a:schemeClr val="bg2"/>
                </a:solidFill>
              </a:rPr>
              <a:t>PASS</a:t>
            </a:r>
            <a:endParaRPr lang="en-US" sz="1350" dirty="0"/>
          </a:p>
        </p:txBody>
      </p:sp>
      <p:sp>
        <p:nvSpPr>
          <p:cNvPr id="70" name="legend-dot-474"/>
          <p:cNvSpPr/>
          <p:nvPr/>
        </p:nvSpPr>
        <p:spPr>
          <a:xfrm>
            <a:off x="8961120" y="5349240"/>
            <a:ext cx="164592" cy="164592"/>
          </a:xfrm>
          <a:prstGeom prst="ellipse">
            <a:avLst/>
          </a:prstGeom>
          <a:solidFill>
            <a:schemeClr val="accent3"/>
          </a:solidFill>
          <a:ln/>
        </p:spPr>
      </p:sp>
      <p:sp>
        <p:nvSpPr>
          <p:cNvPr id="71" name="text-475"/>
          <p:cNvSpPr txBox="1"/>
          <p:nvPr/>
        </p:nvSpPr>
        <p:spPr>
          <a:xfrm>
            <a:off x="9235440" y="5257800"/>
            <a:ext cx="2286000" cy="347472"/>
          </a:xfrm>
          <a:prstGeom prst="rect">
            <a:avLst/>
          </a:prstGeom>
          <a:noFill/>
          <a:ln/>
        </p:spPr>
        <p:txBody>
          <a:bodyPr wrap="square" lIns="0" tIns="0" rIns="0" bIns="0" rtlCol="0" anchor="ctr"/>
          <a:lstStyle/>
          <a:p>
            <a:pPr indent="0" marL="0">
              <a:buNone/>
            </a:pPr>
            <a:r>
              <a:rPr lang="en-US" sz="1350" b="1" dirty="0">
                <a:solidFill>
                  <a:schemeClr val="bg1"/>
                </a:solidFill>
              </a:rPr>
              <a:t>1  </a:t>
            </a:r>
            <a:pPr indent="0" marL="0">
              <a:buNone/>
            </a:pPr>
            <a:r>
              <a:rPr lang="en-US" sz="1350" dirty="0">
                <a:solidFill>
                  <a:schemeClr val="bg2"/>
                </a:solidFill>
              </a:rPr>
              <a:t>REVISE · age proxy</a:t>
            </a:r>
            <a:endParaRPr lang="en-US" sz="1350" dirty="0"/>
          </a:p>
        </p:txBody>
      </p:sp>
      <p:sp>
        <p:nvSpPr>
          <p:cNvPr id="72" name="legend-dot-476"/>
          <p:cNvSpPr/>
          <p:nvPr/>
        </p:nvSpPr>
        <p:spPr>
          <a:xfrm>
            <a:off x="8961120" y="5760720"/>
            <a:ext cx="164592" cy="164592"/>
          </a:xfrm>
          <a:prstGeom prst="ellipse">
            <a:avLst/>
          </a:prstGeom>
          <a:solidFill>
            <a:schemeClr val="accent6"/>
          </a:solidFill>
          <a:ln/>
        </p:spPr>
      </p:sp>
      <p:sp>
        <p:nvSpPr>
          <p:cNvPr id="73" name="text-477"/>
          <p:cNvSpPr txBox="1"/>
          <p:nvPr/>
        </p:nvSpPr>
        <p:spPr>
          <a:xfrm>
            <a:off x="9235440" y="5669280"/>
            <a:ext cx="2286000" cy="347472"/>
          </a:xfrm>
          <a:prstGeom prst="rect">
            <a:avLst/>
          </a:prstGeom>
          <a:noFill/>
          <a:ln/>
        </p:spPr>
        <p:txBody>
          <a:bodyPr wrap="square" lIns="0" tIns="0" rIns="0" bIns="0" rtlCol="0" anchor="ctr"/>
          <a:lstStyle/>
          <a:p>
            <a:pPr indent="0" marL="0">
              <a:buNone/>
            </a:pPr>
            <a:r>
              <a:rPr lang="en-US" sz="1350" b="1" dirty="0">
                <a:solidFill>
                  <a:schemeClr val="bg1"/>
                </a:solidFill>
              </a:rPr>
              <a:t>0  </a:t>
            </a:r>
            <a:pPr indent="0" marL="0">
              <a:buNone/>
            </a:pPr>
            <a:r>
              <a:rPr lang="en-US" sz="1350" dirty="0">
                <a:solidFill>
                  <a:schemeClr val="bg2"/>
                </a:solidFill>
              </a:rPr>
              <a:t>BLOCK</a:t>
            </a:r>
            <a:endParaRPr lang="en-US" sz="1350" dirty="0"/>
          </a:p>
        </p:txBody>
      </p:sp>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478"/>
          <p:cNvSpPr txBox="1"/>
          <p:nvPr/>
        </p:nvSpPr>
        <p:spPr>
          <a:xfrm>
            <a:off x="685800" y="1600200"/>
            <a:ext cx="2743200" cy="1005840"/>
          </a:xfrm>
          <a:prstGeom prst="rect">
            <a:avLst/>
          </a:prstGeom>
          <a:noFill/>
          <a:ln/>
        </p:spPr>
        <p:txBody>
          <a:bodyPr wrap="square" lIns="0" tIns="0" rIns="0" bIns="0" rtlCol="0" anchor="t"/>
          <a:lstStyle/>
          <a:p>
            <a:pPr indent="0" marL="0">
              <a:buNone/>
            </a:pPr>
            <a:r>
              <a:rPr lang="en-US" sz="6400" b="1" dirty="0">
                <a:solidFill>
                  <a:schemeClr val="accent1"/>
                </a:solidFill>
                <a:latin typeface="Century Gothic" pitchFamily="34" charset="0"/>
                <a:ea typeface="Century Gothic" pitchFamily="34" charset="-122"/>
                <a:cs typeface="Century Gothic" pitchFamily="34" charset="-120"/>
              </a:rPr>
              <a:t>04</a:t>
            </a:r>
            <a:endParaRPr lang="en-US" sz="6400" dirty="0"/>
          </a:p>
        </p:txBody>
      </p:sp>
      <p:sp>
        <p:nvSpPr>
          <p:cNvPr id="3" name="Text 0"/>
          <p:cNvSpPr/>
          <p:nvPr>
            <p:ph idx="100" type="title" hasCustomPrompt="1"/>
          </p:nvPr>
        </p:nvSpPr>
        <p:spPr>
          <a:xfrm>
            <a:off x="685800" y="2788920"/>
            <a:ext cx="6217920" cy="868680"/>
          </a:xfrm>
          <a:prstGeom prst="rect">
            <a:avLst/>
          </a:prstGeom>
          <a:noFill/>
          <a:ln/>
        </p:spPr>
        <p:txBody>
          <a:bodyPr wrap="square" lIns="0" tIns="0" rIns="0" bIns="0" rtlCol="0" anchor="t"/>
          <a:lstStyle/>
          <a:p>
            <a:pPr algn="l" indent="0" marL="0">
              <a:buNone/>
            </a:pPr>
            <a:r>
              <a:rPr lang="en-US" sz="4400" b="1" dirty="0">
                <a:solidFill>
                  <a:schemeClr val="bg1"/>
                </a:solidFill>
                <a:latin typeface="Century Gothic" pitchFamily="34" charset="0"/>
                <a:ea typeface="Century Gothic" pitchFamily="34" charset="-122"/>
                <a:cs typeface="Century Gothic" pitchFamily="34" charset="-120"/>
              </a:rPr>
              <a:t>Assurance</a:t>
            </a:r>
            <a:endParaRPr lang="en-US" sz="4400" dirty="0"/>
          </a:p>
        </p:txBody>
      </p:sp>
      <p:sp>
        <p:nvSpPr>
          <p:cNvPr id="4" name="Text 0"/>
          <p:cNvSpPr/>
          <p:nvPr>
            <p:ph idx="101" type="body" hasCustomPrompt="1"/>
          </p:nvPr>
        </p:nvSpPr>
        <p:spPr>
          <a:xfrm>
            <a:off x="685800" y="3794760"/>
            <a:ext cx="4572000" cy="1097280"/>
          </a:xfrm>
          <a:prstGeom prst="rect">
            <a:avLst/>
          </a:prstGeom>
          <a:noFill/>
          <a:ln/>
        </p:spPr>
        <p:txBody>
          <a:bodyPr wrap="square" lIns="0" tIns="0" rIns="0" bIns="0" rtlCol="0" anchor="t"/>
          <a:lstStyle/>
          <a:p>
            <a:pPr algn="l" indent="0" marL="0">
              <a:buNone/>
            </a:pPr>
            <a:r>
              <a:rPr lang="en-US" sz="1800" dirty="0">
                <a:solidFill>
                  <a:schemeClr val="bg2"/>
                </a:solidFill>
              </a:rPr>
              <a:t>Responsible AI enforced in code, the security risk register, and the MLSecOps pipeline that guards every change.</a:t>
            </a:r>
            <a:endParaRPr lang="en-US" sz="1800" dirty="0"/>
          </a:p>
        </p:txBody>
      </p:sp>
      <p:sp>
        <p:nvSpPr>
          <p:cNvPr id="5" name="tile-479"/>
          <p:cNvSpPr/>
          <p:nvPr/>
        </p:nvSpPr>
        <p:spPr>
          <a:xfrm>
            <a:off x="685800" y="5257800"/>
            <a:ext cx="182880" cy="182880"/>
          </a:xfrm>
          <a:prstGeom prst="roundRect">
            <a:avLst>
              <a:gd name="adj" fmla="val 20000"/>
            </a:avLst>
          </a:prstGeom>
          <a:solidFill>
            <a:schemeClr val="accent6"/>
          </a:solidFill>
          <a:ln/>
        </p:spPr>
      </p:sp>
      <p:sp>
        <p:nvSpPr>
          <p:cNvPr id="6" name="tile-480"/>
          <p:cNvSpPr/>
          <p:nvPr/>
        </p:nvSpPr>
        <p:spPr>
          <a:xfrm>
            <a:off x="941832" y="5257800"/>
            <a:ext cx="182880" cy="182880"/>
          </a:xfrm>
          <a:prstGeom prst="roundRect">
            <a:avLst>
              <a:gd name="adj" fmla="val 20000"/>
            </a:avLst>
          </a:prstGeom>
          <a:solidFill>
            <a:schemeClr val="accent3"/>
          </a:solidFill>
          <a:ln/>
        </p:spPr>
      </p:sp>
      <p:sp>
        <p:nvSpPr>
          <p:cNvPr id="7" name="tile-481"/>
          <p:cNvSpPr/>
          <p:nvPr/>
        </p:nvSpPr>
        <p:spPr>
          <a:xfrm>
            <a:off x="1197864" y="5257800"/>
            <a:ext cx="182880" cy="182880"/>
          </a:xfrm>
          <a:prstGeom prst="roundRect">
            <a:avLst>
              <a:gd name="adj" fmla="val 20000"/>
            </a:avLst>
          </a:prstGeom>
          <a:solidFill>
            <a:schemeClr val="accent2"/>
          </a:solidFill>
          <a:ln/>
        </p:spPr>
      </p:sp>
      <p:sp>
        <p:nvSpPr>
          <p:cNvPr id="8" name="tile-482"/>
          <p:cNvSpPr/>
          <p:nvPr/>
        </p:nvSpPr>
        <p:spPr>
          <a:xfrm>
            <a:off x="1453896" y="5257800"/>
            <a:ext cx="182880" cy="182880"/>
          </a:xfrm>
          <a:prstGeom prst="roundRect">
            <a:avLst>
              <a:gd name="adj" fmla="val 20000"/>
            </a:avLst>
          </a:prstGeom>
          <a:solidFill>
            <a:schemeClr val="accent5"/>
          </a:solidFill>
          <a:ln/>
        </p:spPr>
      </p:sp>
      <p:sp>
        <p:nvSpPr>
          <p:cNvPr id="9" name="tile-483"/>
          <p:cNvSpPr/>
          <p:nvPr/>
        </p:nvSpPr>
        <p:spPr>
          <a:xfrm>
            <a:off x="1709928" y="5257800"/>
            <a:ext cx="182880" cy="182880"/>
          </a:xfrm>
          <a:prstGeom prst="roundRect">
            <a:avLst>
              <a:gd name="adj" fmla="val 20000"/>
            </a:avLst>
          </a:prstGeom>
          <a:solidFill>
            <a:schemeClr val="accent4"/>
          </a:solidFill>
          <a:ln/>
        </p:spPr>
      </p:sp>
      <p:sp>
        <p:nvSpPr>
          <p:cNvPr id="10" name="tile-484"/>
          <p:cNvSpPr/>
          <p:nvPr/>
        </p:nvSpPr>
        <p:spPr>
          <a:xfrm>
            <a:off x="1965960" y="5257800"/>
            <a:ext cx="182880" cy="182880"/>
          </a:xfrm>
          <a:prstGeom prst="roundRect">
            <a:avLst>
              <a:gd name="adj" fmla="val 20000"/>
            </a:avLst>
          </a:prstGeom>
          <a:solidFill>
            <a:schemeClr val="accent1"/>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241280" cy="640080"/>
          </a:xfrm>
          <a:prstGeom prst="rect">
            <a:avLst/>
          </a:prstGeom>
          <a:noFill/>
          <a:ln/>
        </p:spPr>
        <p:txBody>
          <a:bodyPr wrap="square" lIns="0" tIns="0" rIns="0" bIns="0" rtlCol="0" anchor="ctr"/>
          <a:lstStyle/>
          <a:p>
            <a:pPr algn="l" indent="0" marL="0">
              <a:buNone/>
            </a:pPr>
            <a:r>
              <a:rPr lang="en-US" sz="2800" b="1" dirty="0">
                <a:solidFill>
                  <a:schemeClr val="bg1"/>
                </a:solidFill>
                <a:latin typeface="Century Gothic" pitchFamily="34" charset="0"/>
                <a:ea typeface="Century Gothic" pitchFamily="34" charset="-122"/>
                <a:cs typeface="Century Gothic" pitchFamily="34" charset="-120"/>
              </a:rPr>
              <a:t>Responsible AI, enforced in code</a:t>
            </a:r>
            <a:endParaRPr lang="en-US" sz="2800" dirty="0"/>
          </a:p>
        </p:txBody>
      </p:sp>
      <p:sp>
        <p:nvSpPr>
          <p:cNvPr id="3" name="text-485"/>
          <p:cNvSpPr txBox="1"/>
          <p:nvPr/>
        </p:nvSpPr>
        <p:spPr>
          <a:xfrm>
            <a:off x="548640" y="1005840"/>
            <a:ext cx="10424160" cy="384048"/>
          </a:xfrm>
          <a:prstGeom prst="rect">
            <a:avLst/>
          </a:prstGeom>
          <a:noFill/>
          <a:ln/>
        </p:spPr>
        <p:txBody>
          <a:bodyPr wrap="square" lIns="0" tIns="0" rIns="0" bIns="0" rtlCol="0" anchor="t"/>
          <a:lstStyle/>
          <a:p>
            <a:pPr indent="0" marL="0">
              <a:buNone/>
            </a:pPr>
            <a:r>
              <a:rPr lang="en-US" sz="1600" dirty="0">
                <a:solidFill>
                  <a:schemeClr val="bg2"/>
                </a:solidFill>
              </a:rPr>
              <a:t>A limit nobody enforces is not a control — every principle maps to something the code checks.</a:t>
            </a:r>
            <a:endParaRPr lang="en-US" sz="1600" dirty="0"/>
          </a:p>
        </p:txBody>
      </p:sp>
      <p:sp>
        <p:nvSpPr>
          <p:cNvPr id="5" name="icon-ring-486"/>
          <p:cNvSpPr/>
          <p:nvPr/>
        </p:nvSpPr>
        <p:spPr>
          <a:xfrm>
            <a:off x="548640" y="1645920"/>
            <a:ext cx="548640" cy="548640"/>
          </a:xfrm>
          <a:prstGeom prst="ellipse">
            <a:avLst/>
          </a:prstGeom>
          <a:solidFill>
            <a:schemeClr val="accent2">
              <a:alpha val="18000"/>
            </a:schemeClr>
          </a:solidFill>
          <a:ln w="12700">
            <a:solidFill>
              <a:schemeClr val="accent2">
                <a:alpha val="70000"/>
              </a:schemeClr>
            </a:solidFill>
            <a:prstDash val="solid"/>
          </a:ln>
        </p:spPr>
      </p:sp>
      <p:pic>
        <p:nvPicPr>
          <p:cNvPr id="6" name="icon-487" descr="preencoded.png">    </p:cNvPr>
          <p:cNvPicPr>
            <a:picLocks noChangeAspect="1"/>
          </p:cNvPicPr>
          <p:nvPr/>
        </p:nvPicPr>
        <p:blipFill>
          <a:blip r:embed="rId1"/>
          <a:stretch>
            <a:fillRect/>
          </a:stretch>
        </p:blipFill>
        <p:spPr>
          <a:xfrm>
            <a:off x="691286" y="1788566"/>
            <a:ext cx="263347" cy="263347"/>
          </a:xfrm>
          <a:prstGeom prst="rect">
            <a:avLst/>
          </a:prstGeom>
        </p:spPr>
      </p:pic>
      <p:sp>
        <p:nvSpPr>
          <p:cNvPr id="7" name="text-488"/>
          <p:cNvSpPr txBox="1"/>
          <p:nvPr/>
        </p:nvSpPr>
        <p:spPr>
          <a:xfrm>
            <a:off x="1280160" y="1591056"/>
            <a:ext cx="5486400" cy="310896"/>
          </a:xfrm>
          <a:prstGeom prst="rect">
            <a:avLst/>
          </a:prstGeom>
          <a:noFill/>
          <a:ln/>
        </p:spPr>
        <p:txBody>
          <a:bodyPr wrap="square" lIns="0" tIns="0" rIns="0" bIns="0" rtlCol="0" anchor="t"/>
          <a:lstStyle/>
          <a:p>
            <a:pPr indent="0" marL="0">
              <a:buNone/>
            </a:pPr>
            <a:r>
              <a:rPr lang="en-US" sz="1550" b="1" dirty="0">
                <a:solidFill>
                  <a:schemeClr val="bg1"/>
                </a:solidFill>
              </a:rPr>
              <a:t>Fairness</a:t>
            </a:r>
            <a:endParaRPr lang="en-US" sz="1550" dirty="0"/>
          </a:p>
        </p:txBody>
      </p:sp>
      <p:sp>
        <p:nvSpPr>
          <p:cNvPr id="8" name="text-489"/>
          <p:cNvSpPr txBox="1"/>
          <p:nvPr/>
        </p:nvSpPr>
        <p:spPr>
          <a:xfrm>
            <a:off x="1280160" y="1920240"/>
            <a:ext cx="5577840" cy="548640"/>
          </a:xfrm>
          <a:prstGeom prst="rect">
            <a:avLst/>
          </a:prstGeom>
          <a:noFill/>
          <a:ln/>
        </p:spPr>
        <p:txBody>
          <a:bodyPr wrap="square" lIns="0" tIns="0" rIns="0" bIns="0" rtlCol="0" anchor="t"/>
          <a:lstStyle/>
          <a:p>
            <a:pPr indent="0" marL="0">
              <a:buNone/>
            </a:pPr>
            <a:r>
              <a:rPr lang="en-US" sz="1300" dirty="0">
                <a:solidFill>
                  <a:schemeClr val="bg2"/>
                </a:solidFill>
              </a:rPr>
              <a:t>Protected attributes never enter clustering; a proxy test catches segments that correlate with them anyway.</a:t>
            </a:r>
            <a:endParaRPr lang="en-US" sz="1300" dirty="0"/>
          </a:p>
        </p:txBody>
      </p:sp>
      <p:sp>
        <p:nvSpPr>
          <p:cNvPr id="9" name="icon-ring-490"/>
          <p:cNvSpPr/>
          <p:nvPr/>
        </p:nvSpPr>
        <p:spPr>
          <a:xfrm>
            <a:off x="548640" y="2578608"/>
            <a:ext cx="548640" cy="548640"/>
          </a:xfrm>
          <a:prstGeom prst="ellipse">
            <a:avLst/>
          </a:prstGeom>
          <a:solidFill>
            <a:schemeClr val="accent4">
              <a:alpha val="18000"/>
            </a:schemeClr>
          </a:solidFill>
          <a:ln w="12700">
            <a:solidFill>
              <a:schemeClr val="accent4">
                <a:alpha val="70000"/>
              </a:schemeClr>
            </a:solidFill>
            <a:prstDash val="solid"/>
          </a:ln>
        </p:spPr>
      </p:sp>
      <p:pic>
        <p:nvPicPr>
          <p:cNvPr id="10" name="icon-491" descr="preencoded.png">    </p:cNvPr>
          <p:cNvPicPr>
            <a:picLocks noChangeAspect="1"/>
          </p:cNvPicPr>
          <p:nvPr/>
        </p:nvPicPr>
        <p:blipFill>
          <a:blip r:embed="rId2"/>
          <a:stretch>
            <a:fillRect/>
          </a:stretch>
        </p:blipFill>
        <p:spPr>
          <a:xfrm>
            <a:off x="691286" y="2721254"/>
            <a:ext cx="263347" cy="263347"/>
          </a:xfrm>
          <a:prstGeom prst="rect">
            <a:avLst/>
          </a:prstGeom>
        </p:spPr>
      </p:pic>
      <p:sp>
        <p:nvSpPr>
          <p:cNvPr id="11" name="text-492"/>
          <p:cNvSpPr txBox="1"/>
          <p:nvPr/>
        </p:nvSpPr>
        <p:spPr>
          <a:xfrm>
            <a:off x="1280160" y="2523744"/>
            <a:ext cx="5486400" cy="310896"/>
          </a:xfrm>
          <a:prstGeom prst="rect">
            <a:avLst/>
          </a:prstGeom>
          <a:noFill/>
          <a:ln/>
        </p:spPr>
        <p:txBody>
          <a:bodyPr wrap="square" lIns="0" tIns="0" rIns="0" bIns="0" rtlCol="0" anchor="t"/>
          <a:lstStyle/>
          <a:p>
            <a:pPr indent="0" marL="0">
              <a:buNone/>
            </a:pPr>
            <a:r>
              <a:rPr lang="en-US" sz="1550" b="1" dirty="0">
                <a:solidFill>
                  <a:schemeClr val="bg1"/>
                </a:solidFill>
              </a:rPr>
              <a:t>Explainability</a:t>
            </a:r>
            <a:endParaRPr lang="en-US" sz="1550" dirty="0"/>
          </a:p>
        </p:txBody>
      </p:sp>
      <p:sp>
        <p:nvSpPr>
          <p:cNvPr id="12" name="text-493"/>
          <p:cNvSpPr txBox="1"/>
          <p:nvPr/>
        </p:nvSpPr>
        <p:spPr>
          <a:xfrm>
            <a:off x="1280160" y="2852928"/>
            <a:ext cx="5577840" cy="548640"/>
          </a:xfrm>
          <a:prstGeom prst="rect">
            <a:avLst/>
          </a:prstGeom>
          <a:noFill/>
          <a:ln/>
        </p:spPr>
        <p:txBody>
          <a:bodyPr wrap="square" lIns="0" tIns="0" rIns="0" bIns="0" rtlCol="0" anchor="t"/>
          <a:lstStyle/>
          <a:p>
            <a:pPr indent="0" marL="0">
              <a:buNone/>
            </a:pPr>
            <a:r>
              <a:rPr lang="en-US" sz="1300" dirty="0">
                <a:solidFill>
                  <a:schemeClr val="bg2"/>
                </a:solidFill>
              </a:rPr>
              <a:t>Z-scored traits per segment, a rationale per direction, cited offers and per-check results per email.</a:t>
            </a:r>
            <a:endParaRPr lang="en-US" sz="1300" dirty="0"/>
          </a:p>
        </p:txBody>
      </p:sp>
      <p:sp>
        <p:nvSpPr>
          <p:cNvPr id="13" name="icon-ring-494"/>
          <p:cNvSpPr/>
          <p:nvPr/>
        </p:nvSpPr>
        <p:spPr>
          <a:xfrm>
            <a:off x="548640" y="3511296"/>
            <a:ext cx="548640" cy="548640"/>
          </a:xfrm>
          <a:prstGeom prst="ellipse">
            <a:avLst/>
          </a:prstGeom>
          <a:solidFill>
            <a:schemeClr val="accent5">
              <a:alpha val="18000"/>
            </a:schemeClr>
          </a:solidFill>
          <a:ln w="12700">
            <a:solidFill>
              <a:schemeClr val="accent5">
                <a:alpha val="70000"/>
              </a:schemeClr>
            </a:solidFill>
            <a:prstDash val="solid"/>
          </a:ln>
        </p:spPr>
      </p:sp>
      <p:pic>
        <p:nvPicPr>
          <p:cNvPr id="14" name="icon-495" descr="preencoded.png">    </p:cNvPr>
          <p:cNvPicPr>
            <a:picLocks noChangeAspect="1"/>
          </p:cNvPicPr>
          <p:nvPr/>
        </p:nvPicPr>
        <p:blipFill>
          <a:blip r:embed="rId3"/>
          <a:stretch>
            <a:fillRect/>
          </a:stretch>
        </p:blipFill>
        <p:spPr>
          <a:xfrm>
            <a:off x="691286" y="3653942"/>
            <a:ext cx="263347" cy="263347"/>
          </a:xfrm>
          <a:prstGeom prst="rect">
            <a:avLst/>
          </a:prstGeom>
        </p:spPr>
      </p:pic>
      <p:sp>
        <p:nvSpPr>
          <p:cNvPr id="15" name="text-496"/>
          <p:cNvSpPr txBox="1"/>
          <p:nvPr/>
        </p:nvSpPr>
        <p:spPr>
          <a:xfrm>
            <a:off x="1280160" y="3456432"/>
            <a:ext cx="5486400" cy="310896"/>
          </a:xfrm>
          <a:prstGeom prst="rect">
            <a:avLst/>
          </a:prstGeom>
          <a:noFill/>
          <a:ln/>
        </p:spPr>
        <p:txBody>
          <a:bodyPr wrap="square" lIns="0" tIns="0" rIns="0" bIns="0" rtlCol="0" anchor="t"/>
          <a:lstStyle/>
          <a:p>
            <a:pPr indent="0" marL="0">
              <a:buNone/>
            </a:pPr>
            <a:r>
              <a:rPr lang="en-US" sz="1550" b="1" dirty="0">
                <a:solidFill>
                  <a:schemeClr val="bg1"/>
                </a:solidFill>
              </a:rPr>
              <a:t>Accountability</a:t>
            </a:r>
            <a:endParaRPr lang="en-US" sz="1550" dirty="0"/>
          </a:p>
        </p:txBody>
      </p:sp>
      <p:sp>
        <p:nvSpPr>
          <p:cNvPr id="16" name="text-497"/>
          <p:cNvSpPr txBox="1"/>
          <p:nvPr/>
        </p:nvSpPr>
        <p:spPr>
          <a:xfrm>
            <a:off x="1280160" y="3785616"/>
            <a:ext cx="5577840" cy="548640"/>
          </a:xfrm>
          <a:prstGeom prst="rect">
            <a:avLst/>
          </a:prstGeom>
          <a:noFill/>
          <a:ln/>
        </p:spPr>
        <p:txBody>
          <a:bodyPr wrap="square" lIns="0" tIns="0" rIns="0" bIns="0" rtlCol="0" anchor="t"/>
          <a:lstStyle/>
          <a:p>
            <a:pPr indent="0" marL="0">
              <a:buNone/>
            </a:pPr>
            <a:r>
              <a:rPr lang="en-US" sz="1300" dirty="0">
                <a:solidFill>
                  <a:schemeClr val="bg2"/>
                </a:solidFill>
              </a:rPr>
              <a:t>Only a person can send; BLOCK is refused server-side; every decision lands in the append-only ledger.</a:t>
            </a:r>
            <a:endParaRPr lang="en-US" sz="1300" dirty="0"/>
          </a:p>
        </p:txBody>
      </p:sp>
      <p:sp>
        <p:nvSpPr>
          <p:cNvPr id="17" name="icon-ring-498"/>
          <p:cNvSpPr/>
          <p:nvPr/>
        </p:nvSpPr>
        <p:spPr>
          <a:xfrm>
            <a:off x="548640" y="4443984"/>
            <a:ext cx="548640" cy="548640"/>
          </a:xfrm>
          <a:prstGeom prst="ellipse">
            <a:avLst/>
          </a:prstGeom>
          <a:solidFill>
            <a:schemeClr val="accent3">
              <a:alpha val="18000"/>
            </a:schemeClr>
          </a:solidFill>
          <a:ln w="12700">
            <a:solidFill>
              <a:schemeClr val="accent3">
                <a:alpha val="70000"/>
              </a:schemeClr>
            </a:solidFill>
            <a:prstDash val="solid"/>
          </a:ln>
        </p:spPr>
      </p:sp>
      <p:pic>
        <p:nvPicPr>
          <p:cNvPr id="18" name="icon-499" descr="preencoded.png">    </p:cNvPr>
          <p:cNvPicPr>
            <a:picLocks noChangeAspect="1"/>
          </p:cNvPicPr>
          <p:nvPr/>
        </p:nvPicPr>
        <p:blipFill>
          <a:blip r:embed="rId4"/>
          <a:stretch>
            <a:fillRect/>
          </a:stretch>
        </p:blipFill>
        <p:spPr>
          <a:xfrm>
            <a:off x="691286" y="4586630"/>
            <a:ext cx="263347" cy="263347"/>
          </a:xfrm>
          <a:prstGeom prst="rect">
            <a:avLst/>
          </a:prstGeom>
        </p:spPr>
      </p:pic>
      <p:sp>
        <p:nvSpPr>
          <p:cNvPr id="19" name="text-500"/>
          <p:cNvSpPr txBox="1"/>
          <p:nvPr/>
        </p:nvSpPr>
        <p:spPr>
          <a:xfrm>
            <a:off x="1280160" y="4389120"/>
            <a:ext cx="5486400" cy="310896"/>
          </a:xfrm>
          <a:prstGeom prst="rect">
            <a:avLst/>
          </a:prstGeom>
          <a:noFill/>
          <a:ln/>
        </p:spPr>
        <p:txBody>
          <a:bodyPr wrap="square" lIns="0" tIns="0" rIns="0" bIns="0" rtlCol="0" anchor="t"/>
          <a:lstStyle/>
          <a:p>
            <a:pPr indent="0" marL="0">
              <a:buNone/>
            </a:pPr>
            <a:r>
              <a:rPr lang="en-US" sz="1550" b="1" dirty="0">
                <a:solidFill>
                  <a:schemeClr val="bg1"/>
                </a:solidFill>
              </a:rPr>
              <a:t>Manipulation guardrail</a:t>
            </a:r>
            <a:endParaRPr lang="en-US" sz="1550" dirty="0"/>
          </a:p>
        </p:txBody>
      </p:sp>
      <p:sp>
        <p:nvSpPr>
          <p:cNvPr id="20" name="text-501"/>
          <p:cNvSpPr txBox="1"/>
          <p:nvPr/>
        </p:nvSpPr>
        <p:spPr>
          <a:xfrm>
            <a:off x="1280160" y="4718304"/>
            <a:ext cx="5577840" cy="548640"/>
          </a:xfrm>
          <a:prstGeom prst="rect">
            <a:avLst/>
          </a:prstGeom>
          <a:noFill/>
          <a:ln/>
        </p:spPr>
        <p:txBody>
          <a:bodyPr wrap="square" lIns="0" tIns="0" rIns="0" bIns="0" rtlCol="0" anchor="t"/>
          <a:lstStyle/>
          <a:p>
            <a:pPr indent="0" marL="0">
              <a:buNone/>
            </a:pPr>
            <a:r>
              <a:rPr lang="en-US" sz="1300" dirty="0">
                <a:solidFill>
                  <a:schemeClr val="bg2"/>
                </a:solidFill>
              </a:rPr>
              <a:t>No urgency or scarcity in prompts; the judge scores “no dark patterns”; spam phrasing is flagged.</a:t>
            </a:r>
            <a:endParaRPr lang="en-US" sz="1300" dirty="0"/>
          </a:p>
        </p:txBody>
      </p:sp>
      <p:sp>
        <p:nvSpPr>
          <p:cNvPr id="21" name="icon-ring-502"/>
          <p:cNvSpPr/>
          <p:nvPr/>
        </p:nvSpPr>
        <p:spPr>
          <a:xfrm>
            <a:off x="548640" y="5376672"/>
            <a:ext cx="548640" cy="548640"/>
          </a:xfrm>
          <a:prstGeom prst="ellipse">
            <a:avLst/>
          </a:prstGeom>
          <a:solidFill>
            <a:schemeClr val="accent1">
              <a:alpha val="18000"/>
            </a:schemeClr>
          </a:solidFill>
          <a:ln w="12700">
            <a:solidFill>
              <a:schemeClr val="accent1">
                <a:alpha val="70000"/>
              </a:schemeClr>
            </a:solidFill>
            <a:prstDash val="solid"/>
          </a:ln>
        </p:spPr>
      </p:sp>
      <p:pic>
        <p:nvPicPr>
          <p:cNvPr id="22" name="icon-503" descr="preencoded.png">    </p:cNvPr>
          <p:cNvPicPr>
            <a:picLocks noChangeAspect="1"/>
          </p:cNvPicPr>
          <p:nvPr/>
        </p:nvPicPr>
        <p:blipFill>
          <a:blip r:embed="rId5"/>
          <a:stretch>
            <a:fillRect/>
          </a:stretch>
        </p:blipFill>
        <p:spPr>
          <a:xfrm>
            <a:off x="691286" y="5519318"/>
            <a:ext cx="263347" cy="263347"/>
          </a:xfrm>
          <a:prstGeom prst="rect">
            <a:avLst/>
          </a:prstGeom>
        </p:spPr>
      </p:pic>
      <p:sp>
        <p:nvSpPr>
          <p:cNvPr id="23" name="text-504"/>
          <p:cNvSpPr txBox="1"/>
          <p:nvPr/>
        </p:nvSpPr>
        <p:spPr>
          <a:xfrm>
            <a:off x="1280160" y="5321808"/>
            <a:ext cx="5486400" cy="310896"/>
          </a:xfrm>
          <a:prstGeom prst="rect">
            <a:avLst/>
          </a:prstGeom>
          <a:noFill/>
          <a:ln/>
        </p:spPr>
        <p:txBody>
          <a:bodyPr wrap="square" lIns="0" tIns="0" rIns="0" bIns="0" rtlCol="0" anchor="t"/>
          <a:lstStyle/>
          <a:p>
            <a:pPr indent="0" marL="0">
              <a:buNone/>
            </a:pPr>
            <a:r>
              <a:rPr lang="en-US" sz="1550" b="1" dirty="0">
                <a:solidFill>
                  <a:schemeClr val="bg1"/>
                </a:solidFill>
              </a:rPr>
              <a:t>Governance</a:t>
            </a:r>
            <a:endParaRPr lang="en-US" sz="1550" dirty="0"/>
          </a:p>
        </p:txBody>
      </p:sp>
      <p:sp>
        <p:nvSpPr>
          <p:cNvPr id="24" name="text-505"/>
          <p:cNvSpPr txBox="1"/>
          <p:nvPr/>
        </p:nvSpPr>
        <p:spPr>
          <a:xfrm>
            <a:off x="1280160" y="5650992"/>
            <a:ext cx="5577840" cy="548640"/>
          </a:xfrm>
          <a:prstGeom prst="rect">
            <a:avLst/>
          </a:prstGeom>
          <a:noFill/>
          <a:ln/>
        </p:spPr>
        <p:txBody>
          <a:bodyPr wrap="square" lIns="0" tIns="0" rIns="0" bIns="0" rtlCol="0" anchor="t"/>
          <a:lstStyle/>
          <a:p>
            <a:pPr indent="0" marL="0">
              <a:buNone/>
            </a:pPr>
            <a:r>
              <a:rPr lang="en-US" sz="1300" dirty="0">
                <a:solidFill>
                  <a:schemeClr val="bg2"/>
                </a:solidFill>
              </a:rPr>
              <a:t>IMDA Model AI Governance Framework mapping; PDPA consent re-checked whenever the Guardian runs.</a:t>
            </a:r>
            <a:endParaRPr lang="en-US" sz="1300" dirty="0"/>
          </a:p>
        </p:txBody>
      </p:sp>
      <p:sp>
        <p:nvSpPr>
          <p:cNvPr id="25" name="glass-506"/>
          <p:cNvSpPr/>
          <p:nvPr/>
        </p:nvSpPr>
        <p:spPr>
          <a:xfrm>
            <a:off x="7269480" y="1572768"/>
            <a:ext cx="4370832" cy="4599432"/>
          </a:xfrm>
          <a:prstGeom prst="roundRect">
            <a:avLst>
              <a:gd name="adj" fmla="val 2929"/>
            </a:avLst>
          </a:prstGeom>
          <a:solidFill>
            <a:schemeClr val="accent3">
              <a:alpha val="12000"/>
            </a:schemeClr>
          </a:solidFill>
          <a:ln w="12700">
            <a:solidFill>
              <a:schemeClr val="accent3">
                <a:alpha val="55000"/>
              </a:schemeClr>
            </a:solidFill>
            <a:prstDash val="solid"/>
          </a:ln>
        </p:spPr>
      </p:sp>
      <p:sp>
        <p:nvSpPr>
          <p:cNvPr id="26" name="text-507"/>
          <p:cNvSpPr txBox="1"/>
          <p:nvPr/>
        </p:nvSpPr>
        <p:spPr>
          <a:xfrm>
            <a:off x="7498080" y="1737360"/>
            <a:ext cx="3931920" cy="274320"/>
          </a:xfrm>
          <a:prstGeom prst="rect">
            <a:avLst/>
          </a:prstGeom>
          <a:noFill/>
          <a:ln/>
        </p:spPr>
        <p:txBody>
          <a:bodyPr wrap="square" lIns="0" tIns="0" rIns="0" bIns="0" rtlCol="0" anchor="t"/>
          <a:lstStyle/>
          <a:p>
            <a:pPr indent="0" marL="0">
              <a:buNone/>
            </a:pPr>
            <a:r>
              <a:rPr lang="en-US" sz="1150" b="1" spc="150" kern="0" dirty="0">
                <a:solidFill>
                  <a:schemeClr val="accent3"/>
                </a:solidFill>
              </a:rPr>
              <a:t>REAL FINDING ON THE DEMO DATA</a:t>
            </a:r>
            <a:endParaRPr lang="en-US" sz="1150" dirty="0"/>
          </a:p>
        </p:txBody>
      </p:sp>
      <p:sp>
        <p:nvSpPr>
          <p:cNvPr id="27" name="text-508"/>
          <p:cNvSpPr txBox="1"/>
          <p:nvPr/>
        </p:nvSpPr>
        <p:spPr>
          <a:xfrm>
            <a:off x="7498080" y="2029968"/>
            <a:ext cx="1737360" cy="777240"/>
          </a:xfrm>
          <a:prstGeom prst="rect">
            <a:avLst/>
          </a:prstGeom>
          <a:noFill/>
          <a:ln/>
        </p:spPr>
        <p:txBody>
          <a:bodyPr wrap="square" lIns="0" tIns="0" rIns="0" bIns="0" rtlCol="0" anchor="t"/>
          <a:lstStyle/>
          <a:p>
            <a:pPr indent="0" marL="0">
              <a:buNone/>
            </a:pPr>
            <a:r>
              <a:rPr lang="en-US" sz="4600" b="1" dirty="0">
                <a:solidFill>
                  <a:schemeClr val="accent3"/>
                </a:solidFill>
                <a:latin typeface="Century Gothic" pitchFamily="34" charset="0"/>
                <a:ea typeface="Century Gothic" pitchFamily="34" charset="-122"/>
                <a:cs typeface="Century Gothic" pitchFamily="34" charset="-120"/>
              </a:rPr>
              <a:t>37%</a:t>
            </a:r>
            <a:endParaRPr lang="en-US" sz="4600" dirty="0"/>
          </a:p>
        </p:txBody>
      </p:sp>
      <p:sp>
        <p:nvSpPr>
          <p:cNvPr id="28" name="text-509"/>
          <p:cNvSpPr txBox="1"/>
          <p:nvPr/>
        </p:nvSpPr>
        <p:spPr>
          <a:xfrm>
            <a:off x="9281160" y="2103120"/>
            <a:ext cx="2240280" cy="914400"/>
          </a:xfrm>
          <a:prstGeom prst="rect">
            <a:avLst/>
          </a:prstGeom>
          <a:noFill/>
          <a:ln/>
        </p:spPr>
        <p:txBody>
          <a:bodyPr wrap="square" lIns="0" tIns="0" rIns="0" bIns="0" rtlCol="0" anchor="t"/>
          <a:lstStyle/>
          <a:p>
            <a:pPr indent="0" marL="0">
              <a:buNone/>
            </a:pPr>
            <a:r>
              <a:rPr lang="en-US" sz="1250" dirty="0">
                <a:solidFill>
                  <a:schemeClr val="bg1"/>
                </a:solidFill>
              </a:rPr>
              <a:t>age deviation in “Loyal Full-Price Buyers” — flagged, then carried into the Guardian as REVISE.</a:t>
            </a:r>
            <a:endParaRPr lang="en-US" sz="1250" dirty="0"/>
          </a:p>
        </p:txBody>
      </p:sp>
      <p:sp>
        <p:nvSpPr>
          <p:cNvPr id="29" name="browser-frame-510"/>
          <p:cNvSpPr/>
          <p:nvPr/>
        </p:nvSpPr>
        <p:spPr>
          <a:xfrm>
            <a:off x="8284464" y="3108960"/>
            <a:ext cx="2350008" cy="2842329"/>
          </a:xfrm>
          <a:prstGeom prst="roundRect">
            <a:avLst>
              <a:gd name="adj" fmla="val 3891"/>
            </a:avLst>
          </a:prstGeom>
          <a:solidFill>
            <a:schemeClr val="tx2"/>
          </a:solidFill>
          <a:ln w="9525">
            <a:solidFill>
              <a:schemeClr val="bg2">
                <a:alpha val="30000"/>
              </a:schemeClr>
            </a:solidFill>
            <a:prstDash val="solid"/>
          </a:ln>
          <a:effectLst>
            <a:outerShdw sx="100000" sy="100000" kx="0" ky="0" algn="bl" rotWithShape="0" blurRad="177800" dist="38100" dir="5400000">
              <a:srgbClr val="000000">
                <a:alpha val="35000"/>
              </a:srgbClr>
            </a:outerShdw>
          </a:effectLst>
        </p:spPr>
      </p:sp>
      <p:sp>
        <p:nvSpPr>
          <p:cNvPr id="30" name="frame-dot-511"/>
          <p:cNvSpPr/>
          <p:nvPr/>
        </p:nvSpPr>
        <p:spPr>
          <a:xfrm>
            <a:off x="8412480" y="3218688"/>
            <a:ext cx="91440" cy="91440"/>
          </a:xfrm>
          <a:prstGeom prst="ellipse">
            <a:avLst/>
          </a:prstGeom>
          <a:solidFill>
            <a:schemeClr val="accent6"/>
          </a:solidFill>
          <a:ln/>
        </p:spPr>
      </p:sp>
      <p:sp>
        <p:nvSpPr>
          <p:cNvPr id="31" name="frame-dot-512"/>
          <p:cNvSpPr/>
          <p:nvPr/>
        </p:nvSpPr>
        <p:spPr>
          <a:xfrm>
            <a:off x="8567928" y="3218688"/>
            <a:ext cx="91440" cy="91440"/>
          </a:xfrm>
          <a:prstGeom prst="ellipse">
            <a:avLst/>
          </a:prstGeom>
          <a:solidFill>
            <a:schemeClr val="accent3"/>
          </a:solidFill>
          <a:ln/>
        </p:spPr>
      </p:sp>
      <p:sp>
        <p:nvSpPr>
          <p:cNvPr id="32" name="frame-dot-513"/>
          <p:cNvSpPr/>
          <p:nvPr/>
        </p:nvSpPr>
        <p:spPr>
          <a:xfrm>
            <a:off x="8723376" y="3218688"/>
            <a:ext cx="91440" cy="91440"/>
          </a:xfrm>
          <a:prstGeom prst="ellipse">
            <a:avLst/>
          </a:prstGeom>
          <a:solidFill>
            <a:schemeClr val="accent5"/>
          </a:solidFill>
          <a:ln/>
        </p:spPr>
      </p:sp>
      <p:pic>
        <p:nvPicPr>
          <p:cNvPr id="33" name="screenshot-514" descr="C:\Ai stuffs\MOSAIC\docs\media\console\segment-flag.jpg">    </p:cNvPr>
          <p:cNvPicPr>
            <a:picLocks noChangeAspect="1"/>
          </p:cNvPicPr>
          <p:nvPr/>
        </p:nvPicPr>
        <p:blipFill>
          <a:blip r:embed="rId6"/>
          <a:stretch>
            <a:fillRect/>
          </a:stretch>
        </p:blipFill>
        <p:spPr>
          <a:xfrm>
            <a:off x="8339328" y="3401568"/>
            <a:ext cx="2240280" cy="2494857"/>
          </a:xfrm>
          <a:prstGeom prst="rect">
            <a:avLst/>
          </a:prstGeom>
        </p:spPr>
      </p:pic>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241280" cy="640080"/>
          </a:xfrm>
          <a:prstGeom prst="rect">
            <a:avLst/>
          </a:prstGeom>
          <a:noFill/>
          <a:ln/>
        </p:spPr>
        <p:txBody>
          <a:bodyPr wrap="square" lIns="0" tIns="0" rIns="0" bIns="0" rtlCol="0" anchor="ctr"/>
          <a:lstStyle/>
          <a:p>
            <a:pPr algn="l" indent="0" marL="0">
              <a:buNone/>
            </a:pPr>
            <a:r>
              <a:rPr lang="en-US" sz="2800" b="1" dirty="0">
                <a:solidFill>
                  <a:schemeClr val="bg1"/>
                </a:solidFill>
                <a:latin typeface="Century Gothic" pitchFamily="34" charset="0"/>
                <a:ea typeface="Century Gothic" pitchFamily="34" charset="-122"/>
                <a:cs typeface="Century Gothic" pitchFamily="34" charset="-120"/>
              </a:rPr>
              <a:t>AI security risk register</a:t>
            </a:r>
            <a:endParaRPr lang="en-US" sz="2800" dirty="0"/>
          </a:p>
        </p:txBody>
      </p:sp>
      <p:sp>
        <p:nvSpPr>
          <p:cNvPr id="3" name="text-515"/>
          <p:cNvSpPr txBox="1"/>
          <p:nvPr/>
        </p:nvSpPr>
        <p:spPr>
          <a:xfrm>
            <a:off x="548640" y="1005840"/>
            <a:ext cx="10424160" cy="384048"/>
          </a:xfrm>
          <a:prstGeom prst="rect">
            <a:avLst/>
          </a:prstGeom>
          <a:noFill/>
          <a:ln/>
        </p:spPr>
        <p:txBody>
          <a:bodyPr wrap="square" lIns="0" tIns="0" rIns="0" bIns="0" rtlCol="0" anchor="t"/>
          <a:lstStyle/>
          <a:p>
            <a:pPr indent="0" marL="0">
              <a:buNone/>
            </a:pPr>
            <a:r>
              <a:rPr lang="en-US" sz="1600" dirty="0">
                <a:solidFill>
                  <a:schemeClr val="bg2"/>
                </a:solidFill>
              </a:rPr>
              <a:t>14 risks mapped to the OWASP Top 10 for LLM Applications (2025). Full register with evidence: report §6.</a:t>
            </a:r>
            <a:endParaRPr lang="en-US" sz="1600" dirty="0"/>
          </a:p>
        </p:txBody>
      </p:sp>
      <p:sp>
        <p:nvSpPr>
          <p:cNvPr id="5" name="glass-516"/>
          <p:cNvSpPr/>
          <p:nvPr/>
        </p:nvSpPr>
        <p:spPr>
          <a:xfrm>
            <a:off x="548640" y="1572768"/>
            <a:ext cx="5120640" cy="4599432"/>
          </a:xfrm>
          <a:prstGeom prst="roundRect">
            <a:avLst>
              <a:gd name="adj" fmla="val 2783"/>
            </a:avLst>
          </a:prstGeom>
          <a:solidFill>
            <a:schemeClr val="tx2">
              <a:alpha val="78000"/>
            </a:schemeClr>
          </a:solidFill>
          <a:ln w="9525">
            <a:solidFill>
              <a:schemeClr val="bg2">
                <a:alpha val="22000"/>
              </a:schemeClr>
            </a:solidFill>
            <a:prstDash val="solid"/>
          </a:ln>
        </p:spPr>
      </p:sp>
      <p:sp>
        <p:nvSpPr>
          <p:cNvPr id="6" name="text-517"/>
          <p:cNvSpPr txBox="1"/>
          <p:nvPr/>
        </p:nvSpPr>
        <p:spPr>
          <a:xfrm>
            <a:off x="777240" y="1691640"/>
            <a:ext cx="4663440" cy="320040"/>
          </a:xfrm>
          <a:prstGeom prst="rect">
            <a:avLst/>
          </a:prstGeom>
          <a:noFill/>
          <a:ln/>
        </p:spPr>
        <p:txBody>
          <a:bodyPr wrap="square" lIns="0" tIns="0" rIns="0" bIns="0" rtlCol="0" anchor="t"/>
          <a:lstStyle/>
          <a:p>
            <a:pPr indent="0" marL="0">
              <a:buNone/>
            </a:pPr>
            <a:r>
              <a:rPr lang="en-US" sz="1450" b="1" dirty="0">
                <a:solidFill>
                  <a:schemeClr val="bg1"/>
                </a:solidFill>
                <a:latin typeface="Century Gothic" pitchFamily="34" charset="0"/>
                <a:ea typeface="Century Gothic" pitchFamily="34" charset="-122"/>
                <a:cs typeface="Century Gothic" pitchFamily="34" charset="-120"/>
              </a:rPr>
              <a:t>Inherent likelihood × impact</a:t>
            </a:r>
            <a:endParaRPr lang="en-US" sz="1450" dirty="0"/>
          </a:p>
        </p:txBody>
      </p:sp>
      <p:sp>
        <p:nvSpPr>
          <p:cNvPr id="7" name="text-518"/>
          <p:cNvSpPr txBox="1"/>
          <p:nvPr/>
        </p:nvSpPr>
        <p:spPr>
          <a:xfrm>
            <a:off x="685800" y="2194560"/>
            <a:ext cx="685800" cy="1078992"/>
          </a:xfrm>
          <a:prstGeom prst="rect">
            <a:avLst/>
          </a:prstGeom>
          <a:noFill/>
          <a:ln/>
        </p:spPr>
        <p:txBody>
          <a:bodyPr wrap="square" lIns="0" tIns="0" rIns="0" bIns="0" rtlCol="0" anchor="ctr"/>
          <a:lstStyle/>
          <a:p>
            <a:pPr algn="ctr" indent="0" marL="0">
              <a:buNone/>
            </a:pPr>
            <a:r>
              <a:rPr lang="en-US" sz="1200" dirty="0">
                <a:solidFill>
                  <a:schemeClr val="bg2"/>
                </a:solidFill>
              </a:rPr>
              <a:t>High</a:t>
            </a:r>
            <a:endParaRPr lang="en-US" sz="1200" dirty="0"/>
          </a:p>
        </p:txBody>
      </p:sp>
      <p:sp>
        <p:nvSpPr>
          <p:cNvPr id="8" name="heat-cell-519"/>
          <p:cNvSpPr/>
          <p:nvPr/>
        </p:nvSpPr>
        <p:spPr>
          <a:xfrm>
            <a:off x="1453896" y="2231136"/>
            <a:ext cx="1225296" cy="1005840"/>
          </a:xfrm>
          <a:prstGeom prst="roundRect">
            <a:avLst>
              <a:gd name="adj" fmla="val 7273"/>
            </a:avLst>
          </a:prstGeom>
          <a:solidFill>
            <a:schemeClr val="accent3">
              <a:alpha val="28000"/>
            </a:schemeClr>
          </a:solidFill>
          <a:ln/>
        </p:spPr>
      </p:sp>
      <p:sp>
        <p:nvSpPr>
          <p:cNvPr id="9" name="heat-cell-520"/>
          <p:cNvSpPr/>
          <p:nvPr/>
        </p:nvSpPr>
        <p:spPr>
          <a:xfrm>
            <a:off x="2752344" y="2231136"/>
            <a:ext cx="1225296" cy="1005840"/>
          </a:xfrm>
          <a:prstGeom prst="roundRect">
            <a:avLst>
              <a:gd name="adj" fmla="val 7273"/>
            </a:avLst>
          </a:prstGeom>
          <a:solidFill>
            <a:schemeClr val="accent6">
              <a:alpha val="38000"/>
            </a:schemeClr>
          </a:solidFill>
          <a:ln/>
        </p:spPr>
      </p:sp>
      <p:sp>
        <p:nvSpPr>
          <p:cNvPr id="10" name="heat-cell-521"/>
          <p:cNvSpPr/>
          <p:nvPr/>
        </p:nvSpPr>
        <p:spPr>
          <a:xfrm>
            <a:off x="4050792" y="2231136"/>
            <a:ext cx="1225296" cy="1005840"/>
          </a:xfrm>
          <a:prstGeom prst="roundRect">
            <a:avLst>
              <a:gd name="adj" fmla="val 7273"/>
            </a:avLst>
          </a:prstGeom>
          <a:solidFill>
            <a:schemeClr val="accent6">
              <a:alpha val="38000"/>
            </a:schemeClr>
          </a:solidFill>
          <a:ln/>
        </p:spPr>
      </p:sp>
      <p:sp>
        <p:nvSpPr>
          <p:cNvPr id="11" name="text-522"/>
          <p:cNvSpPr txBox="1"/>
          <p:nvPr/>
        </p:nvSpPr>
        <p:spPr>
          <a:xfrm>
            <a:off x="685800" y="3273552"/>
            <a:ext cx="685800" cy="1078992"/>
          </a:xfrm>
          <a:prstGeom prst="rect">
            <a:avLst/>
          </a:prstGeom>
          <a:noFill/>
          <a:ln/>
        </p:spPr>
        <p:txBody>
          <a:bodyPr wrap="square" lIns="0" tIns="0" rIns="0" bIns="0" rtlCol="0" anchor="ctr"/>
          <a:lstStyle/>
          <a:p>
            <a:pPr algn="ctr" indent="0" marL="0">
              <a:buNone/>
            </a:pPr>
            <a:r>
              <a:rPr lang="en-US" sz="1200" dirty="0">
                <a:solidFill>
                  <a:schemeClr val="bg2"/>
                </a:solidFill>
              </a:rPr>
              <a:t>Med</a:t>
            </a:r>
            <a:endParaRPr lang="en-US" sz="1200" dirty="0"/>
          </a:p>
        </p:txBody>
      </p:sp>
      <p:sp>
        <p:nvSpPr>
          <p:cNvPr id="12" name="heat-cell-523"/>
          <p:cNvSpPr/>
          <p:nvPr/>
        </p:nvSpPr>
        <p:spPr>
          <a:xfrm>
            <a:off x="1453896" y="3310128"/>
            <a:ext cx="1225296" cy="1005840"/>
          </a:xfrm>
          <a:prstGeom prst="roundRect">
            <a:avLst>
              <a:gd name="adj" fmla="val 7273"/>
            </a:avLst>
          </a:prstGeom>
          <a:solidFill>
            <a:schemeClr val="accent5">
              <a:alpha val="18000"/>
            </a:schemeClr>
          </a:solidFill>
          <a:ln/>
        </p:spPr>
      </p:sp>
      <p:sp>
        <p:nvSpPr>
          <p:cNvPr id="13" name="heat-cell-524"/>
          <p:cNvSpPr/>
          <p:nvPr/>
        </p:nvSpPr>
        <p:spPr>
          <a:xfrm>
            <a:off x="2752344" y="3310128"/>
            <a:ext cx="1225296" cy="1005840"/>
          </a:xfrm>
          <a:prstGeom prst="roundRect">
            <a:avLst>
              <a:gd name="adj" fmla="val 7273"/>
            </a:avLst>
          </a:prstGeom>
          <a:solidFill>
            <a:schemeClr val="accent3">
              <a:alpha val="28000"/>
            </a:schemeClr>
          </a:solidFill>
          <a:ln/>
        </p:spPr>
      </p:sp>
      <p:sp>
        <p:nvSpPr>
          <p:cNvPr id="14" name="chip-525"/>
          <p:cNvSpPr/>
          <p:nvPr/>
        </p:nvSpPr>
        <p:spPr>
          <a:xfrm>
            <a:off x="2825496" y="3401568"/>
            <a:ext cx="347472" cy="256032"/>
          </a:xfrm>
          <a:prstGeom prst="roundRect">
            <a:avLst>
              <a:gd name="adj" fmla="val 50000"/>
            </a:avLst>
          </a:prstGeom>
          <a:solidFill>
            <a:schemeClr val="bg1"/>
          </a:solidFill>
          <a:ln/>
        </p:spPr>
      </p:sp>
      <p:sp>
        <p:nvSpPr>
          <p:cNvPr id="15" name="text-526"/>
          <p:cNvSpPr txBox="1"/>
          <p:nvPr/>
        </p:nvSpPr>
        <p:spPr>
          <a:xfrm>
            <a:off x="2825496" y="3401568"/>
            <a:ext cx="347472" cy="256032"/>
          </a:xfrm>
          <a:prstGeom prst="rect">
            <a:avLst/>
          </a:prstGeom>
          <a:noFill/>
          <a:ln/>
        </p:spPr>
        <p:txBody>
          <a:bodyPr wrap="square" lIns="0" tIns="0" rIns="0" bIns="0" rtlCol="0" anchor="ctr"/>
          <a:lstStyle/>
          <a:p>
            <a:pPr algn="ctr" indent="0" marL="0">
              <a:buNone/>
            </a:pPr>
            <a:r>
              <a:rPr lang="en-US" sz="1000" b="1" dirty="0">
                <a:solidFill>
                  <a:schemeClr val="tx1"/>
                </a:solidFill>
              </a:rPr>
              <a:t>R4</a:t>
            </a:r>
            <a:endParaRPr lang="en-US" sz="1000" dirty="0"/>
          </a:p>
        </p:txBody>
      </p:sp>
      <p:sp>
        <p:nvSpPr>
          <p:cNvPr id="16" name="chip-527"/>
          <p:cNvSpPr/>
          <p:nvPr/>
        </p:nvSpPr>
        <p:spPr>
          <a:xfrm>
            <a:off x="3209544" y="3401568"/>
            <a:ext cx="347472" cy="256032"/>
          </a:xfrm>
          <a:prstGeom prst="roundRect">
            <a:avLst>
              <a:gd name="adj" fmla="val 50000"/>
            </a:avLst>
          </a:prstGeom>
          <a:solidFill>
            <a:schemeClr val="bg1"/>
          </a:solidFill>
          <a:ln/>
        </p:spPr>
      </p:sp>
      <p:sp>
        <p:nvSpPr>
          <p:cNvPr id="17" name="text-528"/>
          <p:cNvSpPr txBox="1"/>
          <p:nvPr/>
        </p:nvSpPr>
        <p:spPr>
          <a:xfrm>
            <a:off x="3209544" y="3401568"/>
            <a:ext cx="347472" cy="256032"/>
          </a:xfrm>
          <a:prstGeom prst="rect">
            <a:avLst/>
          </a:prstGeom>
          <a:noFill/>
          <a:ln/>
        </p:spPr>
        <p:txBody>
          <a:bodyPr wrap="square" lIns="0" tIns="0" rIns="0" bIns="0" rtlCol="0" anchor="ctr"/>
          <a:lstStyle/>
          <a:p>
            <a:pPr algn="ctr" indent="0" marL="0">
              <a:buNone/>
            </a:pPr>
            <a:r>
              <a:rPr lang="en-US" sz="1000" b="1" dirty="0">
                <a:solidFill>
                  <a:schemeClr val="tx1"/>
                </a:solidFill>
              </a:rPr>
              <a:t>R5</a:t>
            </a:r>
            <a:endParaRPr lang="en-US" sz="1000" dirty="0"/>
          </a:p>
        </p:txBody>
      </p:sp>
      <p:sp>
        <p:nvSpPr>
          <p:cNvPr id="18" name="chip-529"/>
          <p:cNvSpPr/>
          <p:nvPr/>
        </p:nvSpPr>
        <p:spPr>
          <a:xfrm>
            <a:off x="3593592" y="3401568"/>
            <a:ext cx="347472" cy="256032"/>
          </a:xfrm>
          <a:prstGeom prst="roundRect">
            <a:avLst>
              <a:gd name="adj" fmla="val 50000"/>
            </a:avLst>
          </a:prstGeom>
          <a:solidFill>
            <a:schemeClr val="bg1"/>
          </a:solidFill>
          <a:ln/>
        </p:spPr>
      </p:sp>
      <p:sp>
        <p:nvSpPr>
          <p:cNvPr id="19" name="text-530"/>
          <p:cNvSpPr txBox="1"/>
          <p:nvPr/>
        </p:nvSpPr>
        <p:spPr>
          <a:xfrm>
            <a:off x="3593592" y="3401568"/>
            <a:ext cx="347472" cy="256032"/>
          </a:xfrm>
          <a:prstGeom prst="rect">
            <a:avLst/>
          </a:prstGeom>
          <a:noFill/>
          <a:ln/>
        </p:spPr>
        <p:txBody>
          <a:bodyPr wrap="square" lIns="0" tIns="0" rIns="0" bIns="0" rtlCol="0" anchor="ctr"/>
          <a:lstStyle/>
          <a:p>
            <a:pPr algn="ctr" indent="0" marL="0">
              <a:buNone/>
            </a:pPr>
            <a:r>
              <a:rPr lang="en-US" sz="1000" b="1" dirty="0">
                <a:solidFill>
                  <a:schemeClr val="tx1"/>
                </a:solidFill>
              </a:rPr>
              <a:t>R8</a:t>
            </a:r>
            <a:endParaRPr lang="en-US" sz="1000" dirty="0"/>
          </a:p>
        </p:txBody>
      </p:sp>
      <p:sp>
        <p:nvSpPr>
          <p:cNvPr id="20" name="chip-531"/>
          <p:cNvSpPr/>
          <p:nvPr/>
        </p:nvSpPr>
        <p:spPr>
          <a:xfrm>
            <a:off x="2825496" y="3730752"/>
            <a:ext cx="347472" cy="256032"/>
          </a:xfrm>
          <a:prstGeom prst="roundRect">
            <a:avLst>
              <a:gd name="adj" fmla="val 50000"/>
            </a:avLst>
          </a:prstGeom>
          <a:solidFill>
            <a:schemeClr val="bg1"/>
          </a:solidFill>
          <a:ln/>
        </p:spPr>
      </p:sp>
      <p:sp>
        <p:nvSpPr>
          <p:cNvPr id="21" name="text-532"/>
          <p:cNvSpPr txBox="1"/>
          <p:nvPr/>
        </p:nvSpPr>
        <p:spPr>
          <a:xfrm>
            <a:off x="2825496" y="3730752"/>
            <a:ext cx="347472" cy="256032"/>
          </a:xfrm>
          <a:prstGeom prst="rect">
            <a:avLst/>
          </a:prstGeom>
          <a:noFill/>
          <a:ln/>
        </p:spPr>
        <p:txBody>
          <a:bodyPr wrap="square" lIns="0" tIns="0" rIns="0" bIns="0" rtlCol="0" anchor="ctr"/>
          <a:lstStyle/>
          <a:p>
            <a:pPr algn="ctr" indent="0" marL="0">
              <a:buNone/>
            </a:pPr>
            <a:r>
              <a:rPr lang="en-US" sz="1000" b="1" dirty="0">
                <a:solidFill>
                  <a:schemeClr val="tx1"/>
                </a:solidFill>
              </a:rPr>
              <a:t>R9</a:t>
            </a:r>
            <a:endParaRPr lang="en-US" sz="1000" dirty="0"/>
          </a:p>
        </p:txBody>
      </p:sp>
      <p:sp>
        <p:nvSpPr>
          <p:cNvPr id="22" name="chip-533"/>
          <p:cNvSpPr/>
          <p:nvPr/>
        </p:nvSpPr>
        <p:spPr>
          <a:xfrm>
            <a:off x="3209544" y="3730752"/>
            <a:ext cx="347472" cy="256032"/>
          </a:xfrm>
          <a:prstGeom prst="roundRect">
            <a:avLst>
              <a:gd name="adj" fmla="val 50000"/>
            </a:avLst>
          </a:prstGeom>
          <a:solidFill>
            <a:schemeClr val="bg1"/>
          </a:solidFill>
          <a:ln/>
        </p:spPr>
      </p:sp>
      <p:sp>
        <p:nvSpPr>
          <p:cNvPr id="23" name="text-534"/>
          <p:cNvSpPr txBox="1"/>
          <p:nvPr/>
        </p:nvSpPr>
        <p:spPr>
          <a:xfrm>
            <a:off x="3209544" y="3730752"/>
            <a:ext cx="347472" cy="256032"/>
          </a:xfrm>
          <a:prstGeom prst="rect">
            <a:avLst/>
          </a:prstGeom>
          <a:noFill/>
          <a:ln/>
        </p:spPr>
        <p:txBody>
          <a:bodyPr wrap="square" lIns="0" tIns="0" rIns="0" bIns="0" rtlCol="0" anchor="ctr"/>
          <a:lstStyle/>
          <a:p>
            <a:pPr algn="ctr" indent="0" marL="0">
              <a:buNone/>
            </a:pPr>
            <a:r>
              <a:rPr lang="en-US" sz="1000" b="1" dirty="0">
                <a:solidFill>
                  <a:schemeClr val="tx1"/>
                </a:solidFill>
              </a:rPr>
              <a:t>R11</a:t>
            </a:r>
            <a:endParaRPr lang="en-US" sz="1000" dirty="0"/>
          </a:p>
        </p:txBody>
      </p:sp>
      <p:sp>
        <p:nvSpPr>
          <p:cNvPr id="24" name="heat-cell-535"/>
          <p:cNvSpPr/>
          <p:nvPr/>
        </p:nvSpPr>
        <p:spPr>
          <a:xfrm>
            <a:off x="4050792" y="3310128"/>
            <a:ext cx="1225296" cy="1005840"/>
          </a:xfrm>
          <a:prstGeom prst="roundRect">
            <a:avLst>
              <a:gd name="adj" fmla="val 7273"/>
            </a:avLst>
          </a:prstGeom>
          <a:solidFill>
            <a:schemeClr val="accent6">
              <a:alpha val="38000"/>
            </a:schemeClr>
          </a:solidFill>
          <a:ln/>
        </p:spPr>
      </p:sp>
      <p:sp>
        <p:nvSpPr>
          <p:cNvPr id="25" name="chip-536"/>
          <p:cNvSpPr/>
          <p:nvPr/>
        </p:nvSpPr>
        <p:spPr>
          <a:xfrm>
            <a:off x="4123944" y="3401568"/>
            <a:ext cx="347472" cy="256032"/>
          </a:xfrm>
          <a:prstGeom prst="roundRect">
            <a:avLst>
              <a:gd name="adj" fmla="val 50000"/>
            </a:avLst>
          </a:prstGeom>
          <a:solidFill>
            <a:schemeClr val="bg1"/>
          </a:solidFill>
          <a:ln/>
        </p:spPr>
      </p:sp>
      <p:sp>
        <p:nvSpPr>
          <p:cNvPr id="26" name="text-537"/>
          <p:cNvSpPr txBox="1"/>
          <p:nvPr/>
        </p:nvSpPr>
        <p:spPr>
          <a:xfrm>
            <a:off x="4123944" y="3401568"/>
            <a:ext cx="347472" cy="256032"/>
          </a:xfrm>
          <a:prstGeom prst="rect">
            <a:avLst/>
          </a:prstGeom>
          <a:noFill/>
          <a:ln/>
        </p:spPr>
        <p:txBody>
          <a:bodyPr wrap="square" lIns="0" tIns="0" rIns="0" bIns="0" rtlCol="0" anchor="ctr"/>
          <a:lstStyle/>
          <a:p>
            <a:pPr algn="ctr" indent="0" marL="0">
              <a:buNone/>
            </a:pPr>
            <a:r>
              <a:rPr lang="en-US" sz="1000" b="1" dirty="0">
                <a:solidFill>
                  <a:schemeClr val="tx1"/>
                </a:solidFill>
              </a:rPr>
              <a:t>R1</a:t>
            </a:r>
            <a:endParaRPr lang="en-US" sz="1000" dirty="0"/>
          </a:p>
        </p:txBody>
      </p:sp>
      <p:sp>
        <p:nvSpPr>
          <p:cNvPr id="27" name="chip-538"/>
          <p:cNvSpPr/>
          <p:nvPr/>
        </p:nvSpPr>
        <p:spPr>
          <a:xfrm>
            <a:off x="4507992" y="3401568"/>
            <a:ext cx="347472" cy="256032"/>
          </a:xfrm>
          <a:prstGeom prst="roundRect">
            <a:avLst>
              <a:gd name="adj" fmla="val 50000"/>
            </a:avLst>
          </a:prstGeom>
          <a:solidFill>
            <a:schemeClr val="bg1"/>
          </a:solidFill>
          <a:ln/>
        </p:spPr>
      </p:sp>
      <p:sp>
        <p:nvSpPr>
          <p:cNvPr id="28" name="text-539"/>
          <p:cNvSpPr txBox="1"/>
          <p:nvPr/>
        </p:nvSpPr>
        <p:spPr>
          <a:xfrm>
            <a:off x="4507992" y="3401568"/>
            <a:ext cx="347472" cy="256032"/>
          </a:xfrm>
          <a:prstGeom prst="rect">
            <a:avLst/>
          </a:prstGeom>
          <a:noFill/>
          <a:ln/>
        </p:spPr>
        <p:txBody>
          <a:bodyPr wrap="square" lIns="0" tIns="0" rIns="0" bIns="0" rtlCol="0" anchor="ctr"/>
          <a:lstStyle/>
          <a:p>
            <a:pPr algn="ctr" indent="0" marL="0">
              <a:buNone/>
            </a:pPr>
            <a:r>
              <a:rPr lang="en-US" sz="1000" b="1" dirty="0">
                <a:solidFill>
                  <a:schemeClr val="tx1"/>
                </a:solidFill>
              </a:rPr>
              <a:t>R12</a:t>
            </a:r>
            <a:endParaRPr lang="en-US" sz="1000" dirty="0"/>
          </a:p>
        </p:txBody>
      </p:sp>
      <p:sp>
        <p:nvSpPr>
          <p:cNvPr id="29" name="chip-540"/>
          <p:cNvSpPr/>
          <p:nvPr/>
        </p:nvSpPr>
        <p:spPr>
          <a:xfrm>
            <a:off x="4892040" y="3401568"/>
            <a:ext cx="347472" cy="256032"/>
          </a:xfrm>
          <a:prstGeom prst="roundRect">
            <a:avLst>
              <a:gd name="adj" fmla="val 50000"/>
            </a:avLst>
          </a:prstGeom>
          <a:solidFill>
            <a:schemeClr val="bg1"/>
          </a:solidFill>
          <a:ln/>
        </p:spPr>
      </p:sp>
      <p:sp>
        <p:nvSpPr>
          <p:cNvPr id="30" name="text-541"/>
          <p:cNvSpPr txBox="1"/>
          <p:nvPr/>
        </p:nvSpPr>
        <p:spPr>
          <a:xfrm>
            <a:off x="4892040" y="3401568"/>
            <a:ext cx="347472" cy="256032"/>
          </a:xfrm>
          <a:prstGeom prst="rect">
            <a:avLst/>
          </a:prstGeom>
          <a:noFill/>
          <a:ln/>
        </p:spPr>
        <p:txBody>
          <a:bodyPr wrap="square" lIns="0" tIns="0" rIns="0" bIns="0" rtlCol="0" anchor="ctr"/>
          <a:lstStyle/>
          <a:p>
            <a:pPr algn="ctr" indent="0" marL="0">
              <a:buNone/>
            </a:pPr>
            <a:r>
              <a:rPr lang="en-US" sz="1000" b="1" dirty="0">
                <a:solidFill>
                  <a:schemeClr val="tx1"/>
                </a:solidFill>
              </a:rPr>
              <a:t>R13</a:t>
            </a:r>
            <a:endParaRPr lang="en-US" sz="1000" dirty="0"/>
          </a:p>
        </p:txBody>
      </p:sp>
      <p:sp>
        <p:nvSpPr>
          <p:cNvPr id="31" name="text-542"/>
          <p:cNvSpPr txBox="1"/>
          <p:nvPr/>
        </p:nvSpPr>
        <p:spPr>
          <a:xfrm>
            <a:off x="685800" y="4352544"/>
            <a:ext cx="685800" cy="1078992"/>
          </a:xfrm>
          <a:prstGeom prst="rect">
            <a:avLst/>
          </a:prstGeom>
          <a:noFill/>
          <a:ln/>
        </p:spPr>
        <p:txBody>
          <a:bodyPr wrap="square" lIns="0" tIns="0" rIns="0" bIns="0" rtlCol="0" anchor="ctr"/>
          <a:lstStyle/>
          <a:p>
            <a:pPr algn="ctr" indent="0" marL="0">
              <a:buNone/>
            </a:pPr>
            <a:r>
              <a:rPr lang="en-US" sz="1200" dirty="0">
                <a:solidFill>
                  <a:schemeClr val="bg2"/>
                </a:solidFill>
              </a:rPr>
              <a:t>Low</a:t>
            </a:r>
            <a:endParaRPr lang="en-US" sz="1200" dirty="0"/>
          </a:p>
        </p:txBody>
      </p:sp>
      <p:sp>
        <p:nvSpPr>
          <p:cNvPr id="32" name="heat-cell-543"/>
          <p:cNvSpPr/>
          <p:nvPr/>
        </p:nvSpPr>
        <p:spPr>
          <a:xfrm>
            <a:off x="1453896" y="4389120"/>
            <a:ext cx="1225296" cy="1005840"/>
          </a:xfrm>
          <a:prstGeom prst="roundRect">
            <a:avLst>
              <a:gd name="adj" fmla="val 7273"/>
            </a:avLst>
          </a:prstGeom>
          <a:solidFill>
            <a:schemeClr val="accent5">
              <a:alpha val="18000"/>
            </a:schemeClr>
          </a:solidFill>
          <a:ln/>
        </p:spPr>
      </p:sp>
      <p:sp>
        <p:nvSpPr>
          <p:cNvPr id="33" name="chip-544"/>
          <p:cNvSpPr/>
          <p:nvPr/>
        </p:nvSpPr>
        <p:spPr>
          <a:xfrm>
            <a:off x="1527048" y="4480560"/>
            <a:ext cx="347472" cy="256032"/>
          </a:xfrm>
          <a:prstGeom prst="roundRect">
            <a:avLst>
              <a:gd name="adj" fmla="val 50000"/>
            </a:avLst>
          </a:prstGeom>
          <a:solidFill>
            <a:schemeClr val="bg1"/>
          </a:solidFill>
          <a:ln/>
        </p:spPr>
      </p:sp>
      <p:sp>
        <p:nvSpPr>
          <p:cNvPr id="34" name="text-545"/>
          <p:cNvSpPr txBox="1"/>
          <p:nvPr/>
        </p:nvSpPr>
        <p:spPr>
          <a:xfrm>
            <a:off x="1527048" y="4480560"/>
            <a:ext cx="347472" cy="256032"/>
          </a:xfrm>
          <a:prstGeom prst="rect">
            <a:avLst/>
          </a:prstGeom>
          <a:noFill/>
          <a:ln/>
        </p:spPr>
        <p:txBody>
          <a:bodyPr wrap="square" lIns="0" tIns="0" rIns="0" bIns="0" rtlCol="0" anchor="ctr"/>
          <a:lstStyle/>
          <a:p>
            <a:pPr algn="ctr" indent="0" marL="0">
              <a:buNone/>
            </a:pPr>
            <a:r>
              <a:rPr lang="en-US" sz="1000" b="1" dirty="0">
                <a:solidFill>
                  <a:schemeClr val="tx1"/>
                </a:solidFill>
              </a:rPr>
              <a:t>R14</a:t>
            </a:r>
            <a:endParaRPr lang="en-US" sz="1000" dirty="0"/>
          </a:p>
        </p:txBody>
      </p:sp>
      <p:sp>
        <p:nvSpPr>
          <p:cNvPr id="35" name="heat-cell-546"/>
          <p:cNvSpPr/>
          <p:nvPr/>
        </p:nvSpPr>
        <p:spPr>
          <a:xfrm>
            <a:off x="2752344" y="4389120"/>
            <a:ext cx="1225296" cy="1005840"/>
          </a:xfrm>
          <a:prstGeom prst="roundRect">
            <a:avLst>
              <a:gd name="adj" fmla="val 7273"/>
            </a:avLst>
          </a:prstGeom>
          <a:solidFill>
            <a:schemeClr val="accent5">
              <a:alpha val="18000"/>
            </a:schemeClr>
          </a:solidFill>
          <a:ln/>
        </p:spPr>
      </p:sp>
      <p:sp>
        <p:nvSpPr>
          <p:cNvPr id="36" name="chip-547"/>
          <p:cNvSpPr/>
          <p:nvPr/>
        </p:nvSpPr>
        <p:spPr>
          <a:xfrm>
            <a:off x="2825496" y="4480560"/>
            <a:ext cx="347472" cy="256032"/>
          </a:xfrm>
          <a:prstGeom prst="roundRect">
            <a:avLst>
              <a:gd name="adj" fmla="val 50000"/>
            </a:avLst>
          </a:prstGeom>
          <a:solidFill>
            <a:schemeClr val="bg1"/>
          </a:solidFill>
          <a:ln/>
        </p:spPr>
      </p:sp>
      <p:sp>
        <p:nvSpPr>
          <p:cNvPr id="37" name="text-548"/>
          <p:cNvSpPr txBox="1"/>
          <p:nvPr/>
        </p:nvSpPr>
        <p:spPr>
          <a:xfrm>
            <a:off x="2825496" y="4480560"/>
            <a:ext cx="347472" cy="256032"/>
          </a:xfrm>
          <a:prstGeom prst="rect">
            <a:avLst/>
          </a:prstGeom>
          <a:noFill/>
          <a:ln/>
        </p:spPr>
        <p:txBody>
          <a:bodyPr wrap="square" lIns="0" tIns="0" rIns="0" bIns="0" rtlCol="0" anchor="ctr"/>
          <a:lstStyle/>
          <a:p>
            <a:pPr algn="ctr" indent="0" marL="0">
              <a:buNone/>
            </a:pPr>
            <a:r>
              <a:rPr lang="en-US" sz="1000" b="1" dirty="0">
                <a:solidFill>
                  <a:schemeClr val="tx1"/>
                </a:solidFill>
              </a:rPr>
              <a:t>R2</a:t>
            </a:r>
            <a:endParaRPr lang="en-US" sz="1000" dirty="0"/>
          </a:p>
        </p:txBody>
      </p:sp>
      <p:sp>
        <p:nvSpPr>
          <p:cNvPr id="38" name="chip-549"/>
          <p:cNvSpPr/>
          <p:nvPr/>
        </p:nvSpPr>
        <p:spPr>
          <a:xfrm>
            <a:off x="3209544" y="4480560"/>
            <a:ext cx="347472" cy="256032"/>
          </a:xfrm>
          <a:prstGeom prst="roundRect">
            <a:avLst>
              <a:gd name="adj" fmla="val 50000"/>
            </a:avLst>
          </a:prstGeom>
          <a:solidFill>
            <a:schemeClr val="bg1"/>
          </a:solidFill>
          <a:ln/>
        </p:spPr>
      </p:sp>
      <p:sp>
        <p:nvSpPr>
          <p:cNvPr id="39" name="text-550"/>
          <p:cNvSpPr txBox="1"/>
          <p:nvPr/>
        </p:nvSpPr>
        <p:spPr>
          <a:xfrm>
            <a:off x="3209544" y="4480560"/>
            <a:ext cx="347472" cy="256032"/>
          </a:xfrm>
          <a:prstGeom prst="rect">
            <a:avLst/>
          </a:prstGeom>
          <a:noFill/>
          <a:ln/>
        </p:spPr>
        <p:txBody>
          <a:bodyPr wrap="square" lIns="0" tIns="0" rIns="0" bIns="0" rtlCol="0" anchor="ctr"/>
          <a:lstStyle/>
          <a:p>
            <a:pPr algn="ctr" indent="0" marL="0">
              <a:buNone/>
            </a:pPr>
            <a:r>
              <a:rPr lang="en-US" sz="1000" b="1" dirty="0">
                <a:solidFill>
                  <a:schemeClr val="tx1"/>
                </a:solidFill>
              </a:rPr>
              <a:t>R6</a:t>
            </a:r>
            <a:endParaRPr lang="en-US" sz="1000" dirty="0"/>
          </a:p>
        </p:txBody>
      </p:sp>
      <p:sp>
        <p:nvSpPr>
          <p:cNvPr id="40" name="heat-cell-551"/>
          <p:cNvSpPr/>
          <p:nvPr/>
        </p:nvSpPr>
        <p:spPr>
          <a:xfrm>
            <a:off x="4050792" y="4389120"/>
            <a:ext cx="1225296" cy="1005840"/>
          </a:xfrm>
          <a:prstGeom prst="roundRect">
            <a:avLst>
              <a:gd name="adj" fmla="val 7273"/>
            </a:avLst>
          </a:prstGeom>
          <a:solidFill>
            <a:schemeClr val="accent3">
              <a:alpha val="28000"/>
            </a:schemeClr>
          </a:solidFill>
          <a:ln/>
        </p:spPr>
      </p:sp>
      <p:sp>
        <p:nvSpPr>
          <p:cNvPr id="41" name="chip-552"/>
          <p:cNvSpPr/>
          <p:nvPr/>
        </p:nvSpPr>
        <p:spPr>
          <a:xfrm>
            <a:off x="4123944" y="4480560"/>
            <a:ext cx="347472" cy="256032"/>
          </a:xfrm>
          <a:prstGeom prst="roundRect">
            <a:avLst>
              <a:gd name="adj" fmla="val 50000"/>
            </a:avLst>
          </a:prstGeom>
          <a:solidFill>
            <a:schemeClr val="bg1"/>
          </a:solidFill>
          <a:ln/>
        </p:spPr>
      </p:sp>
      <p:sp>
        <p:nvSpPr>
          <p:cNvPr id="42" name="text-553"/>
          <p:cNvSpPr txBox="1"/>
          <p:nvPr/>
        </p:nvSpPr>
        <p:spPr>
          <a:xfrm>
            <a:off x="4123944" y="4480560"/>
            <a:ext cx="347472" cy="256032"/>
          </a:xfrm>
          <a:prstGeom prst="rect">
            <a:avLst/>
          </a:prstGeom>
          <a:noFill/>
          <a:ln/>
        </p:spPr>
        <p:txBody>
          <a:bodyPr wrap="square" lIns="0" tIns="0" rIns="0" bIns="0" rtlCol="0" anchor="ctr"/>
          <a:lstStyle/>
          <a:p>
            <a:pPr algn="ctr" indent="0" marL="0">
              <a:buNone/>
            </a:pPr>
            <a:r>
              <a:rPr lang="en-US" sz="1000" b="1" dirty="0">
                <a:solidFill>
                  <a:schemeClr val="tx1"/>
                </a:solidFill>
              </a:rPr>
              <a:t>R3</a:t>
            </a:r>
            <a:endParaRPr lang="en-US" sz="1000" dirty="0"/>
          </a:p>
        </p:txBody>
      </p:sp>
      <p:sp>
        <p:nvSpPr>
          <p:cNvPr id="43" name="chip-554"/>
          <p:cNvSpPr/>
          <p:nvPr/>
        </p:nvSpPr>
        <p:spPr>
          <a:xfrm>
            <a:off x="4507992" y="4480560"/>
            <a:ext cx="347472" cy="256032"/>
          </a:xfrm>
          <a:prstGeom prst="roundRect">
            <a:avLst>
              <a:gd name="adj" fmla="val 50000"/>
            </a:avLst>
          </a:prstGeom>
          <a:solidFill>
            <a:schemeClr val="bg1"/>
          </a:solidFill>
          <a:ln/>
        </p:spPr>
      </p:sp>
      <p:sp>
        <p:nvSpPr>
          <p:cNvPr id="44" name="text-555"/>
          <p:cNvSpPr txBox="1"/>
          <p:nvPr/>
        </p:nvSpPr>
        <p:spPr>
          <a:xfrm>
            <a:off x="4507992" y="4480560"/>
            <a:ext cx="347472" cy="256032"/>
          </a:xfrm>
          <a:prstGeom prst="rect">
            <a:avLst/>
          </a:prstGeom>
          <a:noFill/>
          <a:ln/>
        </p:spPr>
        <p:txBody>
          <a:bodyPr wrap="square" lIns="0" tIns="0" rIns="0" bIns="0" rtlCol="0" anchor="ctr"/>
          <a:lstStyle/>
          <a:p>
            <a:pPr algn="ctr" indent="0" marL="0">
              <a:buNone/>
            </a:pPr>
            <a:r>
              <a:rPr lang="en-US" sz="1000" b="1" dirty="0">
                <a:solidFill>
                  <a:schemeClr val="tx1"/>
                </a:solidFill>
              </a:rPr>
              <a:t>R7</a:t>
            </a:r>
            <a:endParaRPr lang="en-US" sz="1000" dirty="0"/>
          </a:p>
        </p:txBody>
      </p:sp>
      <p:sp>
        <p:nvSpPr>
          <p:cNvPr id="45" name="chip-556"/>
          <p:cNvSpPr/>
          <p:nvPr/>
        </p:nvSpPr>
        <p:spPr>
          <a:xfrm>
            <a:off x="4892040" y="4480560"/>
            <a:ext cx="347472" cy="256032"/>
          </a:xfrm>
          <a:prstGeom prst="roundRect">
            <a:avLst>
              <a:gd name="adj" fmla="val 50000"/>
            </a:avLst>
          </a:prstGeom>
          <a:solidFill>
            <a:schemeClr val="bg1"/>
          </a:solidFill>
          <a:ln/>
        </p:spPr>
      </p:sp>
      <p:sp>
        <p:nvSpPr>
          <p:cNvPr id="46" name="text-557"/>
          <p:cNvSpPr txBox="1"/>
          <p:nvPr/>
        </p:nvSpPr>
        <p:spPr>
          <a:xfrm>
            <a:off x="4892040" y="4480560"/>
            <a:ext cx="347472" cy="256032"/>
          </a:xfrm>
          <a:prstGeom prst="rect">
            <a:avLst/>
          </a:prstGeom>
          <a:noFill/>
          <a:ln/>
        </p:spPr>
        <p:txBody>
          <a:bodyPr wrap="square" lIns="0" tIns="0" rIns="0" bIns="0" rtlCol="0" anchor="ctr"/>
          <a:lstStyle/>
          <a:p>
            <a:pPr algn="ctr" indent="0" marL="0">
              <a:buNone/>
            </a:pPr>
            <a:r>
              <a:rPr lang="en-US" sz="1000" b="1" dirty="0">
                <a:solidFill>
                  <a:schemeClr val="tx1"/>
                </a:solidFill>
              </a:rPr>
              <a:t>R10</a:t>
            </a:r>
            <a:endParaRPr lang="en-US" sz="1000" dirty="0"/>
          </a:p>
        </p:txBody>
      </p:sp>
      <p:sp>
        <p:nvSpPr>
          <p:cNvPr id="47" name="text-558"/>
          <p:cNvSpPr txBox="1"/>
          <p:nvPr/>
        </p:nvSpPr>
        <p:spPr>
          <a:xfrm>
            <a:off x="1417320" y="5449824"/>
            <a:ext cx="1298448" cy="274320"/>
          </a:xfrm>
          <a:prstGeom prst="rect">
            <a:avLst/>
          </a:prstGeom>
          <a:noFill/>
          <a:ln/>
        </p:spPr>
        <p:txBody>
          <a:bodyPr wrap="square" lIns="0" tIns="0" rIns="0" bIns="0" rtlCol="0" anchor="t"/>
          <a:lstStyle/>
          <a:p>
            <a:pPr algn="ctr" indent="0" marL="0">
              <a:buNone/>
            </a:pPr>
            <a:r>
              <a:rPr lang="en-US" sz="1200" dirty="0">
                <a:solidFill>
                  <a:schemeClr val="bg2"/>
                </a:solidFill>
              </a:rPr>
              <a:t>Low</a:t>
            </a:r>
            <a:endParaRPr lang="en-US" sz="1200" dirty="0"/>
          </a:p>
        </p:txBody>
      </p:sp>
      <p:sp>
        <p:nvSpPr>
          <p:cNvPr id="48" name="text-559"/>
          <p:cNvSpPr txBox="1"/>
          <p:nvPr/>
        </p:nvSpPr>
        <p:spPr>
          <a:xfrm>
            <a:off x="2715768" y="5449824"/>
            <a:ext cx="1298448" cy="274320"/>
          </a:xfrm>
          <a:prstGeom prst="rect">
            <a:avLst/>
          </a:prstGeom>
          <a:noFill/>
          <a:ln/>
        </p:spPr>
        <p:txBody>
          <a:bodyPr wrap="square" lIns="0" tIns="0" rIns="0" bIns="0" rtlCol="0" anchor="t"/>
          <a:lstStyle/>
          <a:p>
            <a:pPr algn="ctr" indent="0" marL="0">
              <a:buNone/>
            </a:pPr>
            <a:r>
              <a:rPr lang="en-US" sz="1200" dirty="0">
                <a:solidFill>
                  <a:schemeClr val="bg2"/>
                </a:solidFill>
              </a:rPr>
              <a:t>Med</a:t>
            </a:r>
            <a:endParaRPr lang="en-US" sz="1200" dirty="0"/>
          </a:p>
        </p:txBody>
      </p:sp>
      <p:sp>
        <p:nvSpPr>
          <p:cNvPr id="49" name="text-560"/>
          <p:cNvSpPr txBox="1"/>
          <p:nvPr/>
        </p:nvSpPr>
        <p:spPr>
          <a:xfrm>
            <a:off x="4014216" y="5449824"/>
            <a:ext cx="1298448" cy="274320"/>
          </a:xfrm>
          <a:prstGeom prst="rect">
            <a:avLst/>
          </a:prstGeom>
          <a:noFill/>
          <a:ln/>
        </p:spPr>
        <p:txBody>
          <a:bodyPr wrap="square" lIns="0" tIns="0" rIns="0" bIns="0" rtlCol="0" anchor="t"/>
          <a:lstStyle/>
          <a:p>
            <a:pPr algn="ctr" indent="0" marL="0">
              <a:buNone/>
            </a:pPr>
            <a:r>
              <a:rPr lang="en-US" sz="1200" dirty="0">
                <a:solidFill>
                  <a:schemeClr val="bg2"/>
                </a:solidFill>
              </a:rPr>
              <a:t>High</a:t>
            </a:r>
            <a:endParaRPr lang="en-US" sz="1200" dirty="0"/>
          </a:p>
        </p:txBody>
      </p:sp>
      <p:sp>
        <p:nvSpPr>
          <p:cNvPr id="50" name="text-561"/>
          <p:cNvSpPr txBox="1"/>
          <p:nvPr/>
        </p:nvSpPr>
        <p:spPr>
          <a:xfrm>
            <a:off x="1417320" y="5705856"/>
            <a:ext cx="3895344" cy="274320"/>
          </a:xfrm>
          <a:prstGeom prst="rect">
            <a:avLst/>
          </a:prstGeom>
          <a:noFill/>
          <a:ln/>
        </p:spPr>
        <p:txBody>
          <a:bodyPr wrap="square" lIns="0" tIns="0" rIns="0" bIns="0" rtlCol="0" anchor="t"/>
          <a:lstStyle/>
          <a:p>
            <a:pPr algn="ctr" indent="0" marL="0">
              <a:buNone/>
            </a:pPr>
            <a:r>
              <a:rPr lang="en-US" sz="1100" b="1" spc="150" kern="0" dirty="0">
                <a:solidFill>
                  <a:schemeClr val="bg2"/>
                </a:solidFill>
              </a:rPr>
              <a:t>IMPACT →</a:t>
            </a:r>
            <a:endParaRPr lang="en-US" sz="1100" dirty="0"/>
          </a:p>
        </p:txBody>
      </p:sp>
      <p:sp>
        <p:nvSpPr>
          <p:cNvPr id="51" name="text-562"/>
          <p:cNvSpPr txBox="1"/>
          <p:nvPr/>
        </p:nvSpPr>
        <p:spPr>
          <a:xfrm>
            <a:off x="640080" y="1938528"/>
            <a:ext cx="1463040" cy="256032"/>
          </a:xfrm>
          <a:prstGeom prst="rect">
            <a:avLst/>
          </a:prstGeom>
          <a:noFill/>
          <a:ln/>
        </p:spPr>
        <p:txBody>
          <a:bodyPr wrap="square" lIns="0" tIns="0" rIns="0" bIns="0" rtlCol="0" anchor="t"/>
          <a:lstStyle/>
          <a:p>
            <a:pPr indent="0" marL="0">
              <a:buNone/>
            </a:pPr>
            <a:r>
              <a:rPr lang="en-US" sz="1100" b="1" spc="100" kern="0" dirty="0">
                <a:solidFill>
                  <a:schemeClr val="bg2"/>
                </a:solidFill>
              </a:rPr>
              <a:t>LIKELIHOOD ↑</a:t>
            </a:r>
            <a:endParaRPr lang="en-US" sz="1100" dirty="0"/>
          </a:p>
        </p:txBody>
      </p:sp>
      <p:sp>
        <p:nvSpPr>
          <p:cNvPr id="52" name="glass-563"/>
          <p:cNvSpPr/>
          <p:nvPr/>
        </p:nvSpPr>
        <p:spPr>
          <a:xfrm>
            <a:off x="5897880" y="1572768"/>
            <a:ext cx="5742432" cy="4599432"/>
          </a:xfrm>
          <a:prstGeom prst="roundRect">
            <a:avLst>
              <a:gd name="adj" fmla="val 2783"/>
            </a:avLst>
          </a:prstGeom>
          <a:solidFill>
            <a:schemeClr val="tx2">
              <a:alpha val="78000"/>
            </a:schemeClr>
          </a:solidFill>
          <a:ln w="9525">
            <a:solidFill>
              <a:schemeClr val="bg2">
                <a:alpha val="22000"/>
              </a:schemeClr>
            </a:solidFill>
            <a:prstDash val="solid"/>
          </a:ln>
        </p:spPr>
      </p:sp>
      <p:sp>
        <p:nvSpPr>
          <p:cNvPr id="53" name="text-564"/>
          <p:cNvSpPr txBox="1"/>
          <p:nvPr/>
        </p:nvSpPr>
        <p:spPr>
          <a:xfrm>
            <a:off x="6126480" y="1691640"/>
            <a:ext cx="5303520" cy="320040"/>
          </a:xfrm>
          <a:prstGeom prst="rect">
            <a:avLst/>
          </a:prstGeom>
          <a:noFill/>
          <a:ln/>
        </p:spPr>
        <p:txBody>
          <a:bodyPr wrap="square" lIns="0" tIns="0" rIns="0" bIns="0" rtlCol="0" anchor="t"/>
          <a:lstStyle/>
          <a:p>
            <a:pPr indent="0" marL="0">
              <a:buNone/>
            </a:pPr>
            <a:r>
              <a:rPr lang="en-US" sz="1450" b="1" dirty="0">
                <a:solidFill>
                  <a:schemeClr val="bg1"/>
                </a:solidFill>
                <a:latin typeface="Century Gothic" pitchFamily="34" charset="0"/>
                <a:ea typeface="Century Gothic" pitchFamily="34" charset="-122"/>
                <a:cs typeface="Century Gothic" pitchFamily="34" charset="-120"/>
              </a:rPr>
              <a:t>Residual risk after controls</a:t>
            </a:r>
            <a:endParaRPr lang="en-US" sz="1450" dirty="0"/>
          </a:p>
        </p:txBody>
      </p:sp>
      <p:sp>
        <p:nvSpPr>
          <p:cNvPr id="54" name="chip-565"/>
          <p:cNvSpPr/>
          <p:nvPr/>
        </p:nvSpPr>
        <p:spPr>
          <a:xfrm>
            <a:off x="6126480" y="2212848"/>
            <a:ext cx="502920" cy="274320"/>
          </a:xfrm>
          <a:prstGeom prst="roundRect">
            <a:avLst>
              <a:gd name="adj" fmla="val 50000"/>
            </a:avLst>
          </a:prstGeom>
          <a:solidFill>
            <a:schemeClr val="bg2">
              <a:alpha val="20000"/>
            </a:schemeClr>
          </a:solidFill>
          <a:ln w="9525">
            <a:solidFill>
              <a:schemeClr val="bg2">
                <a:alpha val="60000"/>
              </a:schemeClr>
            </a:solidFill>
            <a:prstDash val="solid"/>
          </a:ln>
        </p:spPr>
      </p:sp>
      <p:sp>
        <p:nvSpPr>
          <p:cNvPr id="55" name="text-566"/>
          <p:cNvSpPr txBox="1"/>
          <p:nvPr/>
        </p:nvSpPr>
        <p:spPr>
          <a:xfrm>
            <a:off x="6126480" y="2212848"/>
            <a:ext cx="502920" cy="274320"/>
          </a:xfrm>
          <a:prstGeom prst="rect">
            <a:avLst/>
          </a:prstGeom>
          <a:noFill/>
          <a:ln/>
        </p:spPr>
        <p:txBody>
          <a:bodyPr wrap="square" lIns="0" tIns="0" rIns="0" bIns="0" rtlCol="0" anchor="ctr"/>
          <a:lstStyle/>
          <a:p>
            <a:pPr algn="ctr" indent="0" marL="0">
              <a:buNone/>
            </a:pPr>
            <a:r>
              <a:rPr lang="en-US" sz="1050" b="1" dirty="0">
                <a:solidFill>
                  <a:schemeClr val="bg2"/>
                </a:solidFill>
              </a:rPr>
              <a:t>R13</a:t>
            </a:r>
            <a:endParaRPr lang="en-US" sz="1050" dirty="0"/>
          </a:p>
        </p:txBody>
      </p:sp>
      <p:sp>
        <p:nvSpPr>
          <p:cNvPr id="56" name="text-567"/>
          <p:cNvSpPr txBox="1"/>
          <p:nvPr/>
        </p:nvSpPr>
        <p:spPr>
          <a:xfrm>
            <a:off x="6766560" y="2121408"/>
            <a:ext cx="3474720" cy="457200"/>
          </a:xfrm>
          <a:prstGeom prst="rect">
            <a:avLst/>
          </a:prstGeom>
          <a:noFill/>
          <a:ln/>
        </p:spPr>
        <p:txBody>
          <a:bodyPr wrap="square" lIns="0" tIns="0" rIns="0" bIns="0" rtlCol="0" anchor="ctr"/>
          <a:lstStyle/>
          <a:p>
            <a:pPr indent="0" marL="0">
              <a:buNone/>
            </a:pPr>
            <a:r>
              <a:rPr lang="en-US" sz="1350" dirty="0">
                <a:solidFill>
                  <a:schemeClr val="bg1"/>
                </a:solidFill>
              </a:rPr>
              <a:t>Unauthenticated API, no rate limits</a:t>
            </a:r>
            <a:endParaRPr lang="en-US" sz="1350" dirty="0"/>
          </a:p>
        </p:txBody>
      </p:sp>
      <p:sp>
        <p:nvSpPr>
          <p:cNvPr id="57" name="chip-568"/>
          <p:cNvSpPr/>
          <p:nvPr/>
        </p:nvSpPr>
        <p:spPr>
          <a:xfrm>
            <a:off x="10332720" y="2212848"/>
            <a:ext cx="1097280" cy="274320"/>
          </a:xfrm>
          <a:prstGeom prst="roundRect">
            <a:avLst>
              <a:gd name="adj" fmla="val 50000"/>
            </a:avLst>
          </a:prstGeom>
          <a:solidFill>
            <a:schemeClr val="accent6">
              <a:alpha val="20000"/>
            </a:schemeClr>
          </a:solidFill>
          <a:ln w="9525">
            <a:solidFill>
              <a:schemeClr val="accent6">
                <a:alpha val="60000"/>
              </a:schemeClr>
            </a:solidFill>
            <a:prstDash val="solid"/>
          </a:ln>
        </p:spPr>
      </p:sp>
      <p:sp>
        <p:nvSpPr>
          <p:cNvPr id="58" name="text-569"/>
          <p:cNvSpPr txBox="1"/>
          <p:nvPr/>
        </p:nvSpPr>
        <p:spPr>
          <a:xfrm>
            <a:off x="10332720" y="2212848"/>
            <a:ext cx="1097280" cy="274320"/>
          </a:xfrm>
          <a:prstGeom prst="rect">
            <a:avLst/>
          </a:prstGeom>
          <a:noFill/>
          <a:ln/>
        </p:spPr>
        <p:txBody>
          <a:bodyPr wrap="square" lIns="0" tIns="0" rIns="0" bIns="0" rtlCol="0" anchor="ctr"/>
          <a:lstStyle/>
          <a:p>
            <a:pPr algn="ctr" indent="0" marL="0">
              <a:buNone/>
            </a:pPr>
            <a:r>
              <a:rPr lang="en-US" sz="1050" b="1" dirty="0">
                <a:solidFill>
                  <a:schemeClr val="accent6"/>
                </a:solidFill>
              </a:rPr>
              <a:t>High</a:t>
            </a:r>
            <a:endParaRPr lang="en-US" sz="1050" dirty="0"/>
          </a:p>
        </p:txBody>
      </p:sp>
      <p:sp>
        <p:nvSpPr>
          <p:cNvPr id="59" name="chip-570"/>
          <p:cNvSpPr/>
          <p:nvPr/>
        </p:nvSpPr>
        <p:spPr>
          <a:xfrm>
            <a:off x="6126480" y="2724912"/>
            <a:ext cx="502920" cy="274320"/>
          </a:xfrm>
          <a:prstGeom prst="roundRect">
            <a:avLst>
              <a:gd name="adj" fmla="val 50000"/>
            </a:avLst>
          </a:prstGeom>
          <a:solidFill>
            <a:schemeClr val="bg2">
              <a:alpha val="20000"/>
            </a:schemeClr>
          </a:solidFill>
          <a:ln w="9525">
            <a:solidFill>
              <a:schemeClr val="bg2">
                <a:alpha val="60000"/>
              </a:schemeClr>
            </a:solidFill>
            <a:prstDash val="solid"/>
          </a:ln>
        </p:spPr>
      </p:sp>
      <p:sp>
        <p:nvSpPr>
          <p:cNvPr id="60" name="text-571"/>
          <p:cNvSpPr txBox="1"/>
          <p:nvPr/>
        </p:nvSpPr>
        <p:spPr>
          <a:xfrm>
            <a:off x="6126480" y="2724912"/>
            <a:ext cx="502920" cy="274320"/>
          </a:xfrm>
          <a:prstGeom prst="rect">
            <a:avLst/>
          </a:prstGeom>
          <a:noFill/>
          <a:ln/>
        </p:spPr>
        <p:txBody>
          <a:bodyPr wrap="square" lIns="0" tIns="0" rIns="0" bIns="0" rtlCol="0" anchor="ctr"/>
          <a:lstStyle/>
          <a:p>
            <a:pPr algn="ctr" indent="0" marL="0">
              <a:buNone/>
            </a:pPr>
            <a:r>
              <a:rPr lang="en-US" sz="1050" b="1" dirty="0">
                <a:solidFill>
                  <a:schemeClr val="bg2"/>
                </a:solidFill>
              </a:rPr>
              <a:t>R1</a:t>
            </a:r>
            <a:endParaRPr lang="en-US" sz="1050" dirty="0"/>
          </a:p>
        </p:txBody>
      </p:sp>
      <p:sp>
        <p:nvSpPr>
          <p:cNvPr id="61" name="text-572"/>
          <p:cNvSpPr txBox="1"/>
          <p:nvPr/>
        </p:nvSpPr>
        <p:spPr>
          <a:xfrm>
            <a:off x="6766560" y="2633472"/>
            <a:ext cx="3474720" cy="457200"/>
          </a:xfrm>
          <a:prstGeom prst="rect">
            <a:avLst/>
          </a:prstGeom>
          <a:noFill/>
          <a:ln/>
        </p:spPr>
        <p:txBody>
          <a:bodyPr wrap="square" lIns="0" tIns="0" rIns="0" bIns="0" rtlCol="0" anchor="ctr"/>
          <a:lstStyle/>
          <a:p>
            <a:pPr indent="0" marL="0">
              <a:buNone/>
            </a:pPr>
            <a:r>
              <a:rPr lang="en-US" sz="1350" dirty="0">
                <a:solidFill>
                  <a:schemeClr val="bg1"/>
                </a:solidFill>
              </a:rPr>
              <a:t>Indirect prompt injection (LLM01)</a:t>
            </a:r>
            <a:endParaRPr lang="en-US" sz="1350" dirty="0"/>
          </a:p>
        </p:txBody>
      </p:sp>
      <p:sp>
        <p:nvSpPr>
          <p:cNvPr id="62" name="chip-573"/>
          <p:cNvSpPr/>
          <p:nvPr/>
        </p:nvSpPr>
        <p:spPr>
          <a:xfrm>
            <a:off x="10332720" y="2724912"/>
            <a:ext cx="1097280" cy="274320"/>
          </a:xfrm>
          <a:prstGeom prst="roundRect">
            <a:avLst>
              <a:gd name="adj" fmla="val 50000"/>
            </a:avLst>
          </a:prstGeom>
          <a:solidFill>
            <a:schemeClr val="accent3">
              <a:alpha val="20000"/>
            </a:schemeClr>
          </a:solidFill>
          <a:ln w="9525">
            <a:solidFill>
              <a:schemeClr val="accent3">
                <a:alpha val="60000"/>
              </a:schemeClr>
            </a:solidFill>
            <a:prstDash val="solid"/>
          </a:ln>
        </p:spPr>
      </p:sp>
      <p:sp>
        <p:nvSpPr>
          <p:cNvPr id="63" name="text-574"/>
          <p:cNvSpPr txBox="1"/>
          <p:nvPr/>
        </p:nvSpPr>
        <p:spPr>
          <a:xfrm>
            <a:off x="10332720" y="2724912"/>
            <a:ext cx="1097280" cy="274320"/>
          </a:xfrm>
          <a:prstGeom prst="rect">
            <a:avLst/>
          </a:prstGeom>
          <a:noFill/>
          <a:ln/>
        </p:spPr>
        <p:txBody>
          <a:bodyPr wrap="square" lIns="0" tIns="0" rIns="0" bIns="0" rtlCol="0" anchor="ctr"/>
          <a:lstStyle/>
          <a:p>
            <a:pPr algn="ctr" indent="0" marL="0">
              <a:buNone/>
            </a:pPr>
            <a:r>
              <a:rPr lang="en-US" sz="1050" b="1" dirty="0">
                <a:solidFill>
                  <a:schemeClr val="accent3"/>
                </a:solidFill>
              </a:rPr>
              <a:t>Medium</a:t>
            </a:r>
            <a:endParaRPr lang="en-US" sz="1050" dirty="0"/>
          </a:p>
        </p:txBody>
      </p:sp>
      <p:sp>
        <p:nvSpPr>
          <p:cNvPr id="64" name="chip-575"/>
          <p:cNvSpPr/>
          <p:nvPr/>
        </p:nvSpPr>
        <p:spPr>
          <a:xfrm>
            <a:off x="6126480" y="3236976"/>
            <a:ext cx="502920" cy="274320"/>
          </a:xfrm>
          <a:prstGeom prst="roundRect">
            <a:avLst>
              <a:gd name="adj" fmla="val 50000"/>
            </a:avLst>
          </a:prstGeom>
          <a:solidFill>
            <a:schemeClr val="bg2">
              <a:alpha val="20000"/>
            </a:schemeClr>
          </a:solidFill>
          <a:ln w="9525">
            <a:solidFill>
              <a:schemeClr val="bg2">
                <a:alpha val="60000"/>
              </a:schemeClr>
            </a:solidFill>
            <a:prstDash val="solid"/>
          </a:ln>
        </p:spPr>
      </p:sp>
      <p:sp>
        <p:nvSpPr>
          <p:cNvPr id="65" name="text-576"/>
          <p:cNvSpPr txBox="1"/>
          <p:nvPr/>
        </p:nvSpPr>
        <p:spPr>
          <a:xfrm>
            <a:off x="6126480" y="3236976"/>
            <a:ext cx="502920" cy="274320"/>
          </a:xfrm>
          <a:prstGeom prst="rect">
            <a:avLst/>
          </a:prstGeom>
          <a:noFill/>
          <a:ln/>
        </p:spPr>
        <p:txBody>
          <a:bodyPr wrap="square" lIns="0" tIns="0" rIns="0" bIns="0" rtlCol="0" anchor="ctr"/>
          <a:lstStyle/>
          <a:p>
            <a:pPr algn="ctr" indent="0" marL="0">
              <a:buNone/>
            </a:pPr>
            <a:r>
              <a:rPr lang="en-US" sz="1050" b="1" dirty="0">
                <a:solidFill>
                  <a:schemeClr val="bg2"/>
                </a:solidFill>
              </a:rPr>
              <a:t>R4</a:t>
            </a:r>
            <a:endParaRPr lang="en-US" sz="1050" dirty="0"/>
          </a:p>
        </p:txBody>
      </p:sp>
      <p:sp>
        <p:nvSpPr>
          <p:cNvPr id="66" name="text-577"/>
          <p:cNvSpPr txBox="1"/>
          <p:nvPr/>
        </p:nvSpPr>
        <p:spPr>
          <a:xfrm>
            <a:off x="6766560" y="3145536"/>
            <a:ext cx="3474720" cy="457200"/>
          </a:xfrm>
          <a:prstGeom prst="rect">
            <a:avLst/>
          </a:prstGeom>
          <a:noFill/>
          <a:ln/>
        </p:spPr>
        <p:txBody>
          <a:bodyPr wrap="square" lIns="0" tIns="0" rIns="0" bIns="0" rtlCol="0" anchor="ctr"/>
          <a:lstStyle/>
          <a:p>
            <a:pPr indent="0" marL="0">
              <a:buNone/>
            </a:pPr>
            <a:r>
              <a:rPr lang="en-US" sz="1350" dirty="0">
                <a:solidFill>
                  <a:schemeClr val="bg1"/>
                </a:solidFill>
              </a:rPr>
              <a:t>Personal data to model provider (LLM02)</a:t>
            </a:r>
            <a:endParaRPr lang="en-US" sz="1350" dirty="0"/>
          </a:p>
        </p:txBody>
      </p:sp>
      <p:sp>
        <p:nvSpPr>
          <p:cNvPr id="67" name="chip-578"/>
          <p:cNvSpPr/>
          <p:nvPr/>
        </p:nvSpPr>
        <p:spPr>
          <a:xfrm>
            <a:off x="10332720" y="3236976"/>
            <a:ext cx="1097280" cy="274320"/>
          </a:xfrm>
          <a:prstGeom prst="roundRect">
            <a:avLst>
              <a:gd name="adj" fmla="val 50000"/>
            </a:avLst>
          </a:prstGeom>
          <a:solidFill>
            <a:schemeClr val="accent3">
              <a:alpha val="20000"/>
            </a:schemeClr>
          </a:solidFill>
          <a:ln w="9525">
            <a:solidFill>
              <a:schemeClr val="accent3">
                <a:alpha val="60000"/>
              </a:schemeClr>
            </a:solidFill>
            <a:prstDash val="solid"/>
          </a:ln>
        </p:spPr>
      </p:sp>
      <p:sp>
        <p:nvSpPr>
          <p:cNvPr id="68" name="text-579"/>
          <p:cNvSpPr txBox="1"/>
          <p:nvPr/>
        </p:nvSpPr>
        <p:spPr>
          <a:xfrm>
            <a:off x="10332720" y="3236976"/>
            <a:ext cx="1097280" cy="274320"/>
          </a:xfrm>
          <a:prstGeom prst="rect">
            <a:avLst/>
          </a:prstGeom>
          <a:noFill/>
          <a:ln/>
        </p:spPr>
        <p:txBody>
          <a:bodyPr wrap="square" lIns="0" tIns="0" rIns="0" bIns="0" rtlCol="0" anchor="ctr"/>
          <a:lstStyle/>
          <a:p>
            <a:pPr algn="ctr" indent="0" marL="0">
              <a:buNone/>
            </a:pPr>
            <a:r>
              <a:rPr lang="en-US" sz="1050" b="1" dirty="0">
                <a:solidFill>
                  <a:schemeClr val="accent3"/>
                </a:solidFill>
              </a:rPr>
              <a:t>Medium</a:t>
            </a:r>
            <a:endParaRPr lang="en-US" sz="1050" dirty="0"/>
          </a:p>
        </p:txBody>
      </p:sp>
      <p:sp>
        <p:nvSpPr>
          <p:cNvPr id="69" name="chip-580"/>
          <p:cNvSpPr/>
          <p:nvPr/>
        </p:nvSpPr>
        <p:spPr>
          <a:xfrm>
            <a:off x="6126480" y="3749040"/>
            <a:ext cx="502920" cy="274320"/>
          </a:xfrm>
          <a:prstGeom prst="roundRect">
            <a:avLst>
              <a:gd name="adj" fmla="val 50000"/>
            </a:avLst>
          </a:prstGeom>
          <a:solidFill>
            <a:schemeClr val="bg2">
              <a:alpha val="20000"/>
            </a:schemeClr>
          </a:solidFill>
          <a:ln w="9525">
            <a:solidFill>
              <a:schemeClr val="bg2">
                <a:alpha val="60000"/>
              </a:schemeClr>
            </a:solidFill>
            <a:prstDash val="solid"/>
          </a:ln>
        </p:spPr>
      </p:sp>
      <p:sp>
        <p:nvSpPr>
          <p:cNvPr id="70" name="text-581"/>
          <p:cNvSpPr txBox="1"/>
          <p:nvPr/>
        </p:nvSpPr>
        <p:spPr>
          <a:xfrm>
            <a:off x="6126480" y="3749040"/>
            <a:ext cx="502920" cy="274320"/>
          </a:xfrm>
          <a:prstGeom prst="rect">
            <a:avLst/>
          </a:prstGeom>
          <a:noFill/>
          <a:ln/>
        </p:spPr>
        <p:txBody>
          <a:bodyPr wrap="square" lIns="0" tIns="0" rIns="0" bIns="0" rtlCol="0" anchor="ctr"/>
          <a:lstStyle/>
          <a:p>
            <a:pPr algn="ctr" indent="0" marL="0">
              <a:buNone/>
            </a:pPr>
            <a:r>
              <a:rPr lang="en-US" sz="1050" b="1" dirty="0">
                <a:solidFill>
                  <a:schemeClr val="bg2"/>
                </a:solidFill>
              </a:rPr>
              <a:t>R8</a:t>
            </a:r>
            <a:endParaRPr lang="en-US" sz="1050" dirty="0"/>
          </a:p>
        </p:txBody>
      </p:sp>
      <p:sp>
        <p:nvSpPr>
          <p:cNvPr id="71" name="text-582"/>
          <p:cNvSpPr txBox="1"/>
          <p:nvPr/>
        </p:nvSpPr>
        <p:spPr>
          <a:xfrm>
            <a:off x="6766560" y="3657600"/>
            <a:ext cx="3474720" cy="457200"/>
          </a:xfrm>
          <a:prstGeom prst="rect">
            <a:avLst/>
          </a:prstGeom>
          <a:noFill/>
          <a:ln/>
        </p:spPr>
        <p:txBody>
          <a:bodyPr wrap="square" lIns="0" tIns="0" rIns="0" bIns="0" rtlCol="0" anchor="ctr"/>
          <a:lstStyle/>
          <a:p>
            <a:pPr indent="0" marL="0">
              <a:buNone/>
            </a:pPr>
            <a:r>
              <a:rPr lang="en-US" sz="1350" dirty="0">
                <a:solidFill>
                  <a:schemeClr val="bg1"/>
                </a:solidFill>
              </a:rPr>
              <a:t>Unbounded consumption (LLM10)</a:t>
            </a:r>
            <a:endParaRPr lang="en-US" sz="1350" dirty="0"/>
          </a:p>
        </p:txBody>
      </p:sp>
      <p:sp>
        <p:nvSpPr>
          <p:cNvPr id="72" name="chip-583"/>
          <p:cNvSpPr/>
          <p:nvPr/>
        </p:nvSpPr>
        <p:spPr>
          <a:xfrm>
            <a:off x="10332720" y="3749040"/>
            <a:ext cx="1097280" cy="274320"/>
          </a:xfrm>
          <a:prstGeom prst="roundRect">
            <a:avLst>
              <a:gd name="adj" fmla="val 50000"/>
            </a:avLst>
          </a:prstGeom>
          <a:solidFill>
            <a:schemeClr val="accent3">
              <a:alpha val="20000"/>
            </a:schemeClr>
          </a:solidFill>
          <a:ln w="9525">
            <a:solidFill>
              <a:schemeClr val="accent3">
                <a:alpha val="60000"/>
              </a:schemeClr>
            </a:solidFill>
            <a:prstDash val="solid"/>
          </a:ln>
        </p:spPr>
      </p:sp>
      <p:sp>
        <p:nvSpPr>
          <p:cNvPr id="73" name="text-584"/>
          <p:cNvSpPr txBox="1"/>
          <p:nvPr/>
        </p:nvSpPr>
        <p:spPr>
          <a:xfrm>
            <a:off x="10332720" y="3749040"/>
            <a:ext cx="1097280" cy="274320"/>
          </a:xfrm>
          <a:prstGeom prst="rect">
            <a:avLst/>
          </a:prstGeom>
          <a:noFill/>
          <a:ln/>
        </p:spPr>
        <p:txBody>
          <a:bodyPr wrap="square" lIns="0" tIns="0" rIns="0" bIns="0" rtlCol="0" anchor="ctr"/>
          <a:lstStyle/>
          <a:p>
            <a:pPr algn="ctr" indent="0" marL="0">
              <a:buNone/>
            </a:pPr>
            <a:r>
              <a:rPr lang="en-US" sz="1050" b="1" dirty="0">
                <a:solidFill>
                  <a:schemeClr val="accent3"/>
                </a:solidFill>
              </a:rPr>
              <a:t>Medium</a:t>
            </a:r>
            <a:endParaRPr lang="en-US" sz="1050" dirty="0"/>
          </a:p>
        </p:txBody>
      </p:sp>
      <p:sp>
        <p:nvSpPr>
          <p:cNvPr id="74" name="chip-585"/>
          <p:cNvSpPr/>
          <p:nvPr/>
        </p:nvSpPr>
        <p:spPr>
          <a:xfrm>
            <a:off x="6126480" y="4261104"/>
            <a:ext cx="502920" cy="274320"/>
          </a:xfrm>
          <a:prstGeom prst="roundRect">
            <a:avLst>
              <a:gd name="adj" fmla="val 50000"/>
            </a:avLst>
          </a:prstGeom>
          <a:solidFill>
            <a:schemeClr val="bg2">
              <a:alpha val="20000"/>
            </a:schemeClr>
          </a:solidFill>
          <a:ln w="9525">
            <a:solidFill>
              <a:schemeClr val="bg2">
                <a:alpha val="60000"/>
              </a:schemeClr>
            </a:solidFill>
            <a:prstDash val="solid"/>
          </a:ln>
        </p:spPr>
      </p:sp>
      <p:sp>
        <p:nvSpPr>
          <p:cNvPr id="75" name="text-586"/>
          <p:cNvSpPr txBox="1"/>
          <p:nvPr/>
        </p:nvSpPr>
        <p:spPr>
          <a:xfrm>
            <a:off x="6126480" y="4261104"/>
            <a:ext cx="502920" cy="274320"/>
          </a:xfrm>
          <a:prstGeom prst="rect">
            <a:avLst/>
          </a:prstGeom>
          <a:noFill/>
          <a:ln/>
        </p:spPr>
        <p:txBody>
          <a:bodyPr wrap="square" lIns="0" tIns="0" rIns="0" bIns="0" rtlCol="0" anchor="ctr"/>
          <a:lstStyle/>
          <a:p>
            <a:pPr algn="ctr" indent="0" marL="0">
              <a:buNone/>
            </a:pPr>
            <a:r>
              <a:rPr lang="en-US" sz="1050" b="1" dirty="0">
                <a:solidFill>
                  <a:schemeClr val="bg2"/>
                </a:solidFill>
              </a:rPr>
              <a:t>R12</a:t>
            </a:r>
            <a:endParaRPr lang="en-US" sz="1050" dirty="0"/>
          </a:p>
        </p:txBody>
      </p:sp>
      <p:sp>
        <p:nvSpPr>
          <p:cNvPr id="76" name="text-587"/>
          <p:cNvSpPr txBox="1"/>
          <p:nvPr/>
        </p:nvSpPr>
        <p:spPr>
          <a:xfrm>
            <a:off x="6766560" y="4169664"/>
            <a:ext cx="3474720" cy="457200"/>
          </a:xfrm>
          <a:prstGeom prst="rect">
            <a:avLst/>
          </a:prstGeom>
          <a:noFill/>
          <a:ln/>
        </p:spPr>
        <p:txBody>
          <a:bodyPr wrap="square" lIns="0" tIns="0" rIns="0" bIns="0" rtlCol="0" anchor="ctr"/>
          <a:lstStyle/>
          <a:p>
            <a:pPr indent="0" marL="0">
              <a:buNone/>
            </a:pPr>
            <a:r>
              <a:rPr lang="en-US" sz="1350" dirty="0">
                <a:solidFill>
                  <a:schemeClr val="bg1"/>
                </a:solidFill>
              </a:rPr>
              <a:t>Secrets + supply chain (LLM03)</a:t>
            </a:r>
            <a:endParaRPr lang="en-US" sz="1350" dirty="0"/>
          </a:p>
        </p:txBody>
      </p:sp>
      <p:sp>
        <p:nvSpPr>
          <p:cNvPr id="77" name="chip-588"/>
          <p:cNvSpPr/>
          <p:nvPr/>
        </p:nvSpPr>
        <p:spPr>
          <a:xfrm>
            <a:off x="10332720" y="4261104"/>
            <a:ext cx="1097280" cy="274320"/>
          </a:xfrm>
          <a:prstGeom prst="roundRect">
            <a:avLst>
              <a:gd name="adj" fmla="val 50000"/>
            </a:avLst>
          </a:prstGeom>
          <a:solidFill>
            <a:schemeClr val="accent3">
              <a:alpha val="20000"/>
            </a:schemeClr>
          </a:solidFill>
          <a:ln w="9525">
            <a:solidFill>
              <a:schemeClr val="accent3">
                <a:alpha val="60000"/>
              </a:schemeClr>
            </a:solidFill>
            <a:prstDash val="solid"/>
          </a:ln>
        </p:spPr>
      </p:sp>
      <p:sp>
        <p:nvSpPr>
          <p:cNvPr id="78" name="text-589"/>
          <p:cNvSpPr txBox="1"/>
          <p:nvPr/>
        </p:nvSpPr>
        <p:spPr>
          <a:xfrm>
            <a:off x="10332720" y="4261104"/>
            <a:ext cx="1097280" cy="274320"/>
          </a:xfrm>
          <a:prstGeom prst="rect">
            <a:avLst/>
          </a:prstGeom>
          <a:noFill/>
          <a:ln/>
        </p:spPr>
        <p:txBody>
          <a:bodyPr wrap="square" lIns="0" tIns="0" rIns="0" bIns="0" rtlCol="0" anchor="ctr"/>
          <a:lstStyle/>
          <a:p>
            <a:pPr algn="ctr" indent="0" marL="0">
              <a:buNone/>
            </a:pPr>
            <a:r>
              <a:rPr lang="en-US" sz="1050" b="1" dirty="0">
                <a:solidFill>
                  <a:schemeClr val="accent3"/>
                </a:solidFill>
              </a:rPr>
              <a:t>Medium</a:t>
            </a:r>
            <a:endParaRPr lang="en-US" sz="1050" dirty="0"/>
          </a:p>
        </p:txBody>
      </p:sp>
      <p:sp>
        <p:nvSpPr>
          <p:cNvPr id="79" name="chip-590"/>
          <p:cNvSpPr/>
          <p:nvPr/>
        </p:nvSpPr>
        <p:spPr>
          <a:xfrm>
            <a:off x="6126480" y="4773168"/>
            <a:ext cx="502920" cy="274320"/>
          </a:xfrm>
          <a:prstGeom prst="roundRect">
            <a:avLst>
              <a:gd name="adj" fmla="val 50000"/>
            </a:avLst>
          </a:prstGeom>
          <a:solidFill>
            <a:schemeClr val="bg2">
              <a:alpha val="20000"/>
            </a:schemeClr>
          </a:solidFill>
          <a:ln w="9525">
            <a:solidFill>
              <a:schemeClr val="bg2">
                <a:alpha val="60000"/>
              </a:schemeClr>
            </a:solidFill>
            <a:prstDash val="solid"/>
          </a:ln>
        </p:spPr>
      </p:sp>
      <p:sp>
        <p:nvSpPr>
          <p:cNvPr id="80" name="text-591"/>
          <p:cNvSpPr txBox="1"/>
          <p:nvPr/>
        </p:nvSpPr>
        <p:spPr>
          <a:xfrm>
            <a:off x="6126480" y="4773168"/>
            <a:ext cx="502920" cy="274320"/>
          </a:xfrm>
          <a:prstGeom prst="rect">
            <a:avLst/>
          </a:prstGeom>
          <a:noFill/>
          <a:ln/>
        </p:spPr>
        <p:txBody>
          <a:bodyPr wrap="square" lIns="0" tIns="0" rIns="0" bIns="0" rtlCol="0" anchor="ctr"/>
          <a:lstStyle/>
          <a:p>
            <a:pPr algn="ctr" indent="0" marL="0">
              <a:buNone/>
            </a:pPr>
            <a:r>
              <a:rPr lang="en-US" sz="1050" b="1" dirty="0">
                <a:solidFill>
                  <a:schemeClr val="bg2"/>
                </a:solidFill>
              </a:rPr>
              <a:t>R11</a:t>
            </a:r>
            <a:endParaRPr lang="en-US" sz="1050" dirty="0"/>
          </a:p>
        </p:txBody>
      </p:sp>
      <p:sp>
        <p:nvSpPr>
          <p:cNvPr id="81" name="text-592"/>
          <p:cNvSpPr txBox="1"/>
          <p:nvPr/>
        </p:nvSpPr>
        <p:spPr>
          <a:xfrm>
            <a:off x="6766560" y="4681728"/>
            <a:ext cx="3474720" cy="457200"/>
          </a:xfrm>
          <a:prstGeom prst="rect">
            <a:avLst/>
          </a:prstGeom>
          <a:noFill/>
          <a:ln/>
        </p:spPr>
        <p:txBody>
          <a:bodyPr wrap="square" lIns="0" tIns="0" rIns="0" bIns="0" rtlCol="0" anchor="ctr"/>
          <a:lstStyle/>
          <a:p>
            <a:pPr indent="0" marL="0">
              <a:buNone/>
            </a:pPr>
            <a:r>
              <a:rPr lang="en-US" sz="1350" dirty="0">
                <a:solidFill>
                  <a:schemeClr val="bg1"/>
                </a:solidFill>
              </a:rPr>
              <a:t>Segments as protected-attribute proxies</a:t>
            </a:r>
            <a:endParaRPr lang="en-US" sz="1350" dirty="0"/>
          </a:p>
        </p:txBody>
      </p:sp>
      <p:sp>
        <p:nvSpPr>
          <p:cNvPr id="82" name="chip-593"/>
          <p:cNvSpPr/>
          <p:nvPr/>
        </p:nvSpPr>
        <p:spPr>
          <a:xfrm>
            <a:off x="10332720" y="4773168"/>
            <a:ext cx="1097280" cy="274320"/>
          </a:xfrm>
          <a:prstGeom prst="roundRect">
            <a:avLst>
              <a:gd name="adj" fmla="val 50000"/>
            </a:avLst>
          </a:prstGeom>
          <a:solidFill>
            <a:schemeClr val="accent3">
              <a:alpha val="20000"/>
            </a:schemeClr>
          </a:solidFill>
          <a:ln w="9525">
            <a:solidFill>
              <a:schemeClr val="accent3">
                <a:alpha val="60000"/>
              </a:schemeClr>
            </a:solidFill>
            <a:prstDash val="solid"/>
          </a:ln>
        </p:spPr>
      </p:sp>
      <p:sp>
        <p:nvSpPr>
          <p:cNvPr id="83" name="text-594"/>
          <p:cNvSpPr txBox="1"/>
          <p:nvPr/>
        </p:nvSpPr>
        <p:spPr>
          <a:xfrm>
            <a:off x="10332720" y="4773168"/>
            <a:ext cx="1097280" cy="274320"/>
          </a:xfrm>
          <a:prstGeom prst="rect">
            <a:avLst/>
          </a:prstGeom>
          <a:noFill/>
          <a:ln/>
        </p:spPr>
        <p:txBody>
          <a:bodyPr wrap="square" lIns="0" tIns="0" rIns="0" bIns="0" rtlCol="0" anchor="ctr"/>
          <a:lstStyle/>
          <a:p>
            <a:pPr algn="ctr" indent="0" marL="0">
              <a:buNone/>
            </a:pPr>
            <a:r>
              <a:rPr lang="en-US" sz="1050" b="1" dirty="0">
                <a:solidFill>
                  <a:schemeClr val="accent3"/>
                </a:solidFill>
              </a:rPr>
              <a:t>Medium</a:t>
            </a:r>
            <a:endParaRPr lang="en-US" sz="1050" dirty="0"/>
          </a:p>
        </p:txBody>
      </p:sp>
      <p:sp>
        <p:nvSpPr>
          <p:cNvPr id="84" name="chip-595"/>
          <p:cNvSpPr/>
          <p:nvPr/>
        </p:nvSpPr>
        <p:spPr>
          <a:xfrm>
            <a:off x="6126480" y="5285232"/>
            <a:ext cx="502920" cy="274320"/>
          </a:xfrm>
          <a:prstGeom prst="roundRect">
            <a:avLst>
              <a:gd name="adj" fmla="val 50000"/>
            </a:avLst>
          </a:prstGeom>
          <a:solidFill>
            <a:schemeClr val="bg2">
              <a:alpha val="20000"/>
            </a:schemeClr>
          </a:solidFill>
          <a:ln w="9525">
            <a:solidFill>
              <a:schemeClr val="bg2">
                <a:alpha val="60000"/>
              </a:schemeClr>
            </a:solidFill>
            <a:prstDash val="solid"/>
          </a:ln>
        </p:spPr>
      </p:sp>
      <p:sp>
        <p:nvSpPr>
          <p:cNvPr id="85" name="text-596"/>
          <p:cNvSpPr txBox="1"/>
          <p:nvPr/>
        </p:nvSpPr>
        <p:spPr>
          <a:xfrm>
            <a:off x="6126480" y="5285232"/>
            <a:ext cx="502920" cy="274320"/>
          </a:xfrm>
          <a:prstGeom prst="rect">
            <a:avLst/>
          </a:prstGeom>
          <a:noFill/>
          <a:ln/>
        </p:spPr>
        <p:txBody>
          <a:bodyPr wrap="square" lIns="0" tIns="0" rIns="0" bIns="0" rtlCol="0" anchor="ctr"/>
          <a:lstStyle/>
          <a:p>
            <a:pPr algn="ctr" indent="0" marL="0">
              <a:buNone/>
            </a:pPr>
            <a:r>
              <a:rPr lang="en-US" sz="1050" b="1" dirty="0">
                <a:solidFill>
                  <a:schemeClr val="bg2"/>
                </a:solidFill>
              </a:rPr>
              <a:t>R5</a:t>
            </a:r>
            <a:endParaRPr lang="en-US" sz="1050" dirty="0"/>
          </a:p>
        </p:txBody>
      </p:sp>
      <p:sp>
        <p:nvSpPr>
          <p:cNvPr id="86" name="text-597"/>
          <p:cNvSpPr txBox="1"/>
          <p:nvPr/>
        </p:nvSpPr>
        <p:spPr>
          <a:xfrm>
            <a:off x="6766560" y="5193792"/>
            <a:ext cx="3474720" cy="457200"/>
          </a:xfrm>
          <a:prstGeom prst="rect">
            <a:avLst/>
          </a:prstGeom>
          <a:noFill/>
          <a:ln/>
        </p:spPr>
        <p:txBody>
          <a:bodyPr wrap="square" lIns="0" tIns="0" rIns="0" bIns="0" rtlCol="0" anchor="ctr"/>
          <a:lstStyle/>
          <a:p>
            <a:pPr indent="0" marL="0">
              <a:buNone/>
            </a:pPr>
            <a:r>
              <a:rPr lang="en-US" sz="1350" dirty="0">
                <a:solidFill>
                  <a:schemeClr val="bg1"/>
                </a:solidFill>
              </a:rPr>
              <a:t>Hallucinated offers (LLM09)</a:t>
            </a:r>
            <a:endParaRPr lang="en-US" sz="1350" dirty="0"/>
          </a:p>
        </p:txBody>
      </p:sp>
      <p:sp>
        <p:nvSpPr>
          <p:cNvPr id="87" name="chip-598"/>
          <p:cNvSpPr/>
          <p:nvPr/>
        </p:nvSpPr>
        <p:spPr>
          <a:xfrm>
            <a:off x="10332720" y="5285232"/>
            <a:ext cx="1097280" cy="274320"/>
          </a:xfrm>
          <a:prstGeom prst="roundRect">
            <a:avLst>
              <a:gd name="adj" fmla="val 50000"/>
            </a:avLst>
          </a:prstGeom>
          <a:solidFill>
            <a:schemeClr val="accent5">
              <a:alpha val="20000"/>
            </a:schemeClr>
          </a:solidFill>
          <a:ln w="9525">
            <a:solidFill>
              <a:schemeClr val="accent5">
                <a:alpha val="60000"/>
              </a:schemeClr>
            </a:solidFill>
            <a:prstDash val="solid"/>
          </a:ln>
        </p:spPr>
      </p:sp>
      <p:sp>
        <p:nvSpPr>
          <p:cNvPr id="88" name="text-599"/>
          <p:cNvSpPr txBox="1"/>
          <p:nvPr/>
        </p:nvSpPr>
        <p:spPr>
          <a:xfrm>
            <a:off x="10332720" y="5285232"/>
            <a:ext cx="1097280" cy="274320"/>
          </a:xfrm>
          <a:prstGeom prst="rect">
            <a:avLst/>
          </a:prstGeom>
          <a:noFill/>
          <a:ln/>
        </p:spPr>
        <p:txBody>
          <a:bodyPr wrap="square" lIns="0" tIns="0" rIns="0" bIns="0" rtlCol="0" anchor="ctr"/>
          <a:lstStyle/>
          <a:p>
            <a:pPr algn="ctr" indent="0" marL="0">
              <a:buNone/>
            </a:pPr>
            <a:r>
              <a:rPr lang="en-US" sz="1050" b="1" dirty="0">
                <a:solidFill>
                  <a:schemeClr val="accent5"/>
                </a:solidFill>
              </a:rPr>
              <a:t>Low–Med</a:t>
            </a:r>
            <a:endParaRPr lang="en-US" sz="1050" dirty="0"/>
          </a:p>
        </p:txBody>
      </p:sp>
      <p:sp>
        <p:nvSpPr>
          <p:cNvPr id="89" name="text-600"/>
          <p:cNvSpPr txBox="1"/>
          <p:nvPr/>
        </p:nvSpPr>
        <p:spPr>
          <a:xfrm>
            <a:off x="6126480" y="5760720"/>
            <a:ext cx="5303520" cy="274320"/>
          </a:xfrm>
          <a:prstGeom prst="rect">
            <a:avLst/>
          </a:prstGeom>
          <a:noFill/>
          <a:ln/>
        </p:spPr>
        <p:txBody>
          <a:bodyPr wrap="square" lIns="0" tIns="0" rIns="0" bIns="0" rtlCol="0" anchor="t"/>
          <a:lstStyle/>
          <a:p>
            <a:pPr indent="0" marL="0">
              <a:buNone/>
            </a:pPr>
            <a:r>
              <a:rPr lang="en-US" sz="1200" i="1" dirty="0">
                <a:solidFill>
                  <a:schemeClr val="bg2"/>
                </a:solidFill>
              </a:rPr>
              <a:t>Low residual: R2, R3, R6, R7, R9, R10, R14</a:t>
            </a:r>
            <a:endParaRPr lang="en-US" sz="1200" dirty="0"/>
          </a:p>
        </p:txBody>
      </p:sp>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241280" cy="640080"/>
          </a:xfrm>
          <a:prstGeom prst="rect">
            <a:avLst/>
          </a:prstGeom>
          <a:noFill/>
          <a:ln/>
        </p:spPr>
        <p:txBody>
          <a:bodyPr wrap="square" lIns="0" tIns="0" rIns="0" bIns="0" rtlCol="0" anchor="ctr"/>
          <a:lstStyle/>
          <a:p>
            <a:pPr algn="l" indent="0" marL="0">
              <a:buNone/>
            </a:pPr>
            <a:r>
              <a:rPr lang="en-US" sz="2800" b="1" dirty="0">
                <a:solidFill>
                  <a:schemeClr val="bg1"/>
                </a:solidFill>
                <a:latin typeface="Century Gothic" pitchFamily="34" charset="0"/>
                <a:ea typeface="Century Gothic" pitchFamily="34" charset="-122"/>
                <a:cs typeface="Century Gothic" pitchFamily="34" charset="-120"/>
              </a:rPr>
              <a:t>MLSecOps / LLMSecOps pipeline</a:t>
            </a:r>
            <a:endParaRPr lang="en-US" sz="2800" dirty="0"/>
          </a:p>
        </p:txBody>
      </p:sp>
      <p:sp>
        <p:nvSpPr>
          <p:cNvPr id="3" name="text-601"/>
          <p:cNvSpPr txBox="1"/>
          <p:nvPr/>
        </p:nvSpPr>
        <p:spPr>
          <a:xfrm>
            <a:off x="548640" y="1005840"/>
            <a:ext cx="10424160" cy="384048"/>
          </a:xfrm>
          <a:prstGeom prst="rect">
            <a:avLst/>
          </a:prstGeom>
          <a:noFill/>
          <a:ln/>
        </p:spPr>
        <p:txBody>
          <a:bodyPr wrap="square" lIns="0" tIns="0" rIns="0" bIns="0" rtlCol="0" anchor="t"/>
          <a:lstStyle/>
          <a:p>
            <a:pPr indent="0" marL="0">
              <a:buNone/>
            </a:pPr>
            <a:r>
              <a:rPr lang="en-US" sz="1600" dirty="0">
                <a:solidFill>
                  <a:schemeClr val="bg2"/>
                </a:solidFill>
              </a:rPr>
              <a:t>Every push runs a deterministic, free gate — no CI job calls OpenRouter or Supabase.</a:t>
            </a:r>
            <a:endParaRPr lang="en-US" sz="1600" dirty="0"/>
          </a:p>
        </p:txBody>
      </p:sp>
      <p:sp>
        <p:nvSpPr>
          <p:cNvPr id="5" name="chevron-602"/>
          <p:cNvSpPr/>
          <p:nvPr/>
        </p:nvSpPr>
        <p:spPr>
          <a:xfrm>
            <a:off x="548640" y="1572768"/>
            <a:ext cx="2852928" cy="777240"/>
          </a:xfrm>
          <a:prstGeom prst="homePlate">
            <a:avLst/>
          </a:prstGeom>
          <a:solidFill>
            <a:schemeClr val="bg2">
              <a:alpha val="85000"/>
            </a:schemeClr>
          </a:solidFill>
          <a:ln/>
        </p:spPr>
      </p:sp>
      <p:sp>
        <p:nvSpPr>
          <p:cNvPr id="6" name="text-603"/>
          <p:cNvSpPr txBox="1"/>
          <p:nvPr/>
        </p:nvSpPr>
        <p:spPr>
          <a:xfrm>
            <a:off x="777240" y="1572768"/>
            <a:ext cx="2103120" cy="777240"/>
          </a:xfrm>
          <a:prstGeom prst="rect">
            <a:avLst/>
          </a:prstGeom>
          <a:noFill/>
          <a:ln/>
        </p:spPr>
        <p:txBody>
          <a:bodyPr wrap="square" lIns="0" tIns="0" rIns="0" bIns="0" rtlCol="0" anchor="ctr"/>
          <a:lstStyle/>
          <a:p>
            <a:pPr indent="0" marL="0">
              <a:buNone/>
            </a:pPr>
            <a:r>
              <a:rPr lang="en-US" sz="1500" b="1" dirty="0">
                <a:solidFill>
                  <a:schemeClr val="tx1"/>
                </a:solidFill>
                <a:latin typeface="Century Gothic" pitchFamily="34" charset="0"/>
                <a:ea typeface="Century Gothic" pitchFamily="34" charset="-122"/>
                <a:cs typeface="Century Gothic" pitchFamily="34" charset="-120"/>
              </a:rPr>
              <a:t>Change</a:t>
            </a:r>
            <a:endParaRPr lang="en-US" sz="1400" dirty="0"/>
          </a:p>
          <a:p>
            <a:pPr indent="0" marL="0">
              <a:buNone/>
            </a:pPr>
            <a:r>
              <a:rPr lang="en-US" sz="1150" dirty="0">
                <a:solidFill>
                  <a:schemeClr val="tx1"/>
                </a:solidFill>
              </a:rPr>
              <a:t>code · prompt · schema</a:t>
            </a:r>
            <a:endParaRPr lang="en-US" sz="1400" dirty="0"/>
          </a:p>
        </p:txBody>
      </p:sp>
      <p:sp>
        <p:nvSpPr>
          <p:cNvPr id="7" name="chevron-604"/>
          <p:cNvSpPr/>
          <p:nvPr/>
        </p:nvSpPr>
        <p:spPr>
          <a:xfrm>
            <a:off x="3264408" y="1572768"/>
            <a:ext cx="2852928" cy="777240"/>
          </a:xfrm>
          <a:prstGeom prst="chevron">
            <a:avLst/>
          </a:prstGeom>
          <a:solidFill>
            <a:schemeClr val="accent4">
              <a:alpha val="85000"/>
            </a:schemeClr>
          </a:solidFill>
          <a:ln/>
        </p:spPr>
      </p:sp>
      <p:sp>
        <p:nvSpPr>
          <p:cNvPr id="8" name="text-605"/>
          <p:cNvSpPr txBox="1"/>
          <p:nvPr/>
        </p:nvSpPr>
        <p:spPr>
          <a:xfrm>
            <a:off x="3767328" y="1572768"/>
            <a:ext cx="2103120" cy="777240"/>
          </a:xfrm>
          <a:prstGeom prst="rect">
            <a:avLst/>
          </a:prstGeom>
          <a:noFill/>
          <a:ln/>
        </p:spPr>
        <p:txBody>
          <a:bodyPr wrap="square" lIns="0" tIns="0" rIns="0" bIns="0" rtlCol="0" anchor="ctr"/>
          <a:lstStyle/>
          <a:p>
            <a:pPr indent="0" marL="0">
              <a:buNone/>
            </a:pPr>
            <a:r>
              <a:rPr lang="en-US" sz="1500" b="1" dirty="0">
                <a:solidFill>
                  <a:schemeClr val="tx1"/>
                </a:solidFill>
                <a:latin typeface="Century Gothic" pitchFamily="34" charset="0"/>
                <a:ea typeface="Century Gothic" pitchFamily="34" charset="-122"/>
                <a:cs typeface="Century Gothic" pitchFamily="34" charset="-120"/>
              </a:rPr>
              <a:t>Push / PR</a:t>
            </a:r>
            <a:endParaRPr lang="en-US" sz="1400" dirty="0"/>
          </a:p>
          <a:p>
            <a:pPr indent="0" marL="0">
              <a:buNone/>
            </a:pPr>
            <a:r>
              <a:rPr lang="en-US" sz="1150" dirty="0">
                <a:solidFill>
                  <a:schemeClr val="tx1"/>
                </a:solidFill>
              </a:rPr>
              <a:t>GitHub</a:t>
            </a:r>
            <a:endParaRPr lang="en-US" sz="1400" dirty="0"/>
          </a:p>
        </p:txBody>
      </p:sp>
      <p:sp>
        <p:nvSpPr>
          <p:cNvPr id="9" name="chevron-606"/>
          <p:cNvSpPr/>
          <p:nvPr/>
        </p:nvSpPr>
        <p:spPr>
          <a:xfrm>
            <a:off x="5980176" y="1572768"/>
            <a:ext cx="2852928" cy="777240"/>
          </a:xfrm>
          <a:prstGeom prst="chevron">
            <a:avLst/>
          </a:prstGeom>
          <a:solidFill>
            <a:schemeClr val="accent5">
              <a:alpha val="85000"/>
            </a:schemeClr>
          </a:solidFill>
          <a:ln/>
        </p:spPr>
      </p:sp>
      <p:sp>
        <p:nvSpPr>
          <p:cNvPr id="10" name="text-607"/>
          <p:cNvSpPr txBox="1"/>
          <p:nvPr/>
        </p:nvSpPr>
        <p:spPr>
          <a:xfrm>
            <a:off x="6483096" y="1572768"/>
            <a:ext cx="2103120" cy="777240"/>
          </a:xfrm>
          <a:prstGeom prst="rect">
            <a:avLst/>
          </a:prstGeom>
          <a:noFill/>
          <a:ln/>
        </p:spPr>
        <p:txBody>
          <a:bodyPr wrap="square" lIns="0" tIns="0" rIns="0" bIns="0" rtlCol="0" anchor="ctr"/>
          <a:lstStyle/>
          <a:p>
            <a:pPr indent="0" marL="0">
              <a:buNone/>
            </a:pPr>
            <a:r>
              <a:rPr lang="en-US" sz="1500" b="1" dirty="0">
                <a:solidFill>
                  <a:schemeClr val="tx1"/>
                </a:solidFill>
                <a:latin typeface="Century Gothic" pitchFamily="34" charset="0"/>
                <a:ea typeface="Century Gothic" pitchFamily="34" charset="-122"/>
                <a:cs typeface="Century Gothic" pitchFamily="34" charset="-120"/>
              </a:rPr>
              <a:t>CI · 3 jobs</a:t>
            </a:r>
            <a:endParaRPr lang="en-US" sz="1400" dirty="0"/>
          </a:p>
          <a:p>
            <a:pPr indent="0" marL="0">
              <a:buNone/>
            </a:pPr>
            <a:r>
              <a:rPr lang="en-US" sz="1150" dirty="0">
                <a:solidFill>
                  <a:schemeClr val="tx1"/>
                </a:solidFill>
              </a:rPr>
              <a:t>ci.yml</a:t>
            </a:r>
            <a:endParaRPr lang="en-US" sz="1400" dirty="0"/>
          </a:p>
        </p:txBody>
      </p:sp>
      <p:sp>
        <p:nvSpPr>
          <p:cNvPr id="11" name="chevron-608"/>
          <p:cNvSpPr/>
          <p:nvPr/>
        </p:nvSpPr>
        <p:spPr>
          <a:xfrm>
            <a:off x="8695944" y="1572768"/>
            <a:ext cx="2852928" cy="777240"/>
          </a:xfrm>
          <a:prstGeom prst="chevron">
            <a:avLst/>
          </a:prstGeom>
          <a:solidFill>
            <a:schemeClr val="accent1">
              <a:alpha val="85000"/>
            </a:schemeClr>
          </a:solidFill>
          <a:ln/>
        </p:spPr>
      </p:sp>
      <p:sp>
        <p:nvSpPr>
          <p:cNvPr id="12" name="text-609"/>
          <p:cNvSpPr txBox="1"/>
          <p:nvPr/>
        </p:nvSpPr>
        <p:spPr>
          <a:xfrm>
            <a:off x="9198864" y="1572768"/>
            <a:ext cx="2103120" cy="777240"/>
          </a:xfrm>
          <a:prstGeom prst="rect">
            <a:avLst/>
          </a:prstGeom>
          <a:noFill/>
          <a:ln/>
        </p:spPr>
        <p:txBody>
          <a:bodyPr wrap="square" lIns="0" tIns="0" rIns="0" bIns="0" rtlCol="0" anchor="ctr"/>
          <a:lstStyle/>
          <a:p>
            <a:pPr indent="0" marL="0">
              <a:buNone/>
            </a:pPr>
            <a:r>
              <a:rPr lang="en-US" sz="1500" b="1" dirty="0">
                <a:solidFill>
                  <a:schemeClr val="tx1"/>
                </a:solidFill>
                <a:latin typeface="Century Gothic" pitchFamily="34" charset="0"/>
                <a:ea typeface="Century Gothic" pitchFamily="34" charset="-122"/>
                <a:cs typeface="Century Gothic" pitchFamily="34" charset="-120"/>
              </a:rPr>
              <a:t>Deploy</a:t>
            </a:r>
            <a:endParaRPr lang="en-US" sz="1400" dirty="0"/>
          </a:p>
          <a:p>
            <a:pPr indent="0" marL="0">
              <a:buNone/>
            </a:pPr>
            <a:r>
              <a:rPr lang="en-US" sz="1150" dirty="0">
                <a:solidFill>
                  <a:schemeClr val="tx1"/>
                </a:solidFill>
              </a:rPr>
              <a:t>Railway, health-gated</a:t>
            </a:r>
            <a:endParaRPr lang="en-US" sz="1400" dirty="0"/>
          </a:p>
        </p:txBody>
      </p:sp>
      <p:sp>
        <p:nvSpPr>
          <p:cNvPr id="13" name="glass-610"/>
          <p:cNvSpPr/>
          <p:nvPr/>
        </p:nvSpPr>
        <p:spPr>
          <a:xfrm>
            <a:off x="548640" y="2578608"/>
            <a:ext cx="3575304" cy="1536192"/>
          </a:xfrm>
          <a:prstGeom prst="roundRect">
            <a:avLst>
              <a:gd name="adj" fmla="val 8333"/>
            </a:avLst>
          </a:prstGeom>
          <a:solidFill>
            <a:schemeClr val="accent5">
              <a:alpha val="12000"/>
            </a:schemeClr>
          </a:solidFill>
          <a:ln w="12700">
            <a:solidFill>
              <a:schemeClr val="accent5">
                <a:alpha val="45000"/>
              </a:schemeClr>
            </a:solidFill>
            <a:prstDash val="solid"/>
          </a:ln>
        </p:spPr>
      </p:sp>
      <p:sp>
        <p:nvSpPr>
          <p:cNvPr id="14" name="text-611"/>
          <p:cNvSpPr txBox="1"/>
          <p:nvPr/>
        </p:nvSpPr>
        <p:spPr>
          <a:xfrm>
            <a:off x="749808" y="2688336"/>
            <a:ext cx="3200400" cy="320040"/>
          </a:xfrm>
          <a:prstGeom prst="rect">
            <a:avLst/>
          </a:prstGeom>
          <a:noFill/>
          <a:ln/>
        </p:spPr>
        <p:txBody>
          <a:bodyPr wrap="square" lIns="0" tIns="0" rIns="0" bIns="0" rtlCol="0" anchor="t"/>
          <a:lstStyle/>
          <a:p>
            <a:pPr indent="0" marL="0">
              <a:buNone/>
            </a:pPr>
            <a:r>
              <a:rPr lang="en-US" sz="1450" b="1" dirty="0">
                <a:solidFill>
                  <a:schemeClr val="accent5"/>
                </a:solidFill>
              </a:rPr>
              <a:t>Job 1 · LLMSecOps</a:t>
            </a:r>
            <a:endParaRPr lang="en-US" sz="1450" dirty="0"/>
          </a:p>
        </p:txBody>
      </p:sp>
      <p:sp>
        <p:nvSpPr>
          <p:cNvPr id="15" name="text-612"/>
          <p:cNvSpPr txBox="1"/>
          <p:nvPr/>
        </p:nvSpPr>
        <p:spPr>
          <a:xfrm>
            <a:off x="749808" y="3035808"/>
            <a:ext cx="3200400" cy="1005840"/>
          </a:xfrm>
          <a:prstGeom prst="rect">
            <a:avLst/>
          </a:prstGeom>
          <a:noFill/>
          <a:ln/>
        </p:spPr>
        <p:txBody>
          <a:bodyPr wrap="square" lIns="0" tIns="0" rIns="0" bIns="0" rtlCol="0" anchor="t"/>
          <a:lstStyle/>
          <a:p>
            <a:pPr indent="0" marL="0">
              <a:buNone/>
            </a:pPr>
            <a:r>
              <a:rPr lang="en-US" sz="1250" dirty="0">
                <a:solidFill>
                  <a:schemeClr val="bg1"/>
                </a:solidFill>
              </a:rPr>
              <a:t>No committed secrets: any tracked .env or .env.local fails the build.</a:t>
            </a:r>
            <a:endParaRPr lang="en-US" sz="1250" dirty="0"/>
          </a:p>
        </p:txBody>
      </p:sp>
      <p:sp>
        <p:nvSpPr>
          <p:cNvPr id="16" name="glass-613"/>
          <p:cNvSpPr/>
          <p:nvPr/>
        </p:nvSpPr>
        <p:spPr>
          <a:xfrm>
            <a:off x="4306824" y="2578608"/>
            <a:ext cx="3575304" cy="1536192"/>
          </a:xfrm>
          <a:prstGeom prst="roundRect">
            <a:avLst>
              <a:gd name="adj" fmla="val 8333"/>
            </a:avLst>
          </a:prstGeom>
          <a:solidFill>
            <a:schemeClr val="accent5">
              <a:alpha val="12000"/>
            </a:schemeClr>
          </a:solidFill>
          <a:ln w="12700">
            <a:solidFill>
              <a:schemeClr val="accent5">
                <a:alpha val="45000"/>
              </a:schemeClr>
            </a:solidFill>
            <a:prstDash val="solid"/>
          </a:ln>
        </p:spPr>
      </p:sp>
      <p:sp>
        <p:nvSpPr>
          <p:cNvPr id="17" name="text-614"/>
          <p:cNvSpPr txBox="1"/>
          <p:nvPr/>
        </p:nvSpPr>
        <p:spPr>
          <a:xfrm>
            <a:off x="4507992" y="2688336"/>
            <a:ext cx="3200400" cy="320040"/>
          </a:xfrm>
          <a:prstGeom prst="rect">
            <a:avLst/>
          </a:prstGeom>
          <a:noFill/>
          <a:ln/>
        </p:spPr>
        <p:txBody>
          <a:bodyPr wrap="square" lIns="0" tIns="0" rIns="0" bIns="0" rtlCol="0" anchor="t"/>
          <a:lstStyle/>
          <a:p>
            <a:pPr indent="0" marL="0">
              <a:buNone/>
            </a:pPr>
            <a:r>
              <a:rPr lang="en-US" sz="1450" b="1" dirty="0">
                <a:solidFill>
                  <a:schemeClr val="accent5"/>
                </a:solidFill>
              </a:rPr>
              <a:t>Job 2 · Guardian corpus + contracts</a:t>
            </a:r>
            <a:endParaRPr lang="en-US" sz="1450" dirty="0"/>
          </a:p>
        </p:txBody>
      </p:sp>
      <p:sp>
        <p:nvSpPr>
          <p:cNvPr id="18" name="text-615"/>
          <p:cNvSpPr txBox="1"/>
          <p:nvPr/>
        </p:nvSpPr>
        <p:spPr>
          <a:xfrm>
            <a:off x="4507992" y="3035808"/>
            <a:ext cx="3200400" cy="1005840"/>
          </a:xfrm>
          <a:prstGeom prst="rect">
            <a:avLst/>
          </a:prstGeom>
          <a:noFill/>
          <a:ln/>
        </p:spPr>
        <p:txBody>
          <a:bodyPr wrap="square" lIns="0" tIns="0" rIns="0" bIns="0" rtlCol="0" anchor="t"/>
          <a:lstStyle/>
          <a:p>
            <a:pPr indent="0" marL="0">
              <a:buNone/>
            </a:pPr>
            <a:r>
              <a:rPr lang="en-US" sz="1250" dirty="0">
                <a:solidFill>
                  <a:schemeClr val="bg1"/>
                </a:solidFill>
              </a:rPr>
              <a:t>6 adversarial fixtures through the real run_checks(); 8 pins on rubric weights, schemas, prompt versions, protected columns, live keys.</a:t>
            </a:r>
            <a:endParaRPr lang="en-US" sz="1250" dirty="0"/>
          </a:p>
        </p:txBody>
      </p:sp>
      <p:sp>
        <p:nvSpPr>
          <p:cNvPr id="19" name="glass-616"/>
          <p:cNvSpPr/>
          <p:nvPr/>
        </p:nvSpPr>
        <p:spPr>
          <a:xfrm>
            <a:off x="8065008" y="2578608"/>
            <a:ext cx="3575304" cy="1536192"/>
          </a:xfrm>
          <a:prstGeom prst="roundRect">
            <a:avLst>
              <a:gd name="adj" fmla="val 8333"/>
            </a:avLst>
          </a:prstGeom>
          <a:solidFill>
            <a:schemeClr val="accent5">
              <a:alpha val="12000"/>
            </a:schemeClr>
          </a:solidFill>
          <a:ln w="12700">
            <a:solidFill>
              <a:schemeClr val="accent5">
                <a:alpha val="45000"/>
              </a:schemeClr>
            </a:solidFill>
            <a:prstDash val="solid"/>
          </a:ln>
        </p:spPr>
      </p:sp>
      <p:sp>
        <p:nvSpPr>
          <p:cNvPr id="20" name="text-617"/>
          <p:cNvSpPr txBox="1"/>
          <p:nvPr/>
        </p:nvSpPr>
        <p:spPr>
          <a:xfrm>
            <a:off x="8266176" y="2688336"/>
            <a:ext cx="3200400" cy="320040"/>
          </a:xfrm>
          <a:prstGeom prst="rect">
            <a:avLst/>
          </a:prstGeom>
          <a:noFill/>
          <a:ln/>
        </p:spPr>
        <p:txBody>
          <a:bodyPr wrap="square" lIns="0" tIns="0" rIns="0" bIns="0" rtlCol="0" anchor="t"/>
          <a:lstStyle/>
          <a:p>
            <a:pPr indent="0" marL="0">
              <a:buNone/>
            </a:pPr>
            <a:r>
              <a:rPr lang="en-US" sz="1450" b="1" dirty="0">
                <a:solidFill>
                  <a:schemeClr val="accent5"/>
                </a:solidFill>
              </a:rPr>
              <a:t>Job 3 · Console</a:t>
            </a:r>
            <a:endParaRPr lang="en-US" sz="1450" dirty="0"/>
          </a:p>
        </p:txBody>
      </p:sp>
      <p:sp>
        <p:nvSpPr>
          <p:cNvPr id="21" name="text-618"/>
          <p:cNvSpPr txBox="1"/>
          <p:nvPr/>
        </p:nvSpPr>
        <p:spPr>
          <a:xfrm>
            <a:off x="8266176" y="3035808"/>
            <a:ext cx="3200400" cy="1005840"/>
          </a:xfrm>
          <a:prstGeom prst="rect">
            <a:avLst/>
          </a:prstGeom>
          <a:noFill/>
          <a:ln/>
        </p:spPr>
        <p:txBody>
          <a:bodyPr wrap="square" lIns="0" tIns="0" rIns="0" bIns="0" rtlCol="0" anchor="t"/>
          <a:lstStyle/>
          <a:p>
            <a:pPr indent="0" marL="0">
              <a:buNone/>
            </a:pPr>
            <a:r>
              <a:rPr lang="en-US" sz="1250" dirty="0">
                <a:solidFill>
                  <a:schemeClr val="bg1"/>
                </a:solidFill>
              </a:rPr>
              <a:t>npm ci · lint (reported) · production build (blocking) — the command Railway runs.</a:t>
            </a:r>
            <a:endParaRPr lang="en-US" sz="1250" dirty="0"/>
          </a:p>
        </p:txBody>
      </p:sp>
      <p:sp>
        <p:nvSpPr>
          <p:cNvPr id="22" name="glass-619"/>
          <p:cNvSpPr/>
          <p:nvPr/>
        </p:nvSpPr>
        <p:spPr>
          <a:xfrm>
            <a:off x="548640" y="4315968"/>
            <a:ext cx="2651760" cy="1115568"/>
          </a:xfrm>
          <a:prstGeom prst="roundRect">
            <a:avLst>
              <a:gd name="adj" fmla="val 11475"/>
            </a:avLst>
          </a:prstGeom>
          <a:solidFill>
            <a:schemeClr val="tx2">
              <a:alpha val="78000"/>
            </a:schemeClr>
          </a:solidFill>
          <a:ln w="9525">
            <a:solidFill>
              <a:schemeClr val="bg2">
                <a:alpha val="22000"/>
              </a:schemeClr>
            </a:solidFill>
            <a:prstDash val="solid"/>
          </a:ln>
        </p:spPr>
      </p:sp>
      <p:sp>
        <p:nvSpPr>
          <p:cNvPr id="23" name="icon-ring-620"/>
          <p:cNvSpPr/>
          <p:nvPr/>
        </p:nvSpPr>
        <p:spPr>
          <a:xfrm>
            <a:off x="713232" y="4498848"/>
            <a:ext cx="475488" cy="475488"/>
          </a:xfrm>
          <a:prstGeom prst="ellipse">
            <a:avLst/>
          </a:prstGeom>
          <a:solidFill>
            <a:schemeClr val="accent1">
              <a:alpha val="18000"/>
            </a:schemeClr>
          </a:solidFill>
          <a:ln w="12700">
            <a:solidFill>
              <a:schemeClr val="accent1">
                <a:alpha val="70000"/>
              </a:schemeClr>
            </a:solidFill>
            <a:prstDash val="solid"/>
          </a:ln>
        </p:spPr>
      </p:sp>
      <p:pic>
        <p:nvPicPr>
          <p:cNvPr id="24" name="icon-621" descr="preencoded.png">    </p:cNvPr>
          <p:cNvPicPr>
            <a:picLocks noChangeAspect="1"/>
          </p:cNvPicPr>
          <p:nvPr/>
        </p:nvPicPr>
        <p:blipFill>
          <a:blip r:embed="rId1"/>
          <a:stretch>
            <a:fillRect/>
          </a:stretch>
        </p:blipFill>
        <p:spPr>
          <a:xfrm>
            <a:off x="836859" y="4622475"/>
            <a:ext cx="228234" cy="228234"/>
          </a:xfrm>
          <a:prstGeom prst="rect">
            <a:avLst/>
          </a:prstGeom>
        </p:spPr>
      </p:pic>
      <p:sp>
        <p:nvSpPr>
          <p:cNvPr id="25" name="text-622"/>
          <p:cNvSpPr txBox="1"/>
          <p:nvPr/>
        </p:nvSpPr>
        <p:spPr>
          <a:xfrm>
            <a:off x="1298448" y="4443984"/>
            <a:ext cx="1828800" cy="320040"/>
          </a:xfrm>
          <a:prstGeom prst="rect">
            <a:avLst/>
          </a:prstGeom>
          <a:noFill/>
          <a:ln/>
        </p:spPr>
        <p:txBody>
          <a:bodyPr wrap="square" lIns="0" tIns="0" rIns="0" bIns="0" rtlCol="0" anchor="t"/>
          <a:lstStyle/>
          <a:p>
            <a:pPr indent="0" marL="0">
              <a:buNone/>
            </a:pPr>
            <a:r>
              <a:rPr lang="en-US" sz="1350" b="1" dirty="0">
                <a:solidFill>
                  <a:schemeClr val="bg1"/>
                </a:solidFill>
              </a:rPr>
              <a:t>Decision Ledger</a:t>
            </a:r>
            <a:endParaRPr lang="en-US" sz="1350" dirty="0"/>
          </a:p>
        </p:txBody>
      </p:sp>
      <p:sp>
        <p:nvSpPr>
          <p:cNvPr id="26" name="text-623"/>
          <p:cNvSpPr txBox="1"/>
          <p:nvPr/>
        </p:nvSpPr>
        <p:spPr>
          <a:xfrm>
            <a:off x="1298448" y="4754880"/>
            <a:ext cx="1828800" cy="621792"/>
          </a:xfrm>
          <a:prstGeom prst="rect">
            <a:avLst/>
          </a:prstGeom>
          <a:noFill/>
          <a:ln/>
        </p:spPr>
        <p:txBody>
          <a:bodyPr wrap="square" lIns="0" tIns="0" rIns="0" bIns="0" rtlCol="0" anchor="t"/>
          <a:lstStyle/>
          <a:p>
            <a:pPr indent="0" marL="0">
              <a:buNone/>
            </a:pPr>
            <a:r>
              <a:rPr lang="en-US" sz="1200" dirty="0">
                <a:solidFill>
                  <a:schemeClr val="bg2"/>
                </a:solidFill>
              </a:rPr>
              <a:t>prompt + model version per artifact</a:t>
            </a:r>
            <a:endParaRPr lang="en-US" sz="1200" dirty="0"/>
          </a:p>
        </p:txBody>
      </p:sp>
      <p:sp>
        <p:nvSpPr>
          <p:cNvPr id="27" name="glass-624"/>
          <p:cNvSpPr/>
          <p:nvPr/>
        </p:nvSpPr>
        <p:spPr>
          <a:xfrm>
            <a:off x="3364992" y="4315968"/>
            <a:ext cx="2651760" cy="1115568"/>
          </a:xfrm>
          <a:prstGeom prst="roundRect">
            <a:avLst>
              <a:gd name="adj" fmla="val 11475"/>
            </a:avLst>
          </a:prstGeom>
          <a:solidFill>
            <a:schemeClr val="tx2">
              <a:alpha val="78000"/>
            </a:schemeClr>
          </a:solidFill>
          <a:ln w="9525">
            <a:solidFill>
              <a:schemeClr val="bg2">
                <a:alpha val="22000"/>
              </a:schemeClr>
            </a:solidFill>
            <a:prstDash val="solid"/>
          </a:ln>
        </p:spPr>
      </p:sp>
      <p:sp>
        <p:nvSpPr>
          <p:cNvPr id="28" name="icon-ring-625"/>
          <p:cNvSpPr/>
          <p:nvPr/>
        </p:nvSpPr>
        <p:spPr>
          <a:xfrm>
            <a:off x="3529584" y="4498848"/>
            <a:ext cx="475488" cy="475488"/>
          </a:xfrm>
          <a:prstGeom prst="ellipse">
            <a:avLst/>
          </a:prstGeom>
          <a:solidFill>
            <a:schemeClr val="accent4">
              <a:alpha val="18000"/>
            </a:schemeClr>
          </a:solidFill>
          <a:ln w="12700">
            <a:solidFill>
              <a:schemeClr val="accent4">
                <a:alpha val="70000"/>
              </a:schemeClr>
            </a:solidFill>
            <a:prstDash val="solid"/>
          </a:ln>
        </p:spPr>
      </p:sp>
      <p:pic>
        <p:nvPicPr>
          <p:cNvPr id="29" name="icon-626" descr="preencoded.png">    </p:cNvPr>
          <p:cNvPicPr>
            <a:picLocks noChangeAspect="1"/>
          </p:cNvPicPr>
          <p:nvPr/>
        </p:nvPicPr>
        <p:blipFill>
          <a:blip r:embed="rId2"/>
          <a:stretch>
            <a:fillRect/>
          </a:stretch>
        </p:blipFill>
        <p:spPr>
          <a:xfrm>
            <a:off x="3653211" y="4622475"/>
            <a:ext cx="228234" cy="228234"/>
          </a:xfrm>
          <a:prstGeom prst="rect">
            <a:avLst/>
          </a:prstGeom>
        </p:spPr>
      </p:pic>
      <p:sp>
        <p:nvSpPr>
          <p:cNvPr id="30" name="text-627"/>
          <p:cNvSpPr txBox="1"/>
          <p:nvPr/>
        </p:nvSpPr>
        <p:spPr>
          <a:xfrm>
            <a:off x="4114800" y="4443984"/>
            <a:ext cx="1828800" cy="320040"/>
          </a:xfrm>
          <a:prstGeom prst="rect">
            <a:avLst/>
          </a:prstGeom>
          <a:noFill/>
          <a:ln/>
        </p:spPr>
        <p:txBody>
          <a:bodyPr wrap="square" lIns="0" tIns="0" rIns="0" bIns="0" rtlCol="0" anchor="t"/>
          <a:lstStyle/>
          <a:p>
            <a:pPr indent="0" marL="0">
              <a:buNone/>
            </a:pPr>
            <a:r>
              <a:rPr lang="en-US" sz="1350" b="1" dirty="0">
                <a:solidFill>
                  <a:schemeClr val="bg1"/>
                </a:solidFill>
              </a:rPr>
              <a:t>Activity log + cost</a:t>
            </a:r>
            <a:endParaRPr lang="en-US" sz="1350" dirty="0"/>
          </a:p>
        </p:txBody>
      </p:sp>
      <p:sp>
        <p:nvSpPr>
          <p:cNvPr id="31" name="text-628"/>
          <p:cNvSpPr txBox="1"/>
          <p:nvPr/>
        </p:nvSpPr>
        <p:spPr>
          <a:xfrm>
            <a:off x="4114800" y="4754880"/>
            <a:ext cx="1828800" cy="621792"/>
          </a:xfrm>
          <a:prstGeom prst="rect">
            <a:avLst/>
          </a:prstGeom>
          <a:noFill/>
          <a:ln/>
        </p:spPr>
        <p:txBody>
          <a:bodyPr wrap="square" lIns="0" tIns="0" rIns="0" bIns="0" rtlCol="0" anchor="t"/>
          <a:lstStyle/>
          <a:p>
            <a:pPr indent="0" marL="0">
              <a:buNone/>
            </a:pPr>
            <a:r>
              <a:rPr lang="en-US" sz="1200" dirty="0">
                <a:solidFill>
                  <a:schemeClr val="bg2"/>
                </a:solidFill>
              </a:rPr>
              <a:t>operator actions; spend per stage</a:t>
            </a:r>
            <a:endParaRPr lang="en-US" sz="1200" dirty="0"/>
          </a:p>
        </p:txBody>
      </p:sp>
      <p:sp>
        <p:nvSpPr>
          <p:cNvPr id="32" name="glass-629"/>
          <p:cNvSpPr/>
          <p:nvPr/>
        </p:nvSpPr>
        <p:spPr>
          <a:xfrm>
            <a:off x="6181344" y="4315968"/>
            <a:ext cx="2651760" cy="1115568"/>
          </a:xfrm>
          <a:prstGeom prst="roundRect">
            <a:avLst>
              <a:gd name="adj" fmla="val 11475"/>
            </a:avLst>
          </a:prstGeom>
          <a:solidFill>
            <a:schemeClr val="tx2">
              <a:alpha val="78000"/>
            </a:schemeClr>
          </a:solidFill>
          <a:ln w="9525">
            <a:solidFill>
              <a:schemeClr val="bg2">
                <a:alpha val="22000"/>
              </a:schemeClr>
            </a:solidFill>
            <a:prstDash val="solid"/>
          </a:ln>
        </p:spPr>
      </p:sp>
      <p:sp>
        <p:nvSpPr>
          <p:cNvPr id="33" name="icon-ring-630"/>
          <p:cNvSpPr/>
          <p:nvPr/>
        </p:nvSpPr>
        <p:spPr>
          <a:xfrm>
            <a:off x="6345936" y="4498848"/>
            <a:ext cx="475488" cy="475488"/>
          </a:xfrm>
          <a:prstGeom prst="ellipse">
            <a:avLst/>
          </a:prstGeom>
          <a:solidFill>
            <a:schemeClr val="accent2">
              <a:alpha val="18000"/>
            </a:schemeClr>
          </a:solidFill>
          <a:ln w="12700">
            <a:solidFill>
              <a:schemeClr val="accent2">
                <a:alpha val="70000"/>
              </a:schemeClr>
            </a:solidFill>
            <a:prstDash val="solid"/>
          </a:ln>
        </p:spPr>
      </p:sp>
      <p:pic>
        <p:nvPicPr>
          <p:cNvPr id="34" name="icon-631" descr="preencoded.png">    </p:cNvPr>
          <p:cNvPicPr>
            <a:picLocks noChangeAspect="1"/>
          </p:cNvPicPr>
          <p:nvPr/>
        </p:nvPicPr>
        <p:blipFill>
          <a:blip r:embed="rId3"/>
          <a:stretch>
            <a:fillRect/>
          </a:stretch>
        </p:blipFill>
        <p:spPr>
          <a:xfrm>
            <a:off x="6469563" y="4622475"/>
            <a:ext cx="228234" cy="228234"/>
          </a:xfrm>
          <a:prstGeom prst="rect">
            <a:avLst/>
          </a:prstGeom>
        </p:spPr>
      </p:pic>
      <p:sp>
        <p:nvSpPr>
          <p:cNvPr id="35" name="text-632"/>
          <p:cNvSpPr txBox="1"/>
          <p:nvPr/>
        </p:nvSpPr>
        <p:spPr>
          <a:xfrm>
            <a:off x="6931152" y="4443984"/>
            <a:ext cx="1828800" cy="320040"/>
          </a:xfrm>
          <a:prstGeom prst="rect">
            <a:avLst/>
          </a:prstGeom>
          <a:noFill/>
          <a:ln/>
        </p:spPr>
        <p:txBody>
          <a:bodyPr wrap="square" lIns="0" tIns="0" rIns="0" bIns="0" rtlCol="0" anchor="t"/>
          <a:lstStyle/>
          <a:p>
            <a:pPr indent="0" marL="0">
              <a:buNone/>
            </a:pPr>
            <a:r>
              <a:rPr lang="en-US" sz="1350" b="1" dirty="0">
                <a:solidFill>
                  <a:schemeClr val="bg1"/>
                </a:solidFill>
              </a:rPr>
              <a:t>eval-v1 sidecar</a:t>
            </a:r>
            <a:endParaRPr lang="en-US" sz="1350" dirty="0"/>
          </a:p>
        </p:txBody>
      </p:sp>
      <p:sp>
        <p:nvSpPr>
          <p:cNvPr id="36" name="text-633"/>
          <p:cNvSpPr txBox="1"/>
          <p:nvPr/>
        </p:nvSpPr>
        <p:spPr>
          <a:xfrm>
            <a:off x="6931152" y="4754880"/>
            <a:ext cx="1828800" cy="621792"/>
          </a:xfrm>
          <a:prstGeom prst="rect">
            <a:avLst/>
          </a:prstGeom>
          <a:noFill/>
          <a:ln/>
        </p:spPr>
        <p:txBody>
          <a:bodyPr wrap="square" lIns="0" tIns="0" rIns="0" bIns="0" rtlCol="0" anchor="t"/>
          <a:lstStyle/>
          <a:p>
            <a:pPr indent="0" marL="0">
              <a:buNone/>
            </a:pPr>
            <a:r>
              <a:rPr lang="en-US" sz="1200" dirty="0">
                <a:solidFill>
                  <a:schemeClr val="bg2"/>
                </a:solidFill>
              </a:rPr>
              <a:t>code metrics + LLM judge; delta per run</a:t>
            </a:r>
            <a:endParaRPr lang="en-US" sz="1200" dirty="0"/>
          </a:p>
        </p:txBody>
      </p:sp>
      <p:sp>
        <p:nvSpPr>
          <p:cNvPr id="37" name="glass-634"/>
          <p:cNvSpPr/>
          <p:nvPr/>
        </p:nvSpPr>
        <p:spPr>
          <a:xfrm>
            <a:off x="8997696" y="4315968"/>
            <a:ext cx="2651760" cy="1115568"/>
          </a:xfrm>
          <a:prstGeom prst="roundRect">
            <a:avLst>
              <a:gd name="adj" fmla="val 11475"/>
            </a:avLst>
          </a:prstGeom>
          <a:solidFill>
            <a:schemeClr val="tx2">
              <a:alpha val="78000"/>
            </a:schemeClr>
          </a:solidFill>
          <a:ln w="9525">
            <a:solidFill>
              <a:schemeClr val="bg2">
                <a:alpha val="22000"/>
              </a:schemeClr>
            </a:solidFill>
            <a:prstDash val="solid"/>
          </a:ln>
        </p:spPr>
      </p:sp>
      <p:sp>
        <p:nvSpPr>
          <p:cNvPr id="38" name="icon-ring-635"/>
          <p:cNvSpPr/>
          <p:nvPr/>
        </p:nvSpPr>
        <p:spPr>
          <a:xfrm>
            <a:off x="9162288" y="4498848"/>
            <a:ext cx="475488" cy="475488"/>
          </a:xfrm>
          <a:prstGeom prst="ellipse">
            <a:avLst/>
          </a:prstGeom>
          <a:solidFill>
            <a:schemeClr val="accent6">
              <a:alpha val="18000"/>
            </a:schemeClr>
          </a:solidFill>
          <a:ln w="12700">
            <a:solidFill>
              <a:schemeClr val="accent6">
                <a:alpha val="70000"/>
              </a:schemeClr>
            </a:solidFill>
            <a:prstDash val="solid"/>
          </a:ln>
        </p:spPr>
      </p:sp>
      <p:pic>
        <p:nvPicPr>
          <p:cNvPr id="39" name="icon-636" descr="preencoded.png">    </p:cNvPr>
          <p:cNvPicPr>
            <a:picLocks noChangeAspect="1"/>
          </p:cNvPicPr>
          <p:nvPr/>
        </p:nvPicPr>
        <p:blipFill>
          <a:blip r:embed="rId4"/>
          <a:stretch>
            <a:fillRect/>
          </a:stretch>
        </p:blipFill>
        <p:spPr>
          <a:xfrm>
            <a:off x="9285915" y="4622475"/>
            <a:ext cx="228234" cy="228234"/>
          </a:xfrm>
          <a:prstGeom prst="rect">
            <a:avLst/>
          </a:prstGeom>
        </p:spPr>
      </p:pic>
      <p:sp>
        <p:nvSpPr>
          <p:cNvPr id="40" name="text-637"/>
          <p:cNvSpPr txBox="1"/>
          <p:nvPr/>
        </p:nvSpPr>
        <p:spPr>
          <a:xfrm>
            <a:off x="9747504" y="4443984"/>
            <a:ext cx="1828800" cy="320040"/>
          </a:xfrm>
          <a:prstGeom prst="rect">
            <a:avLst/>
          </a:prstGeom>
          <a:noFill/>
          <a:ln/>
        </p:spPr>
        <p:txBody>
          <a:bodyPr wrap="square" lIns="0" tIns="0" rIns="0" bIns="0" rtlCol="0" anchor="t"/>
          <a:lstStyle/>
          <a:p>
            <a:pPr indent="0" marL="0">
              <a:buNone/>
            </a:pPr>
            <a:r>
              <a:rPr lang="en-US" sz="1350" b="1" dirty="0">
                <a:solidFill>
                  <a:schemeClr val="bg1"/>
                </a:solidFill>
              </a:rPr>
              <a:t>Negative test</a:t>
            </a:r>
            <a:endParaRPr lang="en-US" sz="1350" dirty="0"/>
          </a:p>
        </p:txBody>
      </p:sp>
      <p:sp>
        <p:nvSpPr>
          <p:cNvPr id="41" name="text-638"/>
          <p:cNvSpPr txBox="1"/>
          <p:nvPr/>
        </p:nvSpPr>
        <p:spPr>
          <a:xfrm>
            <a:off x="9747504" y="4754880"/>
            <a:ext cx="1828800" cy="621792"/>
          </a:xfrm>
          <a:prstGeom prst="rect">
            <a:avLst/>
          </a:prstGeom>
          <a:noFill/>
          <a:ln/>
        </p:spPr>
        <p:txBody>
          <a:bodyPr wrap="square" lIns="0" tIns="0" rIns="0" bIns="0" rtlCol="0" anchor="t"/>
          <a:lstStyle/>
          <a:p>
            <a:pPr indent="0" marL="0">
              <a:buNone/>
            </a:pPr>
            <a:r>
              <a:rPr lang="en-US" sz="1200" dirty="0">
                <a:solidFill>
                  <a:schemeClr val="bg2"/>
                </a:solidFill>
              </a:rPr>
              <a:t>planted PII → job 2 red</a:t>
            </a:r>
            <a:endParaRPr lang="en-US" sz="1200" dirty="0"/>
          </a:p>
        </p:txBody>
      </p:sp>
      <p:sp>
        <p:nvSpPr>
          <p:cNvPr id="42" name="glass-639"/>
          <p:cNvSpPr/>
          <p:nvPr/>
        </p:nvSpPr>
        <p:spPr>
          <a:xfrm>
            <a:off x="548640" y="5596128"/>
            <a:ext cx="11091672" cy="576072"/>
          </a:xfrm>
          <a:prstGeom prst="roundRect">
            <a:avLst>
              <a:gd name="adj" fmla="val 22222"/>
            </a:avLst>
          </a:prstGeom>
          <a:solidFill>
            <a:schemeClr val="accent3">
              <a:alpha val="12000"/>
            </a:schemeClr>
          </a:solidFill>
          <a:ln w="12700">
            <a:solidFill>
              <a:schemeClr val="accent3">
                <a:alpha val="45000"/>
              </a:schemeClr>
            </a:solidFill>
            <a:prstDash val="solid"/>
          </a:ln>
        </p:spPr>
      </p:sp>
      <p:sp>
        <p:nvSpPr>
          <p:cNvPr id="43" name="text-640"/>
          <p:cNvSpPr txBox="1"/>
          <p:nvPr/>
        </p:nvSpPr>
        <p:spPr>
          <a:xfrm>
            <a:off x="777240" y="5596128"/>
            <a:ext cx="10698480" cy="576072"/>
          </a:xfrm>
          <a:prstGeom prst="rect">
            <a:avLst/>
          </a:prstGeom>
          <a:noFill/>
          <a:ln/>
        </p:spPr>
        <p:txBody>
          <a:bodyPr wrap="square" lIns="0" tIns="0" rIns="0" bIns="0" rtlCol="0" anchor="ctr"/>
          <a:lstStyle/>
          <a:p>
            <a:pPr indent="0" marL="0">
              <a:buNone/>
            </a:pPr>
            <a:r>
              <a:rPr lang="en-US" sz="1350" b="1" dirty="0">
                <a:solidFill>
                  <a:schemeClr val="accent3"/>
                </a:solidFill>
              </a:rPr>
              <a:t>Not yet automated: </a:t>
            </a:r>
            <a:pPr indent="0" marL="0">
              <a:buNone/>
            </a:pPr>
            <a:r>
              <a:rPr lang="en-US" sz="1350" dirty="0">
                <a:solidFill>
                  <a:schemeClr val="bg1"/>
                </a:solidFill>
              </a:rPr>
              <a:t>external alerting, a metrics dashboard and LLM tracing — the Logs tab and ledger are read by a person today.</a:t>
            </a:r>
            <a:endParaRPr lang="en-US" sz="1350" dirty="0"/>
          </a:p>
        </p:txBody>
      </p:sp>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641"/>
          <p:cNvSpPr txBox="1"/>
          <p:nvPr/>
        </p:nvSpPr>
        <p:spPr>
          <a:xfrm>
            <a:off x="685800" y="1600200"/>
            <a:ext cx="2743200" cy="1005840"/>
          </a:xfrm>
          <a:prstGeom prst="rect">
            <a:avLst/>
          </a:prstGeom>
          <a:noFill/>
          <a:ln/>
        </p:spPr>
        <p:txBody>
          <a:bodyPr wrap="square" lIns="0" tIns="0" rIns="0" bIns="0" rtlCol="0" anchor="t"/>
          <a:lstStyle/>
          <a:p>
            <a:pPr indent="0" marL="0">
              <a:buNone/>
            </a:pPr>
            <a:r>
              <a:rPr lang="en-US" sz="6400" b="1" dirty="0">
                <a:solidFill>
                  <a:schemeClr val="accent1"/>
                </a:solidFill>
                <a:latin typeface="Century Gothic" pitchFamily="34" charset="0"/>
                <a:ea typeface="Century Gothic" pitchFamily="34" charset="-122"/>
                <a:cs typeface="Century Gothic" pitchFamily="34" charset="-120"/>
              </a:rPr>
              <a:t>05</a:t>
            </a:r>
            <a:endParaRPr lang="en-US" sz="6400" dirty="0"/>
          </a:p>
        </p:txBody>
      </p:sp>
      <p:sp>
        <p:nvSpPr>
          <p:cNvPr id="3" name="Text 0"/>
          <p:cNvSpPr/>
          <p:nvPr>
            <p:ph idx="100" type="title" hasCustomPrompt="1"/>
          </p:nvPr>
        </p:nvSpPr>
        <p:spPr>
          <a:xfrm>
            <a:off x="685800" y="2788920"/>
            <a:ext cx="6217920" cy="868680"/>
          </a:xfrm>
          <a:prstGeom prst="rect">
            <a:avLst/>
          </a:prstGeom>
          <a:noFill/>
          <a:ln/>
        </p:spPr>
        <p:txBody>
          <a:bodyPr wrap="square" lIns="0" tIns="0" rIns="0" bIns="0" rtlCol="0" anchor="t"/>
          <a:lstStyle/>
          <a:p>
            <a:pPr algn="l" indent="0" marL="0">
              <a:buNone/>
            </a:pPr>
            <a:r>
              <a:rPr lang="en-US" sz="4400" b="1" dirty="0">
                <a:solidFill>
                  <a:schemeClr val="bg1"/>
                </a:solidFill>
                <a:latin typeface="Century Gothic" pitchFamily="34" charset="0"/>
                <a:ea typeface="Century Gothic" pitchFamily="34" charset="-122"/>
                <a:cs typeface="Century Gothic" pitchFamily="34" charset="-120"/>
              </a:rPr>
              <a:t>Results</a:t>
            </a:r>
            <a:endParaRPr lang="en-US" sz="4400" dirty="0"/>
          </a:p>
        </p:txBody>
      </p:sp>
      <p:sp>
        <p:nvSpPr>
          <p:cNvPr id="4" name="Text 0"/>
          <p:cNvSpPr/>
          <p:nvPr>
            <p:ph idx="101" type="body" hasCustomPrompt="1"/>
          </p:nvPr>
        </p:nvSpPr>
        <p:spPr>
          <a:xfrm>
            <a:off x="685800" y="3794760"/>
            <a:ext cx="4572000" cy="1097280"/>
          </a:xfrm>
          <a:prstGeom prst="rect">
            <a:avLst/>
          </a:prstGeom>
          <a:noFill/>
          <a:ln/>
        </p:spPr>
        <p:txBody>
          <a:bodyPr wrap="square" lIns="0" tIns="0" rIns="0" bIns="0" rtlCol="0" anchor="t"/>
          <a:lstStyle/>
          <a:p>
            <a:pPr algn="l" indent="0" marL="0">
              <a:buNone/>
            </a:pPr>
            <a:r>
              <a:rPr lang="en-US" sz="1800" dirty="0">
                <a:solidFill>
                  <a:schemeClr val="bg2"/>
                </a:solidFill>
              </a:rPr>
              <a:t>What the tests and the evaluator say, the demo, how it scales — and what we would do next.</a:t>
            </a:r>
            <a:endParaRPr lang="en-US" sz="1800" dirty="0"/>
          </a:p>
        </p:txBody>
      </p:sp>
      <p:sp>
        <p:nvSpPr>
          <p:cNvPr id="5" name="tile-642"/>
          <p:cNvSpPr/>
          <p:nvPr/>
        </p:nvSpPr>
        <p:spPr>
          <a:xfrm>
            <a:off x="685800" y="5257800"/>
            <a:ext cx="182880" cy="182880"/>
          </a:xfrm>
          <a:prstGeom prst="roundRect">
            <a:avLst>
              <a:gd name="adj" fmla="val 20000"/>
            </a:avLst>
          </a:prstGeom>
          <a:solidFill>
            <a:schemeClr val="accent6"/>
          </a:solidFill>
          <a:ln/>
        </p:spPr>
      </p:sp>
      <p:sp>
        <p:nvSpPr>
          <p:cNvPr id="6" name="tile-643"/>
          <p:cNvSpPr/>
          <p:nvPr/>
        </p:nvSpPr>
        <p:spPr>
          <a:xfrm>
            <a:off x="941832" y="5257800"/>
            <a:ext cx="182880" cy="182880"/>
          </a:xfrm>
          <a:prstGeom prst="roundRect">
            <a:avLst>
              <a:gd name="adj" fmla="val 20000"/>
            </a:avLst>
          </a:prstGeom>
          <a:solidFill>
            <a:schemeClr val="accent3"/>
          </a:solidFill>
          <a:ln/>
        </p:spPr>
      </p:sp>
      <p:sp>
        <p:nvSpPr>
          <p:cNvPr id="7" name="tile-644"/>
          <p:cNvSpPr/>
          <p:nvPr/>
        </p:nvSpPr>
        <p:spPr>
          <a:xfrm>
            <a:off x="1197864" y="5257800"/>
            <a:ext cx="182880" cy="182880"/>
          </a:xfrm>
          <a:prstGeom prst="roundRect">
            <a:avLst>
              <a:gd name="adj" fmla="val 20000"/>
            </a:avLst>
          </a:prstGeom>
          <a:solidFill>
            <a:schemeClr val="accent2"/>
          </a:solidFill>
          <a:ln/>
        </p:spPr>
      </p:sp>
      <p:sp>
        <p:nvSpPr>
          <p:cNvPr id="8" name="tile-645"/>
          <p:cNvSpPr/>
          <p:nvPr/>
        </p:nvSpPr>
        <p:spPr>
          <a:xfrm>
            <a:off x="1453896" y="5257800"/>
            <a:ext cx="182880" cy="182880"/>
          </a:xfrm>
          <a:prstGeom prst="roundRect">
            <a:avLst>
              <a:gd name="adj" fmla="val 20000"/>
            </a:avLst>
          </a:prstGeom>
          <a:solidFill>
            <a:schemeClr val="accent5"/>
          </a:solidFill>
          <a:ln/>
        </p:spPr>
      </p:sp>
      <p:sp>
        <p:nvSpPr>
          <p:cNvPr id="9" name="tile-646"/>
          <p:cNvSpPr/>
          <p:nvPr/>
        </p:nvSpPr>
        <p:spPr>
          <a:xfrm>
            <a:off x="1709928" y="5257800"/>
            <a:ext cx="182880" cy="182880"/>
          </a:xfrm>
          <a:prstGeom prst="roundRect">
            <a:avLst>
              <a:gd name="adj" fmla="val 20000"/>
            </a:avLst>
          </a:prstGeom>
          <a:solidFill>
            <a:schemeClr val="accent4"/>
          </a:solidFill>
          <a:ln/>
        </p:spPr>
      </p:sp>
      <p:sp>
        <p:nvSpPr>
          <p:cNvPr id="10" name="tile-647"/>
          <p:cNvSpPr/>
          <p:nvPr/>
        </p:nvSpPr>
        <p:spPr>
          <a:xfrm>
            <a:off x="1965960" y="5257800"/>
            <a:ext cx="182880" cy="182880"/>
          </a:xfrm>
          <a:prstGeom prst="roundRect">
            <a:avLst>
              <a:gd name="adj" fmla="val 20000"/>
            </a:avLst>
          </a:prstGeom>
          <a:solidFill>
            <a:schemeClr val="accent1"/>
          </a:solidFill>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241280" cy="640080"/>
          </a:xfrm>
          <a:prstGeom prst="rect">
            <a:avLst/>
          </a:prstGeom>
          <a:noFill/>
          <a:ln/>
        </p:spPr>
        <p:txBody>
          <a:bodyPr wrap="square" lIns="0" tIns="0" rIns="0" bIns="0" rtlCol="0" anchor="ctr"/>
          <a:lstStyle/>
          <a:p>
            <a:pPr algn="l" indent="0" marL="0">
              <a:buNone/>
            </a:pPr>
            <a:r>
              <a:rPr lang="en-US" sz="2800" b="1" dirty="0">
                <a:solidFill>
                  <a:schemeClr val="bg1"/>
                </a:solidFill>
                <a:latin typeface="Century Gothic" pitchFamily="34" charset="0"/>
                <a:ea typeface="Century Gothic" pitchFamily="34" charset="-122"/>
                <a:cs typeface="Century Gothic" pitchFamily="34" charset="-120"/>
              </a:rPr>
              <a:t>Testing and evaluation results</a:t>
            </a:r>
            <a:endParaRPr lang="en-US" sz="2800" dirty="0"/>
          </a:p>
        </p:txBody>
      </p:sp>
      <p:sp>
        <p:nvSpPr>
          <p:cNvPr id="3" name="text-648"/>
          <p:cNvSpPr txBox="1"/>
          <p:nvPr/>
        </p:nvSpPr>
        <p:spPr>
          <a:xfrm>
            <a:off x="548640" y="1005840"/>
            <a:ext cx="10424160" cy="384048"/>
          </a:xfrm>
          <a:prstGeom prst="rect">
            <a:avLst/>
          </a:prstGeom>
          <a:noFill/>
          <a:ln/>
        </p:spPr>
        <p:txBody>
          <a:bodyPr wrap="square" lIns="0" tIns="0" rIns="0" bIns="0" rtlCol="0" anchor="t"/>
          <a:lstStyle/>
          <a:p>
            <a:pPr indent="0" marL="0">
              <a:buNone/>
            </a:pPr>
            <a:r>
              <a:rPr lang="en-US" sz="1600" dirty="0">
                <a:solidFill>
                  <a:schemeClr val="bg2"/>
                </a:solidFill>
              </a:rPr>
              <a:t>Deterministic tests gate every push; the sidecar evaluator scores the agents on what they actually produced.</a:t>
            </a:r>
            <a:endParaRPr lang="en-US" sz="1600" dirty="0"/>
          </a:p>
        </p:txBody>
      </p:sp>
      <p:sp>
        <p:nvSpPr>
          <p:cNvPr id="5" name="glass-649"/>
          <p:cNvSpPr/>
          <p:nvPr/>
        </p:nvSpPr>
        <p:spPr>
          <a:xfrm>
            <a:off x="548640" y="1572768"/>
            <a:ext cx="5120640" cy="1143000"/>
          </a:xfrm>
          <a:prstGeom prst="roundRect">
            <a:avLst>
              <a:gd name="adj" fmla="val 11200"/>
            </a:avLst>
          </a:prstGeom>
          <a:solidFill>
            <a:schemeClr val="accent5">
              <a:alpha val="16000"/>
            </a:schemeClr>
          </a:solidFill>
          <a:ln w="12700">
            <a:solidFill>
              <a:schemeClr val="accent5">
                <a:alpha val="60000"/>
              </a:schemeClr>
            </a:solidFill>
            <a:prstDash val="solid"/>
          </a:ln>
        </p:spPr>
      </p:sp>
      <p:sp>
        <p:nvSpPr>
          <p:cNvPr id="6" name="text-650"/>
          <p:cNvSpPr txBox="1"/>
          <p:nvPr/>
        </p:nvSpPr>
        <p:spPr>
          <a:xfrm>
            <a:off x="777240" y="1572768"/>
            <a:ext cx="2377440" cy="1143000"/>
          </a:xfrm>
          <a:prstGeom prst="rect">
            <a:avLst/>
          </a:prstGeom>
          <a:noFill/>
          <a:ln/>
        </p:spPr>
        <p:txBody>
          <a:bodyPr wrap="square" lIns="0" tIns="0" rIns="0" bIns="0" rtlCol="0" anchor="ctr"/>
          <a:lstStyle/>
          <a:p>
            <a:pPr indent="0" marL="0">
              <a:buNone/>
            </a:pPr>
            <a:r>
              <a:rPr lang="en-US" sz="4000" b="1" dirty="0">
                <a:solidFill>
                  <a:schemeClr val="accent5"/>
                </a:solidFill>
                <a:latin typeface="Century Gothic" pitchFamily="34" charset="0"/>
                <a:ea typeface="Century Gothic" pitchFamily="34" charset="-122"/>
                <a:cs typeface="Century Gothic" pitchFamily="34" charset="-120"/>
              </a:rPr>
              <a:t>14 / 14</a:t>
            </a:r>
            <a:endParaRPr lang="en-US" sz="4000" dirty="0"/>
          </a:p>
        </p:txBody>
      </p:sp>
      <p:sp>
        <p:nvSpPr>
          <p:cNvPr id="7" name="text-651"/>
          <p:cNvSpPr txBox="1"/>
          <p:nvPr/>
        </p:nvSpPr>
        <p:spPr>
          <a:xfrm>
            <a:off x="3154680" y="1572768"/>
            <a:ext cx="2377440" cy="1143000"/>
          </a:xfrm>
          <a:prstGeom prst="rect">
            <a:avLst/>
          </a:prstGeom>
          <a:noFill/>
          <a:ln/>
        </p:spPr>
        <p:txBody>
          <a:bodyPr wrap="square" lIns="0" tIns="0" rIns="0" bIns="0" rtlCol="0" anchor="ctr"/>
          <a:lstStyle/>
          <a:p>
            <a:pPr indent="0" marL="0">
              <a:buNone/>
            </a:pPr>
            <a:r>
              <a:rPr lang="en-US" sz="1400" dirty="0">
                <a:solidFill>
                  <a:schemeClr val="bg1"/>
                </a:solidFill>
              </a:rPr>
              <a:t>automated tests pass — pytest, locally and in CI</a:t>
            </a:r>
            <a:endParaRPr lang="en-US" sz="1400" dirty="0"/>
          </a:p>
        </p:txBody>
      </p:sp>
      <p:sp>
        <p:nvSpPr>
          <p:cNvPr id="8" name="chip-652"/>
          <p:cNvSpPr/>
          <p:nvPr/>
        </p:nvSpPr>
        <p:spPr>
          <a:xfrm>
            <a:off x="548640" y="2962656"/>
            <a:ext cx="658368" cy="329184"/>
          </a:xfrm>
          <a:prstGeom prst="roundRect">
            <a:avLst>
              <a:gd name="adj" fmla="val 50000"/>
            </a:avLst>
          </a:prstGeom>
          <a:solidFill>
            <a:schemeClr val="accent1"/>
          </a:solidFill>
          <a:ln/>
        </p:spPr>
      </p:sp>
      <p:sp>
        <p:nvSpPr>
          <p:cNvPr id="9" name="text-653"/>
          <p:cNvSpPr txBox="1"/>
          <p:nvPr/>
        </p:nvSpPr>
        <p:spPr>
          <a:xfrm>
            <a:off x="548640" y="2962656"/>
            <a:ext cx="658368" cy="329184"/>
          </a:xfrm>
          <a:prstGeom prst="rect">
            <a:avLst/>
          </a:prstGeom>
          <a:noFill/>
          <a:ln/>
        </p:spPr>
        <p:txBody>
          <a:bodyPr wrap="square" lIns="0" tIns="0" rIns="0" bIns="0" rtlCol="0" anchor="ctr"/>
          <a:lstStyle/>
          <a:p>
            <a:pPr algn="ctr" indent="0" marL="0">
              <a:buNone/>
            </a:pPr>
            <a:r>
              <a:rPr lang="en-US" sz="1200" b="1" dirty="0">
                <a:solidFill>
                  <a:schemeClr val="tx1"/>
                </a:solidFill>
              </a:rPr>
              <a:t>6</a:t>
            </a:r>
            <a:endParaRPr lang="en-US" sz="1200" dirty="0"/>
          </a:p>
        </p:txBody>
      </p:sp>
      <p:sp>
        <p:nvSpPr>
          <p:cNvPr id="10" name="text-654"/>
          <p:cNvSpPr txBox="1"/>
          <p:nvPr/>
        </p:nvSpPr>
        <p:spPr>
          <a:xfrm>
            <a:off x="1353312" y="2907792"/>
            <a:ext cx="4297680" cy="749808"/>
          </a:xfrm>
          <a:prstGeom prst="rect">
            <a:avLst/>
          </a:prstGeom>
          <a:noFill/>
          <a:ln/>
        </p:spPr>
        <p:txBody>
          <a:bodyPr wrap="square" lIns="0" tIns="0" rIns="0" bIns="0" rtlCol="0" anchor="t"/>
          <a:lstStyle/>
          <a:p>
            <a:pPr indent="0" marL="0">
              <a:buNone/>
            </a:pPr>
            <a:r>
              <a:rPr lang="en-US" sz="1300" dirty="0">
                <a:solidFill>
                  <a:schemeClr val="bg1"/>
                </a:solidFill>
              </a:rPr>
              <a:t>Guardian corpus — PII, injection, unsubscribe and merge tag must BLOCK; ungrounded offer fails; clean PASSes</a:t>
            </a:r>
            <a:endParaRPr lang="en-US" sz="1300" dirty="0"/>
          </a:p>
        </p:txBody>
      </p:sp>
      <p:sp>
        <p:nvSpPr>
          <p:cNvPr id="11" name="chip-655"/>
          <p:cNvSpPr/>
          <p:nvPr/>
        </p:nvSpPr>
        <p:spPr>
          <a:xfrm>
            <a:off x="548640" y="3776472"/>
            <a:ext cx="658368" cy="329184"/>
          </a:xfrm>
          <a:prstGeom prst="roundRect">
            <a:avLst>
              <a:gd name="adj" fmla="val 50000"/>
            </a:avLst>
          </a:prstGeom>
          <a:solidFill>
            <a:schemeClr val="accent1"/>
          </a:solidFill>
          <a:ln/>
        </p:spPr>
      </p:sp>
      <p:sp>
        <p:nvSpPr>
          <p:cNvPr id="12" name="text-656"/>
          <p:cNvSpPr txBox="1"/>
          <p:nvPr/>
        </p:nvSpPr>
        <p:spPr>
          <a:xfrm>
            <a:off x="548640" y="3776472"/>
            <a:ext cx="658368" cy="329184"/>
          </a:xfrm>
          <a:prstGeom prst="rect">
            <a:avLst/>
          </a:prstGeom>
          <a:noFill/>
          <a:ln/>
        </p:spPr>
        <p:txBody>
          <a:bodyPr wrap="square" lIns="0" tIns="0" rIns="0" bIns="0" rtlCol="0" anchor="ctr"/>
          <a:lstStyle/>
          <a:p>
            <a:pPr algn="ctr" indent="0" marL="0">
              <a:buNone/>
            </a:pPr>
            <a:r>
              <a:rPr lang="en-US" sz="1200" b="1" dirty="0">
                <a:solidFill>
                  <a:schemeClr val="tx1"/>
                </a:solidFill>
              </a:rPr>
              <a:t>8</a:t>
            </a:r>
            <a:endParaRPr lang="en-US" sz="1200" dirty="0"/>
          </a:p>
        </p:txBody>
      </p:sp>
      <p:sp>
        <p:nvSpPr>
          <p:cNvPr id="13" name="text-657"/>
          <p:cNvSpPr txBox="1"/>
          <p:nvPr/>
        </p:nvSpPr>
        <p:spPr>
          <a:xfrm>
            <a:off x="1353312" y="3721608"/>
            <a:ext cx="4297680" cy="749808"/>
          </a:xfrm>
          <a:prstGeom prst="rect">
            <a:avLst/>
          </a:prstGeom>
          <a:noFill/>
          <a:ln/>
        </p:spPr>
        <p:txBody>
          <a:bodyPr wrap="square" lIns="0" tIns="0" rIns="0" bIns="0" rtlCol="0" anchor="t"/>
          <a:lstStyle/>
          <a:p>
            <a:pPr indent="0" marL="0">
              <a:buNone/>
            </a:pPr>
            <a:r>
              <a:rPr lang="en-US" sz="1300" dirty="0">
                <a:solidFill>
                  <a:schemeClr val="bg1"/>
                </a:solidFill>
              </a:rPr>
              <a:t>Contract pins — rubric sums, agent schemas, prompt versions, protected columns, no live keys</a:t>
            </a:r>
            <a:endParaRPr lang="en-US" sz="1300" dirty="0"/>
          </a:p>
        </p:txBody>
      </p:sp>
      <p:sp>
        <p:nvSpPr>
          <p:cNvPr id="14" name="chip-658"/>
          <p:cNvSpPr/>
          <p:nvPr/>
        </p:nvSpPr>
        <p:spPr>
          <a:xfrm>
            <a:off x="548640" y="4590288"/>
            <a:ext cx="658368" cy="329184"/>
          </a:xfrm>
          <a:prstGeom prst="roundRect">
            <a:avLst>
              <a:gd name="adj" fmla="val 50000"/>
            </a:avLst>
          </a:prstGeom>
          <a:solidFill>
            <a:schemeClr val="accent1"/>
          </a:solidFill>
          <a:ln/>
        </p:spPr>
      </p:sp>
      <p:sp>
        <p:nvSpPr>
          <p:cNvPr id="15" name="text-659"/>
          <p:cNvSpPr txBox="1"/>
          <p:nvPr/>
        </p:nvSpPr>
        <p:spPr>
          <a:xfrm>
            <a:off x="548640" y="4590288"/>
            <a:ext cx="658368" cy="329184"/>
          </a:xfrm>
          <a:prstGeom prst="rect">
            <a:avLst/>
          </a:prstGeom>
          <a:noFill/>
          <a:ln/>
        </p:spPr>
        <p:txBody>
          <a:bodyPr wrap="square" lIns="0" tIns="0" rIns="0" bIns="0" rtlCol="0" anchor="ctr"/>
          <a:lstStyle/>
          <a:p>
            <a:pPr algn="ctr" indent="0" marL="0">
              <a:buNone/>
            </a:pPr>
            <a:r>
              <a:rPr lang="en-US" sz="1200" b="1" dirty="0">
                <a:solidFill>
                  <a:schemeClr val="tx1"/>
                </a:solidFill>
              </a:rPr>
              <a:t>1</a:t>
            </a:r>
            <a:endParaRPr lang="en-US" sz="1200" dirty="0"/>
          </a:p>
        </p:txBody>
      </p:sp>
      <p:sp>
        <p:nvSpPr>
          <p:cNvPr id="16" name="text-660"/>
          <p:cNvSpPr txBox="1"/>
          <p:nvPr/>
        </p:nvSpPr>
        <p:spPr>
          <a:xfrm>
            <a:off x="1353312" y="4535424"/>
            <a:ext cx="4297680" cy="749808"/>
          </a:xfrm>
          <a:prstGeom prst="rect">
            <a:avLst/>
          </a:prstGeom>
          <a:noFill/>
          <a:ln/>
        </p:spPr>
        <p:txBody>
          <a:bodyPr wrap="square" lIns="0" tIns="0" rIns="0" bIns="0" rtlCol="0" anchor="t"/>
          <a:lstStyle/>
          <a:p>
            <a:pPr indent="0" marL="0">
              <a:buNone/>
            </a:pPr>
            <a:r>
              <a:rPr lang="en-US" sz="1300" dirty="0">
                <a:solidFill>
                  <a:schemeClr val="bg1"/>
                </a:solidFill>
              </a:rPr>
              <a:t>CI negative test — planted PII turns the build red</a:t>
            </a:r>
            <a:endParaRPr lang="en-US" sz="1300" dirty="0"/>
          </a:p>
        </p:txBody>
      </p:sp>
      <p:sp>
        <p:nvSpPr>
          <p:cNvPr id="17" name="chip-661"/>
          <p:cNvSpPr/>
          <p:nvPr/>
        </p:nvSpPr>
        <p:spPr>
          <a:xfrm>
            <a:off x="548640" y="5404104"/>
            <a:ext cx="658368" cy="329184"/>
          </a:xfrm>
          <a:prstGeom prst="roundRect">
            <a:avLst>
              <a:gd name="adj" fmla="val 50000"/>
            </a:avLst>
          </a:prstGeom>
          <a:solidFill>
            <a:schemeClr val="accent1"/>
          </a:solidFill>
          <a:ln/>
        </p:spPr>
      </p:sp>
      <p:sp>
        <p:nvSpPr>
          <p:cNvPr id="18" name="text-662"/>
          <p:cNvSpPr txBox="1"/>
          <p:nvPr/>
        </p:nvSpPr>
        <p:spPr>
          <a:xfrm>
            <a:off x="548640" y="5404104"/>
            <a:ext cx="658368" cy="329184"/>
          </a:xfrm>
          <a:prstGeom prst="rect">
            <a:avLst/>
          </a:prstGeom>
          <a:noFill/>
          <a:ln/>
        </p:spPr>
        <p:txBody>
          <a:bodyPr wrap="square" lIns="0" tIns="0" rIns="0" bIns="0" rtlCol="0" anchor="ctr"/>
          <a:lstStyle/>
          <a:p>
            <a:pPr algn="ctr" indent="0" marL="0">
              <a:buNone/>
            </a:pPr>
            <a:r>
              <a:rPr lang="en-US" sz="1200" b="1" dirty="0">
                <a:solidFill>
                  <a:schemeClr val="tx1"/>
                </a:solidFill>
              </a:rPr>
              <a:t>E2E</a:t>
            </a:r>
            <a:endParaRPr lang="en-US" sz="1200" dirty="0"/>
          </a:p>
        </p:txBody>
      </p:sp>
      <p:sp>
        <p:nvSpPr>
          <p:cNvPr id="19" name="text-663"/>
          <p:cNvSpPr txBox="1"/>
          <p:nvPr/>
        </p:nvSpPr>
        <p:spPr>
          <a:xfrm>
            <a:off x="1353312" y="5349240"/>
            <a:ext cx="4297680" cy="749808"/>
          </a:xfrm>
          <a:prstGeom prst="rect">
            <a:avLst/>
          </a:prstGeom>
          <a:noFill/>
          <a:ln/>
        </p:spPr>
        <p:txBody>
          <a:bodyPr wrap="square" lIns="0" tIns="0" rIns="0" bIns="0" rtlCol="0" anchor="t"/>
          <a:lstStyle/>
          <a:p>
            <a:pPr indent="0" marL="0">
              <a:buNone/>
            </a:pPr>
            <a:r>
              <a:rPr lang="en-US" sz="1300" dirty="0">
                <a:solidFill>
                  <a:schemeClr val="bg1"/>
                </a:solidFill>
              </a:rPr>
              <a:t>1,000 contacts → 6 segments → 6 emails → 3 live sends via Resend</a:t>
            </a:r>
            <a:endParaRPr lang="en-US" sz="1300" dirty="0"/>
          </a:p>
        </p:txBody>
      </p:sp>
      <p:sp>
        <p:nvSpPr>
          <p:cNvPr id="20" name="glass-664"/>
          <p:cNvSpPr/>
          <p:nvPr/>
        </p:nvSpPr>
        <p:spPr>
          <a:xfrm>
            <a:off x="5943600" y="1572768"/>
            <a:ext cx="5696712" cy="4599432"/>
          </a:xfrm>
          <a:prstGeom prst="roundRect">
            <a:avLst>
              <a:gd name="adj" fmla="val 2783"/>
            </a:avLst>
          </a:prstGeom>
          <a:solidFill>
            <a:schemeClr val="tx2">
              <a:alpha val="78000"/>
            </a:schemeClr>
          </a:solidFill>
          <a:ln w="9525">
            <a:solidFill>
              <a:schemeClr val="bg2">
                <a:alpha val="22000"/>
              </a:schemeClr>
            </a:solidFill>
            <a:prstDash val="solid"/>
          </a:ln>
        </p:spPr>
      </p:sp>
      <p:sp>
        <p:nvSpPr>
          <p:cNvPr id="21" name="text-665"/>
          <p:cNvSpPr txBox="1"/>
          <p:nvPr/>
        </p:nvSpPr>
        <p:spPr>
          <a:xfrm>
            <a:off x="6172200" y="1719072"/>
            <a:ext cx="5303520" cy="365760"/>
          </a:xfrm>
          <a:prstGeom prst="rect">
            <a:avLst/>
          </a:prstGeom>
          <a:noFill/>
          <a:ln/>
        </p:spPr>
        <p:txBody>
          <a:bodyPr wrap="square" lIns="0" tIns="0" rIns="0" bIns="0" rtlCol="0" anchor="t"/>
          <a:lstStyle/>
          <a:p>
            <a:pPr indent="0" marL="0">
              <a:buNone/>
            </a:pPr>
            <a:r>
              <a:rPr lang="en-US" sz="1500" b="1" dirty="0">
                <a:solidFill>
                  <a:schemeClr val="bg1"/>
                </a:solidFill>
                <a:latin typeface="Century Gothic" pitchFamily="34" charset="0"/>
                <a:ea typeface="Century Gothic" pitchFamily="34" charset="-122"/>
                <a:cs typeface="Century Gothic" pitchFamily="34" charset="-120"/>
              </a:rPr>
              <a:t>eval-v1 agent scores  </a:t>
            </a:r>
            <a:pPr indent="0" marL="0">
              <a:buNone/>
            </a:pPr>
            <a:r>
              <a:rPr lang="en-US" sz="1500" b="1" dirty="0">
                <a:solidFill>
                  <a:schemeClr val="accent1"/>
                </a:solidFill>
              </a:rPr>
              <a:t>overall 88.2</a:t>
            </a:r>
            <a:endParaRPr lang="en-US" sz="1400" dirty="0"/>
          </a:p>
        </p:txBody>
      </p:sp>
      <p:graphicFrame>
        <p:nvGraphicFramePr>
          <p:cNvPr id="22" name="eval-chart" descr=""/>
          <p:cNvGraphicFramePr/>
          <p:nvPr/>
        </p:nvGraphicFramePr>
        <p:xfrm>
          <a:off x="6126480" y="2148840"/>
          <a:ext cx="5349240" cy="3383280"/>
        </p:xfrm>
        <a:graphic xmlns:a="http://schemas.openxmlformats.org/drawingml/2006/main">
          <a:graphicData uri="http://schemas.openxmlformats.org/drawingml/2006/chart">
            <c:chart xmlns:c="http://schemas.openxmlformats.org/drawingml/2006/chart" r:id="rId1"/>
          </a:graphicData>
        </a:graphic>
      </p:graphicFrame>
      <p:sp>
        <p:nvSpPr>
          <p:cNvPr id="23" name="text-666"/>
          <p:cNvSpPr txBox="1"/>
          <p:nvPr/>
        </p:nvSpPr>
        <p:spPr>
          <a:xfrm>
            <a:off x="6172200" y="5596128"/>
            <a:ext cx="5303520" cy="457200"/>
          </a:xfrm>
          <a:prstGeom prst="rect">
            <a:avLst/>
          </a:prstGeom>
          <a:noFill/>
          <a:ln/>
        </p:spPr>
        <p:txBody>
          <a:bodyPr wrap="square" lIns="0" tIns="0" rIns="0" bIns="0" rtlCol="0" anchor="t"/>
          <a:lstStyle/>
          <a:p>
            <a:pPr indent="0" marL="0">
              <a:buNone/>
            </a:pPr>
            <a:r>
              <a:rPr lang="en-US" sz="1200" i="1" dirty="0">
                <a:solidFill>
                  <a:schemeClr val="bg2"/>
                </a:solidFill>
              </a:rPr>
              <a:t>Lowest criterion: segment-name faithfulness, 6.9 / 15. Judge: openai/gpt-5.6-luna, conservative rubric.</a:t>
            </a:r>
            <a:endParaRPr lang="en-US" sz="1200" dirty="0"/>
          </a:p>
        </p:txBody>
      </p:sp>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241280" cy="640080"/>
          </a:xfrm>
          <a:prstGeom prst="rect">
            <a:avLst/>
          </a:prstGeom>
          <a:noFill/>
          <a:ln/>
        </p:spPr>
        <p:txBody>
          <a:bodyPr wrap="square" lIns="0" tIns="0" rIns="0" bIns="0" rtlCol="0" anchor="ctr"/>
          <a:lstStyle/>
          <a:p>
            <a:pPr algn="l" indent="0" marL="0">
              <a:buNone/>
            </a:pPr>
            <a:r>
              <a:rPr lang="en-US" sz="2800" b="1" dirty="0">
                <a:solidFill>
                  <a:schemeClr val="bg1"/>
                </a:solidFill>
                <a:latin typeface="Century Gothic" pitchFamily="34" charset="0"/>
                <a:ea typeface="Century Gothic" pitchFamily="34" charset="-122"/>
                <a:cs typeface="Century Gothic" pitchFamily="34" charset="-120"/>
              </a:rPr>
              <a:t>Demo walkthrough</a:t>
            </a:r>
            <a:endParaRPr lang="en-US" sz="2800" dirty="0"/>
          </a:p>
        </p:txBody>
      </p:sp>
      <p:sp>
        <p:nvSpPr>
          <p:cNvPr id="3" name="text-667"/>
          <p:cNvSpPr txBox="1"/>
          <p:nvPr/>
        </p:nvSpPr>
        <p:spPr>
          <a:xfrm>
            <a:off x="548640" y="1005840"/>
            <a:ext cx="10424160" cy="384048"/>
          </a:xfrm>
          <a:prstGeom prst="rect">
            <a:avLst/>
          </a:prstGeom>
          <a:noFill/>
          <a:ln/>
        </p:spPr>
        <p:txBody>
          <a:bodyPr wrap="square" lIns="0" tIns="0" rIns="0" bIns="0" rtlCol="0" anchor="t"/>
          <a:lstStyle/>
          <a:p>
            <a:pPr indent="0" marL="0">
              <a:buNone/>
            </a:pPr>
            <a:r>
              <a:rPr lang="en-US" sz="1600" dirty="0">
                <a:solidFill>
                  <a:schemeClr val="bg2"/>
                </a:solidFill>
              </a:rPr>
              <a:t>From an uploaded CSV to a checked, sent email — in the order the console works.</a:t>
            </a:r>
            <a:endParaRPr lang="en-US" sz="1600" dirty="0"/>
          </a:p>
        </p:txBody>
      </p:sp>
      <p:sp>
        <p:nvSpPr>
          <p:cNvPr id="5" name="glass-668"/>
          <p:cNvSpPr/>
          <p:nvPr/>
        </p:nvSpPr>
        <p:spPr>
          <a:xfrm>
            <a:off x="548640" y="1572768"/>
            <a:ext cx="5449824" cy="2212848"/>
          </a:xfrm>
          <a:prstGeom prst="roundRect">
            <a:avLst>
              <a:gd name="adj" fmla="val 5785"/>
            </a:avLst>
          </a:prstGeom>
          <a:solidFill>
            <a:schemeClr val="tx2">
              <a:alpha val="78000"/>
            </a:schemeClr>
          </a:solidFill>
          <a:ln w="9525">
            <a:solidFill>
              <a:schemeClr val="bg2">
                <a:alpha val="22000"/>
              </a:schemeClr>
            </a:solidFill>
            <a:prstDash val="solid"/>
          </a:ln>
        </p:spPr>
      </p:sp>
      <p:sp>
        <p:nvSpPr>
          <p:cNvPr id="6" name="browser-frame-669"/>
          <p:cNvSpPr/>
          <p:nvPr/>
        </p:nvSpPr>
        <p:spPr>
          <a:xfrm>
            <a:off x="694944" y="1627632"/>
            <a:ext cx="2187648" cy="2130552"/>
          </a:xfrm>
          <a:prstGeom prst="roundRect">
            <a:avLst>
              <a:gd name="adj" fmla="val 4292"/>
            </a:avLst>
          </a:prstGeom>
          <a:solidFill>
            <a:schemeClr val="tx2"/>
          </a:solidFill>
          <a:ln w="9525">
            <a:solidFill>
              <a:schemeClr val="bg2">
                <a:alpha val="30000"/>
              </a:schemeClr>
            </a:solidFill>
            <a:prstDash val="solid"/>
          </a:ln>
          <a:effectLst>
            <a:outerShdw sx="100000" sy="100000" kx="0" ky="0" algn="bl" rotWithShape="0" blurRad="177800" dist="38100" dir="5400000">
              <a:srgbClr val="000000">
                <a:alpha val="35000"/>
              </a:srgbClr>
            </a:outerShdw>
          </a:effectLst>
        </p:spPr>
      </p:sp>
      <p:sp>
        <p:nvSpPr>
          <p:cNvPr id="7" name="frame-dot-670"/>
          <p:cNvSpPr/>
          <p:nvPr/>
        </p:nvSpPr>
        <p:spPr>
          <a:xfrm>
            <a:off x="822960" y="1737360"/>
            <a:ext cx="91440" cy="91440"/>
          </a:xfrm>
          <a:prstGeom prst="ellipse">
            <a:avLst/>
          </a:prstGeom>
          <a:solidFill>
            <a:schemeClr val="accent6"/>
          </a:solidFill>
          <a:ln/>
        </p:spPr>
      </p:sp>
      <p:sp>
        <p:nvSpPr>
          <p:cNvPr id="8" name="frame-dot-671"/>
          <p:cNvSpPr/>
          <p:nvPr/>
        </p:nvSpPr>
        <p:spPr>
          <a:xfrm>
            <a:off x="978408" y="1737360"/>
            <a:ext cx="91440" cy="91440"/>
          </a:xfrm>
          <a:prstGeom prst="ellipse">
            <a:avLst/>
          </a:prstGeom>
          <a:solidFill>
            <a:schemeClr val="accent3"/>
          </a:solidFill>
          <a:ln/>
        </p:spPr>
      </p:sp>
      <p:sp>
        <p:nvSpPr>
          <p:cNvPr id="9" name="frame-dot-672"/>
          <p:cNvSpPr/>
          <p:nvPr/>
        </p:nvSpPr>
        <p:spPr>
          <a:xfrm>
            <a:off x="1133856" y="1737360"/>
            <a:ext cx="91440" cy="91440"/>
          </a:xfrm>
          <a:prstGeom prst="ellipse">
            <a:avLst/>
          </a:prstGeom>
          <a:solidFill>
            <a:schemeClr val="accent5"/>
          </a:solidFill>
          <a:ln/>
        </p:spPr>
      </p:sp>
      <p:pic>
        <p:nvPicPr>
          <p:cNvPr id="10" name="screenshot-673" descr="C:\Ai stuffs\MOSAIC\docs\media\console\company.jpg">    </p:cNvPr>
          <p:cNvPicPr>
            <a:picLocks noChangeAspect="1"/>
          </p:cNvPicPr>
          <p:nvPr/>
        </p:nvPicPr>
        <p:blipFill>
          <a:blip r:embed="rId1"/>
          <a:stretch>
            <a:fillRect/>
          </a:stretch>
        </p:blipFill>
        <p:spPr>
          <a:xfrm>
            <a:off x="749808" y="1920240"/>
            <a:ext cx="2077920" cy="1783080"/>
          </a:xfrm>
          <a:prstGeom prst="rect">
            <a:avLst/>
          </a:prstGeom>
        </p:spPr>
      </p:pic>
      <p:sp>
        <p:nvSpPr>
          <p:cNvPr id="11" name="num-bg-674"/>
          <p:cNvSpPr/>
          <p:nvPr/>
        </p:nvSpPr>
        <p:spPr>
          <a:xfrm>
            <a:off x="4069080" y="1828800"/>
            <a:ext cx="384048" cy="384048"/>
          </a:xfrm>
          <a:prstGeom prst="ellipse">
            <a:avLst/>
          </a:prstGeom>
          <a:solidFill>
            <a:schemeClr val="accent1"/>
          </a:solidFill>
          <a:ln/>
        </p:spPr>
      </p:sp>
      <p:sp>
        <p:nvSpPr>
          <p:cNvPr id="12" name="text-675"/>
          <p:cNvSpPr txBox="1"/>
          <p:nvPr/>
        </p:nvSpPr>
        <p:spPr>
          <a:xfrm>
            <a:off x="4069080" y="1828800"/>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latin typeface="Century Gothic" pitchFamily="34" charset="0"/>
                <a:ea typeface="Century Gothic" pitchFamily="34" charset="-122"/>
                <a:cs typeface="Century Gothic" pitchFamily="34" charset="-120"/>
              </a:rPr>
              <a:t>1</a:t>
            </a:r>
            <a:endParaRPr lang="en-US" sz="1300" dirty="0"/>
          </a:p>
        </p:txBody>
      </p:sp>
      <p:sp>
        <p:nvSpPr>
          <p:cNvPr id="13" name="text-676"/>
          <p:cNvSpPr txBox="1"/>
          <p:nvPr/>
        </p:nvSpPr>
        <p:spPr>
          <a:xfrm>
            <a:off x="4069080" y="2304288"/>
            <a:ext cx="1810512" cy="347472"/>
          </a:xfrm>
          <a:prstGeom prst="rect">
            <a:avLst/>
          </a:prstGeom>
          <a:noFill/>
          <a:ln/>
        </p:spPr>
        <p:txBody>
          <a:bodyPr wrap="square" lIns="0" tIns="0" rIns="0" bIns="0" rtlCol="0" anchor="t"/>
          <a:lstStyle/>
          <a:p>
            <a:pPr indent="0" marL="0">
              <a:buNone/>
            </a:pPr>
            <a:r>
              <a:rPr lang="en-US" sz="1500" b="1" dirty="0">
                <a:solidFill>
                  <a:schemeClr val="bg1"/>
                </a:solidFill>
                <a:latin typeface="Century Gothic" pitchFamily="34" charset="0"/>
                <a:ea typeface="Century Gothic" pitchFamily="34" charset="-122"/>
                <a:cs typeface="Century Gothic" pitchFamily="34" charset="-120"/>
              </a:rPr>
              <a:t>Company Info</a:t>
            </a:r>
            <a:endParaRPr lang="en-US" sz="1500" dirty="0"/>
          </a:p>
        </p:txBody>
      </p:sp>
      <p:sp>
        <p:nvSpPr>
          <p:cNvPr id="14" name="text-677"/>
          <p:cNvSpPr txBox="1"/>
          <p:nvPr/>
        </p:nvSpPr>
        <p:spPr>
          <a:xfrm>
            <a:off x="4069080" y="2670048"/>
            <a:ext cx="1810512" cy="1005840"/>
          </a:xfrm>
          <a:prstGeom prst="rect">
            <a:avLst/>
          </a:prstGeom>
          <a:noFill/>
          <a:ln/>
        </p:spPr>
        <p:txBody>
          <a:bodyPr wrap="square" lIns="0" tIns="0" rIns="0" bIns="0" rtlCol="0" anchor="t"/>
          <a:lstStyle/>
          <a:p>
            <a:pPr indent="0" marL="0">
              <a:buNone/>
            </a:pPr>
            <a:r>
              <a:rPr lang="en-US" sz="1250" dirty="0">
                <a:solidFill>
                  <a:schemeClr val="bg2"/>
                </a:solidFill>
              </a:rPr>
              <a:t>Upload any CSV; columns profiled, protected and consent columns flagged</a:t>
            </a:r>
            <a:endParaRPr lang="en-US" sz="1250" dirty="0"/>
          </a:p>
        </p:txBody>
      </p:sp>
      <p:sp>
        <p:nvSpPr>
          <p:cNvPr id="15" name="glass-678"/>
          <p:cNvSpPr/>
          <p:nvPr/>
        </p:nvSpPr>
        <p:spPr>
          <a:xfrm>
            <a:off x="6190488" y="1572768"/>
            <a:ext cx="5449824" cy="2212848"/>
          </a:xfrm>
          <a:prstGeom prst="roundRect">
            <a:avLst>
              <a:gd name="adj" fmla="val 5785"/>
            </a:avLst>
          </a:prstGeom>
          <a:solidFill>
            <a:schemeClr val="tx2">
              <a:alpha val="78000"/>
            </a:schemeClr>
          </a:solidFill>
          <a:ln w="9525">
            <a:solidFill>
              <a:schemeClr val="bg2">
                <a:alpha val="22000"/>
              </a:schemeClr>
            </a:solidFill>
            <a:prstDash val="solid"/>
          </a:ln>
        </p:spPr>
      </p:sp>
      <p:sp>
        <p:nvSpPr>
          <p:cNvPr id="16" name="browser-frame-679"/>
          <p:cNvSpPr/>
          <p:nvPr/>
        </p:nvSpPr>
        <p:spPr>
          <a:xfrm>
            <a:off x="6336792" y="1627632"/>
            <a:ext cx="2637639" cy="2130552"/>
          </a:xfrm>
          <a:prstGeom prst="roundRect">
            <a:avLst>
              <a:gd name="adj" fmla="val 4292"/>
            </a:avLst>
          </a:prstGeom>
          <a:solidFill>
            <a:schemeClr val="tx2"/>
          </a:solidFill>
          <a:ln w="9525">
            <a:solidFill>
              <a:schemeClr val="bg2">
                <a:alpha val="30000"/>
              </a:schemeClr>
            </a:solidFill>
            <a:prstDash val="solid"/>
          </a:ln>
          <a:effectLst>
            <a:outerShdw sx="100000" sy="100000" kx="0" ky="0" algn="bl" rotWithShape="0" blurRad="177800" dist="38100" dir="5400000">
              <a:srgbClr val="000000">
                <a:alpha val="35000"/>
              </a:srgbClr>
            </a:outerShdw>
          </a:effectLst>
        </p:spPr>
      </p:sp>
      <p:sp>
        <p:nvSpPr>
          <p:cNvPr id="17" name="frame-dot-680"/>
          <p:cNvSpPr/>
          <p:nvPr/>
        </p:nvSpPr>
        <p:spPr>
          <a:xfrm>
            <a:off x="6464808" y="1737360"/>
            <a:ext cx="91440" cy="91440"/>
          </a:xfrm>
          <a:prstGeom prst="ellipse">
            <a:avLst/>
          </a:prstGeom>
          <a:solidFill>
            <a:schemeClr val="accent6"/>
          </a:solidFill>
          <a:ln/>
        </p:spPr>
      </p:sp>
      <p:sp>
        <p:nvSpPr>
          <p:cNvPr id="18" name="frame-dot-681"/>
          <p:cNvSpPr/>
          <p:nvPr/>
        </p:nvSpPr>
        <p:spPr>
          <a:xfrm>
            <a:off x="6620256" y="1737360"/>
            <a:ext cx="91440" cy="91440"/>
          </a:xfrm>
          <a:prstGeom prst="ellipse">
            <a:avLst/>
          </a:prstGeom>
          <a:solidFill>
            <a:schemeClr val="accent3"/>
          </a:solidFill>
          <a:ln/>
        </p:spPr>
      </p:sp>
      <p:sp>
        <p:nvSpPr>
          <p:cNvPr id="19" name="frame-dot-682"/>
          <p:cNvSpPr/>
          <p:nvPr/>
        </p:nvSpPr>
        <p:spPr>
          <a:xfrm>
            <a:off x="6775704" y="1737360"/>
            <a:ext cx="91440" cy="91440"/>
          </a:xfrm>
          <a:prstGeom prst="ellipse">
            <a:avLst/>
          </a:prstGeom>
          <a:solidFill>
            <a:schemeClr val="accent5"/>
          </a:solidFill>
          <a:ln/>
        </p:spPr>
      </p:sp>
      <p:pic>
        <p:nvPicPr>
          <p:cNvPr id="20" name="screenshot-683" descr="C:\Ai stuffs\MOSAIC\docs\media\console\segments.jpg">    </p:cNvPr>
          <p:cNvPicPr>
            <a:picLocks noChangeAspect="1"/>
          </p:cNvPicPr>
          <p:nvPr/>
        </p:nvPicPr>
        <p:blipFill>
          <a:blip r:embed="rId2"/>
          <a:stretch>
            <a:fillRect/>
          </a:stretch>
        </p:blipFill>
        <p:spPr>
          <a:xfrm>
            <a:off x="6391656" y="1920240"/>
            <a:ext cx="2527911" cy="1783080"/>
          </a:xfrm>
          <a:prstGeom prst="rect">
            <a:avLst/>
          </a:prstGeom>
        </p:spPr>
      </p:pic>
      <p:sp>
        <p:nvSpPr>
          <p:cNvPr id="21" name="num-bg-684"/>
          <p:cNvSpPr/>
          <p:nvPr/>
        </p:nvSpPr>
        <p:spPr>
          <a:xfrm>
            <a:off x="9710928" y="1828800"/>
            <a:ext cx="384048" cy="384048"/>
          </a:xfrm>
          <a:prstGeom prst="ellipse">
            <a:avLst/>
          </a:prstGeom>
          <a:solidFill>
            <a:schemeClr val="accent1"/>
          </a:solidFill>
          <a:ln/>
        </p:spPr>
      </p:sp>
      <p:sp>
        <p:nvSpPr>
          <p:cNvPr id="22" name="text-685"/>
          <p:cNvSpPr txBox="1"/>
          <p:nvPr/>
        </p:nvSpPr>
        <p:spPr>
          <a:xfrm>
            <a:off x="9710928" y="1828800"/>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latin typeface="Century Gothic" pitchFamily="34" charset="0"/>
                <a:ea typeface="Century Gothic" pitchFamily="34" charset="-122"/>
                <a:cs typeface="Century Gothic" pitchFamily="34" charset="-120"/>
              </a:rPr>
              <a:t>2</a:t>
            </a:r>
            <a:endParaRPr lang="en-US" sz="1300" dirty="0"/>
          </a:p>
        </p:txBody>
      </p:sp>
      <p:sp>
        <p:nvSpPr>
          <p:cNvPr id="23" name="text-686"/>
          <p:cNvSpPr txBox="1"/>
          <p:nvPr/>
        </p:nvSpPr>
        <p:spPr>
          <a:xfrm>
            <a:off x="9710928" y="2304288"/>
            <a:ext cx="1810512" cy="347472"/>
          </a:xfrm>
          <a:prstGeom prst="rect">
            <a:avLst/>
          </a:prstGeom>
          <a:noFill/>
          <a:ln/>
        </p:spPr>
        <p:txBody>
          <a:bodyPr wrap="square" lIns="0" tIns="0" rIns="0" bIns="0" rtlCol="0" anchor="t"/>
          <a:lstStyle/>
          <a:p>
            <a:pPr indent="0" marL="0">
              <a:buNone/>
            </a:pPr>
            <a:r>
              <a:rPr lang="en-US" sz="1500" b="1" dirty="0">
                <a:solidFill>
                  <a:schemeClr val="bg1"/>
                </a:solidFill>
                <a:latin typeface="Century Gothic" pitchFamily="34" charset="0"/>
                <a:ea typeface="Century Gothic" pitchFamily="34" charset="-122"/>
                <a:cs typeface="Century Gothic" pitchFamily="34" charset="-120"/>
              </a:rPr>
              <a:t>Segments</a:t>
            </a:r>
            <a:endParaRPr lang="en-US" sz="1500" dirty="0"/>
          </a:p>
        </p:txBody>
      </p:sp>
      <p:sp>
        <p:nvSpPr>
          <p:cNvPr id="24" name="text-687"/>
          <p:cNvSpPr txBox="1"/>
          <p:nvPr/>
        </p:nvSpPr>
        <p:spPr>
          <a:xfrm>
            <a:off x="9710928" y="2670048"/>
            <a:ext cx="1810512" cy="1005840"/>
          </a:xfrm>
          <a:prstGeom prst="rect">
            <a:avLst/>
          </a:prstGeom>
          <a:noFill/>
          <a:ln/>
        </p:spPr>
        <p:txBody>
          <a:bodyPr wrap="square" lIns="0" tIns="0" rIns="0" bIns="0" rtlCol="0" anchor="t"/>
          <a:lstStyle/>
          <a:p>
            <a:pPr indent="0" marL="0">
              <a:buNone/>
            </a:pPr>
            <a:r>
              <a:rPr lang="en-US" sz="1250" dirty="0">
                <a:solidFill>
                  <a:schemeClr val="bg2"/>
                </a:solidFill>
              </a:rPr>
              <a:t>Clusters named from z-scored traits; proxy flag on the card</a:t>
            </a:r>
            <a:endParaRPr lang="en-US" sz="1250" dirty="0"/>
          </a:p>
        </p:txBody>
      </p:sp>
      <p:sp>
        <p:nvSpPr>
          <p:cNvPr id="25" name="glass-688"/>
          <p:cNvSpPr/>
          <p:nvPr/>
        </p:nvSpPr>
        <p:spPr>
          <a:xfrm>
            <a:off x="548640" y="3931920"/>
            <a:ext cx="5449824" cy="2212848"/>
          </a:xfrm>
          <a:prstGeom prst="roundRect">
            <a:avLst>
              <a:gd name="adj" fmla="val 5785"/>
            </a:avLst>
          </a:prstGeom>
          <a:solidFill>
            <a:schemeClr val="tx2">
              <a:alpha val="78000"/>
            </a:schemeClr>
          </a:solidFill>
          <a:ln w="9525">
            <a:solidFill>
              <a:schemeClr val="bg2">
                <a:alpha val="22000"/>
              </a:schemeClr>
            </a:solidFill>
            <a:prstDash val="solid"/>
          </a:ln>
        </p:spPr>
      </p:sp>
      <p:sp>
        <p:nvSpPr>
          <p:cNvPr id="26" name="browser-frame-689"/>
          <p:cNvSpPr/>
          <p:nvPr/>
        </p:nvSpPr>
        <p:spPr>
          <a:xfrm>
            <a:off x="694944" y="3986784"/>
            <a:ext cx="2637639" cy="2130552"/>
          </a:xfrm>
          <a:prstGeom prst="roundRect">
            <a:avLst>
              <a:gd name="adj" fmla="val 4292"/>
            </a:avLst>
          </a:prstGeom>
          <a:solidFill>
            <a:schemeClr val="tx2"/>
          </a:solidFill>
          <a:ln w="9525">
            <a:solidFill>
              <a:schemeClr val="bg2">
                <a:alpha val="30000"/>
              </a:schemeClr>
            </a:solidFill>
            <a:prstDash val="solid"/>
          </a:ln>
          <a:effectLst>
            <a:outerShdw sx="100000" sy="100000" kx="0" ky="0" algn="bl" rotWithShape="0" blurRad="177800" dist="38100" dir="5400000">
              <a:srgbClr val="000000">
                <a:alpha val="35000"/>
              </a:srgbClr>
            </a:outerShdw>
          </a:effectLst>
        </p:spPr>
      </p:sp>
      <p:sp>
        <p:nvSpPr>
          <p:cNvPr id="27" name="frame-dot-690"/>
          <p:cNvSpPr/>
          <p:nvPr/>
        </p:nvSpPr>
        <p:spPr>
          <a:xfrm>
            <a:off x="822960" y="4096512"/>
            <a:ext cx="91440" cy="91440"/>
          </a:xfrm>
          <a:prstGeom prst="ellipse">
            <a:avLst/>
          </a:prstGeom>
          <a:solidFill>
            <a:schemeClr val="accent6"/>
          </a:solidFill>
          <a:ln/>
        </p:spPr>
      </p:sp>
      <p:sp>
        <p:nvSpPr>
          <p:cNvPr id="28" name="frame-dot-691"/>
          <p:cNvSpPr/>
          <p:nvPr/>
        </p:nvSpPr>
        <p:spPr>
          <a:xfrm>
            <a:off x="978408" y="4096512"/>
            <a:ext cx="91440" cy="91440"/>
          </a:xfrm>
          <a:prstGeom prst="ellipse">
            <a:avLst/>
          </a:prstGeom>
          <a:solidFill>
            <a:schemeClr val="accent3"/>
          </a:solidFill>
          <a:ln/>
        </p:spPr>
      </p:sp>
      <p:sp>
        <p:nvSpPr>
          <p:cNvPr id="29" name="frame-dot-692"/>
          <p:cNvSpPr/>
          <p:nvPr/>
        </p:nvSpPr>
        <p:spPr>
          <a:xfrm>
            <a:off x="1133856" y="4096512"/>
            <a:ext cx="91440" cy="91440"/>
          </a:xfrm>
          <a:prstGeom prst="ellipse">
            <a:avLst/>
          </a:prstGeom>
          <a:solidFill>
            <a:schemeClr val="accent5"/>
          </a:solidFill>
          <a:ln/>
        </p:spPr>
      </p:sp>
      <p:pic>
        <p:nvPicPr>
          <p:cNvPr id="30" name="screenshot-693" descr="C:\Ai stuffs\MOSAIC\docs\media\console\emails.jpg">    </p:cNvPr>
          <p:cNvPicPr>
            <a:picLocks noChangeAspect="1"/>
          </p:cNvPicPr>
          <p:nvPr/>
        </p:nvPicPr>
        <p:blipFill>
          <a:blip r:embed="rId3"/>
          <a:stretch>
            <a:fillRect/>
          </a:stretch>
        </p:blipFill>
        <p:spPr>
          <a:xfrm>
            <a:off x="749808" y="4279392"/>
            <a:ext cx="2527911" cy="1783080"/>
          </a:xfrm>
          <a:prstGeom prst="rect">
            <a:avLst/>
          </a:prstGeom>
        </p:spPr>
      </p:pic>
      <p:sp>
        <p:nvSpPr>
          <p:cNvPr id="31" name="num-bg-694"/>
          <p:cNvSpPr/>
          <p:nvPr/>
        </p:nvSpPr>
        <p:spPr>
          <a:xfrm>
            <a:off x="4069080" y="4187952"/>
            <a:ext cx="384048" cy="384048"/>
          </a:xfrm>
          <a:prstGeom prst="ellipse">
            <a:avLst/>
          </a:prstGeom>
          <a:solidFill>
            <a:schemeClr val="accent1"/>
          </a:solidFill>
          <a:ln/>
        </p:spPr>
      </p:sp>
      <p:sp>
        <p:nvSpPr>
          <p:cNvPr id="32" name="text-695"/>
          <p:cNvSpPr txBox="1"/>
          <p:nvPr/>
        </p:nvSpPr>
        <p:spPr>
          <a:xfrm>
            <a:off x="4069080" y="4187952"/>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latin typeface="Century Gothic" pitchFamily="34" charset="0"/>
                <a:ea typeface="Century Gothic" pitchFamily="34" charset="-122"/>
                <a:cs typeface="Century Gothic" pitchFamily="34" charset="-120"/>
              </a:rPr>
              <a:t>3</a:t>
            </a:r>
            <a:endParaRPr lang="en-US" sz="1300" dirty="0"/>
          </a:p>
        </p:txBody>
      </p:sp>
      <p:sp>
        <p:nvSpPr>
          <p:cNvPr id="33" name="text-696"/>
          <p:cNvSpPr txBox="1"/>
          <p:nvPr/>
        </p:nvSpPr>
        <p:spPr>
          <a:xfrm>
            <a:off x="4069080" y="4663440"/>
            <a:ext cx="1810512" cy="347472"/>
          </a:xfrm>
          <a:prstGeom prst="rect">
            <a:avLst/>
          </a:prstGeom>
          <a:noFill/>
          <a:ln/>
        </p:spPr>
        <p:txBody>
          <a:bodyPr wrap="square" lIns="0" tIns="0" rIns="0" bIns="0" rtlCol="0" anchor="t"/>
          <a:lstStyle/>
          <a:p>
            <a:pPr indent="0" marL="0">
              <a:buNone/>
            </a:pPr>
            <a:r>
              <a:rPr lang="en-US" sz="1500" b="1" dirty="0">
                <a:solidFill>
                  <a:schemeClr val="bg1"/>
                </a:solidFill>
                <a:latin typeface="Century Gothic" pitchFamily="34" charset="0"/>
                <a:ea typeface="Century Gothic" pitchFamily="34" charset="-122"/>
                <a:cs typeface="Century Gothic" pitchFamily="34" charset="-120"/>
              </a:rPr>
              <a:t>Email Review</a:t>
            </a:r>
            <a:endParaRPr lang="en-US" sz="1500" dirty="0"/>
          </a:p>
        </p:txBody>
      </p:sp>
      <p:sp>
        <p:nvSpPr>
          <p:cNvPr id="34" name="text-697"/>
          <p:cNvSpPr txBox="1"/>
          <p:nvPr/>
        </p:nvSpPr>
        <p:spPr>
          <a:xfrm>
            <a:off x="4069080" y="5029200"/>
            <a:ext cx="1810512" cy="1005840"/>
          </a:xfrm>
          <a:prstGeom prst="rect">
            <a:avLst/>
          </a:prstGeom>
          <a:noFill/>
          <a:ln/>
        </p:spPr>
        <p:txBody>
          <a:bodyPr wrap="square" lIns="0" tIns="0" rIns="0" bIns="0" rtlCol="0" anchor="t"/>
          <a:lstStyle/>
          <a:p>
            <a:pPr indent="0" marL="0">
              <a:buNone/>
            </a:pPr>
            <a:r>
              <a:rPr lang="en-US" sz="1250" dirty="0">
                <a:solidFill>
                  <a:schemeClr val="bg2"/>
                </a:solidFill>
              </a:rPr>
              <a:t>One email per segment, editable in the builder</a:t>
            </a:r>
            <a:endParaRPr lang="en-US" sz="1250" dirty="0"/>
          </a:p>
        </p:txBody>
      </p:sp>
      <p:sp>
        <p:nvSpPr>
          <p:cNvPr id="35" name="glass-698"/>
          <p:cNvSpPr/>
          <p:nvPr/>
        </p:nvSpPr>
        <p:spPr>
          <a:xfrm>
            <a:off x="6190488" y="3931920"/>
            <a:ext cx="5449824" cy="2212848"/>
          </a:xfrm>
          <a:prstGeom prst="roundRect">
            <a:avLst>
              <a:gd name="adj" fmla="val 5785"/>
            </a:avLst>
          </a:prstGeom>
          <a:solidFill>
            <a:schemeClr val="tx2">
              <a:alpha val="78000"/>
            </a:schemeClr>
          </a:solidFill>
          <a:ln w="9525">
            <a:solidFill>
              <a:schemeClr val="bg2">
                <a:alpha val="22000"/>
              </a:schemeClr>
            </a:solidFill>
            <a:prstDash val="solid"/>
          </a:ln>
        </p:spPr>
      </p:sp>
      <p:sp>
        <p:nvSpPr>
          <p:cNvPr id="36" name="browser-frame-699"/>
          <p:cNvSpPr/>
          <p:nvPr/>
        </p:nvSpPr>
        <p:spPr>
          <a:xfrm>
            <a:off x="6336792" y="3986784"/>
            <a:ext cx="3127248" cy="2071769"/>
          </a:xfrm>
          <a:prstGeom prst="roundRect">
            <a:avLst>
              <a:gd name="adj" fmla="val 4414"/>
            </a:avLst>
          </a:prstGeom>
          <a:solidFill>
            <a:schemeClr val="tx2"/>
          </a:solidFill>
          <a:ln w="9525">
            <a:solidFill>
              <a:schemeClr val="bg2">
                <a:alpha val="30000"/>
              </a:schemeClr>
            </a:solidFill>
            <a:prstDash val="solid"/>
          </a:ln>
          <a:effectLst>
            <a:outerShdw sx="100000" sy="100000" kx="0" ky="0" algn="bl" rotWithShape="0" blurRad="177800" dist="38100" dir="5400000">
              <a:srgbClr val="000000">
                <a:alpha val="35000"/>
              </a:srgbClr>
            </a:outerShdw>
          </a:effectLst>
        </p:spPr>
      </p:sp>
      <p:sp>
        <p:nvSpPr>
          <p:cNvPr id="37" name="frame-dot-700"/>
          <p:cNvSpPr/>
          <p:nvPr/>
        </p:nvSpPr>
        <p:spPr>
          <a:xfrm>
            <a:off x="6464808" y="4096512"/>
            <a:ext cx="91440" cy="91440"/>
          </a:xfrm>
          <a:prstGeom prst="ellipse">
            <a:avLst/>
          </a:prstGeom>
          <a:solidFill>
            <a:schemeClr val="accent6"/>
          </a:solidFill>
          <a:ln/>
        </p:spPr>
      </p:sp>
      <p:sp>
        <p:nvSpPr>
          <p:cNvPr id="38" name="frame-dot-701"/>
          <p:cNvSpPr/>
          <p:nvPr/>
        </p:nvSpPr>
        <p:spPr>
          <a:xfrm>
            <a:off x="6620256" y="4096512"/>
            <a:ext cx="91440" cy="91440"/>
          </a:xfrm>
          <a:prstGeom prst="ellipse">
            <a:avLst/>
          </a:prstGeom>
          <a:solidFill>
            <a:schemeClr val="accent3"/>
          </a:solidFill>
          <a:ln/>
        </p:spPr>
      </p:sp>
      <p:sp>
        <p:nvSpPr>
          <p:cNvPr id="39" name="frame-dot-702"/>
          <p:cNvSpPr/>
          <p:nvPr/>
        </p:nvSpPr>
        <p:spPr>
          <a:xfrm>
            <a:off x="6775704" y="4096512"/>
            <a:ext cx="91440" cy="91440"/>
          </a:xfrm>
          <a:prstGeom prst="ellipse">
            <a:avLst/>
          </a:prstGeom>
          <a:solidFill>
            <a:schemeClr val="accent5"/>
          </a:solidFill>
          <a:ln/>
        </p:spPr>
      </p:sp>
      <p:pic>
        <p:nvPicPr>
          <p:cNvPr id="40" name="screenshot-703" descr="C:\Ai stuffs\MOSAIC\docs\media\console\approvals.jpg">    </p:cNvPr>
          <p:cNvPicPr>
            <a:picLocks noChangeAspect="1"/>
          </p:cNvPicPr>
          <p:nvPr/>
        </p:nvPicPr>
        <p:blipFill>
          <a:blip r:embed="rId4"/>
          <a:stretch>
            <a:fillRect/>
          </a:stretch>
        </p:blipFill>
        <p:spPr>
          <a:xfrm>
            <a:off x="6391656" y="4279392"/>
            <a:ext cx="3017520" cy="1724297"/>
          </a:xfrm>
          <a:prstGeom prst="rect">
            <a:avLst/>
          </a:prstGeom>
        </p:spPr>
      </p:pic>
      <p:sp>
        <p:nvSpPr>
          <p:cNvPr id="41" name="num-bg-704"/>
          <p:cNvSpPr/>
          <p:nvPr/>
        </p:nvSpPr>
        <p:spPr>
          <a:xfrm>
            <a:off x="9710928" y="4187952"/>
            <a:ext cx="384048" cy="384048"/>
          </a:xfrm>
          <a:prstGeom prst="ellipse">
            <a:avLst/>
          </a:prstGeom>
          <a:solidFill>
            <a:schemeClr val="accent1"/>
          </a:solidFill>
          <a:ln/>
        </p:spPr>
      </p:sp>
      <p:sp>
        <p:nvSpPr>
          <p:cNvPr id="42" name="text-705"/>
          <p:cNvSpPr txBox="1"/>
          <p:nvPr/>
        </p:nvSpPr>
        <p:spPr>
          <a:xfrm>
            <a:off x="9710928" y="4187952"/>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latin typeface="Century Gothic" pitchFamily="34" charset="0"/>
                <a:ea typeface="Century Gothic" pitchFamily="34" charset="-122"/>
                <a:cs typeface="Century Gothic" pitchFamily="34" charset="-120"/>
              </a:rPr>
              <a:t>4</a:t>
            </a:r>
            <a:endParaRPr lang="en-US" sz="1300" dirty="0"/>
          </a:p>
        </p:txBody>
      </p:sp>
      <p:sp>
        <p:nvSpPr>
          <p:cNvPr id="43" name="text-706"/>
          <p:cNvSpPr txBox="1"/>
          <p:nvPr/>
        </p:nvSpPr>
        <p:spPr>
          <a:xfrm>
            <a:off x="9710928" y="4663440"/>
            <a:ext cx="1810512" cy="347472"/>
          </a:xfrm>
          <a:prstGeom prst="rect">
            <a:avLst/>
          </a:prstGeom>
          <a:noFill/>
          <a:ln/>
        </p:spPr>
        <p:txBody>
          <a:bodyPr wrap="square" lIns="0" tIns="0" rIns="0" bIns="0" rtlCol="0" anchor="t"/>
          <a:lstStyle/>
          <a:p>
            <a:pPr indent="0" marL="0">
              <a:buNone/>
            </a:pPr>
            <a:r>
              <a:rPr lang="en-US" sz="1500" b="1" dirty="0">
                <a:solidFill>
                  <a:schemeClr val="bg1"/>
                </a:solidFill>
                <a:latin typeface="Century Gothic" pitchFamily="34" charset="0"/>
                <a:ea typeface="Century Gothic" pitchFamily="34" charset="-122"/>
                <a:cs typeface="Century Gothic" pitchFamily="34" charset="-120"/>
              </a:rPr>
              <a:t>Approval Queue</a:t>
            </a:r>
            <a:endParaRPr lang="en-US" sz="1500" dirty="0"/>
          </a:p>
        </p:txBody>
      </p:sp>
      <p:sp>
        <p:nvSpPr>
          <p:cNvPr id="44" name="text-707"/>
          <p:cNvSpPr txBox="1"/>
          <p:nvPr/>
        </p:nvSpPr>
        <p:spPr>
          <a:xfrm>
            <a:off x="9710928" y="5029200"/>
            <a:ext cx="1810512" cy="1005840"/>
          </a:xfrm>
          <a:prstGeom prst="rect">
            <a:avLst/>
          </a:prstGeom>
          <a:noFill/>
          <a:ln/>
        </p:spPr>
        <p:txBody>
          <a:bodyPr wrap="square" lIns="0" tIns="0" rIns="0" bIns="0" rtlCol="0" anchor="t"/>
          <a:lstStyle/>
          <a:p>
            <a:pPr indent="0" marL="0">
              <a:buNone/>
            </a:pPr>
            <a:r>
              <a:rPr lang="en-US" sz="1250" dirty="0">
                <a:solidFill>
                  <a:schemeClr val="bg2"/>
                </a:solidFill>
              </a:rPr>
              <a:t>Checks re-run after edits; a person sends</a:t>
            </a:r>
            <a:endParaRPr lang="en-US" sz="1250" dirty="0"/>
          </a:p>
        </p:txBody>
      </p:sp>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241280" cy="640080"/>
          </a:xfrm>
          <a:prstGeom prst="rect">
            <a:avLst/>
          </a:prstGeom>
          <a:noFill/>
          <a:ln/>
        </p:spPr>
        <p:txBody>
          <a:bodyPr wrap="square" lIns="0" tIns="0" rIns="0" bIns="0" rtlCol="0" anchor="ctr"/>
          <a:lstStyle/>
          <a:p>
            <a:pPr algn="l" indent="0" marL="0">
              <a:buNone/>
            </a:pPr>
            <a:r>
              <a:rPr lang="en-US" sz="2800" b="1" dirty="0">
                <a:solidFill>
                  <a:schemeClr val="bg1"/>
                </a:solidFill>
                <a:latin typeface="Century Gothic" pitchFamily="34" charset="0"/>
                <a:ea typeface="Century Gothic" pitchFamily="34" charset="-122"/>
                <a:cs typeface="Century Gothic" pitchFamily="34" charset="-120"/>
              </a:rPr>
              <a:t>Cost scales with segments, not contacts</a:t>
            </a:r>
            <a:endParaRPr lang="en-US" sz="2800" dirty="0"/>
          </a:p>
        </p:txBody>
      </p:sp>
      <p:sp>
        <p:nvSpPr>
          <p:cNvPr id="3" name="text-708"/>
          <p:cNvSpPr txBox="1"/>
          <p:nvPr/>
        </p:nvSpPr>
        <p:spPr>
          <a:xfrm>
            <a:off x="548640" y="1005840"/>
            <a:ext cx="10424160" cy="384048"/>
          </a:xfrm>
          <a:prstGeom prst="rect">
            <a:avLst/>
          </a:prstGeom>
          <a:noFill/>
          <a:ln/>
        </p:spPr>
        <p:txBody>
          <a:bodyPr wrap="square" lIns="0" tIns="0" rIns="0" bIns="0" rtlCol="0" anchor="t"/>
          <a:lstStyle/>
          <a:p>
            <a:pPr indent="0" marL="0">
              <a:buNone/>
            </a:pPr>
            <a:r>
              <a:rPr lang="en-US" sz="1600" dirty="0">
                <a:solidFill>
                  <a:schemeClr val="bg2"/>
                </a:solidFill>
              </a:rPr>
              <a:t>Expensive model work runs once per segment (k); per-recipient work is a deterministic merge-tag fill.</a:t>
            </a:r>
            <a:endParaRPr lang="en-US" sz="1600" dirty="0"/>
          </a:p>
        </p:txBody>
      </p:sp>
      <p:graphicFrame>
        <p:nvGraphicFramePr>
          <p:cNvPr id="24" name="calls-table"/>
          <p:cNvGraphicFramePr>
            <a:graphicFrameLocks noGrp="1"/>
          </p:cNvGraphicFramePr>
          <p:nvPr>
            <p:extLst>
              <p:ext uri="{D42A27DB-BD31-4B8C-83A1-F6EECF244321}">
                <p14:modId xmlns:p14="http://schemas.microsoft.com/office/powerpoint/2010/main" val="1579011935"/>
              </p:ext>
            </p:extLst>
          </p:nvPr>
        </p:nvGraphicFramePr>
        <p:xfrm>
          <a:off x="548640" y="1600200"/>
          <a:ext cx="6492240" cy="914400"/>
        </p:xfrm>
        <a:graphic>
          <a:graphicData uri="http://schemas.openxmlformats.org/drawingml/2006/table">
            <a:tbl>
              <a:tblPr/>
              <a:tblGrid>
                <a:gridCol w="2240280"/>
                <a:gridCol w="1463040"/>
                <a:gridCol w="1463040"/>
                <a:gridCol w="1325880"/>
              </a:tblGrid>
              <a:tr h="457200">
                <a:tc>
                  <a:txBody>
                    <a:bodyPr/>
                    <a:lstStyle/>
                    <a:p>
                      <a:pPr indent="0" marL="0">
                        <a:buNone/>
                      </a:pPr>
                      <a:r>
                        <a:rPr lang="en-US" sz="1350" b="1" dirty="0">
                          <a:solidFill>
                            <a:srgbClr val="0B0B24"/>
                          </a:solidFill>
                        </a:rPr>
                        <a:t>Stage</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818CF8"/>
                    </a:solidFill>
                  </a:tcPr>
                </a:tc>
                <a:tc>
                  <a:txBody>
                    <a:bodyPr/>
                    <a:lstStyle/>
                    <a:p>
                      <a:pPr indent="0" marL="0">
                        <a:buNone/>
                      </a:pPr>
                      <a:r>
                        <a:rPr lang="en-US" sz="1350" b="1" dirty="0">
                          <a:solidFill>
                            <a:srgbClr val="0B0B24"/>
                          </a:solidFill>
                        </a:rPr>
                        <a:t>LLM calls</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818CF8"/>
                    </a:solidFill>
                  </a:tcPr>
                </a:tc>
                <a:tc>
                  <a:txBody>
                    <a:bodyPr/>
                    <a:lstStyle/>
                    <a:p>
                      <a:pPr indent="0" marL="0">
                        <a:buNone/>
                      </a:pPr>
                      <a:r>
                        <a:rPr lang="en-US" sz="1350" b="1" dirty="0">
                          <a:solidFill>
                            <a:srgbClr val="0B0B24"/>
                          </a:solidFill>
                        </a:rPr>
                        <a:t>Embedding calls</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818CF8"/>
                    </a:solidFill>
                  </a:tcPr>
                </a:tc>
                <a:tc>
                  <a:txBody>
                    <a:bodyPr/>
                    <a:lstStyle/>
                    <a:p>
                      <a:pPr indent="0" marL="0">
                        <a:buNone/>
                      </a:pPr>
                      <a:r>
                        <a:rPr lang="en-US" sz="1350" b="1" dirty="0">
                          <a:solidFill>
                            <a:srgbClr val="0B0B24"/>
                          </a:solidFill>
                        </a:rPr>
                        <a:t>Per recipient</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818CF8"/>
                    </a:solidFill>
                  </a:tcPr>
                </a:tc>
              </a:tr>
              <a:tr h="457200">
                <a:tc>
                  <a:txBody>
                    <a:bodyPr/>
                    <a:lstStyle/>
                    <a:p>
                      <a:pPr indent="0" marL="0">
                        <a:buNone/>
                      </a:pPr>
                      <a:r>
                        <a:rPr lang="en-US" sz="1350" b="1" dirty="0">
                          <a:solidFill>
                            <a:srgbClr val="FFFFFF"/>
                          </a:solidFill>
                        </a:rPr>
                        <a:t>Segmentation &amp; Insight</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indent="0" marL="0">
                        <a:buNone/>
                      </a:pPr>
                      <a:r>
                        <a:rPr lang="en-US" sz="1350" dirty="0">
                          <a:solidFill>
                            <a:srgbClr val="FFFFFF"/>
                          </a:solidFill>
                        </a:rPr>
                        <a:t>k</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indent="0" marL="0">
                        <a:buNone/>
                      </a:pPr>
                      <a:r>
                        <a:rPr lang="en-US" sz="1350" dirty="0">
                          <a:solidFill>
                            <a:srgbClr val="FFFFFF"/>
                          </a:solidFill>
                        </a:rPr>
                        <a:t>⌈n / 200⌉</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indent="0" marL="0">
                        <a:buNone/>
                      </a:pPr>
                      <a:r>
                        <a:rPr lang="en-US" sz="1350" dirty="0">
                          <a:solidFill>
                            <a:srgbClr val="FFFFFF"/>
                          </a:solidFill>
                        </a:rPr>
                        <a:t>—</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r>
              <a:tr h="457200">
                <a:tc>
                  <a:txBody>
                    <a:bodyPr/>
                    <a:lstStyle/>
                    <a:p>
                      <a:pPr indent="0" marL="0">
                        <a:buNone/>
                      </a:pPr>
                      <a:r>
                        <a:rPr lang="en-US" sz="1350" b="1" dirty="0">
                          <a:solidFill>
                            <a:srgbClr val="FFFFFF"/>
                          </a:solidFill>
                        </a:rPr>
                        <a:t>Creative Direction</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indent="0" marL="0">
                        <a:buNone/>
                      </a:pPr>
                      <a:r>
                        <a:rPr lang="en-US" sz="1350" dirty="0">
                          <a:solidFill>
                            <a:srgbClr val="FFFFFF"/>
                          </a:solidFill>
                        </a:rPr>
                        <a:t>k</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indent="0" marL="0">
                        <a:buNone/>
                      </a:pPr>
                      <a:r>
                        <a:rPr lang="en-US" sz="1350" dirty="0">
                          <a:solidFill>
                            <a:srgbClr val="FFFFFF"/>
                          </a:solidFill>
                        </a:rPr>
                        <a:t>—</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indent="0" marL="0">
                        <a:buNone/>
                      </a:pPr>
                      <a:r>
                        <a:rPr lang="en-US" sz="1350" dirty="0">
                          <a:solidFill>
                            <a:srgbClr val="FFFFFF"/>
                          </a:solidFill>
                        </a:rPr>
                        <a:t>—</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r>
              <a:tr h="457200">
                <a:tc>
                  <a:txBody>
                    <a:bodyPr/>
                    <a:lstStyle/>
                    <a:p>
                      <a:pPr indent="0" marL="0">
                        <a:buNone/>
                      </a:pPr>
                      <a:r>
                        <a:rPr lang="en-US" sz="1350" b="1" dirty="0">
                          <a:solidFill>
                            <a:srgbClr val="FFFFFF"/>
                          </a:solidFill>
                        </a:rPr>
                        <a:t>Email Composer</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indent="0" marL="0">
                        <a:buNone/>
                      </a:pPr>
                      <a:r>
                        <a:rPr lang="en-US" sz="1350" dirty="0">
                          <a:solidFill>
                            <a:srgbClr val="FFFFFF"/>
                          </a:solidFill>
                        </a:rPr>
                        <a:t>k</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indent="0" marL="0">
                        <a:buNone/>
                      </a:pPr>
                      <a:r>
                        <a:rPr lang="en-US" sz="1350" dirty="0">
                          <a:solidFill>
                            <a:srgbClr val="FFFFFF"/>
                          </a:solidFill>
                        </a:rPr>
                        <a:t>—</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indent="0" marL="0">
                        <a:buNone/>
                      </a:pPr>
                      <a:r>
                        <a:rPr lang="en-US" sz="1350" dirty="0">
                          <a:solidFill>
                            <a:srgbClr val="FFFFFF"/>
                          </a:solidFill>
                        </a:rPr>
                        <a:t>—</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r>
              <a:tr h="457200">
                <a:tc>
                  <a:txBody>
                    <a:bodyPr/>
                    <a:lstStyle/>
                    <a:p>
                      <a:pPr indent="0" marL="0">
                        <a:buNone/>
                      </a:pPr>
                      <a:r>
                        <a:rPr lang="en-US" sz="1350" b="1" dirty="0">
                          <a:solidFill>
                            <a:srgbClr val="FFFFFF"/>
                          </a:solidFill>
                        </a:rPr>
                        <a:t>Guardian</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indent="0" marL="0">
                        <a:buNone/>
                      </a:pPr>
                      <a:r>
                        <a:rPr lang="en-US" sz="1350" dirty="0">
                          <a:solidFill>
                            <a:srgbClr val="FFFFFF"/>
                          </a:solidFill>
                        </a:rPr>
                        <a:t>0 · rule engine</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indent="0" marL="0">
                        <a:buNone/>
                      </a:pPr>
                      <a:r>
                        <a:rPr lang="en-US" sz="1350" dirty="0">
                          <a:solidFill>
                            <a:srgbClr val="FFFFFF"/>
                          </a:solidFill>
                        </a:rPr>
                        <a:t>—</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indent="0" marL="0">
                        <a:buNone/>
                      </a:pPr>
                      <a:r>
                        <a:rPr lang="en-US" sz="1350" dirty="0">
                          <a:solidFill>
                            <a:srgbClr val="FFFFFF"/>
                          </a:solidFill>
                        </a:rPr>
                        <a:t>—</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r>
              <a:tr h="457200">
                <a:tc>
                  <a:txBody>
                    <a:bodyPr/>
                    <a:lstStyle/>
                    <a:p>
                      <a:pPr indent="0" marL="0">
                        <a:buNone/>
                      </a:pPr>
                      <a:r>
                        <a:rPr lang="en-US" sz="1350" b="1" dirty="0">
                          <a:solidFill>
                            <a:srgbClr val="FFFFFF"/>
                          </a:solidFill>
                        </a:rPr>
                        <a:t>Dispatch</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indent="0" marL="0">
                        <a:buNone/>
                      </a:pPr>
                      <a:r>
                        <a:rPr lang="en-US" sz="1350" dirty="0">
                          <a:solidFill>
                            <a:srgbClr val="FFFFFF"/>
                          </a:solidFill>
                        </a:rPr>
                        <a:t>0</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indent="0" marL="0">
                        <a:buNone/>
                      </a:pPr>
                      <a:r>
                        <a:rPr lang="en-US" sz="1350" dirty="0">
                          <a:solidFill>
                            <a:srgbClr val="FFFFFF"/>
                          </a:solidFill>
                        </a:rPr>
                        <a:t>—</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indent="0" marL="0">
                        <a:buNone/>
                      </a:pPr>
                      <a:r>
                        <a:rPr lang="en-US" sz="1350" dirty="0">
                          <a:solidFill>
                            <a:srgbClr val="FFFFFF"/>
                          </a:solidFill>
                        </a:rPr>
                        <a:t>merge-tag fill</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r>
            </a:tbl>
          </a:graphicData>
        </a:graphic>
      </p:graphicFrame>
      <p:sp>
        <p:nvSpPr>
          <p:cNvPr id="6" name="glass-709"/>
          <p:cNvSpPr/>
          <p:nvPr/>
        </p:nvSpPr>
        <p:spPr>
          <a:xfrm>
            <a:off x="7315200" y="1572768"/>
            <a:ext cx="4325112" cy="2788920"/>
          </a:xfrm>
          <a:prstGeom prst="roundRect">
            <a:avLst>
              <a:gd name="adj" fmla="val 4590"/>
            </a:avLst>
          </a:prstGeom>
          <a:solidFill>
            <a:schemeClr val="accent1">
              <a:alpha val="18000"/>
            </a:schemeClr>
          </a:solidFill>
          <a:ln w="12700">
            <a:solidFill>
              <a:schemeClr val="accent1">
                <a:alpha val="70000"/>
              </a:schemeClr>
            </a:solidFill>
            <a:prstDash val="solid"/>
          </a:ln>
          <a:effectLst>
            <a:outerShdw sx="100000" sy="100000" kx="0" ky="0" algn="bl" rotWithShape="0" blurRad="177800" dist="38100" dir="5400000">
              <a:srgbClr val="000000">
                <a:alpha val="35000"/>
              </a:srgbClr>
            </a:outerShdw>
          </a:effectLst>
        </p:spPr>
      </p:sp>
      <p:sp>
        <p:nvSpPr>
          <p:cNvPr id="7" name="text-710"/>
          <p:cNvSpPr txBox="1"/>
          <p:nvPr/>
        </p:nvSpPr>
        <p:spPr>
          <a:xfrm>
            <a:off x="7543800" y="1664208"/>
            <a:ext cx="1737360" cy="1234440"/>
          </a:xfrm>
          <a:prstGeom prst="rect">
            <a:avLst/>
          </a:prstGeom>
          <a:noFill/>
          <a:ln/>
        </p:spPr>
        <p:txBody>
          <a:bodyPr wrap="square" lIns="0" tIns="0" rIns="0" bIns="0" rtlCol="0" anchor="ctr"/>
          <a:lstStyle/>
          <a:p>
            <a:pPr indent="0" marL="0">
              <a:buNone/>
            </a:pPr>
            <a:r>
              <a:rPr lang="en-US" sz="7200" b="1" dirty="0">
                <a:solidFill>
                  <a:schemeClr val="accent1"/>
                </a:solidFill>
                <a:latin typeface="Century Gothic" pitchFamily="34" charset="0"/>
                <a:ea typeface="Century Gothic" pitchFamily="34" charset="-122"/>
                <a:cs typeface="Century Gothic" pitchFamily="34" charset="-120"/>
              </a:rPr>
              <a:t>18</a:t>
            </a:r>
            <a:endParaRPr lang="en-US" sz="7200" dirty="0"/>
          </a:p>
        </p:txBody>
      </p:sp>
      <p:sp>
        <p:nvSpPr>
          <p:cNvPr id="8" name="text-711"/>
          <p:cNvSpPr txBox="1"/>
          <p:nvPr/>
        </p:nvSpPr>
        <p:spPr>
          <a:xfrm>
            <a:off x="9281160" y="1828800"/>
            <a:ext cx="2194560" cy="1051560"/>
          </a:xfrm>
          <a:prstGeom prst="rect">
            <a:avLst/>
          </a:prstGeom>
          <a:noFill/>
          <a:ln/>
        </p:spPr>
        <p:txBody>
          <a:bodyPr wrap="square" lIns="0" tIns="0" rIns="0" bIns="0" rtlCol="0" anchor="ctr"/>
          <a:lstStyle/>
          <a:p>
            <a:pPr indent="0" marL="0">
              <a:buNone/>
            </a:pPr>
            <a:r>
              <a:rPr lang="en-US" sz="1400" dirty="0">
                <a:solidFill>
                  <a:schemeClr val="bg1"/>
                </a:solidFill>
              </a:rPr>
              <a:t>LLM calls per full run (k = 6) — at 1,000 contacts or 200,000.</a:t>
            </a:r>
            <a:endParaRPr lang="en-US" sz="1400" dirty="0"/>
          </a:p>
        </p:txBody>
      </p:sp>
      <p:sp>
        <p:nvSpPr>
          <p:cNvPr id="9" name="text-712"/>
          <p:cNvSpPr txBox="1"/>
          <p:nvPr/>
        </p:nvSpPr>
        <p:spPr>
          <a:xfrm>
            <a:off x="7543800" y="3108960"/>
            <a:ext cx="3886200" cy="914400"/>
          </a:xfrm>
          <a:prstGeom prst="rect">
            <a:avLst/>
          </a:prstGeom>
          <a:noFill/>
          <a:ln/>
        </p:spPr>
        <p:txBody>
          <a:bodyPr wrap="square" lIns="0" tIns="0" rIns="0" bIns="0" rtlCol="0" anchor="t"/>
          <a:lstStyle/>
          <a:p>
            <a:pPr indent="0" marL="0">
              <a:buNone/>
            </a:pPr>
            <a:r>
              <a:rPr lang="en-US" sz="1300" dirty="0">
                <a:solidFill>
                  <a:schemeClr val="bg2"/>
                </a:solidFill>
              </a:rPr>
              <a:t>Embedding calls grow with n: 5 at 1,000 contacts, 1,000 at 200,000 — batched and cheap.</a:t>
            </a:r>
            <a:endParaRPr lang="en-US" sz="1300" dirty="0"/>
          </a:p>
        </p:txBody>
      </p:sp>
      <p:sp>
        <p:nvSpPr>
          <p:cNvPr id="10" name="glass-713"/>
          <p:cNvSpPr/>
          <p:nvPr/>
        </p:nvSpPr>
        <p:spPr>
          <a:xfrm>
            <a:off x="548640" y="4572000"/>
            <a:ext cx="11091672" cy="1600200"/>
          </a:xfrm>
          <a:prstGeom prst="roundRect">
            <a:avLst>
              <a:gd name="adj" fmla="val 8000"/>
            </a:avLst>
          </a:prstGeom>
          <a:solidFill>
            <a:schemeClr val="accent3">
              <a:alpha val="12000"/>
            </a:schemeClr>
          </a:solidFill>
          <a:ln w="12700">
            <a:solidFill>
              <a:schemeClr val="accent3">
                <a:alpha val="45000"/>
              </a:schemeClr>
            </a:solidFill>
            <a:prstDash val="solid"/>
          </a:ln>
        </p:spPr>
      </p:sp>
      <p:sp>
        <p:nvSpPr>
          <p:cNvPr id="11" name="text-714"/>
          <p:cNvSpPr txBox="1"/>
          <p:nvPr/>
        </p:nvSpPr>
        <p:spPr>
          <a:xfrm>
            <a:off x="777240" y="4681728"/>
            <a:ext cx="3657600" cy="320040"/>
          </a:xfrm>
          <a:prstGeom prst="rect">
            <a:avLst/>
          </a:prstGeom>
          <a:noFill/>
          <a:ln/>
        </p:spPr>
        <p:txBody>
          <a:bodyPr wrap="square" lIns="0" tIns="0" rIns="0" bIns="0" rtlCol="0" anchor="t"/>
          <a:lstStyle/>
          <a:p>
            <a:pPr indent="0" marL="0">
              <a:buNone/>
            </a:pPr>
            <a:r>
              <a:rPr lang="en-US" sz="1500" b="1" dirty="0">
                <a:solidFill>
                  <a:schemeClr val="accent3"/>
                </a:solidFill>
                <a:latin typeface="Century Gothic" pitchFamily="34" charset="0"/>
                <a:ea typeface="Century Gothic" pitchFamily="34" charset="-122"/>
                <a:cs typeface="Century Gothic" pitchFamily="34" charset="-120"/>
              </a:rPr>
              <a:t>Honest limits</a:t>
            </a:r>
            <a:endParaRPr lang="en-US" sz="1500" dirty="0"/>
          </a:p>
        </p:txBody>
      </p:sp>
      <p:sp>
        <p:nvSpPr>
          <p:cNvPr id="12" name="text-715"/>
          <p:cNvSpPr txBox="1"/>
          <p:nvPr/>
        </p:nvSpPr>
        <p:spPr>
          <a:xfrm>
            <a:off x="777240" y="5047488"/>
            <a:ext cx="10607040" cy="105156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bg1"/>
                </a:solidFill>
              </a:rPr>
              <a:t>Not load-tested; the demonstrator runs 1,000 contacts end to end</a:t>
            </a:r>
            <a:endParaRPr lang="en-US" sz="1400" dirty="0"/>
          </a:p>
          <a:p>
            <a:pPr marL="177800" indent="-177800">
              <a:spcAft>
                <a:spcPts val="300"/>
              </a:spcAft>
              <a:buSzPct val="100000"/>
              <a:buChar char="•"/>
            </a:pPr>
            <a:r>
              <a:rPr lang="en-US" sz="1400" dirty="0">
                <a:solidFill>
                  <a:schemeClr val="bg1"/>
                </a:solidFill>
              </a:rPr>
              <a:t>One replica (in-memory job registry) · 20,000-row upload cap · HDBSCAN on one machine</a:t>
            </a:r>
            <a:endParaRPr lang="en-US" sz="1400" dirty="0"/>
          </a:p>
          <a:p>
            <a:pPr marL="177800" indent="-177800">
              <a:spcAft>
                <a:spcPts val="300"/>
              </a:spcAft>
              <a:buSzPct val="100000"/>
              <a:buChar char="•"/>
            </a:pPr>
            <a:r>
              <a:rPr lang="en-US" sz="1400" dirty="0">
                <a:solidFill>
                  <a:schemeClr val="bg1"/>
                </a:solidFill>
              </a:rPr>
              <a:t>Path to scale: shared job store → multiple workers; cluster a sample and assign the rest</a:t>
            </a:r>
            <a:endParaRPr lang="en-US" sz="1400" dirty="0"/>
          </a:p>
        </p:txBody>
      </p:sp>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241280" cy="640080"/>
          </a:xfrm>
          <a:prstGeom prst="rect">
            <a:avLst/>
          </a:prstGeom>
          <a:noFill/>
          <a:ln/>
        </p:spPr>
        <p:txBody>
          <a:bodyPr wrap="square" lIns="0" tIns="0" rIns="0" bIns="0" rtlCol="0" anchor="ctr"/>
          <a:lstStyle/>
          <a:p>
            <a:pPr algn="l" indent="0" marL="0">
              <a:buNone/>
            </a:pPr>
            <a:r>
              <a:rPr lang="en-US" sz="2800" b="1" dirty="0">
                <a:solidFill>
                  <a:schemeClr val="bg1"/>
                </a:solidFill>
                <a:latin typeface="Century Gothic" pitchFamily="34" charset="0"/>
                <a:ea typeface="Century Gothic" pitchFamily="34" charset="-122"/>
                <a:cs typeface="Century Gothic" pitchFamily="34" charset="-120"/>
              </a:rPr>
              <a:t>Reflection and next steps</a:t>
            </a:r>
            <a:endParaRPr lang="en-US" sz="2800" dirty="0"/>
          </a:p>
        </p:txBody>
      </p:sp>
      <p:sp>
        <p:nvSpPr>
          <p:cNvPr id="3" name="text-716"/>
          <p:cNvSpPr txBox="1"/>
          <p:nvPr/>
        </p:nvSpPr>
        <p:spPr>
          <a:xfrm>
            <a:off x="548640" y="1005840"/>
            <a:ext cx="10424160" cy="384048"/>
          </a:xfrm>
          <a:prstGeom prst="rect">
            <a:avLst/>
          </a:prstGeom>
          <a:noFill/>
          <a:ln/>
        </p:spPr>
        <p:txBody>
          <a:bodyPr wrap="square" lIns="0" tIns="0" rIns="0" bIns="0" rtlCol="0" anchor="t"/>
          <a:lstStyle/>
          <a:p>
            <a:pPr indent="0" marL="0">
              <a:buNone/>
            </a:pPr>
            <a:r>
              <a:rPr lang="en-US" sz="1600" dirty="0">
                <a:solidFill>
                  <a:schemeClr val="bg2"/>
                </a:solidFill>
              </a:rPr>
              <a:t>Four deliberate changes from the proposal, three lessons, and what we would build next.</a:t>
            </a:r>
            <a:endParaRPr lang="en-US" sz="1600" dirty="0"/>
          </a:p>
        </p:txBody>
      </p:sp>
      <p:sp>
        <p:nvSpPr>
          <p:cNvPr id="5" name="glass-717"/>
          <p:cNvSpPr/>
          <p:nvPr/>
        </p:nvSpPr>
        <p:spPr>
          <a:xfrm>
            <a:off x="548640" y="1572768"/>
            <a:ext cx="3575304" cy="4599432"/>
          </a:xfrm>
          <a:prstGeom prst="roundRect">
            <a:avLst>
              <a:gd name="adj" fmla="val 3581"/>
            </a:avLst>
          </a:prstGeom>
          <a:solidFill>
            <a:schemeClr val="tx2">
              <a:alpha val="78000"/>
            </a:schemeClr>
          </a:solidFill>
          <a:ln w="9525">
            <a:solidFill>
              <a:schemeClr val="bg2">
                <a:alpha val="22000"/>
              </a:schemeClr>
            </a:solidFill>
            <a:prstDash val="solid"/>
          </a:ln>
        </p:spPr>
      </p:sp>
      <p:sp>
        <p:nvSpPr>
          <p:cNvPr id="6" name="icon-ring-718"/>
          <p:cNvSpPr/>
          <p:nvPr/>
        </p:nvSpPr>
        <p:spPr>
          <a:xfrm>
            <a:off x="777240" y="1783080"/>
            <a:ext cx="566928" cy="566928"/>
          </a:xfrm>
          <a:prstGeom prst="ellipse">
            <a:avLst/>
          </a:prstGeom>
          <a:solidFill>
            <a:schemeClr val="bg2">
              <a:alpha val="18000"/>
            </a:schemeClr>
          </a:solidFill>
          <a:ln w="12700">
            <a:solidFill>
              <a:schemeClr val="bg2">
                <a:alpha val="70000"/>
              </a:schemeClr>
            </a:solidFill>
            <a:prstDash val="solid"/>
          </a:ln>
        </p:spPr>
      </p:sp>
      <p:pic>
        <p:nvPicPr>
          <p:cNvPr id="7" name="icon-719" descr="preencoded.png">    </p:cNvPr>
          <p:cNvPicPr>
            <a:picLocks noChangeAspect="1"/>
          </p:cNvPicPr>
          <p:nvPr/>
        </p:nvPicPr>
        <p:blipFill>
          <a:blip r:embed="rId1"/>
          <a:stretch>
            <a:fillRect/>
          </a:stretch>
        </p:blipFill>
        <p:spPr>
          <a:xfrm>
            <a:off x="924641" y="1930481"/>
            <a:ext cx="272125" cy="272125"/>
          </a:xfrm>
          <a:prstGeom prst="rect">
            <a:avLst/>
          </a:prstGeom>
        </p:spPr>
      </p:pic>
      <p:sp>
        <p:nvSpPr>
          <p:cNvPr id="8" name="text-720"/>
          <p:cNvSpPr txBox="1"/>
          <p:nvPr/>
        </p:nvSpPr>
        <p:spPr>
          <a:xfrm>
            <a:off x="777240" y="2487168"/>
            <a:ext cx="3154680" cy="384048"/>
          </a:xfrm>
          <a:prstGeom prst="rect">
            <a:avLst/>
          </a:prstGeom>
          <a:noFill/>
          <a:ln/>
        </p:spPr>
        <p:txBody>
          <a:bodyPr wrap="square" lIns="0" tIns="0" rIns="0" bIns="0" rtlCol="0" anchor="t"/>
          <a:lstStyle/>
          <a:p>
            <a:pPr indent="0" marL="0">
              <a:buNone/>
            </a:pPr>
            <a:r>
              <a:rPr lang="en-US" sz="1600" b="1" dirty="0">
                <a:solidFill>
                  <a:schemeClr val="bg2"/>
                </a:solidFill>
                <a:latin typeface="Century Gothic" pitchFamily="34" charset="0"/>
                <a:ea typeface="Century Gothic" pitchFamily="34" charset="-122"/>
                <a:cs typeface="Century Gothic" pitchFamily="34" charset="-120"/>
              </a:rPr>
              <a:t>Changed from the proposal</a:t>
            </a:r>
            <a:endParaRPr lang="en-US" sz="1600" dirty="0"/>
          </a:p>
        </p:txBody>
      </p:sp>
      <p:sp>
        <p:nvSpPr>
          <p:cNvPr id="9" name="text-721"/>
          <p:cNvSpPr txBox="1"/>
          <p:nvPr/>
        </p:nvSpPr>
        <p:spPr>
          <a:xfrm>
            <a:off x="777240" y="3017520"/>
            <a:ext cx="3154680" cy="3063240"/>
          </a:xfrm>
          <a:prstGeom prst="rect">
            <a:avLst/>
          </a:prstGeom>
          <a:noFill/>
          <a:ln/>
        </p:spPr>
        <p:txBody>
          <a:bodyPr wrap="square" lIns="0" tIns="0" rIns="0" bIns="0" rtlCol="0" anchor="t"/>
          <a:lstStyle/>
          <a:p>
            <a:pPr marL="177800" indent="-177800">
              <a:spcAft>
                <a:spcPts val="1200"/>
              </a:spcAft>
              <a:buSzPct val="100000"/>
              <a:buChar char="•"/>
            </a:pPr>
            <a:r>
              <a:rPr lang="en-US" sz="1450" dirty="0">
                <a:solidFill>
                  <a:schemeClr val="bg1"/>
                </a:solidFill>
              </a:rPr>
              <a:t>Written creative direction replaced generated imagery</a:t>
            </a:r>
            <a:endParaRPr lang="en-US" sz="1450" dirty="0"/>
          </a:p>
          <a:p>
            <a:pPr marL="177800" indent="-177800">
              <a:spcAft>
                <a:spcPts val="1200"/>
              </a:spcAft>
              <a:buSzPct val="100000"/>
              <a:buChar char="•"/>
            </a:pPr>
            <a:r>
              <a:rPr lang="en-US" sz="1450" dirty="0">
                <a:solidFill>
                  <a:schemeClr val="bg1"/>
                </a:solidFill>
              </a:rPr>
              <a:t>Strictly sequential graph — each tab reviews the last</a:t>
            </a:r>
            <a:endParaRPr lang="en-US" sz="1450" dirty="0"/>
          </a:p>
          <a:p>
            <a:pPr marL="177800" indent="-177800">
              <a:spcAft>
                <a:spcPts val="1200"/>
              </a:spcAft>
              <a:buSzPct val="100000"/>
              <a:buChar char="•"/>
            </a:pPr>
            <a:r>
              <a:rPr lang="en-US" sz="1450" dirty="0">
                <a:solidFill>
                  <a:schemeClr val="bg1"/>
                </a:solidFill>
              </a:rPr>
              <a:t>Per-recipient resolution became a merge-tag layer</a:t>
            </a:r>
            <a:endParaRPr lang="en-US" sz="1450" dirty="0"/>
          </a:p>
          <a:p>
            <a:pPr marL="177800" indent="-177800">
              <a:spcAft>
                <a:spcPts val="1200"/>
              </a:spcAft>
              <a:buSzPct val="100000"/>
              <a:buChar char="•"/>
            </a:pPr>
            <a:r>
              <a:rPr lang="en-US" sz="1450" dirty="0">
                <a:solidFill>
                  <a:schemeClr val="bg1"/>
                </a:solidFill>
              </a:rPr>
              <a:t>Real dispatch via Resend, not a sandbox stub</a:t>
            </a:r>
            <a:endParaRPr lang="en-US" sz="1450" dirty="0"/>
          </a:p>
        </p:txBody>
      </p:sp>
      <p:sp>
        <p:nvSpPr>
          <p:cNvPr id="10" name="glass-722"/>
          <p:cNvSpPr/>
          <p:nvPr/>
        </p:nvSpPr>
        <p:spPr>
          <a:xfrm>
            <a:off x="4306824" y="1572768"/>
            <a:ext cx="3575304" cy="4599432"/>
          </a:xfrm>
          <a:prstGeom prst="roundRect">
            <a:avLst>
              <a:gd name="adj" fmla="val 3581"/>
            </a:avLst>
          </a:prstGeom>
          <a:solidFill>
            <a:schemeClr val="accent2">
              <a:alpha val="12000"/>
            </a:schemeClr>
          </a:solidFill>
          <a:ln w="12700">
            <a:solidFill>
              <a:schemeClr val="accent2">
                <a:alpha val="50000"/>
              </a:schemeClr>
            </a:solidFill>
            <a:prstDash val="solid"/>
          </a:ln>
        </p:spPr>
      </p:sp>
      <p:sp>
        <p:nvSpPr>
          <p:cNvPr id="11" name="icon-ring-723"/>
          <p:cNvSpPr/>
          <p:nvPr/>
        </p:nvSpPr>
        <p:spPr>
          <a:xfrm>
            <a:off x="4535424" y="1783080"/>
            <a:ext cx="566928" cy="566928"/>
          </a:xfrm>
          <a:prstGeom prst="ellipse">
            <a:avLst/>
          </a:prstGeom>
          <a:solidFill>
            <a:schemeClr val="accent2">
              <a:alpha val="18000"/>
            </a:schemeClr>
          </a:solidFill>
          <a:ln w="12700">
            <a:solidFill>
              <a:schemeClr val="accent2">
                <a:alpha val="70000"/>
              </a:schemeClr>
            </a:solidFill>
            <a:prstDash val="solid"/>
          </a:ln>
        </p:spPr>
      </p:sp>
      <p:pic>
        <p:nvPicPr>
          <p:cNvPr id="12" name="icon-724" descr="preencoded.png">    </p:cNvPr>
          <p:cNvPicPr>
            <a:picLocks noChangeAspect="1"/>
          </p:cNvPicPr>
          <p:nvPr/>
        </p:nvPicPr>
        <p:blipFill>
          <a:blip r:embed="rId2"/>
          <a:stretch>
            <a:fillRect/>
          </a:stretch>
        </p:blipFill>
        <p:spPr>
          <a:xfrm>
            <a:off x="4682825" y="1930481"/>
            <a:ext cx="272125" cy="272125"/>
          </a:xfrm>
          <a:prstGeom prst="rect">
            <a:avLst/>
          </a:prstGeom>
        </p:spPr>
      </p:pic>
      <p:sp>
        <p:nvSpPr>
          <p:cNvPr id="13" name="text-725"/>
          <p:cNvSpPr txBox="1"/>
          <p:nvPr/>
        </p:nvSpPr>
        <p:spPr>
          <a:xfrm>
            <a:off x="4535424" y="2487168"/>
            <a:ext cx="3154680" cy="384048"/>
          </a:xfrm>
          <a:prstGeom prst="rect">
            <a:avLst/>
          </a:prstGeom>
          <a:noFill/>
          <a:ln/>
        </p:spPr>
        <p:txBody>
          <a:bodyPr wrap="square" lIns="0" tIns="0" rIns="0" bIns="0" rtlCol="0" anchor="t"/>
          <a:lstStyle/>
          <a:p>
            <a:pPr indent="0" marL="0">
              <a:buNone/>
            </a:pPr>
            <a:r>
              <a:rPr lang="en-US" sz="1600" b="1" dirty="0">
                <a:solidFill>
                  <a:schemeClr val="accent2"/>
                </a:solidFill>
                <a:latin typeface="Century Gothic" pitchFamily="34" charset="0"/>
                <a:ea typeface="Century Gothic" pitchFamily="34" charset="-122"/>
                <a:cs typeface="Century Gothic" pitchFamily="34" charset="-120"/>
              </a:rPr>
              <a:t>What we learned</a:t>
            </a:r>
            <a:endParaRPr lang="en-US" sz="1600" dirty="0"/>
          </a:p>
        </p:txBody>
      </p:sp>
      <p:sp>
        <p:nvSpPr>
          <p:cNvPr id="14" name="text-726"/>
          <p:cNvSpPr txBox="1"/>
          <p:nvPr/>
        </p:nvSpPr>
        <p:spPr>
          <a:xfrm>
            <a:off x="4535424" y="3017520"/>
            <a:ext cx="3154680" cy="3063240"/>
          </a:xfrm>
          <a:prstGeom prst="rect">
            <a:avLst/>
          </a:prstGeom>
          <a:noFill/>
          <a:ln/>
        </p:spPr>
        <p:txBody>
          <a:bodyPr wrap="square" lIns="0" tIns="0" rIns="0" bIns="0" rtlCol="0" anchor="t"/>
          <a:lstStyle/>
          <a:p>
            <a:pPr marL="177800" indent="-177800">
              <a:spcAft>
                <a:spcPts val="1200"/>
              </a:spcAft>
              <a:buSzPct val="100000"/>
              <a:buChar char="•"/>
            </a:pPr>
            <a:r>
              <a:rPr lang="en-US" sz="1450" dirty="0">
                <a:solidFill>
                  <a:schemeClr val="bg1"/>
                </a:solidFill>
              </a:rPr>
              <a:t>Schemas and code-owned layout beat prompt wording</a:t>
            </a:r>
            <a:endParaRPr lang="en-US" sz="1450" dirty="0"/>
          </a:p>
          <a:p>
            <a:pPr marL="177800" indent="-177800">
              <a:spcAft>
                <a:spcPts val="1200"/>
              </a:spcAft>
              <a:buSzPct val="100000"/>
              <a:buChar char="•"/>
            </a:pPr>
            <a:r>
              <a:rPr lang="en-US" sz="1450" dirty="0">
                <a:solidFill>
                  <a:schemeClr val="bg1"/>
                </a:solidFill>
              </a:rPr>
              <a:t>Keep the LLM out of the veto: deterministic checks are cheap, testable, explainable</a:t>
            </a:r>
            <a:endParaRPr lang="en-US" sz="1450" dirty="0"/>
          </a:p>
          <a:p>
            <a:pPr marL="177800" indent="-177800">
              <a:spcAft>
                <a:spcPts val="1200"/>
              </a:spcAft>
              <a:buSzPct val="100000"/>
              <a:buChar char="•"/>
            </a:pPr>
            <a:r>
              <a:rPr lang="en-US" sz="1450" dirty="0">
                <a:solidFill>
                  <a:schemeClr val="bg1"/>
                </a:solidFill>
              </a:rPr>
              <a:t>Honest metrics beat flattering ones</a:t>
            </a:r>
            <a:endParaRPr lang="en-US" sz="1450" dirty="0"/>
          </a:p>
        </p:txBody>
      </p:sp>
      <p:sp>
        <p:nvSpPr>
          <p:cNvPr id="15" name="glass-727"/>
          <p:cNvSpPr/>
          <p:nvPr/>
        </p:nvSpPr>
        <p:spPr>
          <a:xfrm>
            <a:off x="8065008" y="1572768"/>
            <a:ext cx="3575304" cy="4599432"/>
          </a:xfrm>
          <a:prstGeom prst="roundRect">
            <a:avLst>
              <a:gd name="adj" fmla="val 3581"/>
            </a:avLst>
          </a:prstGeom>
          <a:solidFill>
            <a:schemeClr val="accent1">
              <a:alpha val="12000"/>
            </a:schemeClr>
          </a:solidFill>
          <a:ln w="12700">
            <a:solidFill>
              <a:schemeClr val="accent1">
                <a:alpha val="50000"/>
              </a:schemeClr>
            </a:solidFill>
            <a:prstDash val="solid"/>
          </a:ln>
        </p:spPr>
      </p:sp>
      <p:sp>
        <p:nvSpPr>
          <p:cNvPr id="16" name="icon-ring-728"/>
          <p:cNvSpPr/>
          <p:nvPr/>
        </p:nvSpPr>
        <p:spPr>
          <a:xfrm>
            <a:off x="8293608" y="1783080"/>
            <a:ext cx="566928" cy="566928"/>
          </a:xfrm>
          <a:prstGeom prst="ellipse">
            <a:avLst/>
          </a:prstGeom>
          <a:solidFill>
            <a:schemeClr val="accent1">
              <a:alpha val="18000"/>
            </a:schemeClr>
          </a:solidFill>
          <a:ln w="12700">
            <a:solidFill>
              <a:schemeClr val="accent1">
                <a:alpha val="70000"/>
              </a:schemeClr>
            </a:solidFill>
            <a:prstDash val="solid"/>
          </a:ln>
        </p:spPr>
      </p:sp>
      <p:pic>
        <p:nvPicPr>
          <p:cNvPr id="17" name="icon-729" descr="preencoded.png">    </p:cNvPr>
          <p:cNvPicPr>
            <a:picLocks noChangeAspect="1"/>
          </p:cNvPicPr>
          <p:nvPr/>
        </p:nvPicPr>
        <p:blipFill>
          <a:blip r:embed="rId3"/>
          <a:stretch>
            <a:fillRect/>
          </a:stretch>
        </p:blipFill>
        <p:spPr>
          <a:xfrm>
            <a:off x="8441009" y="1930481"/>
            <a:ext cx="272125" cy="272125"/>
          </a:xfrm>
          <a:prstGeom prst="rect">
            <a:avLst/>
          </a:prstGeom>
        </p:spPr>
      </p:pic>
      <p:sp>
        <p:nvSpPr>
          <p:cNvPr id="18" name="text-730"/>
          <p:cNvSpPr txBox="1"/>
          <p:nvPr/>
        </p:nvSpPr>
        <p:spPr>
          <a:xfrm>
            <a:off x="8293608" y="2487168"/>
            <a:ext cx="3154680" cy="384048"/>
          </a:xfrm>
          <a:prstGeom prst="rect">
            <a:avLst/>
          </a:prstGeom>
          <a:noFill/>
          <a:ln/>
        </p:spPr>
        <p:txBody>
          <a:bodyPr wrap="square" lIns="0" tIns="0" rIns="0" bIns="0" rtlCol="0" anchor="t"/>
          <a:lstStyle/>
          <a:p>
            <a:pPr indent="0" marL="0">
              <a:buNone/>
            </a:pPr>
            <a:r>
              <a:rPr lang="en-US" sz="1600" b="1" dirty="0">
                <a:solidFill>
                  <a:schemeClr val="accent1"/>
                </a:solidFill>
                <a:latin typeface="Century Gothic" pitchFamily="34" charset="0"/>
                <a:ea typeface="Century Gothic" pitchFamily="34" charset="-122"/>
                <a:cs typeface="Century Gothic" pitchFamily="34" charset="-120"/>
              </a:rPr>
              <a:t>Next</a:t>
            </a:r>
            <a:endParaRPr lang="en-US" sz="1600" dirty="0"/>
          </a:p>
        </p:txBody>
      </p:sp>
      <p:sp>
        <p:nvSpPr>
          <p:cNvPr id="19" name="text-731"/>
          <p:cNvSpPr txBox="1"/>
          <p:nvPr/>
        </p:nvSpPr>
        <p:spPr>
          <a:xfrm>
            <a:off x="8293608" y="3017520"/>
            <a:ext cx="3154680" cy="3063240"/>
          </a:xfrm>
          <a:prstGeom prst="rect">
            <a:avLst/>
          </a:prstGeom>
          <a:noFill/>
          <a:ln/>
        </p:spPr>
        <p:txBody>
          <a:bodyPr wrap="square" lIns="0" tIns="0" rIns="0" bIns="0" rtlCol="0" anchor="t"/>
          <a:lstStyle/>
          <a:p>
            <a:pPr marL="177800" indent="-177800">
              <a:spcAft>
                <a:spcPts val="1200"/>
              </a:spcAft>
              <a:buSzPct val="100000"/>
              <a:buChar char="•"/>
            </a:pPr>
            <a:r>
              <a:rPr lang="en-US" sz="1450" dirty="0">
                <a:solidFill>
                  <a:schemeClr val="bg1"/>
                </a:solidFill>
              </a:rPr>
              <a:t>Bounded Guardian → Composer revise loop</a:t>
            </a:r>
            <a:endParaRPr lang="en-US" sz="1450" dirty="0"/>
          </a:p>
          <a:p>
            <a:pPr marL="177800" indent="-177800">
              <a:spcAft>
                <a:spcPts val="1200"/>
              </a:spcAft>
              <a:buSzPct val="100000"/>
              <a:buChar char="•"/>
            </a:pPr>
            <a:r>
              <a:rPr lang="en-US" sz="1450" dirty="0">
                <a:solidFill>
                  <a:schemeClr val="bg1"/>
                </a:solidFill>
              </a:rPr>
              <a:t>Retry + fallback model in the OpenRouter client</a:t>
            </a:r>
            <a:endParaRPr lang="en-US" sz="1450" dirty="0"/>
          </a:p>
          <a:p>
            <a:pPr marL="177800" indent="-177800">
              <a:spcAft>
                <a:spcPts val="1200"/>
              </a:spcAft>
              <a:buSzPct val="100000"/>
              <a:buChar char="•"/>
            </a:pPr>
            <a:r>
              <a:rPr lang="en-US" sz="1450" dirty="0">
                <a:solidFill>
                  <a:schemeClr val="bg1"/>
                </a:solidFill>
              </a:rPr>
              <a:t>Auth, rate limits, shared job store</a:t>
            </a:r>
            <a:endParaRPr lang="en-US" sz="1450" dirty="0"/>
          </a:p>
          <a:p>
            <a:pPr marL="177800" indent="-177800">
              <a:spcAft>
                <a:spcPts val="1200"/>
              </a:spcAft>
              <a:buSzPct val="100000"/>
              <a:buChar char="•"/>
            </a:pPr>
            <a:r>
              <a:rPr lang="en-US" sz="1450" dirty="0">
                <a:solidFill>
                  <a:schemeClr val="bg1"/>
                </a:solidFill>
              </a:rPr>
              <a:t>Alerts on BLOCK-rate shifts; LLM tracing</a:t>
            </a:r>
            <a:endParaRPr lang="en-US" sz="1450" dirty="0"/>
          </a:p>
        </p:txBody>
      </p:sp>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logo-mark-close" descr="C:\Users\himat\AppData\Local\Temp\claude\c--Ai-stuffs-MOSAIC\b3ecbbac-d885-4fec-a9f8-3496f8d06c96\scratchpad\build\mark.png">    </p:cNvPr>
          <p:cNvPicPr>
            <a:picLocks noChangeAspect="1"/>
          </p:cNvPicPr>
          <p:nvPr/>
        </p:nvPicPr>
        <p:blipFill>
          <a:blip r:embed="rId2"/>
          <a:stretch>
            <a:fillRect/>
          </a:stretch>
        </p:blipFill>
        <p:spPr>
          <a:xfrm>
            <a:off x="685800" y="548640"/>
            <a:ext cx="850392" cy="731520"/>
          </a:xfrm>
          <a:prstGeom prst="rect">
            <a:avLst/>
          </a:prstGeom>
        </p:spPr>
      </p:pic>
      <p:sp>
        <p:nvSpPr>
          <p:cNvPr id="3" name="Text 0"/>
          <p:cNvSpPr/>
          <p:nvPr>
            <p:ph idx="100" type="title" hasCustomPrompt="1"/>
          </p:nvPr>
        </p:nvSpPr>
        <p:spPr>
          <a:xfrm>
            <a:off x="685800" y="1600200"/>
            <a:ext cx="5943600" cy="1051560"/>
          </a:xfrm>
          <a:prstGeom prst="rect">
            <a:avLst/>
          </a:prstGeom>
          <a:noFill/>
          <a:ln/>
        </p:spPr>
        <p:txBody>
          <a:bodyPr wrap="square" lIns="0" tIns="0" rIns="0" bIns="0" rtlCol="0" anchor="t"/>
          <a:lstStyle/>
          <a:p>
            <a:pPr algn="l" indent="0" marL="0">
              <a:buNone/>
            </a:pPr>
            <a:r>
              <a:rPr lang="en-US" sz="6600" b="1" dirty="0">
                <a:solidFill>
                  <a:schemeClr val="bg1"/>
                </a:solidFill>
                <a:latin typeface="Century Gothic" pitchFamily="34" charset="0"/>
                <a:ea typeface="Century Gothic" pitchFamily="34" charset="-122"/>
                <a:cs typeface="Century Gothic" pitchFamily="34" charset="-120"/>
              </a:rPr>
              <a:t>Thank you</a:t>
            </a:r>
            <a:endParaRPr lang="en-US" sz="6600" dirty="0"/>
          </a:p>
        </p:txBody>
      </p:sp>
      <p:sp>
        <p:nvSpPr>
          <p:cNvPr id="4" name="Text 0"/>
          <p:cNvSpPr/>
          <p:nvPr>
            <p:ph idx="101" type="body" hasCustomPrompt="1"/>
          </p:nvPr>
        </p:nvSpPr>
        <p:spPr>
          <a:xfrm>
            <a:off x="685800" y="2697480"/>
            <a:ext cx="4572000" cy="502920"/>
          </a:xfrm>
          <a:prstGeom prst="rect">
            <a:avLst/>
          </a:prstGeom>
          <a:noFill/>
          <a:ln/>
        </p:spPr>
        <p:txBody>
          <a:bodyPr wrap="square" lIns="0" tIns="0" rIns="0" bIns="0" rtlCol="0" anchor="t"/>
          <a:lstStyle/>
          <a:p>
            <a:pPr algn="l" indent="0" marL="0">
              <a:buNone/>
            </a:pPr>
            <a:r>
              <a:rPr lang="en-US" sz="2400" dirty="0">
                <a:solidFill>
                  <a:schemeClr val="bg1"/>
                </a:solidFill>
              </a:rPr>
              <a:t>Questions?</a:t>
            </a:r>
            <a:endParaRPr lang="en-US" sz="2400" dirty="0"/>
          </a:p>
        </p:txBody>
      </p:sp>
      <p:sp>
        <p:nvSpPr>
          <p:cNvPr id="5" name="tile-732"/>
          <p:cNvSpPr/>
          <p:nvPr/>
        </p:nvSpPr>
        <p:spPr>
          <a:xfrm>
            <a:off x="685800" y="3310128"/>
            <a:ext cx="182880" cy="182880"/>
          </a:xfrm>
          <a:prstGeom prst="roundRect">
            <a:avLst>
              <a:gd name="adj" fmla="val 20000"/>
            </a:avLst>
          </a:prstGeom>
          <a:solidFill>
            <a:schemeClr val="accent6"/>
          </a:solidFill>
          <a:ln/>
        </p:spPr>
      </p:sp>
      <p:sp>
        <p:nvSpPr>
          <p:cNvPr id="6" name="tile-733"/>
          <p:cNvSpPr/>
          <p:nvPr/>
        </p:nvSpPr>
        <p:spPr>
          <a:xfrm>
            <a:off x="941832" y="3310128"/>
            <a:ext cx="182880" cy="182880"/>
          </a:xfrm>
          <a:prstGeom prst="roundRect">
            <a:avLst>
              <a:gd name="adj" fmla="val 20000"/>
            </a:avLst>
          </a:prstGeom>
          <a:solidFill>
            <a:schemeClr val="accent3"/>
          </a:solidFill>
          <a:ln/>
        </p:spPr>
      </p:sp>
      <p:sp>
        <p:nvSpPr>
          <p:cNvPr id="7" name="tile-734"/>
          <p:cNvSpPr/>
          <p:nvPr/>
        </p:nvSpPr>
        <p:spPr>
          <a:xfrm>
            <a:off x="1197864" y="3310128"/>
            <a:ext cx="182880" cy="182880"/>
          </a:xfrm>
          <a:prstGeom prst="roundRect">
            <a:avLst>
              <a:gd name="adj" fmla="val 20000"/>
            </a:avLst>
          </a:prstGeom>
          <a:solidFill>
            <a:schemeClr val="accent2"/>
          </a:solidFill>
          <a:ln/>
        </p:spPr>
      </p:sp>
      <p:sp>
        <p:nvSpPr>
          <p:cNvPr id="8" name="tile-735"/>
          <p:cNvSpPr/>
          <p:nvPr/>
        </p:nvSpPr>
        <p:spPr>
          <a:xfrm>
            <a:off x="1453896" y="3310128"/>
            <a:ext cx="182880" cy="182880"/>
          </a:xfrm>
          <a:prstGeom prst="roundRect">
            <a:avLst>
              <a:gd name="adj" fmla="val 20000"/>
            </a:avLst>
          </a:prstGeom>
          <a:solidFill>
            <a:schemeClr val="accent5"/>
          </a:solidFill>
          <a:ln/>
        </p:spPr>
      </p:sp>
      <p:sp>
        <p:nvSpPr>
          <p:cNvPr id="9" name="tile-736"/>
          <p:cNvSpPr/>
          <p:nvPr/>
        </p:nvSpPr>
        <p:spPr>
          <a:xfrm>
            <a:off x="1709928" y="3310128"/>
            <a:ext cx="182880" cy="182880"/>
          </a:xfrm>
          <a:prstGeom prst="roundRect">
            <a:avLst>
              <a:gd name="adj" fmla="val 20000"/>
            </a:avLst>
          </a:prstGeom>
          <a:solidFill>
            <a:schemeClr val="accent4"/>
          </a:solidFill>
          <a:ln/>
        </p:spPr>
      </p:sp>
      <p:sp>
        <p:nvSpPr>
          <p:cNvPr id="10" name="tile-737"/>
          <p:cNvSpPr/>
          <p:nvPr/>
        </p:nvSpPr>
        <p:spPr>
          <a:xfrm>
            <a:off x="1965960" y="3310128"/>
            <a:ext cx="182880" cy="182880"/>
          </a:xfrm>
          <a:prstGeom prst="roundRect">
            <a:avLst>
              <a:gd name="adj" fmla="val 20000"/>
            </a:avLst>
          </a:prstGeom>
          <a:solidFill>
            <a:schemeClr val="accent1"/>
          </a:solidFill>
          <a:ln/>
        </p:spPr>
      </p:sp>
      <p:sp>
        <p:nvSpPr>
          <p:cNvPr id="11" name="text-738"/>
          <p:cNvSpPr txBox="1"/>
          <p:nvPr/>
        </p:nvSpPr>
        <p:spPr>
          <a:xfrm>
            <a:off x="685800" y="3639312"/>
            <a:ext cx="5120640" cy="594360"/>
          </a:xfrm>
          <a:prstGeom prst="rect">
            <a:avLst/>
          </a:prstGeom>
          <a:noFill/>
          <a:ln/>
        </p:spPr>
        <p:txBody>
          <a:bodyPr wrap="square" lIns="0" tIns="0" rIns="0" bIns="0" rtlCol="0" anchor="t"/>
          <a:lstStyle/>
          <a:p>
            <a:pPr indent="0" marL="0">
              <a:spcAft>
                <a:spcPts val="400"/>
              </a:spcAft>
              <a:buNone/>
            </a:pPr>
            <a:r>
              <a:rPr lang="en-US" sz="1400" b="1" dirty="0">
                <a:solidFill>
                  <a:schemeClr val="bg1"/>
                </a:solidFill>
              </a:rPr>
              <a:t>Team 13 · Ong Qing Quan · Agustinus Benyamin Prasetyo</a:t>
            </a:r>
            <a:endParaRPr lang="en-US" sz="1400" dirty="0"/>
          </a:p>
          <a:p>
            <a:pPr indent="0" marL="0">
              <a:spcAft>
                <a:spcPts val="400"/>
              </a:spcAft>
              <a:buNone/>
            </a:pPr>
            <a:r>
              <a:rPr lang="en-US" sz="1400" dirty="0">
                <a:solidFill>
                  <a:schemeClr val="accent1"/>
                </a:solidFill>
              </a:rPr>
              <a:t>github.com/bearly-profitable/MOSAIC</a:t>
            </a:r>
            <a:endParaRPr lang="en-US" sz="1400" dirty="0"/>
          </a:p>
        </p:txBody>
      </p:sp>
    </p:spTree>
  </p:cSld>
  <p:clrMapOvr>
    <a:masterClrMapping/>
  </p:clrMapOvr>
</p:sld>
</file>

<file path=ppt/theme/theme1.xml><?xml version="1.0" encoding="utf-8"?>
<a:theme xmlns:a="http://schemas.openxmlformats.org/drawingml/2006/main" name="MOSAIC Midnight">
  <a:themeElements>
    <a:clrScheme name="MOSAIC Midnight">
      <a:dk1>
        <a:srgbClr val="0B0B24"/>
      </a:dk1>
      <a:lt1>
        <a:srgbClr val="FFFFFF"/>
      </a:lt1>
      <a:dk2>
        <a:srgbClr val="1C1C44"/>
      </a:dk2>
      <a:lt2>
        <a:srgbClr val="B4B4D8"/>
      </a:lt2>
      <a:accent1>
        <a:srgbClr val="818CF8"/>
      </a:accent1>
      <a:accent2>
        <a:srgbClr val="A78BFA"/>
      </a:accent2>
      <a:accent3>
        <a:srgbClr val="FBBF24"/>
      </a:accent3>
      <a:accent4>
        <a:srgbClr val="38BDF8"/>
      </a:accent4>
      <a:accent5>
        <a:srgbClr val="2DD4BF"/>
      </a:accent5>
      <a:accent6>
        <a:srgbClr val="FB7185"/>
      </a:accent6>
      <a:hlink>
        <a:srgbClr val="818CF8"/>
      </a:hlink>
      <a:folHlink>
        <a:srgbClr val="A78BFA"/>
      </a:folHlink>
    </a:clrScheme>
    <a:fontScheme name="MOSAIC Midnight">
      <a:majorFont>
        <a:latin typeface="Century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NUS-ISS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MOSAIC — Team 13 Practice Module Presentation</dc:title>
  <dc:subject>Graduate Certificate in Architecting AI Systems — SWE5008 Practice Module</dc:subject>
  <dc:creator>Team 13 — Ong Qing Quan, Agustinus Benyamin Prasetyo</dc:creator>
  <cp:lastModifiedBy>Team 13 — Ong Qing Quan, Agustinus Benyamin Prasetyo</cp:lastModifiedBy>
  <cp:revision>1</cp:revision>
  <dcterms:created xsi:type="dcterms:W3CDTF">2026-10-13T17:55:42Z</dcterms:created>
  <dcterms:modified xsi:type="dcterms:W3CDTF">2026-10-13T17:55:42Z</dcterms:modified>
</cp:coreProperties>
</file>