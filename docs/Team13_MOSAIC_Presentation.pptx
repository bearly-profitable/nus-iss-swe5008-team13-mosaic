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3-2.jpg" ContentType="image/jpg"/>
  <Override PartName="/ppt/media/image-14-3.jpg" ContentType="image/jpg"/>
  <Override PartName="/ppt/media/image-17-6.jpg" ContentType="image/jpg"/>
  <Override PartName="/ppt/media/image-2-1.jpg" ContentType="image/jpg"/>
  <Override PartName="/ppt/media/image-22-1.jpg" ContentType="image/jpg"/>
  <Override PartName="/ppt/media/image-22-2.jpg" ContentType="image/jpg"/>
  <Override PartName="/ppt/media/image-22-3.jpg" ContentType="image/jpg"/>
  <Override PartName="/ppt/media/image-22-4.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 id="262" r:id="rId8"/>
    <p:sldId id="263" r:id="rId9"/>
    <p:sldId id="264" r:id="rId10"/>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45d3336-3503-0ab7-232f-58535902966c}">
          <p14:sldIdLst>
            <p14:sldId id="256"/>
            <p14:sldId id="257"/>
            <p14:sldId id="258"/>
            <p14:sldId id="259"/>
          </p14:sldIdLst>
        </p14:section>
        <p14:section name="Solution" id="{afd8e5f7-a0c2-c6b3-4b39-b091c9b5fa0a}">
          <p14:sldIdLst>
            <p14:sldId id="260"/>
            <p14:sldId id="261"/>
            <p14:sldId id="262"/>
          </p14:sldIdLst>
        </p14:section>
        <p14:section name="Architecture" id="{a85fd0a3-6b9a-f48d-2f3c-4584854b1df6}">
          <p14:sldIdLst>
            <p14:sldId id="263"/>
            <p14:sldId id="264"/>
            <p14:sldId id="265"/>
            <p14:sldId id="266"/>
          </p14:sldIdLst>
        </p14:section>
        <p14:section name="Agent design" id="{a9de524d-0497-7dd8-2f62-c39d933e9d8f}">
          <p14:sldIdLst>
            <p14:sldId id="267"/>
            <p14:sldId id="268"/>
            <p14:sldId id="269"/>
            <p14:sldId id="270"/>
          </p14:sldIdLst>
        </p14:section>
        <p14:section name="Assurance" id="{a9df1b07-0c62-7885-cc10-08384bf70270}">
          <p14:sldIdLst>
            <p14:sldId id="271"/>
            <p14:sldId id="272"/>
            <p14:sldId id="273"/>
            <p14:sldId id="274"/>
          </p14:sldIdLst>
        </p14:section>
        <p14:section name="Results" id="{4929f8a5-a381-2c4c-690c-6ae8228807a8}">
          <p14:sldIdLst>
            <p14:sldId id="275"/>
            <p14:sldId id="276"/>
            <p14:sldId id="277"/>
            <p14:sldId id="278"/>
            <p14:sldId id="279"/>
          </p14:sldIdLst>
        </p14:section>
        <p14:section name="Close" id="{3acb0e47-5b8e-7822-3fcd-f1a010a8815a}">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Verdicts</c:v>
                </c:pt>
              </c:strCache>
            </c:strRef>
          </c:tx>
          <c:spPr>
            <a:solidFill>
              <a:schemeClr val="accent1"/>
            </a:solidFill>
            <a:ln w="9525" cap="flat">
              <a:solidFill>
                <a:srgbClr val="F9F9F9"/>
              </a:solidFill>
              <a:prstDash val="solid"/>
              <a:round/>
            </a:ln>
            <a:effectLst/>
          </c:spPr>
          <c:dPt>
            <c:idx val="0"/>
            <c:bubble3D val="0"/>
            <c:spPr>
              <a:solidFill>
                <a:srgbClr val="2DD4BF"/>
              </a:solidFill>
              <a:ln w="19050" cap="flat">
                <a:solidFill>
                  <a:srgbClr val="0B0B24"/>
                </a:solidFill>
                <a:prstDash val="solid"/>
                <a:round/>
              </a:ln>
              <a:effectLst/>
            </c:spPr>
          </c:dPt>
          <c:dPt>
            <c:idx val="1"/>
            <c:bubble3D val="0"/>
            <c:spPr>
              <a:solidFill>
                <a:srgbClr val="FBBF24"/>
              </a:solidFill>
              <a:ln w="19050" cap="flat">
                <a:solidFill>
                  <a:srgbClr val="0B0B24"/>
                </a:solidFill>
                <a:prstDash val="solid"/>
                <a:round/>
              </a:ln>
              <a:effectLst/>
            </c:spPr>
          </c:dPt>
          <c:dPt>
            <c:idx val="2"/>
            <c:bubble3D val="0"/>
            <c:spPr>
              <a:solidFill>
                <a:srgbClr val="FB7185"/>
              </a:solidFill>
              <a:ln w="19050" cap="flat">
                <a:solidFill>
                  <a:srgbClr val="0B0B24"/>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c:v>
                </c:pt>
                <c:pt idx="1">
                  <c:v>REVISE</c:v>
                </c:pt>
                <c:pt idx="2">
                  <c:v>BLOCK</c:v>
                </c:pt>
              </c:strCache>
            </c:strRef>
          </c:cat>
          <c:val>
            <c:numRef>
              <c:f>Sheet1!$B$2:$B$4</c:f>
              <c:numCache>
                <c:ptCount val="3"/>
                <c:pt idx="0">
                  <c:v>5</c:v>
                </c:pt>
                <c:pt idx="1">
                  <c:v>1</c:v>
                </c:pt>
                <c:pt idx="2">
                  <c:v>0</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eval-v1</c:v>
                </c:pt>
              </c:strCache>
            </c:strRef>
          </c:tx>
          <c:spPr>
            <a:solidFill>
              <a:srgbClr val="A78BFA"/>
            </a:solidFill>
            <a:effectLst/>
          </c:spPr>
          <c:invertIfNegative val="0"/>
          <c:dLbls>
            <c:numFmt formatCode="0.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dPt>
            <c:idx val="0"/>
            <c:invertIfNegative val="0"/>
            <c:bubble3D val="0"/>
            <c:spPr>
              <a:solidFill>
                <a:srgbClr val="A78BFA"/>
              </a:solidFill>
              <a:effectLst/>
            </c:spPr>
          </c:dPt>
          <c:dPt>
            <c:idx val="1"/>
            <c:invertIfNegative val="0"/>
            <c:bubble3D val="0"/>
            <c:spPr>
              <a:solidFill>
                <a:srgbClr val="FBBF24"/>
              </a:solidFill>
              <a:effectLst/>
            </c:spPr>
          </c:dPt>
          <c:dPt>
            <c:idx val="2"/>
            <c:invertIfNegative val="0"/>
            <c:bubble3D val="0"/>
            <c:spPr>
              <a:solidFill>
                <a:srgbClr val="38BDF8"/>
              </a:solidFill>
              <a:effectLst/>
            </c:spPr>
          </c:dPt>
          <c:dPt>
            <c:idx val="3"/>
            <c:invertIfNegative val="0"/>
            <c:bubble3D val="0"/>
            <c:spPr>
              <a:solidFill>
                <a:srgbClr val="2DD4BF"/>
              </a:solidFill>
              <a:effectLst/>
            </c:spPr>
          </c:dPt>
          <c:cat>
            <c:multiLvlStrRef>
              <c:f>Sheet1!$A$2:$A$5</c:f>
              <c:multiLvlStrCache>
                <c:ptCount val="4"/>
                <c:lvl>
                  <c:pt idx="0">
                    <c:v>Segmentation</c:v>
                  </c:pt>
                  <c:pt idx="1">
                    <c:v>Creative</c:v>
                  </c:pt>
                  <c:pt idx="2">
                    <c:v>Composer</c:v>
                  </c:pt>
                  <c:pt idx="3">
                    <c:v>Guardian</c:v>
                  </c:pt>
                </c:lvl>
              </c:multiLvlStrCache>
            </c:multiLvlStrRef>
          </c:cat>
          <c:val>
            <c:numRef>
              <c:f>Sheet1!$B$2:$B$5</c:f>
              <c:numCache>
                <c:formatCode>General</c:formatCode>
                <c:ptCount val="4"/>
                <c:pt idx="0">
                  <c:v>70.8</c:v>
                </c:pt>
                <c:pt idx="1">
                  <c:v>95</c:v>
                </c:pt>
                <c:pt idx="2">
                  <c:v>93.3</c:v>
                </c:pt>
                <c:pt idx="3">
                  <c:v>93.7</c:v>
                </c:pt>
              </c:numCache>
            </c:numRef>
          </c:val>
        </c:ser>
        <c:dLbls>
          <c:numFmt formatCode="0.0" sourceLinked="0"/>
          <c:txPr>
            <a:bodyPr/>
            <a:lstStyle/>
            <a:p>
              <a:pPr>
                <a:defRPr b="1" i="0" strike="noStrike" sz="1400" u="none">
                  <a:solidFill>
                    <a:srgbClr val="FFFFFF"/>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B4B4D8"/>
                </a:solidFill>
                <a:latin typeface="+mn-lt"/>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[~30s · finish by 0:30]</a:t>
            </a:r>
          </a:p>
          <a:p>
            <a:endParaRPr lang="en-US" dirty="0"/>
          </a:p>
          <a:p>
            <a:r>
              <a:rPr lang="en-US" dirty="0"/>
              <a:t>Hi everyone, good morning. We're Team 13. I'm Qing Quan, and this is Benyamin.</a:t>
            </a:r>
          </a:p>
          <a:p>
            <a:endParaRPr lang="en-US" dirty="0"/>
          </a:p>
          <a:p>
            <a:r>
              <a:rPr lang="en-US" dirty="0"/>
              <a:t>Our project is called MOSAIC. It's a multi-agent system for personalised email marketing.</a:t>
            </a:r>
          </a:p>
          <a:p>
            <a:endParaRPr lang="en-US" dirty="0"/>
          </a:p>
          <a:p>
            <a:r>
              <a:rPr lang="en-US" dirty="0"/>
              <a:t>The idea is simple. You give it your customer list. Four AI agents find the different groups of customers in there, write a different email for each group, and check every email before it goes out. And then they stop — because a human always presses send.</a:t>
            </a:r>
          </a:p>
          <a:p>
            <a:endParaRPr lang="en-US" dirty="0"/>
          </a:p>
          <a:p>
            <a:r>
              <a:rPr lang="en-US" dirty="0" b="1"/>
              <a:t>TIMING (don't read): slide 5 by 2:10 · slide 8 by 3:55 · slide 11 by 5:25 · hand over by 8:00</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[~45s · finish by 1:15]</a:t>
            </a:r>
          </a:p>
          <a:p>
            <a:endParaRPr lang="en-US" dirty="0"/>
          </a:p>
          <a:p>
            <a:r>
              <a:rPr lang="en-US" dirty="0"/>
              <a:t>So let's start with the problem.</a:t>
            </a:r>
          </a:p>
          <a:p>
            <a:endParaRPr lang="en-US" dirty="0"/>
          </a:p>
          <a:p>
            <a:r>
              <a:rPr lang="en-US" dirty="0"/>
              <a:t>A typical company might have two hundred thousand customers. But they still send maybe three or four versions of an email — new customers, old customers, big spenders, and everyone else.</a:t>
            </a:r>
          </a:p>
          <a:p>
            <a:endParaRPr lang="en-US" dirty="0"/>
          </a:p>
          <a:p>
            <a:r>
              <a:rPr lang="en-US" dirty="0"/>
              <a:t>Why only four? It's not that they want to. It's cost. Every version needs its own design, copy, testing and sign-off. So the fifth version costs as much as the first.</a:t>
            </a:r>
          </a:p>
          <a:p>
            <a:endParaRPr lang="en-US" dirty="0"/>
          </a:p>
          <a:p>
            <a:r>
              <a:rPr lang="en-US" dirty="0"/>
              <a:t>The result is what you see here — almost everyone gets the same grey email. Someone who buys for quality and someone who waits for discounts get exactly the same message. And "personalisation" usually just means "Hi, first name".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[~50s · finish by 2:05]</a:t>
            </a:r>
          </a:p>
          <a:p>
            <a:endParaRPr lang="en-US" dirty="0"/>
          </a:p>
          <a:p>
            <a:r>
              <a:rPr lang="en-US" dirty="0"/>
              <a:t>So how do you fix this? We looked at two simple options first.</a:t>
            </a:r>
          </a:p>
          <a:p>
            <a:endParaRPr lang="en-US" dirty="0"/>
          </a:p>
          <a:p>
            <a:r>
              <a:rPr lang="en-US" dirty="0"/>
              <a:t>Option one: just use one big AI prompt. It kind of works. But you can't check it step by step, and it ends up marking its own homework.</a:t>
            </a:r>
          </a:p>
          <a:p>
            <a:endParaRPr lang="en-US" dirty="0"/>
          </a:p>
          <a:p>
            <a:r>
              <a:rPr lang="en-US" dirty="0"/>
              <a:t>Option two: a rules-based tool. Very safe, easy to audit. But it doesn't create anything new — a human still writes every email, which is the whole problem.</a:t>
            </a:r>
          </a:p>
          <a:p>
            <a:endParaRPr lang="en-US" dirty="0"/>
          </a:p>
          <a:p>
            <a:r>
              <a:rPr lang="en-US" dirty="0"/>
              <a:t>So we went with four agents. And the key is the line at the bottom. You have thousands of customers, but only a handful of segments. So we do the expensive AI work once per segment, not once per person. That's what makes it affordable.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[~5s · finish by 2:10]</a:t>
            </a:r>
          </a:p>
          <a:p>
            <a:endParaRPr lang="en-US" dirty="0"/>
          </a:p>
          <a:p>
            <a:r>
              <a:rPr lang="en-US" dirty="0"/>
              <a:t>Okay — so what does MOSAIC actually do?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[~50s · finish by 3:00]</a:t>
            </a:r>
          </a:p>
          <a:p>
            <a:endParaRPr lang="en-US" dirty="0"/>
          </a:p>
          <a:p>
            <a:r>
              <a:rPr lang="en-US" dirty="0"/>
              <a:t>This is the whole system on one slide. And these five steps are exactly the five tabs in our app.</a:t>
            </a:r>
          </a:p>
          <a:p>
            <a:endParaRPr lang="en-US" dirty="0"/>
          </a:p>
          <a:p>
            <a:r>
              <a:rPr lang="en-US" dirty="0"/>
              <a:t>Step one, the marketer enters the company info and uploads the customer list.</a:t>
            </a:r>
          </a:p>
          <a:p>
            <a:endParaRPr lang="en-US" dirty="0"/>
          </a:p>
          <a:p>
            <a:r>
              <a:rPr lang="en-US" dirty="0"/>
              <a:t>Then three agents do the work. The first finds the segments. The second decides the creative direction for each one — the tone, the style, the colours. And the third writes the actual email.</a:t>
            </a:r>
          </a:p>
          <a:p>
            <a:endParaRPr lang="en-US" dirty="0"/>
          </a:p>
          <a:p>
            <a:r>
              <a:rPr lang="en-US" dirty="0"/>
              <a:t>Step five, the Guardian checks every email, and then a person decides whether to send it.</a:t>
            </a:r>
          </a:p>
          <a:p>
            <a:endParaRPr lang="en-US" dirty="0"/>
          </a:p>
          <a:p>
            <a:r>
              <a:rPr lang="en-US" dirty="0"/>
              <a:t>And look at the small boxes underneath. At every step, a person can review, edit or regenerate before moving on — you can't skip ahead. And everything is recorded, so you can always trace what happened.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[~50s · finish by 3:50]</a:t>
            </a:r>
          </a:p>
          <a:p>
            <a:endParaRPr lang="en-US" dirty="0"/>
          </a:p>
          <a:p>
            <a:r>
              <a:rPr lang="en-US" dirty="0"/>
              <a:t>The main design rule is this: each agent owns one decision, and only one.</a:t>
            </a:r>
          </a:p>
          <a:p>
            <a:endParaRPr lang="en-US" dirty="0"/>
          </a:p>
          <a:p>
            <a:r>
              <a:rPr lang="en-US" dirty="0"/>
              <a:t>Segmentation decides how to group the customers. Creative Direction decides the look and feel. The Composer decides what to say, and which real offers to mention.</a:t>
            </a:r>
          </a:p>
          <a:p>
            <a:endParaRPr lang="en-US" dirty="0"/>
          </a:p>
          <a:p>
            <a:r>
              <a:rPr lang="en-US" dirty="0"/>
              <a:t>The Guardian is the interesting one — it's not AI at all. It's just rules, and that's on purpose. We didn't want an AI checking another AI's work. Rules are cheap, predictable, and we can test them every time we change the code.</a:t>
            </a:r>
          </a:p>
          <a:p>
            <a:endParaRPr lang="en-US" dirty="0"/>
          </a:p>
          <a:p>
            <a:r>
              <a:rPr lang="en-US" dirty="0"/>
              <a:t>And if you look at the initials on the cards — I built the Composer, and Benyamin built the Guardian that checks it. So nobody marks their own work.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[~5s · finish by 3:55]</a:t>
            </a:r>
          </a:p>
          <a:p>
            <a:endParaRPr lang="en-US" dirty="0"/>
          </a:p>
          <a:p>
            <a:r>
              <a:rPr lang="en-US" dirty="0"/>
              <a:t>Now, quickly — how is it built?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[~40s · finish by 4:35]</a:t>
            </a:r>
          </a:p>
          <a:p>
            <a:endParaRPr lang="en-US" dirty="0"/>
          </a:p>
          <a:p>
            <a:r>
              <a:rPr lang="en-US" dirty="0"/>
              <a:t>Five layers, top to bottom. The web app on top. The Python backend that runs the pipeline. The agents. Some shared services. And the database and outside services at the bottom.</a:t>
            </a:r>
          </a:p>
          <a:p>
            <a:endParaRPr lang="en-US" dirty="0"/>
          </a:p>
          <a:p>
            <a:r>
              <a:rPr lang="en-US" dirty="0"/>
              <a:t>One thing I want to point out: every AI call goes through one single client. So cost tracking, version tagging and output checking all happen in one place, not all over the code.</a:t>
            </a:r>
          </a:p>
          <a:p>
            <a:endParaRPr lang="en-US" dirty="0"/>
          </a:p>
          <a:p>
            <a:r>
              <a:rPr lang="en-US" dirty="0"/>
              <a:t>And deployment is simple — the frontend and backend run as two services on Railway, and all the API keys stay on the server.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[~45s · finish by 5:20]</a:t>
            </a:r>
          </a:p>
          <a:p>
            <a:endParaRPr lang="en-US" dirty="0"/>
          </a:p>
          <a:p>
            <a:r>
              <a:rPr lang="en-US" dirty="0"/>
              <a:t>So how do the agents talk to each other? Short answer — they don't.</a:t>
            </a:r>
          </a:p>
          <a:p>
            <a:endParaRPr lang="en-US" dirty="0"/>
          </a:p>
          <a:p>
            <a:r>
              <a:rPr lang="en-US" dirty="0"/>
              <a:t>They share what we call a blackboard. Each agent reads what the one before it wrote, does its job, and writes its result back. A bit like passing a document down the line.</a:t>
            </a:r>
          </a:p>
          <a:p>
            <a:endParaRPr lang="en-US" dirty="0"/>
          </a:p>
          <a:p>
            <a:r>
              <a:rPr lang="en-US" dirty="0"/>
              <a:t>Why does that matter? Because if you don't like the emails, you just re-run the email step. You don't start again from the beginning.</a:t>
            </a:r>
          </a:p>
          <a:p>
            <a:endParaRPr lang="en-US" dirty="0"/>
          </a:p>
          <a:p>
            <a:r>
              <a:rPr lang="en-US" dirty="0"/>
              <a:t>And on the right is what happens when you click a button: the app starts a job, the agent runs in the background, the result is saved, and the next tab unlocks.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[~5s · finish by 5:25]</a:t>
            </a:r>
          </a:p>
          <a:p>
            <a:endParaRPr lang="en-US" dirty="0"/>
          </a:p>
          <a:p>
            <a:r>
              <a:rPr lang="en-US" dirty="0"/>
              <a:t>Let's look inside a few of the agents.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[~50s · finish by 6:15]</a:t>
            </a:r>
          </a:p>
          <a:p>
            <a:endParaRPr lang="en-US" dirty="0"/>
          </a:p>
          <a:p>
            <a:r>
              <a:rPr lang="en-US" dirty="0"/>
              <a:t>First, segmentation — this is the part I built.</a:t>
            </a:r>
          </a:p>
          <a:p>
            <a:endParaRPr lang="en-US" dirty="0"/>
          </a:p>
          <a:p>
            <a:r>
              <a:rPr lang="en-US" dirty="0"/>
              <a:t>The key idea: the numbers find the groups, and the AI only names them. We cluster the customers on the real data first. Then we show the AI the top traits of each group, and it gives the group a name. So the AI can't make up a segment that isn't really there.</a:t>
            </a:r>
          </a:p>
          <a:p>
            <a:endParaRPr lang="en-US" dirty="0"/>
          </a:p>
          <a:p>
            <a:r>
              <a:rPr lang="en-US" dirty="0"/>
              <a:t>We also keep age and gender out of the clustering completely. But we still check afterwards — if a segment ends up being mostly one age group anyway, we flag it.</a:t>
            </a:r>
          </a:p>
          <a:p>
            <a:endParaRPr lang="en-US" dirty="0"/>
          </a:p>
          <a:p>
            <a:r>
              <a:rPr lang="en-US" dirty="0"/>
              <a:t>On our demo list of a thousand customers, we got six segments. About a quarter didn't fit any group — and that's fine, we don't force them in.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[~40s · finish by 6:55]</a:t>
            </a:r>
          </a:p>
          <a:p>
            <a:endParaRPr lang="en-US" dirty="0"/>
          </a:p>
          <a:p>
            <a:r>
              <a:rPr lang="en-US" dirty="0"/>
              <a:t>Next, one rule we use everywhere: the AI writes the words, but code builds the email.</a:t>
            </a:r>
          </a:p>
          <a:p>
            <a:endParaRPr lang="en-US" dirty="0"/>
          </a:p>
          <a:p>
            <a:r>
              <a:rPr lang="en-US" dirty="0"/>
              <a:t>The creative agent gives a short written direction — tone, style, an accent colour. And we check that colour in code, so it's always valid.</a:t>
            </a:r>
          </a:p>
          <a:p>
            <a:endParaRPr lang="en-US" dirty="0"/>
          </a:p>
          <a:p>
            <a:r>
              <a:rPr lang="en-US" dirty="0"/>
              <a:t>The Composer only writes the text. The layout is built by code. And if the AI mentions an offer that doesn't exist, we just drop it.</a:t>
            </a:r>
          </a:p>
          <a:p>
            <a:endParaRPr lang="en-US" dirty="0"/>
          </a:p>
          <a:p>
            <a:r>
              <a:rPr lang="en-US" dirty="0"/>
              <a:t>So the worst a bad AI answer can do is make the copy shorter. It can't break the email, and it can't invent a discount.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[~50s · finish by 7:45]</a:t>
            </a:r>
          </a:p>
          <a:p>
            <a:endParaRPr lang="en-US" dirty="0"/>
          </a:p>
          <a:p>
            <a:r>
              <a:rPr lang="en-US" dirty="0"/>
              <a:t>And finally — before anything goes out, every email goes through ten checks, in three groups.</a:t>
            </a:r>
          </a:p>
          <a:p>
            <a:endParaRPr lang="en-US" dirty="0"/>
          </a:p>
          <a:p>
            <a:r>
              <a:rPr lang="en-US" dirty="0"/>
              <a:t>Compliance: are we even allowed to send this? Is there consent, an unsubscribe link, no personal data leaking? Content: are the offers real, and has anyone tried to sneak instructions in? And deliverability: will it land, and will it look right?</a:t>
            </a:r>
          </a:p>
          <a:p>
            <a:endParaRPr lang="en-US" dirty="0"/>
          </a:p>
          <a:p>
            <a:r>
              <a:rPr lang="en-US" dirty="0"/>
              <a:t>Then there are three results. Pass — good to go. Revise — something to fix. And Block — the system simply won't send it. Not just a greyed-out button; the backend refuses.</a:t>
            </a:r>
          </a:p>
          <a:p>
            <a:endParaRPr lang="en-US" dirty="0"/>
          </a:p>
          <a:p>
            <a:r>
              <a:rPr lang="en-US" dirty="0"/>
              <a:t>On our demo, five emails passed and one got Revise. And that one is actually a fairness issue — which Benyamin will walk you through now.</a:t>
            </a:r>
          </a:p>
          <a:p>
            <a:endParaRPr lang="en-US" dirty="0"/>
          </a:p>
          <a:p>
            <a:r>
              <a:rPr lang="en-US" dirty="0" b="1"/>
              <a:t>→ Hand over to Benyamin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[0:10 | ends 10:30 | ABP]</a:t>
            </a:r>
          </a:p>
          <a:p>
            <a:endParaRPr lang="en-US" dirty="0"/>
          </a:p>
          <a:p>
            <a:r>
              <a:rPr lang="en-US" dirty="0"/>
              <a:t xml:space="preserve">Assurance — how we keep it responsible and secure.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[0:55 | ends 11:25 | ABP]</a:t>
            </a:r>
          </a:p>
          <a:p>
            <a:endParaRPr lang="en-US" dirty="0"/>
          </a:p>
          <a:p>
            <a:r>
              <a:rPr lang="en-US" dirty="0"/>
              <a:t xml:space="preserve">Our rule: a limit nobody enforces is not a control, so every principle maps to something in the code.</a:t>
            </a:r>
          </a:p>
          <a:p>
            <a:endParaRPr lang="en-US" dirty="0"/>
          </a:p>
          <a:p>
            <a:r>
              <a:rPr lang="en-US" dirty="0"/>
              <a:t xml:space="preserve">Fairness: protected attributes are excluded from clustering, and a proxy test catches segments that correlate with them anyway. On our data it found one — "Loyal Full-Price Buyers" deviates 37% on age from the base rate. We don't silently delete that segment; that isn't the system's call. We flag it on the Segments tab and carry it into the Guardian as a REVISE, so a person owns the decision.</a:t>
            </a:r>
          </a:p>
          <a:p>
            <a:endParaRPr lang="en-US" dirty="0"/>
          </a:p>
          <a:p>
            <a:r>
              <a:rPr lang="en-US" dirty="0"/>
              <a:t xml:space="preserve">Explainability comes from the traits per segment, a rationale per direction and per-check results per email; accountability from the human gate and the append-only ledger. The mapping to IMDA's Model AI Governance Framework and PDPA is in section 5 of the report.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[0:45 | ends 12:10 | ABP]</a:t>
            </a:r>
          </a:p>
          <a:p>
            <a:endParaRPr lang="en-US" dirty="0"/>
          </a:p>
          <a:p>
            <a:r>
              <a:rPr lang="en-US" dirty="0"/>
              <a:t xml:space="preserve">We registered fourteen risks against the OWASP Top 10 for LLM applications. Left is inherent risk before controls; right is what remains after them.</a:t>
            </a:r>
          </a:p>
          <a:p>
            <a:endParaRPr lang="en-US" dirty="0"/>
          </a:p>
          <a:p>
            <a:r>
              <a:rPr lang="en-US" dirty="0"/>
              <a:t xml:space="preserve">We want to be upfront: the highest residual risk is that the API has no authentication or rate limiting — fine for a demonstrator, not for production.</a:t>
            </a:r>
          </a:p>
          <a:p>
            <a:endParaRPr lang="en-US" dirty="0"/>
          </a:p>
          <a:p>
            <a:r>
              <a:rPr lang="en-US" dirty="0"/>
              <a:t xml:space="preserve">Prompt injection is mitigated structurally — customer free text only reaches the model as a small data sample under a strict schema, and the Guardian scans the output — but an input sanitiser is still on our list. The full register, with evidence for every control, is section 6 of the report.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[0:45 | ends 12:55 | ABP]</a:t>
            </a:r>
          </a:p>
          <a:p>
            <a:endParaRPr lang="en-US" dirty="0"/>
          </a:p>
          <a:p>
            <a:r>
              <a:rPr lang="en-US" dirty="0"/>
              <a:t xml:space="preserve">All of this is locked in by CI. Every push runs three jobs: a secrets check; the Guardian's adversarial corpus plus contract tests; and a production build of the console.</a:t>
            </a:r>
          </a:p>
          <a:p>
            <a:endParaRPr lang="en-US" dirty="0"/>
          </a:p>
          <a:p>
            <a:r>
              <a:rPr lang="en-US" dirty="0"/>
              <a:t xml:space="preserve">The corpus pushes emails with leaked PII, injection phrasing, a missing unsubscribe and a broken merge tag through the real Guardian code — each must BLOCK. Contract tests pin prompt versions and schemas, so a silent prompt change fails the build. And we proved the gate works: plant a phone number in the "clean" email and the pipeline goes red.</a:t>
            </a:r>
          </a:p>
          <a:p>
            <a:endParaRPr lang="en-US" dirty="0"/>
          </a:p>
          <a:p>
            <a:r>
              <a:rPr lang="en-US" dirty="0"/>
              <a:t xml:space="preserve">Automated alerting is still to come.</a:t>
            </a:r>
          </a:p>
          <a:p>
            <a:endParaRPr lang="en-US" dirty="0"/>
          </a:p>
          <a:p>
            <a:r>
              <a:rPr lang="en-US" b="1" dirty="0"/>
              <a:t>HANDOVER:</a:t>
            </a:r>
            <a:r>
              <a:rPr lang="en-US" dirty="0"/>
              <a:t xml:space="preserve"> "Qing Quan will show the results and the demo."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[0:10 | ends 13:05 | OQQ]</a:t>
            </a:r>
          </a:p>
          <a:p>
            <a:endParaRPr lang="en-US" dirty="0"/>
          </a:p>
          <a:p>
            <a:r>
              <a:rPr lang="en-US" dirty="0"/>
              <a:t xml:space="preserve">So — does it work?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[0:45 | ends 13:50 | OQQ]</a:t>
            </a:r>
          </a:p>
          <a:p>
            <a:endParaRPr lang="en-US" dirty="0"/>
          </a:p>
          <a:p>
            <a:r>
              <a:rPr lang="en-US" dirty="0"/>
              <a:t xml:space="preserve">All fourteen automated tests pass, locally and in CI. End to end, we ran a thousand contacts through to six emails and three real sends through Resend.</a:t>
            </a:r>
          </a:p>
          <a:p>
            <a:endParaRPr lang="en-US" dirty="0"/>
          </a:p>
          <a:p>
            <a:r>
              <a:rPr lang="en-US" dirty="0"/>
              <a:t xml:space="preserve">Our evaluator scores each agent on what it actually produced, mixing code metrics with an LLM judge: 88.2 overall. Creative and Composer score in the mid-nineties.</a:t>
            </a:r>
          </a:p>
          <a:p>
            <a:endParaRPr lang="en-US" dirty="0"/>
          </a:p>
          <a:p>
            <a:r>
              <a:rPr lang="en-US" dirty="0"/>
              <a:t xml:space="preserve">Segmentation is lowest at 70.8 — partly the honest clustering scores, and partly because the judge found some segment names claim more than the traits show. That's our clearest improvement target.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[2:00 | ends 15:50 | OQQ]</a:t>
            </a:r>
          </a:p>
          <a:p>
            <a:endParaRPr lang="en-US" dirty="0"/>
          </a:p>
          <a:p>
            <a:r>
              <a:rPr lang="en-US" b="1" dirty="0"/>
              <a:t>LIVE DEMO — 2 minutes. Before the session:</a:t>
            </a:r>
            <a:r>
              <a:rPr lang="en-US" dirty="0"/>
              <a:t xml:space="preserve"> run start.ps1, confirm the Supabase project is not paused, open the console on Company Info with the demo workspace loaded. Do NOT press Regenerate during the demo — generation takes minutes.</a:t>
            </a:r>
          </a:p>
          <a:p>
            <a:endParaRPr lang="en-US" dirty="0"/>
          </a:p>
          <a:p>
            <a:r>
              <a:rPr lang="en-US" b="1" dirty="0"/>
              <a:t xml:space="preserve">1. Company Info (15 s):</a:t>
            </a:r>
            <a:r>
              <a:rPr lang="en-US" dirty="0"/>
              <a:t xml:space="preserve"> scroll to the contacts table. "Here's the uploaded list — 1,000 contacts. Age and gender are marked 'held out' — they never enter clustering — and each contact's consent shows as active or withdrawn."</a:t>
            </a:r>
          </a:p>
          <a:p>
            <a:endParaRPr lang="en-US" dirty="0"/>
          </a:p>
          <a:p>
            <a:r>
              <a:rPr lang="en-US" b="1" dirty="0"/>
              <a:t xml:space="preserve">2. Segments (30 s):</a:t>
            </a:r>
            <a:r>
              <a:rPr lang="en-US" dirty="0"/>
              <a:t xml:space="preserve"> "Six segments. Each card shows the z-scored traits that define it — that's the explanation. And here's the age-proxy flag on Loyal Full-Price Buyers."</a:t>
            </a:r>
          </a:p>
          <a:p>
            <a:endParaRPr lang="en-US" dirty="0"/>
          </a:p>
          <a:p>
            <a:r>
              <a:rPr lang="en-US" b="1" dirty="0"/>
              <a:t xml:space="preserve">3. Email Review (30 s):</a:t>
            </a:r>
            <a:r>
              <a:rPr lang="en-US" dirty="0"/>
              <a:t xml:space="preserve"> open one PASS email in the builder, type "Call 9123 4567" into the intro text and save. "Let's plant a phone number."</a:t>
            </a:r>
          </a:p>
          <a:p>
            <a:endParaRPr lang="en-US" dirty="0"/>
          </a:p>
          <a:p>
            <a:r>
              <a:rPr lang="en-US" b="1" dirty="0"/>
              <a:t xml:space="preserve">4. Approval Queue (35 s):</a:t>
            </a:r>
            <a:r>
              <a:rPr lang="en-US" dirty="0"/>
              <a:t xml:space="preserve"> "The checks re-ran on the edited email: No leaked identifiers fails, the verdict is BLOCK, and Send is disabled — the API would refuse it anyway." Remove the phone number, save: "Back to PASS — and only now can a person confirm the address and send." Send to our own inbox only.</a:t>
            </a:r>
          </a:p>
          <a:p>
            <a:endParaRPr lang="en-US" dirty="0"/>
          </a:p>
          <a:p>
            <a:r>
              <a:rPr lang="en-US" b="1" dirty="0"/>
              <a:t xml:space="preserve">5. Logs (10 s):</a:t>
            </a:r>
            <a:r>
              <a:rPr lang="en-US" dirty="0"/>
              <a:t xml:space="preserve"> "Every step is recorded — what I did, and what the agents did, with prompt and model versions."</a:t>
            </a:r>
          </a:p>
          <a:p>
            <a:endParaRPr lang="en-US" dirty="0"/>
          </a:p>
          <a:p>
            <a:r>
              <a:rPr lang="en-US" b="1" dirty="0"/>
              <a:t>FALLBACK:</a:t>
            </a:r>
            <a:r>
              <a:rPr lang="en-US" dirty="0"/>
              <a:t xml:space="preserve"> if the live demo fails, stay on this slide and narrate the four screenshots in the same order.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[0:35 | ends 16:25 | OQQ]</a:t>
            </a:r>
          </a:p>
          <a:p>
            <a:endParaRPr lang="en-US" dirty="0"/>
          </a:p>
          <a:p>
            <a:r>
              <a:rPr lang="en-US" dirty="0"/>
              <a:t xml:space="preserve">On scale: counting calls from the code, cost grows with the number of segments, not the number of contacts. With six segments, a full run is eighteen LLM calls whether the list has a thousand contacts or two hundred thousand; only the cheap, batched embedding calls grow.</a:t>
            </a:r>
          </a:p>
          <a:p>
            <a:endParaRPr lang="en-US" dirty="0"/>
          </a:p>
          <a:p>
            <a:r>
              <a:rPr lang="en-US" dirty="0"/>
              <a:t xml:space="preserve">We haven't load-tested, and the limits are on the slide — one replica, a 20,000-row upload cap, and clustering on one machine.</a:t>
            </a:r>
          </a:p>
          <a:p>
            <a:endParaRPr lang="en-US" dirty="0"/>
          </a:p>
          <a:p>
            <a:r>
              <a:rPr lang="en-US" b="1" dirty="0"/>
              <a:t>IF SHORT ON TIME:</a:t>
            </a:r>
            <a:r>
              <a:rPr lang="en-US" dirty="0"/>
              <a:t xml:space="preserve"> skip — "Cost scales with segments, not contacts: eighteen LLM calls per run."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[0:40 | ends 17:05 | OQQ]</a:t>
            </a:r>
          </a:p>
          <a:p>
            <a:endParaRPr lang="en-US" dirty="0"/>
          </a:p>
          <a:p>
            <a:r>
              <a:rPr lang="en-US" dirty="0"/>
              <a:t xml:space="preserve">Looking back: we changed four things from the proposal — most visibly, a written creative direction instead of generated images, and real dispatch instead of a sandbox.</a:t>
            </a:r>
          </a:p>
          <a:p>
            <a:endParaRPr lang="en-US" dirty="0"/>
          </a:p>
          <a:p>
            <a:r>
              <a:rPr lang="en-US" dirty="0"/>
              <a:t xml:space="preserve">Our biggest lesson: schemas and code-owned structure control models far better than prompt wording, and keeping the LLM out of the veto made the Guardian cheap, testable and explainable.</a:t>
            </a:r>
          </a:p>
          <a:p>
            <a:endParaRPr lang="en-US" dirty="0"/>
          </a:p>
          <a:p>
            <a:r>
              <a:rPr lang="en-US" dirty="0"/>
              <a:t xml:space="preserve">Next, we'd add a bounded Guardian-to-Composer revise loop, retries with a fallback model, authentication and rate limits, and proper alerting.</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xml:space="preserve">[0:15 | ends 17:20 | OQQ + ABP]</a:t>
            </a:r>
          </a:p>
          <a:p>
            <a:endParaRPr lang="en-US" dirty="0"/>
          </a:p>
          <a:p>
            <a:r>
              <a:rPr lang="en-US" dirty="0"/>
              <a:t xml:space="preserve">Thank you. MOSAIC: four agents that do the work — and then stop, because a person presses send. We're happy to take questions.</a:t>
            </a:r>
          </a:p>
          <a:p>
            <a:endParaRPr lang="en-US" dirty="0"/>
          </a:p>
          <a:p>
            <a:r>
              <a:rPr lang="en-US" b="1" dirty="0"/>
              <a:t>BUFFER:</a:t>
            </a:r>
            <a:r>
              <a:rPr lang="en-US" dirty="0"/>
              <a:t xml:space="preserve"> 2:40 left in a 20-minute slot for overruns or Q&amp;A.</a:t>
            </a:r>
          </a:p>
          <a:p>
            <a:endParaRPr lang="en-US" dirty="0"/>
          </a:p>
          <a:p>
            <a:r>
              <a:rPr lang="en-US" b="1" dirty="0"/>
              <a:t xml:space="preserve">LIKELY QUESTIONS</a:t>
            </a:r>
          </a:p>
          <a:p>
            <a:r>
              <a:rPr lang="en-US" dirty="0"/>
              <a:t xml:space="preserve">Why no LLM in the Guardian? — Determinism: testable in CI, explainable check by check, and free to run on every edit. The LLM judge is used offline, in evaluation only.</a:t>
            </a:r>
          </a:p>
          <a:p>
            <a:r>
              <a:rPr lang="en-US" dirty="0"/>
              <a:t xml:space="preserve">How do you handle prompt injection? — Structurally today: free text reaches the model only as a small data sample under a strict, length-capped schema, and the Guardian blocks instruction-like output. An input sanitiser is next.</a:t>
            </a:r>
          </a:p>
          <a:p>
            <a:r>
              <a:rPr lang="en-US" dirty="0"/>
              <a:t xml:space="preserve">Why only one replica? — Job progress is held in memory; a shared job store is the fix.</a:t>
            </a:r>
          </a:p>
          <a:p>
            <a:r>
              <a:rPr lang="en-US" dirty="0"/>
              <a:t xml:space="preserve">Isn't a 0.38 silhouette low? — The synthetic archetypes overlap by design; we report it honestly, and noise is allowed rather than forced into a segment.</a:t>
            </a:r>
          </a:p>
          <a:p>
            <a:r>
              <a:rPr lang="en-US" dirty="0"/>
              <a:t xml:space="preserve">What actually gets sent? — One rendered email per send to an operator-confirmed address, with merge tags filled from a real contact in that segment.</a:t>
            </a:r>
          </a:p>
          <a:p>
            <a:r>
              <a:rPr lang="en-US" dirty="0"/>
              <a:t xml:space="preserve">Who decides on the flagged segment? — The operator. The system makes the correlation visible; it doesn't make the ethical call.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MOSAIC_CONTENT-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OSAIC_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103120"/>
            <a:ext cx="6583680" cy="1097280"/>
          </a:xfrm>
          <a:prstGeom prst="rect">
            <a:avLst/>
          </a:prstGeom>
          <a:noFill/>
          <a:ln/>
        </p:spPr>
        <p:txBody>
          <a:bodyPr wrap="square" rtlCol="0"/>
          <a:lstStyle>
            <a:lvl1pPr algn="l" indent="0" marL="0">
              <a:buNone/>
              <a:defRPr lang="en-US" sz="66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6600" dirty="0"/>
          </a:p>
        </p:txBody>
      </p:sp>
      <p:sp>
        <p:nvSpPr>
          <p:cNvPr id="3" name="Text 0"/>
          <p:cNvSpPr/>
          <p:nvPr>
            <p:ph idx="101" type="body" hasCustomPrompt="1"/>
          </p:nvPr>
        </p:nvSpPr>
        <p:spPr>
          <a:xfrm>
            <a:off x="685800" y="3291840"/>
            <a:ext cx="4297680" cy="1005840"/>
          </a:xfrm>
          <a:prstGeom prst="rect">
            <a:avLst/>
          </a:prstGeom>
          <a:noFill/>
          <a:ln/>
        </p:spPr>
        <p:txBody>
          <a:bodyPr wrap="square" rtlCol="0"/>
          <a:lstStyle>
            <a:lvl1pPr algn="l" indent="0" marL="0">
              <a:buNone/>
              <a:defRPr lang="en-US" sz="2200" dirty="0">
                <a:solidFill>
                  <a:schemeClr val="bg1"/>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OSAIC_CLOSING">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600200"/>
            <a:ext cx="5943600" cy="1051560"/>
          </a:xfrm>
          <a:prstGeom prst="rect">
            <a:avLst/>
          </a:prstGeom>
          <a:noFill/>
          <a:ln/>
        </p:spPr>
        <p:txBody>
          <a:bodyPr wrap="square" rtlCol="0"/>
          <a:lstStyle>
            <a:lvl1pPr algn="l" indent="0" marL="0">
              <a:buNone/>
              <a:defRPr lang="en-US" sz="66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6600" dirty="0"/>
          </a:p>
        </p:txBody>
      </p:sp>
      <p:sp>
        <p:nvSpPr>
          <p:cNvPr id="3" name="Text 0"/>
          <p:cNvSpPr/>
          <p:nvPr>
            <p:ph idx="101" type="body" hasCustomPrompt="1"/>
          </p:nvPr>
        </p:nvSpPr>
        <p:spPr>
          <a:xfrm>
            <a:off x="685800" y="2697480"/>
            <a:ext cx="4572000" cy="50292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OSAIC_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788920"/>
            <a:ext cx="6217920" cy="868680"/>
          </a:xfrm>
          <a:prstGeom prst="rect">
            <a:avLst/>
          </a:prstGeom>
          <a:noFill/>
          <a:ln/>
        </p:spPr>
        <p:txBody>
          <a:bodyPr wrap="square" rtlCol="0"/>
          <a:lstStyle>
            <a:lvl1pPr algn="l" indent="0" marL="0">
              <a:buNone/>
              <a:defRPr lang="en-US" sz="44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4400" dirty="0"/>
          </a:p>
        </p:txBody>
      </p:sp>
      <p:sp>
        <p:nvSpPr>
          <p:cNvPr id="3" name="Text 0"/>
          <p:cNvSpPr/>
          <p:nvPr>
            <p:ph idx="101" type="body" hasCustomPrompt="1"/>
          </p:nvPr>
        </p:nvSpPr>
        <p:spPr>
          <a:xfrm>
            <a:off x="685800" y="3794760"/>
            <a:ext cx="4572000" cy="109728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OSAIC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rtlCol="0"/>
          <a:lstStyle>
            <a:lvl1pPr algn="l" indent="0" marL="0">
              <a:buNone/>
              <a:defRPr lang="en-US" sz="2800" b="1" dirty="0">
                <a:solidFill>
                  <a:schemeClr val="bg1"/>
                </a:solidFill>
                <a:latin typeface="Century Gothic" pitchFamily="34" charset="0"/>
                <a:ea typeface="Century Gothic" pitchFamily="34" charset="-122"/>
                <a:cs typeface="Century Gothic" pitchFamily="34" charset="-120"/>
              </a:defRPr>
            </a:lvl1pPr>
          </a:lstStyle>
          <a:p>
            <a:pPr algn="l" indent="0" marL="0">
              <a:buNone/>
            </a:pPr>
            <a:endParaRPr lang="en-US" sz="2800" dirty="0"/>
          </a:p>
        </p:txBody>
      </p:sp>
      <p:pic>
        <p:nvPicPr>
          <p:cNvPr id="3" name="Image 0" descr="C:\Users\himat\AppData\Local\Temp\claude\c--Ai-stuffs-MOSAIC\b3ecbbac-d885-4fec-a9f8-3496f8d06c96\scratchpad\build\mark.png">    </p:cNvPr>
          <p:cNvPicPr>
            <a:picLocks noChangeAspect="1"/>
          </p:cNvPicPr>
          <p:nvPr/>
        </p:nvPicPr>
        <p:blipFill>
          <a:blip r:embed="rId1"/>
          <a:stretch>
            <a:fillRect/>
          </a:stretch>
        </p:blipFill>
        <p:spPr>
          <a:xfrm>
            <a:off x="11155680" y="429768"/>
            <a:ext cx="484632" cy="420624"/>
          </a:xfrm>
          <a:prstGeom prst="rect">
            <a:avLst/>
          </a:prstGeom>
        </p:spPr>
      </p:pic>
      <p:sp>
        <p:nvSpPr>
          <p:cNvPr id="4" name="Text 0"/>
          <p:cNvSpPr/>
          <p:nvPr/>
        </p:nvSpPr>
        <p:spPr>
          <a:xfrm>
            <a:off x="548640" y="6437376"/>
            <a:ext cx="5486400" cy="256032"/>
          </a:xfrm>
          <a:prstGeom prst="rect">
            <a:avLst/>
          </a:prstGeom>
          <a:noFill/>
          <a:ln/>
        </p:spPr>
        <p:txBody>
          <a:bodyPr wrap="square" lIns="0" tIns="0" rIns="0" bIns="0" rtlCol="0" anchor="ctr"/>
          <a:lstStyle/>
          <a:p>
            <a:pPr indent="0" marL="0">
              <a:buNone/>
            </a:pPr>
            <a:r>
              <a:rPr lang="en-US" sz="1000" dirty="0">
                <a:solidFill>
                  <a:schemeClr val="bg2"/>
                </a:solidFill>
              </a:rPr>
              <a:t>MOSAIC · Team 13 · SWE5008 Practice Module</a:t>
            </a:r>
            <a:endParaRPr lang="en-US" sz="10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5.xml"/><Relationship Id="rId5"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5.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jpg"/><Relationship Id="rId3" Type="http://schemas.openxmlformats.org/officeDocument/2006/relationships/slideLayout" Target="../slideLayouts/slideLayout5.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jpg"/><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jpg"/><Relationship Id="rId7" Type="http://schemas.openxmlformats.org/officeDocument/2006/relationships/slideLayout" Target="../slideLayouts/slideLayout5.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jpg"/><Relationship Id="rId4" Type="http://schemas.openxmlformats.org/officeDocument/2006/relationships/image" Target="../media/image-22-4.jp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png"/><Relationship Id="rId3" Type="http://schemas.openxmlformats.org/officeDocument/2006/relationships/slideLayout" Target="../slideLayouts/slideLayout3.xml"/><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mark" descr="C:\Users\himat\AppData\Local\Temp\claude\c--Ai-stuffs-MOSAIC\b3ecbbac-d885-4fec-a9f8-3496f8d06c96\scratchpad\build\mark.png">    </p:cNvPr>
          <p:cNvPicPr>
            <a:picLocks noChangeAspect="1"/>
          </p:cNvPicPr>
          <p:nvPr/>
        </p:nvPicPr>
        <p:blipFill>
          <a:blip r:embed="rId2"/>
          <a:stretch>
            <a:fillRect/>
          </a:stretch>
        </p:blipFill>
        <p:spPr>
          <a:xfrm>
            <a:off x="685800" y="685800"/>
            <a:ext cx="950976" cy="822960"/>
          </a:xfrm>
          <a:prstGeom prst="rect">
            <a:avLst/>
          </a:prstGeom>
        </p:spPr>
      </p:pic>
      <p:sp>
        <p:nvSpPr>
          <p:cNvPr id="3" name="Text 0"/>
          <p:cNvSpPr/>
          <p:nvPr>
            <p:ph idx="100" type="title" hasCustomPrompt="1"/>
          </p:nvPr>
        </p:nvSpPr>
        <p:spPr>
          <a:xfrm>
            <a:off x="685800" y="2103120"/>
            <a:ext cx="6583680" cy="1097280"/>
          </a:xfrm>
          <a:prstGeom prst="rect">
            <a:avLst/>
          </a:prstGeom>
          <a:noFill/>
          <a:ln/>
        </p:spPr>
        <p:txBody>
          <a:bodyPr wrap="square" lIns="0" tIns="0" rIns="0" bIns="0" rtlCol="0" anchor="t"/>
          <a:lstStyle/>
          <a:p>
            <a:pPr algn="l" indent="0" marL="0">
              <a:buNone/>
            </a:pPr>
            <a:r>
              <a:rPr lang="en-US" sz="6600" b="1" dirty="0">
                <a:solidFill>
                  <a:schemeClr val="bg1"/>
                </a:solidFill>
                <a:latin typeface="Century Gothic" pitchFamily="34" charset="0"/>
                <a:ea typeface="Century Gothic" pitchFamily="34" charset="-122"/>
                <a:cs typeface="Century Gothic" pitchFamily="34" charset="-120"/>
              </a:rPr>
              <a:t>MOSAIC</a:t>
            </a:r>
            <a:endParaRPr lang="en-US" sz="6600" dirty="0"/>
          </a:p>
        </p:txBody>
      </p:sp>
      <p:sp>
        <p:nvSpPr>
          <p:cNvPr id="4" name="Text 0"/>
          <p:cNvSpPr/>
          <p:nvPr>
            <p:ph idx="101" type="body" hasCustomPrompt="1"/>
          </p:nvPr>
        </p:nvSpPr>
        <p:spPr>
          <a:xfrm>
            <a:off x="685800" y="3291840"/>
            <a:ext cx="4297680" cy="1005840"/>
          </a:xfrm>
          <a:prstGeom prst="rect">
            <a:avLst/>
          </a:prstGeom>
          <a:noFill/>
          <a:ln/>
        </p:spPr>
        <p:txBody>
          <a:bodyPr wrap="square" lIns="0" tIns="0" rIns="0" bIns="0" rtlCol="0" anchor="t"/>
          <a:lstStyle/>
          <a:p>
            <a:pPr algn="l" indent="0" marL="0">
              <a:buNone/>
            </a:pPr>
            <a:r>
              <a:rPr lang="en-US" sz="2200" dirty="0">
                <a:solidFill>
                  <a:schemeClr val="bg1"/>
                </a:solidFill>
              </a:rPr>
              <a:t>A multi-agent system for hyper-personalised email marketing</a:t>
            </a:r>
            <a:endParaRPr lang="en-US" sz="2200" dirty="0"/>
          </a:p>
        </p:txBody>
      </p:sp>
      <p:sp>
        <p:nvSpPr>
          <p:cNvPr id="5" name="tile-1"/>
          <p:cNvSpPr/>
          <p:nvPr/>
        </p:nvSpPr>
        <p:spPr>
          <a:xfrm>
            <a:off x="685800" y="4526280"/>
            <a:ext cx="182880" cy="182880"/>
          </a:xfrm>
          <a:prstGeom prst="roundRect">
            <a:avLst>
              <a:gd name="adj" fmla="val 20000"/>
            </a:avLst>
          </a:prstGeom>
          <a:solidFill>
            <a:schemeClr val="accent6"/>
          </a:solidFill>
          <a:ln/>
        </p:spPr>
      </p:sp>
      <p:sp>
        <p:nvSpPr>
          <p:cNvPr id="6" name="tile-2"/>
          <p:cNvSpPr/>
          <p:nvPr/>
        </p:nvSpPr>
        <p:spPr>
          <a:xfrm>
            <a:off x="941832" y="4526280"/>
            <a:ext cx="182880" cy="182880"/>
          </a:xfrm>
          <a:prstGeom prst="roundRect">
            <a:avLst>
              <a:gd name="adj" fmla="val 20000"/>
            </a:avLst>
          </a:prstGeom>
          <a:solidFill>
            <a:schemeClr val="accent3"/>
          </a:solidFill>
          <a:ln/>
        </p:spPr>
      </p:sp>
      <p:sp>
        <p:nvSpPr>
          <p:cNvPr id="7" name="tile-3"/>
          <p:cNvSpPr/>
          <p:nvPr/>
        </p:nvSpPr>
        <p:spPr>
          <a:xfrm>
            <a:off x="1197864" y="4526280"/>
            <a:ext cx="182880" cy="182880"/>
          </a:xfrm>
          <a:prstGeom prst="roundRect">
            <a:avLst>
              <a:gd name="adj" fmla="val 20000"/>
            </a:avLst>
          </a:prstGeom>
          <a:solidFill>
            <a:schemeClr val="accent2"/>
          </a:solidFill>
          <a:ln/>
        </p:spPr>
      </p:sp>
      <p:sp>
        <p:nvSpPr>
          <p:cNvPr id="8" name="tile-4"/>
          <p:cNvSpPr/>
          <p:nvPr/>
        </p:nvSpPr>
        <p:spPr>
          <a:xfrm>
            <a:off x="1453896" y="4526280"/>
            <a:ext cx="182880" cy="182880"/>
          </a:xfrm>
          <a:prstGeom prst="roundRect">
            <a:avLst>
              <a:gd name="adj" fmla="val 20000"/>
            </a:avLst>
          </a:prstGeom>
          <a:solidFill>
            <a:schemeClr val="accent5"/>
          </a:solidFill>
          <a:ln/>
        </p:spPr>
      </p:sp>
      <p:sp>
        <p:nvSpPr>
          <p:cNvPr id="9" name="tile-5"/>
          <p:cNvSpPr/>
          <p:nvPr/>
        </p:nvSpPr>
        <p:spPr>
          <a:xfrm>
            <a:off x="1709928" y="4526280"/>
            <a:ext cx="182880" cy="182880"/>
          </a:xfrm>
          <a:prstGeom prst="roundRect">
            <a:avLst>
              <a:gd name="adj" fmla="val 20000"/>
            </a:avLst>
          </a:prstGeom>
          <a:solidFill>
            <a:schemeClr val="accent4"/>
          </a:solidFill>
          <a:ln/>
        </p:spPr>
      </p:sp>
      <p:sp>
        <p:nvSpPr>
          <p:cNvPr id="10" name="tile-6"/>
          <p:cNvSpPr/>
          <p:nvPr/>
        </p:nvSpPr>
        <p:spPr>
          <a:xfrm>
            <a:off x="1965960" y="4526280"/>
            <a:ext cx="182880" cy="182880"/>
          </a:xfrm>
          <a:prstGeom prst="roundRect">
            <a:avLst>
              <a:gd name="adj" fmla="val 20000"/>
            </a:avLst>
          </a:prstGeom>
          <a:solidFill>
            <a:schemeClr val="accent1"/>
          </a:solidFill>
          <a:ln/>
        </p:spPr>
      </p:sp>
      <p:sp>
        <p:nvSpPr>
          <p:cNvPr id="11" name="text-7"/>
          <p:cNvSpPr txBox="1"/>
          <p:nvPr/>
        </p:nvSpPr>
        <p:spPr>
          <a:xfrm>
            <a:off x="685800" y="5029200"/>
            <a:ext cx="6949440" cy="731520"/>
          </a:xfrm>
          <a:prstGeom prst="rect">
            <a:avLst/>
          </a:prstGeom>
          <a:noFill/>
          <a:ln/>
        </p:spPr>
        <p:txBody>
          <a:bodyPr wrap="square" lIns="0" tIns="0" rIns="0" bIns="0" rtlCol="0" anchor="t"/>
          <a:lstStyle/>
          <a:p>
            <a:pPr indent="0" marL="0">
              <a:spcAft>
                <a:spcPts val="400"/>
              </a:spcAft>
              <a:buNone/>
            </a:pPr>
            <a:r>
              <a:rPr lang="en-US" sz="1500" b="1" dirty="0">
                <a:solidFill>
                  <a:schemeClr val="bg1"/>
                </a:solidFill>
              </a:rPr>
              <a:t>Team 13 · Ong Qing Quan · Agustinus Benyamin Prasetyo</a:t>
            </a:r>
            <a:endParaRPr lang="en-US" sz="1400" dirty="0"/>
          </a:p>
          <a:p>
            <a:pPr indent="0" marL="0">
              <a:spcAft>
                <a:spcPts val="400"/>
              </a:spcAft>
              <a:buNone/>
            </a:pPr>
            <a:r>
              <a:rPr lang="en-US" sz="1300" dirty="0">
                <a:solidFill>
                  <a:schemeClr val="bg2"/>
                </a:solidFill>
              </a:rPr>
              <a:t>NUS-ISS Graduate Certificate in Architecting AI Systems · SWE5008 Practice Module ·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Campaigns stall at four variants</a:t>
            </a:r>
            <a:endParaRPr lang="en-US" sz="2800" dirty="0"/>
          </a:p>
        </p:txBody>
      </p:sp>
      <p:sp>
        <p:nvSpPr>
          <p:cNvPr id="3" name="text-8"/>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The limit is cost, not preference — every extra variant costs about what the first one did.</a:t>
            </a:r>
            <a:endParaRPr lang="en-US" sz="1600" dirty="0"/>
          </a:p>
        </p:txBody>
      </p:sp>
      <p:sp>
        <p:nvSpPr>
          <p:cNvPr id="4" name="glass-9"/>
          <p:cNvSpPr/>
          <p:nvPr/>
        </p:nvSpPr>
        <p:spPr>
          <a:xfrm>
            <a:off x="548640" y="1600200"/>
            <a:ext cx="4526280" cy="4526280"/>
          </a:xfrm>
          <a:prstGeom prst="roundRect">
            <a:avLst>
              <a:gd name="adj" fmla="val 3636"/>
            </a:avLst>
          </a:prstGeom>
          <a:solidFill>
            <a:schemeClr val="tx2">
              <a:alpha val="78000"/>
            </a:schemeClr>
          </a:solidFill>
          <a:ln w="9525">
            <a:solidFill>
              <a:schemeClr val="bg2">
                <a:alpha val="22000"/>
              </a:schemeClr>
            </a:solidFill>
            <a:prstDash val="solid"/>
          </a:ln>
        </p:spPr>
      </p:sp>
      <p:pic>
        <p:nvPicPr>
          <p:cNvPr id="5" name="problem-illustration" descr="C:\Users\himat\AppData\Local\Temp\claude\c--Ai-stuffs-MOSAIC\b3ecbbac-d885-4fec-a9f8-3496f8d06c96\scratchpad\build\assets\ill-problem.jpg">    </p:cNvPr>
          <p:cNvPicPr>
            <a:picLocks noChangeAspect="1"/>
          </p:cNvPicPr>
          <p:nvPr/>
        </p:nvPicPr>
        <p:blipFill>
          <a:blip r:embed="rId1"/>
          <a:stretch>
            <a:fillRect/>
          </a:stretch>
        </p:blipFill>
        <p:spPr>
          <a:xfrm>
            <a:off x="658368" y="1709928"/>
            <a:ext cx="4306824" cy="4306824"/>
          </a:xfrm>
          <a:prstGeom prst="rect">
            <a:avLst/>
          </a:prstGeom>
        </p:spPr>
      </p:pic>
      <p:sp>
        <p:nvSpPr>
          <p:cNvPr id="6" name="glass-10"/>
          <p:cNvSpPr/>
          <p:nvPr/>
        </p:nvSpPr>
        <p:spPr>
          <a:xfrm>
            <a:off x="5394960" y="1600200"/>
            <a:ext cx="6245352" cy="1371600"/>
          </a:xfrm>
          <a:prstGeom prst="roundRect">
            <a:avLst>
              <a:gd name="adj" fmla="val 9333"/>
            </a:avLst>
          </a:prstGeom>
          <a:solidFill>
            <a:schemeClr val="tx2">
              <a:alpha val="78000"/>
            </a:schemeClr>
          </a:solidFill>
          <a:ln w="9525">
            <a:solidFill>
              <a:schemeClr val="bg2">
                <a:alpha val="22000"/>
              </a:schemeClr>
            </a:solidFill>
            <a:prstDash val="solid"/>
          </a:ln>
        </p:spPr>
      </p:sp>
      <p:sp>
        <p:nvSpPr>
          <p:cNvPr id="7" name="text-11"/>
          <p:cNvSpPr txBox="1"/>
          <p:nvPr/>
        </p:nvSpPr>
        <p:spPr>
          <a:xfrm>
            <a:off x="5623560" y="1709928"/>
            <a:ext cx="1828800" cy="1143000"/>
          </a:xfrm>
          <a:prstGeom prst="rect">
            <a:avLst/>
          </a:prstGeom>
          <a:noFill/>
          <a:ln/>
        </p:spPr>
        <p:txBody>
          <a:bodyPr wrap="square" lIns="0" tIns="0" rIns="0" bIns="0" rtlCol="0" anchor="ctr"/>
          <a:lstStyle/>
          <a:p>
            <a:pPr indent="0" marL="0">
              <a:buNone/>
            </a:pPr>
            <a:r>
              <a:rPr lang="en-US" sz="4400" b="1" dirty="0">
                <a:solidFill>
                  <a:schemeClr val="accent6"/>
                </a:solidFill>
                <a:latin typeface="Century Gothic" pitchFamily="34" charset="0"/>
                <a:ea typeface="Century Gothic" pitchFamily="34" charset="-122"/>
                <a:cs typeface="Century Gothic" pitchFamily="34" charset="-120"/>
              </a:rPr>
              <a:t>3–4</a:t>
            </a:r>
            <a:endParaRPr lang="en-US" sz="4400" dirty="0"/>
          </a:p>
        </p:txBody>
      </p:sp>
      <p:sp>
        <p:nvSpPr>
          <p:cNvPr id="8" name="text-12"/>
          <p:cNvSpPr txBox="1"/>
          <p:nvPr/>
        </p:nvSpPr>
        <p:spPr>
          <a:xfrm>
            <a:off x="7543800" y="1783080"/>
            <a:ext cx="3931920" cy="329184"/>
          </a:xfrm>
          <a:prstGeom prst="rect">
            <a:avLst/>
          </a:prstGeom>
          <a:noFill/>
          <a:ln/>
        </p:spPr>
        <p:txBody>
          <a:bodyPr wrap="square" lIns="0" tIns="0" rIns="0" bIns="0" rtlCol="0" anchor="t"/>
          <a:lstStyle/>
          <a:p>
            <a:pPr indent="0" marL="0">
              <a:buNone/>
            </a:pPr>
            <a:r>
              <a:rPr lang="en-US" sz="1600" b="1" dirty="0">
                <a:solidFill>
                  <a:schemeClr val="bg1"/>
                </a:solidFill>
              </a:rPr>
              <a:t>creative variants per campaign</a:t>
            </a:r>
            <a:endParaRPr lang="en-US" sz="1600" dirty="0"/>
          </a:p>
        </p:txBody>
      </p:sp>
      <p:sp>
        <p:nvSpPr>
          <p:cNvPr id="9" name="text-13"/>
          <p:cNvSpPr txBox="1"/>
          <p:nvPr/>
        </p:nvSpPr>
        <p:spPr>
          <a:xfrm>
            <a:off x="7543800" y="2148840"/>
            <a:ext cx="3931920" cy="731520"/>
          </a:xfrm>
          <a:prstGeom prst="rect">
            <a:avLst/>
          </a:prstGeom>
          <a:noFill/>
          <a:ln/>
        </p:spPr>
        <p:txBody>
          <a:bodyPr wrap="square" lIns="0" tIns="0" rIns="0" bIns="0" rtlCol="0" anchor="t"/>
          <a:lstStyle/>
          <a:p>
            <a:pPr indent="0" marL="0">
              <a:buNone/>
            </a:pPr>
            <a:r>
              <a:rPr lang="en-US" sz="1300" dirty="0">
                <a:solidFill>
                  <a:schemeClr val="bg2"/>
                </a:solidFill>
              </a:rPr>
              <a:t>Each needs a brief, design pass, copy pass, render test and QA sign-off — the fifth costs what the first did.</a:t>
            </a:r>
            <a:endParaRPr lang="en-US" sz="1300" dirty="0"/>
          </a:p>
        </p:txBody>
      </p:sp>
      <p:sp>
        <p:nvSpPr>
          <p:cNvPr id="10" name="glass-14"/>
          <p:cNvSpPr/>
          <p:nvPr/>
        </p:nvSpPr>
        <p:spPr>
          <a:xfrm>
            <a:off x="5394960" y="3154680"/>
            <a:ext cx="6245352" cy="1371600"/>
          </a:xfrm>
          <a:prstGeom prst="roundRect">
            <a:avLst>
              <a:gd name="adj" fmla="val 9333"/>
            </a:avLst>
          </a:prstGeom>
          <a:solidFill>
            <a:schemeClr val="tx2">
              <a:alpha val="78000"/>
            </a:schemeClr>
          </a:solidFill>
          <a:ln w="9525">
            <a:solidFill>
              <a:schemeClr val="bg2">
                <a:alpha val="22000"/>
              </a:schemeClr>
            </a:solidFill>
            <a:prstDash val="solid"/>
          </a:ln>
        </p:spPr>
      </p:sp>
      <p:sp>
        <p:nvSpPr>
          <p:cNvPr id="11" name="text-15"/>
          <p:cNvSpPr txBox="1"/>
          <p:nvPr/>
        </p:nvSpPr>
        <p:spPr>
          <a:xfrm>
            <a:off x="5623560" y="3264408"/>
            <a:ext cx="1828800" cy="1143000"/>
          </a:xfrm>
          <a:prstGeom prst="rect">
            <a:avLst/>
          </a:prstGeom>
          <a:noFill/>
          <a:ln/>
        </p:spPr>
        <p:txBody>
          <a:bodyPr wrap="square" lIns="0" tIns="0" rIns="0" bIns="0" rtlCol="0" anchor="ctr"/>
          <a:lstStyle/>
          <a:p>
            <a:pPr indent="0" marL="0">
              <a:buNone/>
            </a:pPr>
            <a:r>
              <a:rPr lang="en-US" sz="4400" b="1" dirty="0">
                <a:solidFill>
                  <a:schemeClr val="accent3"/>
                </a:solidFill>
                <a:latin typeface="Century Gothic" pitchFamily="34" charset="0"/>
                <a:ea typeface="Century Gothic" pitchFamily="34" charset="-122"/>
                <a:cs typeface="Century Gothic" pitchFamily="34" charset="-120"/>
              </a:rPr>
              <a:t>200k</a:t>
            </a:r>
            <a:endParaRPr lang="en-US" sz="4400" dirty="0"/>
          </a:p>
        </p:txBody>
      </p:sp>
      <p:sp>
        <p:nvSpPr>
          <p:cNvPr id="12" name="text-16"/>
          <p:cNvSpPr txBox="1"/>
          <p:nvPr/>
        </p:nvSpPr>
        <p:spPr>
          <a:xfrm>
            <a:off x="7543800" y="3337560"/>
            <a:ext cx="3931920" cy="329184"/>
          </a:xfrm>
          <a:prstGeom prst="rect">
            <a:avLst/>
          </a:prstGeom>
          <a:noFill/>
          <a:ln/>
        </p:spPr>
        <p:txBody>
          <a:bodyPr wrap="square" lIns="0" tIns="0" rIns="0" bIns="0" rtlCol="0" anchor="t"/>
          <a:lstStyle/>
          <a:p>
            <a:pPr indent="0" marL="0">
              <a:buNone/>
            </a:pPr>
            <a:r>
              <a:rPr lang="en-US" sz="1600" b="1" dirty="0">
                <a:solidFill>
                  <a:schemeClr val="bg1"/>
                </a:solidFill>
              </a:rPr>
              <a:t>contacts in four coarse buckets</a:t>
            </a:r>
            <a:endParaRPr lang="en-US" sz="1600" dirty="0"/>
          </a:p>
        </p:txBody>
      </p:sp>
      <p:sp>
        <p:nvSpPr>
          <p:cNvPr id="13" name="text-17"/>
          <p:cNvSpPr txBox="1"/>
          <p:nvPr/>
        </p:nvSpPr>
        <p:spPr>
          <a:xfrm>
            <a:off x="7543800" y="3703320"/>
            <a:ext cx="3931920" cy="731520"/>
          </a:xfrm>
          <a:prstGeom prst="rect">
            <a:avLst/>
          </a:prstGeom>
          <a:noFill/>
          <a:ln/>
        </p:spPr>
        <p:txBody>
          <a:bodyPr wrap="square" lIns="0" tIns="0" rIns="0" bIns="0" rtlCol="0" anchor="t"/>
          <a:lstStyle/>
          <a:p>
            <a:pPr indent="0" marL="0">
              <a:buNone/>
            </a:pPr>
            <a:r>
              <a:rPr lang="en-US" sz="1300" dirty="0">
                <a:solidFill>
                  <a:schemeClr val="bg2"/>
                </a:solidFill>
              </a:rPr>
              <a:t>A durability buyer and a discount hunter both land in “high value”. The email speaks to neither.</a:t>
            </a:r>
            <a:endParaRPr lang="en-US" sz="1300" dirty="0"/>
          </a:p>
        </p:txBody>
      </p:sp>
      <p:sp>
        <p:nvSpPr>
          <p:cNvPr id="14" name="glass-18"/>
          <p:cNvSpPr/>
          <p:nvPr/>
        </p:nvSpPr>
        <p:spPr>
          <a:xfrm>
            <a:off x="5394960" y="4709160"/>
            <a:ext cx="6245352" cy="1371600"/>
          </a:xfrm>
          <a:prstGeom prst="roundRect">
            <a:avLst>
              <a:gd name="adj" fmla="val 9333"/>
            </a:avLst>
          </a:prstGeom>
          <a:solidFill>
            <a:schemeClr val="tx2">
              <a:alpha val="78000"/>
            </a:schemeClr>
          </a:solidFill>
          <a:ln w="9525">
            <a:solidFill>
              <a:schemeClr val="bg2">
                <a:alpha val="22000"/>
              </a:schemeClr>
            </a:solidFill>
            <a:prstDash val="solid"/>
          </a:ln>
        </p:spPr>
      </p:sp>
      <p:sp>
        <p:nvSpPr>
          <p:cNvPr id="15" name="text-19"/>
          <p:cNvSpPr txBox="1"/>
          <p:nvPr/>
        </p:nvSpPr>
        <p:spPr>
          <a:xfrm>
            <a:off x="5623560" y="4818888"/>
            <a:ext cx="1828800" cy="1143000"/>
          </a:xfrm>
          <a:prstGeom prst="rect">
            <a:avLst/>
          </a:prstGeom>
          <a:noFill/>
          <a:ln/>
        </p:spPr>
        <p:txBody>
          <a:bodyPr wrap="square" lIns="0" tIns="0" rIns="0" bIns="0" rtlCol="0" anchor="ctr"/>
          <a:lstStyle/>
          <a:p>
            <a:pPr indent="0" marL="0">
              <a:buNone/>
            </a:pPr>
            <a:r>
              <a:rPr lang="en-US" sz="4400" b="1" dirty="0">
                <a:solidFill>
                  <a:schemeClr val="accent4"/>
                </a:solidFill>
                <a:latin typeface="Century Gothic" pitchFamily="34" charset="0"/>
                <a:ea typeface="Century Gothic" pitchFamily="34" charset="-122"/>
                <a:cs typeface="Century Gothic" pitchFamily="34" charset="-120"/>
              </a:rPr>
              <a:t>1</a:t>
            </a:r>
            <a:endParaRPr lang="en-US" sz="4400" dirty="0"/>
          </a:p>
        </p:txBody>
      </p:sp>
      <p:sp>
        <p:nvSpPr>
          <p:cNvPr id="16" name="text-20"/>
          <p:cNvSpPr txBox="1"/>
          <p:nvPr/>
        </p:nvSpPr>
        <p:spPr>
          <a:xfrm>
            <a:off x="7543800" y="4892040"/>
            <a:ext cx="3931920" cy="329184"/>
          </a:xfrm>
          <a:prstGeom prst="rect">
            <a:avLst/>
          </a:prstGeom>
          <a:noFill/>
          <a:ln/>
        </p:spPr>
        <p:txBody>
          <a:bodyPr wrap="square" lIns="0" tIns="0" rIns="0" bIns="0" rtlCol="0" anchor="t"/>
          <a:lstStyle/>
          <a:p>
            <a:pPr indent="0" marL="0">
              <a:buNone/>
            </a:pPr>
            <a:r>
              <a:rPr lang="en-US" sz="1600" b="1" dirty="0">
                <a:solidFill>
                  <a:schemeClr val="bg1"/>
                </a:solidFill>
              </a:rPr>
              <a:t>merge tag counted as personalisation</a:t>
            </a:r>
            <a:endParaRPr lang="en-US" sz="1600" dirty="0"/>
          </a:p>
        </p:txBody>
      </p:sp>
      <p:sp>
        <p:nvSpPr>
          <p:cNvPr id="17" name="text-21"/>
          <p:cNvSpPr txBox="1"/>
          <p:nvPr/>
        </p:nvSpPr>
        <p:spPr>
          <a:xfrm>
            <a:off x="7543800" y="5257800"/>
            <a:ext cx="3931920" cy="731520"/>
          </a:xfrm>
          <a:prstGeom prst="rect">
            <a:avLst/>
          </a:prstGeom>
          <a:noFill/>
          <a:ln/>
        </p:spPr>
        <p:txBody>
          <a:bodyPr wrap="square" lIns="0" tIns="0" rIns="0" bIns="0" rtlCol="0" anchor="t"/>
          <a:lstStyle/>
          <a:p>
            <a:pPr indent="0" marL="0">
              <a:buNone/>
            </a:pPr>
            <a:r>
              <a:rPr lang="en-US" sz="1300" dirty="0">
                <a:solidFill>
                  <a:schemeClr val="bg2"/>
                </a:solidFill>
              </a:rPr>
              <a:t>Dropping a first name into a fixed sentence is usually as far as it goes.</a:t>
            </a:r>
            <a:endParaRPr lang="en-US" sz="13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Why four agents, not one prompt</a:t>
            </a:r>
            <a:endParaRPr lang="en-US" sz="2800" dirty="0"/>
          </a:p>
        </p:txBody>
      </p:sp>
      <p:sp>
        <p:nvSpPr>
          <p:cNvPr id="3" name="text-22"/>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Generating and checking are two jobs — they should never grade each other.</a:t>
            </a:r>
            <a:endParaRPr lang="en-US" sz="1600" dirty="0"/>
          </a:p>
        </p:txBody>
      </p:sp>
      <p:sp>
        <p:nvSpPr>
          <p:cNvPr id="4" name="glass-23"/>
          <p:cNvSpPr/>
          <p:nvPr/>
        </p:nvSpPr>
        <p:spPr>
          <a:xfrm>
            <a:off x="548640" y="1600200"/>
            <a:ext cx="3557016" cy="4023360"/>
          </a:xfrm>
          <a:prstGeom prst="roundRect">
            <a:avLst>
              <a:gd name="adj" fmla="val 3599"/>
            </a:avLst>
          </a:prstGeom>
          <a:solidFill>
            <a:schemeClr val="tx2">
              <a:alpha val="78000"/>
            </a:schemeClr>
          </a:solidFill>
          <a:ln w="9525">
            <a:solidFill>
              <a:schemeClr val="bg2">
                <a:alpha val="22000"/>
              </a:schemeClr>
            </a:solidFill>
            <a:prstDash val="solid"/>
          </a:ln>
        </p:spPr>
      </p:sp>
      <p:sp>
        <p:nvSpPr>
          <p:cNvPr id="5" name="icon-ring-24"/>
          <p:cNvSpPr/>
          <p:nvPr/>
        </p:nvSpPr>
        <p:spPr>
          <a:xfrm>
            <a:off x="822960" y="1828800"/>
            <a:ext cx="621792" cy="621792"/>
          </a:xfrm>
          <a:prstGeom prst="ellipse">
            <a:avLst/>
          </a:prstGeom>
          <a:solidFill>
            <a:schemeClr val="bg2">
              <a:alpha val="18000"/>
            </a:schemeClr>
          </a:solidFill>
          <a:ln w="12700">
            <a:solidFill>
              <a:schemeClr val="bg2">
                <a:alpha val="70000"/>
              </a:schemeClr>
            </a:solidFill>
            <a:prstDash val="solid"/>
          </a:ln>
        </p:spPr>
      </p:sp>
      <p:pic>
        <p:nvPicPr>
          <p:cNvPr id="6" name="icon-25" descr="preencoded.png">    </p:cNvPr>
          <p:cNvPicPr>
            <a:picLocks noChangeAspect="1"/>
          </p:cNvPicPr>
          <p:nvPr/>
        </p:nvPicPr>
        <p:blipFill>
          <a:blip r:embed="rId1"/>
          <a:stretch>
            <a:fillRect/>
          </a:stretch>
        </p:blipFill>
        <p:spPr>
          <a:xfrm>
            <a:off x="984626" y="1990466"/>
            <a:ext cx="298460" cy="298460"/>
          </a:xfrm>
          <a:prstGeom prst="rect">
            <a:avLst/>
          </a:prstGeom>
        </p:spPr>
      </p:pic>
      <p:sp>
        <p:nvSpPr>
          <p:cNvPr id="7" name="text-26"/>
          <p:cNvSpPr txBox="1"/>
          <p:nvPr/>
        </p:nvSpPr>
        <p:spPr>
          <a:xfrm>
            <a:off x="822960" y="2651760"/>
            <a:ext cx="3063240" cy="384048"/>
          </a:xfrm>
          <a:prstGeom prst="rect">
            <a:avLst/>
          </a:prstGeom>
          <a:noFill/>
          <a:ln/>
        </p:spPr>
        <p:txBody>
          <a:bodyPr wrap="square" lIns="0" tIns="0" rIns="0" bIns="0" rtlCol="0" anchor="t"/>
          <a:lstStyle/>
          <a:p>
            <a:pPr indent="0" marL="0">
              <a:buNone/>
            </a:pPr>
            <a:r>
              <a:rPr lang="en-US" sz="1900" b="1" dirty="0">
                <a:solidFill>
                  <a:schemeClr val="bg1"/>
                </a:solidFill>
                <a:latin typeface="Century Gothic" pitchFamily="34" charset="0"/>
                <a:ea typeface="Century Gothic" pitchFamily="34" charset="-122"/>
                <a:cs typeface="Century Gothic" pitchFamily="34" charset="-120"/>
              </a:rPr>
              <a:t>One large prompt</a:t>
            </a:r>
            <a:endParaRPr lang="en-US" sz="1900" dirty="0"/>
          </a:p>
        </p:txBody>
      </p:sp>
      <p:sp>
        <p:nvSpPr>
          <p:cNvPr id="8" name="text-27"/>
          <p:cNvSpPr txBox="1"/>
          <p:nvPr/>
        </p:nvSpPr>
        <p:spPr>
          <a:xfrm>
            <a:off x="822960" y="3044952"/>
            <a:ext cx="3063240" cy="365760"/>
          </a:xfrm>
          <a:prstGeom prst="rect">
            <a:avLst/>
          </a:prstGeom>
          <a:noFill/>
          <a:ln/>
        </p:spPr>
        <p:txBody>
          <a:bodyPr wrap="square" lIns="0" tIns="0" rIns="0" bIns="0" rtlCol="0" anchor="t"/>
          <a:lstStyle/>
          <a:p>
            <a:pPr indent="0" marL="0">
              <a:buNone/>
            </a:pPr>
            <a:r>
              <a:rPr lang="en-US" sz="1400" i="1" dirty="0">
                <a:solidFill>
                  <a:schemeClr val="bg2"/>
                </a:solidFill>
              </a:rPr>
              <a:t>Reasonable output, nothing auditable</a:t>
            </a:r>
            <a:endParaRPr lang="en-US" sz="1400" dirty="0"/>
          </a:p>
        </p:txBody>
      </p:sp>
      <p:sp>
        <p:nvSpPr>
          <p:cNvPr id="9" name="text-28"/>
          <p:cNvSpPr txBox="1"/>
          <p:nvPr/>
        </p:nvSpPr>
        <p:spPr>
          <a:xfrm>
            <a:off x="822960" y="3566160"/>
            <a:ext cx="3063240" cy="1965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2"/>
                </a:solidFill>
              </a:rPr>
              <a:t>Can’t retry one step</a:t>
            </a:r>
            <a:endParaRPr lang="en-US" sz="1400" dirty="0"/>
          </a:p>
          <a:p>
            <a:pPr marL="177800" indent="-177800">
              <a:spcAft>
                <a:spcPts val="900"/>
              </a:spcAft>
              <a:buSzPct val="100000"/>
              <a:buChar char="•"/>
            </a:pPr>
            <a:r>
              <a:rPr lang="en-US" sz="1400" dirty="0">
                <a:solidFill>
                  <a:schemeClr val="bg2"/>
                </a:solidFill>
              </a:rPr>
              <a:t>Grades its own work</a:t>
            </a:r>
            <a:endParaRPr lang="en-US" sz="1400" dirty="0"/>
          </a:p>
          <a:p>
            <a:pPr marL="177800" indent="-177800">
              <a:spcAft>
                <a:spcPts val="900"/>
              </a:spcAft>
              <a:buSzPct val="100000"/>
              <a:buChar char="•"/>
            </a:pPr>
            <a:r>
              <a:rPr lang="en-US" sz="1400" dirty="0">
                <a:solidFill>
                  <a:schemeClr val="bg2"/>
                </a:solidFill>
              </a:rPr>
              <a:t>A model call per customer</a:t>
            </a:r>
            <a:endParaRPr lang="en-US" sz="1400" dirty="0"/>
          </a:p>
        </p:txBody>
      </p:sp>
      <p:sp>
        <p:nvSpPr>
          <p:cNvPr id="10" name="glass-29"/>
          <p:cNvSpPr/>
          <p:nvPr/>
        </p:nvSpPr>
        <p:spPr>
          <a:xfrm>
            <a:off x="4315968" y="1600200"/>
            <a:ext cx="3557016" cy="4023360"/>
          </a:xfrm>
          <a:prstGeom prst="roundRect">
            <a:avLst>
              <a:gd name="adj" fmla="val 3599"/>
            </a:avLst>
          </a:prstGeom>
          <a:solidFill>
            <a:schemeClr val="tx2">
              <a:alpha val="78000"/>
            </a:schemeClr>
          </a:solidFill>
          <a:ln w="9525">
            <a:solidFill>
              <a:schemeClr val="bg2">
                <a:alpha val="22000"/>
              </a:schemeClr>
            </a:solidFill>
            <a:prstDash val="solid"/>
          </a:ln>
        </p:spPr>
      </p:sp>
      <p:sp>
        <p:nvSpPr>
          <p:cNvPr id="11" name="icon-ring-30"/>
          <p:cNvSpPr/>
          <p:nvPr/>
        </p:nvSpPr>
        <p:spPr>
          <a:xfrm>
            <a:off x="4590288" y="1828800"/>
            <a:ext cx="621792" cy="621792"/>
          </a:xfrm>
          <a:prstGeom prst="ellipse">
            <a:avLst/>
          </a:prstGeom>
          <a:solidFill>
            <a:schemeClr val="bg2">
              <a:alpha val="18000"/>
            </a:schemeClr>
          </a:solidFill>
          <a:ln w="12700">
            <a:solidFill>
              <a:schemeClr val="bg2">
                <a:alpha val="70000"/>
              </a:schemeClr>
            </a:solidFill>
            <a:prstDash val="solid"/>
          </a:ln>
        </p:spPr>
      </p:sp>
      <p:pic>
        <p:nvPicPr>
          <p:cNvPr id="12" name="icon-31" descr="preencoded.png">    </p:cNvPr>
          <p:cNvPicPr>
            <a:picLocks noChangeAspect="1"/>
          </p:cNvPicPr>
          <p:nvPr/>
        </p:nvPicPr>
        <p:blipFill>
          <a:blip r:embed="rId2"/>
          <a:stretch>
            <a:fillRect/>
          </a:stretch>
        </p:blipFill>
        <p:spPr>
          <a:xfrm>
            <a:off x="4751954" y="1990466"/>
            <a:ext cx="298460" cy="298460"/>
          </a:xfrm>
          <a:prstGeom prst="rect">
            <a:avLst/>
          </a:prstGeom>
        </p:spPr>
      </p:pic>
      <p:sp>
        <p:nvSpPr>
          <p:cNvPr id="13" name="text-32"/>
          <p:cNvSpPr txBox="1"/>
          <p:nvPr/>
        </p:nvSpPr>
        <p:spPr>
          <a:xfrm>
            <a:off x="4590288" y="2651760"/>
            <a:ext cx="3063240" cy="384048"/>
          </a:xfrm>
          <a:prstGeom prst="rect">
            <a:avLst/>
          </a:prstGeom>
          <a:noFill/>
          <a:ln/>
        </p:spPr>
        <p:txBody>
          <a:bodyPr wrap="square" lIns="0" tIns="0" rIns="0" bIns="0" rtlCol="0" anchor="t"/>
          <a:lstStyle/>
          <a:p>
            <a:pPr indent="0" marL="0">
              <a:buNone/>
            </a:pPr>
            <a:r>
              <a:rPr lang="en-US" sz="1900" b="1" dirty="0">
                <a:solidFill>
                  <a:schemeClr val="bg1"/>
                </a:solidFill>
                <a:latin typeface="Century Gothic" pitchFamily="34" charset="0"/>
                <a:ea typeface="Century Gothic" pitchFamily="34" charset="-122"/>
                <a:cs typeface="Century Gothic" pitchFamily="34" charset="-120"/>
              </a:rPr>
              <a:t>Rules-based platform</a:t>
            </a:r>
            <a:endParaRPr lang="en-US" sz="1900" dirty="0"/>
          </a:p>
        </p:txBody>
      </p:sp>
      <p:sp>
        <p:nvSpPr>
          <p:cNvPr id="14" name="text-33"/>
          <p:cNvSpPr txBox="1"/>
          <p:nvPr/>
        </p:nvSpPr>
        <p:spPr>
          <a:xfrm>
            <a:off x="4590288" y="3044952"/>
            <a:ext cx="3063240" cy="365760"/>
          </a:xfrm>
          <a:prstGeom prst="rect">
            <a:avLst/>
          </a:prstGeom>
          <a:noFill/>
          <a:ln/>
        </p:spPr>
        <p:txBody>
          <a:bodyPr wrap="square" lIns="0" tIns="0" rIns="0" bIns="0" rtlCol="0" anchor="t"/>
          <a:lstStyle/>
          <a:p>
            <a:pPr indent="0" marL="0">
              <a:buNone/>
            </a:pPr>
            <a:r>
              <a:rPr lang="en-US" sz="1400" i="1" dirty="0">
                <a:solidFill>
                  <a:schemeClr val="bg2"/>
                </a:solidFill>
              </a:rPr>
              <a:t>Fully auditable, but no new content</a:t>
            </a:r>
            <a:endParaRPr lang="en-US" sz="1400" dirty="0"/>
          </a:p>
        </p:txBody>
      </p:sp>
      <p:sp>
        <p:nvSpPr>
          <p:cNvPr id="15" name="text-34"/>
          <p:cNvSpPr txBox="1"/>
          <p:nvPr/>
        </p:nvSpPr>
        <p:spPr>
          <a:xfrm>
            <a:off x="4590288" y="3566160"/>
            <a:ext cx="3063240" cy="1965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2"/>
                </a:solidFill>
              </a:rPr>
              <a:t>Only routes human-written copy</a:t>
            </a:r>
            <a:endParaRPr lang="en-US" sz="1400" dirty="0"/>
          </a:p>
          <a:p>
            <a:pPr marL="177800" indent="-177800">
              <a:spcAft>
                <a:spcPts val="900"/>
              </a:spcAft>
              <a:buSzPct val="100000"/>
              <a:buChar char="•"/>
            </a:pPr>
            <a:r>
              <a:rPr lang="en-US" sz="1400" dirty="0">
                <a:solidFill>
                  <a:schemeClr val="bg2"/>
                </a:solidFill>
              </a:rPr>
              <a:t>Variants still tied to headcount</a:t>
            </a:r>
            <a:endParaRPr lang="en-US" sz="1400" dirty="0"/>
          </a:p>
        </p:txBody>
      </p:sp>
      <p:sp>
        <p:nvSpPr>
          <p:cNvPr id="16" name="glass-35"/>
          <p:cNvSpPr/>
          <p:nvPr/>
        </p:nvSpPr>
        <p:spPr>
          <a:xfrm>
            <a:off x="8083296" y="1600200"/>
            <a:ext cx="3557016" cy="4023360"/>
          </a:xfrm>
          <a:prstGeom prst="roundRect">
            <a:avLst>
              <a:gd name="adj" fmla="val 3599"/>
            </a:avLst>
          </a:prstGeom>
          <a:solidFill>
            <a:schemeClr val="accent1">
              <a:alpha val="22000"/>
            </a:schemeClr>
          </a:solidFill>
          <a:ln w="19050">
            <a:solidFill>
              <a:schemeClr val="accent1">
                <a:alpha val="90000"/>
              </a:schemeClr>
            </a:solidFill>
            <a:prstDash val="solid"/>
          </a:ln>
          <a:effectLst>
            <a:outerShdw sx="100000" sy="100000" kx="0" ky="0" algn="bl" rotWithShape="0" blurRad="177800" dist="38100" dir="5400000">
              <a:srgbClr val="000000">
                <a:alpha val="35000"/>
              </a:srgbClr>
            </a:outerShdw>
          </a:effectLst>
        </p:spPr>
      </p:sp>
      <p:pic>
        <p:nvPicPr>
          <p:cNvPr id="17" name="icon3d-36" descr="C:\Users\himat\AppData\Local\Temp\claude\c--Ai-stuffs-MOSAIC\b3ecbbac-d885-4fec-a9f8-3496f8d06c96\scratchpad\build\assets\icon-orchestrator.png">    </p:cNvPr>
          <p:cNvPicPr>
            <a:picLocks noChangeAspect="1"/>
          </p:cNvPicPr>
          <p:nvPr/>
        </p:nvPicPr>
        <p:blipFill>
          <a:blip r:embed="rId3"/>
          <a:stretch>
            <a:fillRect/>
          </a:stretch>
        </p:blipFill>
        <p:spPr>
          <a:xfrm>
            <a:off x="8284464" y="1691640"/>
            <a:ext cx="868680" cy="868680"/>
          </a:xfrm>
          <a:prstGeom prst="rect">
            <a:avLst/>
          </a:prstGeom>
        </p:spPr>
      </p:pic>
      <p:sp>
        <p:nvSpPr>
          <p:cNvPr id="18" name="text-37"/>
          <p:cNvSpPr txBox="1"/>
          <p:nvPr/>
        </p:nvSpPr>
        <p:spPr>
          <a:xfrm>
            <a:off x="8357616" y="2651760"/>
            <a:ext cx="3063240" cy="384048"/>
          </a:xfrm>
          <a:prstGeom prst="rect">
            <a:avLst/>
          </a:prstGeom>
          <a:noFill/>
          <a:ln/>
        </p:spPr>
        <p:txBody>
          <a:bodyPr wrap="square" lIns="0" tIns="0" rIns="0" bIns="0" rtlCol="0" anchor="t"/>
          <a:lstStyle/>
          <a:p>
            <a:pPr indent="0" marL="0">
              <a:buNone/>
            </a:pPr>
            <a:r>
              <a:rPr lang="en-US" sz="1900" b="1" dirty="0">
                <a:solidFill>
                  <a:schemeClr val="bg1"/>
                </a:solidFill>
                <a:latin typeface="Century Gothic" pitchFamily="34" charset="0"/>
                <a:ea typeface="Century Gothic" pitchFamily="34" charset="-122"/>
                <a:cs typeface="Century Gothic" pitchFamily="34" charset="-120"/>
              </a:rPr>
              <a:t>MOSAIC: four agents</a:t>
            </a:r>
            <a:endParaRPr lang="en-US" sz="1900" dirty="0"/>
          </a:p>
        </p:txBody>
      </p:sp>
      <p:sp>
        <p:nvSpPr>
          <p:cNvPr id="19" name="text-38"/>
          <p:cNvSpPr txBox="1"/>
          <p:nvPr/>
        </p:nvSpPr>
        <p:spPr>
          <a:xfrm>
            <a:off x="8357616" y="3044952"/>
            <a:ext cx="3063240" cy="365760"/>
          </a:xfrm>
          <a:prstGeom prst="rect">
            <a:avLst/>
          </a:prstGeom>
          <a:noFill/>
          <a:ln/>
        </p:spPr>
        <p:txBody>
          <a:bodyPr wrap="square" lIns="0" tIns="0" rIns="0" bIns="0" rtlCol="0" anchor="t"/>
          <a:lstStyle/>
          <a:p>
            <a:pPr indent="0" marL="0">
              <a:buNone/>
            </a:pPr>
            <a:r>
              <a:rPr lang="en-US" sz="1400" i="1" dirty="0">
                <a:solidFill>
                  <a:schemeClr val="accent1"/>
                </a:solidFill>
              </a:rPr>
              <a:t>Generation and assurance, separated</a:t>
            </a:r>
            <a:endParaRPr lang="en-US" sz="1400" dirty="0"/>
          </a:p>
        </p:txBody>
      </p:sp>
      <p:sp>
        <p:nvSpPr>
          <p:cNvPr id="20" name="text-39"/>
          <p:cNvSpPr txBox="1"/>
          <p:nvPr/>
        </p:nvSpPr>
        <p:spPr>
          <a:xfrm>
            <a:off x="8357616" y="3566160"/>
            <a:ext cx="3063240" cy="19659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chemeClr val="bg1"/>
                </a:solidFill>
              </a:rPr>
              <a:t>AI work once per segment</a:t>
            </a:r>
            <a:endParaRPr lang="en-US" sz="1400" dirty="0"/>
          </a:p>
          <a:p>
            <a:pPr marL="177800" indent="-177800">
              <a:spcAft>
                <a:spcPts val="900"/>
              </a:spcAft>
              <a:buSzPct val="100000"/>
              <a:buChar char="•"/>
            </a:pPr>
            <a:r>
              <a:rPr lang="en-US" sz="1400" dirty="0">
                <a:solidFill>
                  <a:schemeClr val="bg1"/>
                </a:solidFill>
              </a:rPr>
              <a:t>Independent Guardian with a veto</a:t>
            </a:r>
            <a:endParaRPr lang="en-US" sz="1400" dirty="0"/>
          </a:p>
          <a:p>
            <a:pPr marL="177800" indent="-177800">
              <a:spcAft>
                <a:spcPts val="900"/>
              </a:spcAft>
              <a:buSzPct val="100000"/>
              <a:buChar char="•"/>
            </a:pPr>
            <a:r>
              <a:rPr lang="en-US" sz="1400" dirty="0">
                <a:solidFill>
                  <a:schemeClr val="bg1"/>
                </a:solidFill>
              </a:rPr>
              <a:t>Re-run one stage, not all</a:t>
            </a:r>
            <a:endParaRPr lang="en-US" sz="1400" dirty="0"/>
          </a:p>
        </p:txBody>
      </p:sp>
      <p:sp>
        <p:nvSpPr>
          <p:cNvPr id="21" name="glass-40"/>
          <p:cNvSpPr/>
          <p:nvPr/>
        </p:nvSpPr>
        <p:spPr>
          <a:xfrm>
            <a:off x="548640" y="5760720"/>
            <a:ext cx="11091672" cy="457200"/>
          </a:xfrm>
          <a:prstGeom prst="roundRect">
            <a:avLst>
              <a:gd name="adj" fmla="val 28000"/>
            </a:avLst>
          </a:prstGeom>
          <a:solidFill>
            <a:schemeClr val="accent1">
              <a:alpha val="12000"/>
            </a:schemeClr>
          </a:solidFill>
          <a:ln w="12700">
            <a:solidFill>
              <a:schemeClr val="accent1">
                <a:alpha val="30000"/>
              </a:schemeClr>
            </a:solidFill>
            <a:prstDash val="solid"/>
          </a:ln>
        </p:spPr>
      </p:sp>
      <p:sp>
        <p:nvSpPr>
          <p:cNvPr id="22" name="text-41"/>
          <p:cNvSpPr txBox="1"/>
          <p:nvPr/>
        </p:nvSpPr>
        <p:spPr>
          <a:xfrm>
            <a:off x="777240" y="5760720"/>
            <a:ext cx="10698480" cy="457200"/>
          </a:xfrm>
          <a:prstGeom prst="rect">
            <a:avLst/>
          </a:prstGeom>
          <a:noFill/>
          <a:ln/>
        </p:spPr>
        <p:txBody>
          <a:bodyPr wrap="square" lIns="0" tIns="0" rIns="0" bIns="0" rtlCol="0" anchor="ctr"/>
          <a:lstStyle/>
          <a:p>
            <a:pPr indent="0" marL="0">
              <a:buNone/>
            </a:pPr>
            <a:r>
              <a:rPr lang="en-US" sz="1400" b="1" dirty="0">
                <a:solidFill>
                  <a:schemeClr val="accent1"/>
                </a:solidFill>
              </a:rPr>
              <a:t>n contacts ≫ k segments  </a:t>
            </a:r>
            <a:pPr indent="0" marL="0">
              <a:buNone/>
            </a:pPr>
            <a:r>
              <a:rPr lang="en-US" sz="1400" dirty="0">
                <a:solidFill>
                  <a:schemeClr val="bg1"/>
                </a:solidFill>
              </a:rPr>
              <a:t>— so a creative per segment is affordable.</a:t>
            </a:r>
            <a:endParaRPr lang="en-US" sz="14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79"/>
          <p:cNvSpPr txBox="1"/>
          <p:nvPr/>
        </p:nvSpPr>
        <p:spPr>
          <a:xfrm>
            <a:off x="685800" y="1600200"/>
            <a:ext cx="2743200" cy="1005840"/>
          </a:xfrm>
          <a:prstGeom prst="rect">
            <a:avLst/>
          </a:prstGeom>
          <a:noFill/>
          <a:ln/>
        </p:spPr>
        <p:txBody>
          <a:bodyPr wrap="square" lIns="0" tIns="0" rIns="0" bIns="0" rtlCol="0" anchor="t"/>
          <a:lstStyle/>
          <a:p>
            <a:pPr indent="0" marL="0">
              <a:buNone/>
            </a:pPr>
            <a:r>
              <a:rPr lang="en-US" sz="6400" b="1" dirty="0">
                <a:solidFill>
                  <a:schemeClr val="accent1"/>
                </a:solidFill>
                <a:latin typeface="Century Gothic" pitchFamily="34" charset="0"/>
                <a:ea typeface="Century Gothic" pitchFamily="34" charset="-122"/>
                <a:cs typeface="Century Gothic" pitchFamily="34" charset="-120"/>
              </a:rPr>
              <a:t>01</a:t>
            </a:r>
            <a:endParaRPr lang="en-US" sz="6400" dirty="0"/>
          </a:p>
        </p:txBody>
      </p:sp>
      <p:sp>
        <p:nvSpPr>
          <p:cNvPr id="3" name="Text 0"/>
          <p:cNvSpPr/>
          <p:nvPr>
            <p:ph idx="100" type="title" hasCustomPrompt="1"/>
          </p:nvPr>
        </p:nvSpPr>
        <p:spPr>
          <a:xfrm>
            <a:off x="685800" y="2788920"/>
            <a:ext cx="6217920" cy="86868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The solution</a:t>
            </a:r>
            <a:endParaRPr lang="en-US" sz="4400" dirty="0"/>
          </a:p>
        </p:txBody>
      </p:sp>
      <p:sp>
        <p:nvSpPr>
          <p:cNvPr id="4" name="Text 0"/>
          <p:cNvSpPr/>
          <p:nvPr>
            <p:ph idx="101" type="body" hasCustomPrompt="1"/>
          </p:nvPr>
        </p:nvSpPr>
        <p:spPr>
          <a:xfrm>
            <a:off x="685800" y="379476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Five steps, four agents and one human gate — each agent owns exactly one decision.</a:t>
            </a:r>
            <a:endParaRPr lang="en-US" sz="1800" dirty="0"/>
          </a:p>
        </p:txBody>
      </p:sp>
      <p:sp>
        <p:nvSpPr>
          <p:cNvPr id="5" name="tile-80"/>
          <p:cNvSpPr/>
          <p:nvPr/>
        </p:nvSpPr>
        <p:spPr>
          <a:xfrm>
            <a:off x="685800" y="5257800"/>
            <a:ext cx="182880" cy="182880"/>
          </a:xfrm>
          <a:prstGeom prst="roundRect">
            <a:avLst>
              <a:gd name="adj" fmla="val 20000"/>
            </a:avLst>
          </a:prstGeom>
          <a:solidFill>
            <a:schemeClr val="accent6"/>
          </a:solidFill>
          <a:ln/>
        </p:spPr>
      </p:sp>
      <p:sp>
        <p:nvSpPr>
          <p:cNvPr id="6" name="tile-81"/>
          <p:cNvSpPr/>
          <p:nvPr/>
        </p:nvSpPr>
        <p:spPr>
          <a:xfrm>
            <a:off x="941832" y="5257800"/>
            <a:ext cx="182880" cy="182880"/>
          </a:xfrm>
          <a:prstGeom prst="roundRect">
            <a:avLst>
              <a:gd name="adj" fmla="val 20000"/>
            </a:avLst>
          </a:prstGeom>
          <a:solidFill>
            <a:schemeClr val="accent3"/>
          </a:solidFill>
          <a:ln/>
        </p:spPr>
      </p:sp>
      <p:sp>
        <p:nvSpPr>
          <p:cNvPr id="7" name="tile-82"/>
          <p:cNvSpPr/>
          <p:nvPr/>
        </p:nvSpPr>
        <p:spPr>
          <a:xfrm>
            <a:off x="1197864" y="5257800"/>
            <a:ext cx="182880" cy="182880"/>
          </a:xfrm>
          <a:prstGeom prst="roundRect">
            <a:avLst>
              <a:gd name="adj" fmla="val 20000"/>
            </a:avLst>
          </a:prstGeom>
          <a:solidFill>
            <a:schemeClr val="accent2"/>
          </a:solidFill>
          <a:ln/>
        </p:spPr>
      </p:sp>
      <p:sp>
        <p:nvSpPr>
          <p:cNvPr id="8" name="tile-83"/>
          <p:cNvSpPr/>
          <p:nvPr/>
        </p:nvSpPr>
        <p:spPr>
          <a:xfrm>
            <a:off x="1453896" y="5257800"/>
            <a:ext cx="182880" cy="182880"/>
          </a:xfrm>
          <a:prstGeom prst="roundRect">
            <a:avLst>
              <a:gd name="adj" fmla="val 20000"/>
            </a:avLst>
          </a:prstGeom>
          <a:solidFill>
            <a:schemeClr val="accent5"/>
          </a:solidFill>
          <a:ln/>
        </p:spPr>
      </p:sp>
      <p:sp>
        <p:nvSpPr>
          <p:cNvPr id="9" name="tile-84"/>
          <p:cNvSpPr/>
          <p:nvPr/>
        </p:nvSpPr>
        <p:spPr>
          <a:xfrm>
            <a:off x="1709928" y="5257800"/>
            <a:ext cx="182880" cy="182880"/>
          </a:xfrm>
          <a:prstGeom prst="roundRect">
            <a:avLst>
              <a:gd name="adj" fmla="val 20000"/>
            </a:avLst>
          </a:prstGeom>
          <a:solidFill>
            <a:schemeClr val="accent4"/>
          </a:solidFill>
          <a:ln/>
        </p:spPr>
      </p:sp>
      <p:sp>
        <p:nvSpPr>
          <p:cNvPr id="10" name="tile-85"/>
          <p:cNvSpPr/>
          <p:nvPr/>
        </p:nvSpPr>
        <p:spPr>
          <a:xfrm>
            <a:off x="1965960" y="5257800"/>
            <a:ext cx="182880" cy="182880"/>
          </a:xfrm>
          <a:prstGeom prst="roundRect">
            <a:avLst>
              <a:gd name="adj" fmla="val 20000"/>
            </a:avLst>
          </a:prstGeom>
          <a:solidFill>
            <a:schemeClr val="accent1"/>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Five steps, four agents, one human gate</a:t>
            </a:r>
            <a:endParaRPr lang="en-US" sz="2800" dirty="0"/>
          </a:p>
        </p:txBody>
      </p:sp>
      <p:sp>
        <p:nvSpPr>
          <p:cNvPr id="3" name="text-86"/>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A tab unlocks only when a person can review the stage before it.</a:t>
            </a:r>
            <a:endParaRPr lang="en-US" sz="1600" dirty="0"/>
          </a:p>
        </p:txBody>
      </p:sp>
      <p:sp>
        <p:nvSpPr>
          <p:cNvPr id="4" name="glass-87"/>
          <p:cNvSpPr/>
          <p:nvPr/>
        </p:nvSpPr>
        <p:spPr>
          <a:xfrm>
            <a:off x="548640" y="1572768"/>
            <a:ext cx="1993392" cy="2852928"/>
          </a:xfrm>
          <a:prstGeom prst="roundRect">
            <a:avLst>
              <a:gd name="adj" fmla="val 6422"/>
            </a:avLst>
          </a:prstGeom>
          <a:solidFill>
            <a:schemeClr val="tx2">
              <a:alpha val="78000"/>
            </a:schemeClr>
          </a:solidFill>
          <a:ln w="9525">
            <a:solidFill>
              <a:schemeClr val="bg2">
                <a:alpha val="22000"/>
              </a:schemeClr>
            </a:solidFill>
            <a:prstDash val="solid"/>
          </a:ln>
        </p:spPr>
      </p:sp>
      <p:sp>
        <p:nvSpPr>
          <p:cNvPr id="5" name="icon-ring-88"/>
          <p:cNvSpPr/>
          <p:nvPr/>
        </p:nvSpPr>
        <p:spPr>
          <a:xfrm>
            <a:off x="1197864" y="1755648"/>
            <a:ext cx="694944" cy="694944"/>
          </a:xfrm>
          <a:prstGeom prst="ellipse">
            <a:avLst/>
          </a:prstGeom>
          <a:solidFill>
            <a:schemeClr val="bg2">
              <a:alpha val="18000"/>
            </a:schemeClr>
          </a:solidFill>
          <a:ln w="12700">
            <a:solidFill>
              <a:schemeClr val="bg2">
                <a:alpha val="70000"/>
              </a:schemeClr>
            </a:solidFill>
            <a:prstDash val="solid"/>
          </a:ln>
        </p:spPr>
      </p:sp>
      <p:pic>
        <p:nvPicPr>
          <p:cNvPr id="6" name="icon-89" descr="preencoded.png">    </p:cNvPr>
          <p:cNvPicPr>
            <a:picLocks noChangeAspect="1"/>
          </p:cNvPicPr>
          <p:nvPr/>
        </p:nvPicPr>
        <p:blipFill>
          <a:blip r:embed="rId1"/>
          <a:stretch>
            <a:fillRect/>
          </a:stretch>
        </p:blipFill>
        <p:spPr>
          <a:xfrm>
            <a:off x="1378549" y="1936333"/>
            <a:ext cx="333573" cy="333573"/>
          </a:xfrm>
          <a:prstGeom prst="rect">
            <a:avLst/>
          </a:prstGeom>
        </p:spPr>
      </p:pic>
      <p:sp>
        <p:nvSpPr>
          <p:cNvPr id="7" name="text-90"/>
          <p:cNvSpPr txBox="1"/>
          <p:nvPr/>
        </p:nvSpPr>
        <p:spPr>
          <a:xfrm>
            <a:off x="713232" y="2606040"/>
            <a:ext cx="1737360" cy="256032"/>
          </a:xfrm>
          <a:prstGeom prst="rect">
            <a:avLst/>
          </a:prstGeom>
          <a:noFill/>
          <a:ln/>
        </p:spPr>
        <p:txBody>
          <a:bodyPr wrap="square" lIns="0" tIns="0" rIns="0" bIns="0" rtlCol="0" anchor="t"/>
          <a:lstStyle/>
          <a:p>
            <a:pPr indent="0" marL="0">
              <a:buNone/>
            </a:pPr>
            <a:r>
              <a:rPr lang="en-US" sz="1050" b="1" spc="100" kern="0" dirty="0">
                <a:solidFill>
                  <a:schemeClr val="bg2"/>
                </a:solidFill>
              </a:rPr>
              <a:t>01 · COMPANY INFO</a:t>
            </a:r>
            <a:endParaRPr lang="en-US" sz="1050" dirty="0"/>
          </a:p>
        </p:txBody>
      </p:sp>
      <p:sp>
        <p:nvSpPr>
          <p:cNvPr id="8" name="text-91"/>
          <p:cNvSpPr txBox="1"/>
          <p:nvPr/>
        </p:nvSpPr>
        <p:spPr>
          <a:xfrm>
            <a:off x="713232" y="2871216"/>
            <a:ext cx="1737360" cy="566928"/>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Intake</a:t>
            </a:r>
            <a:endParaRPr lang="en-US" sz="1450" dirty="0"/>
          </a:p>
        </p:txBody>
      </p:sp>
      <p:sp>
        <p:nvSpPr>
          <p:cNvPr id="9" name="text-92"/>
          <p:cNvSpPr txBox="1"/>
          <p:nvPr/>
        </p:nvSpPr>
        <p:spPr>
          <a:xfrm>
            <a:off x="713232" y="3456432"/>
            <a:ext cx="1737360" cy="914400"/>
          </a:xfrm>
          <a:prstGeom prst="rect">
            <a:avLst/>
          </a:prstGeom>
          <a:noFill/>
          <a:ln/>
        </p:spPr>
        <p:txBody>
          <a:bodyPr wrap="square" lIns="0" tIns="0" rIns="0" bIns="0" rtlCol="0" anchor="t"/>
          <a:lstStyle/>
          <a:p>
            <a:pPr indent="0" marL="0">
              <a:buNone/>
            </a:pPr>
            <a:r>
              <a:rPr lang="en-US" sz="1300" dirty="0">
                <a:solidFill>
                  <a:schemeClr val="bg2"/>
                </a:solidFill>
              </a:rPr>
              <a:t>Company profile, offers and customer CSV</a:t>
            </a:r>
            <a:endParaRPr lang="en-US" sz="1300" dirty="0"/>
          </a:p>
        </p:txBody>
      </p:sp>
      <p:sp>
        <p:nvSpPr>
          <p:cNvPr id="10" name="connector-93"/>
          <p:cNvSpPr/>
          <p:nvPr/>
        </p:nvSpPr>
        <p:spPr>
          <a:xfrm>
            <a:off x="2569464" y="2075688"/>
            <a:ext cx="219456" cy="91"/>
          </a:xfrm>
          <a:prstGeom prst="line">
            <a:avLst/>
          </a:prstGeom>
          <a:noFill/>
          <a:ln w="25400">
            <a:solidFill>
              <a:schemeClr val="accent1"/>
            </a:solidFill>
            <a:prstDash val="solid"/>
            <a:tailEnd type="triangle"/>
          </a:ln>
        </p:spPr>
      </p:sp>
      <p:sp>
        <p:nvSpPr>
          <p:cNvPr id="11" name="connector-94"/>
          <p:cNvSpPr/>
          <p:nvPr/>
        </p:nvSpPr>
        <p:spPr>
          <a:xfrm>
            <a:off x="1545336" y="4443984"/>
            <a:ext cx="91" cy="146304"/>
          </a:xfrm>
          <a:prstGeom prst="line">
            <a:avLst/>
          </a:prstGeom>
          <a:noFill/>
          <a:ln w="15875">
            <a:solidFill>
              <a:schemeClr val="bg2"/>
            </a:solidFill>
            <a:prstDash val="solid"/>
            <a:tailEnd type="triangle"/>
          </a:ln>
        </p:spPr>
      </p:sp>
      <p:sp>
        <p:nvSpPr>
          <p:cNvPr id="12" name="glass-95"/>
          <p:cNvSpPr/>
          <p:nvPr/>
        </p:nvSpPr>
        <p:spPr>
          <a:xfrm>
            <a:off x="548640" y="4608576"/>
            <a:ext cx="1993392" cy="457200"/>
          </a:xfrm>
          <a:prstGeom prst="roundRect">
            <a:avLst>
              <a:gd name="adj" fmla="val 50000"/>
            </a:avLst>
          </a:prstGeom>
          <a:solidFill>
            <a:schemeClr val="tx2">
              <a:alpha val="90000"/>
            </a:schemeClr>
          </a:solidFill>
          <a:ln w="9525">
            <a:solidFill>
              <a:schemeClr val="bg2">
                <a:alpha val="22000"/>
              </a:schemeClr>
            </a:solidFill>
            <a:prstDash val="solid"/>
          </a:ln>
        </p:spPr>
      </p:sp>
      <p:sp>
        <p:nvSpPr>
          <p:cNvPr id="13" name="text-96"/>
          <p:cNvSpPr txBox="1"/>
          <p:nvPr/>
        </p:nvSpPr>
        <p:spPr>
          <a:xfrm>
            <a:off x="548640" y="4608576"/>
            <a:ext cx="1993392" cy="457200"/>
          </a:xfrm>
          <a:prstGeom prst="rect">
            <a:avLst/>
          </a:prstGeom>
          <a:noFill/>
          <a:ln/>
        </p:spPr>
        <p:txBody>
          <a:bodyPr wrap="square" lIns="0" tIns="0" rIns="0" bIns="0" rtlCol="0" anchor="ctr"/>
          <a:lstStyle/>
          <a:p>
            <a:pPr algn="ctr" indent="0" marL="0">
              <a:buNone/>
            </a:pPr>
            <a:r>
              <a:rPr lang="en-US" sz="1250" b="1" dirty="0">
                <a:solidFill>
                  <a:schemeClr val="bg1"/>
                </a:solidFill>
              </a:rPr>
              <a:t>Check column flags</a:t>
            </a:r>
            <a:endParaRPr lang="en-US" sz="1250" dirty="0"/>
          </a:p>
        </p:txBody>
      </p:sp>
      <p:sp>
        <p:nvSpPr>
          <p:cNvPr id="14" name="glass-97"/>
          <p:cNvSpPr/>
          <p:nvPr/>
        </p:nvSpPr>
        <p:spPr>
          <a:xfrm>
            <a:off x="2816352" y="1572768"/>
            <a:ext cx="1993392" cy="2852928"/>
          </a:xfrm>
          <a:prstGeom prst="roundRect">
            <a:avLst>
              <a:gd name="adj" fmla="val 6422"/>
            </a:avLst>
          </a:prstGeom>
          <a:solidFill>
            <a:schemeClr val="accent2">
              <a:alpha val="12000"/>
            </a:schemeClr>
          </a:solidFill>
          <a:ln w="12700">
            <a:solidFill>
              <a:schemeClr val="accent2">
                <a:alpha val="45000"/>
              </a:schemeClr>
            </a:solidFill>
            <a:prstDash val="solid"/>
          </a:ln>
        </p:spPr>
      </p:sp>
      <p:pic>
        <p:nvPicPr>
          <p:cNvPr id="15" name="icon3d-98" descr="C:\Users\himat\AppData\Local\Temp\claude\c--Ai-stuffs-MOSAIC\b3ecbbac-d885-4fec-a9f8-3496f8d06c96\scratchpad\build\assets\icon-segmentation.png">    </p:cNvPr>
          <p:cNvPicPr>
            <a:picLocks noChangeAspect="1"/>
          </p:cNvPicPr>
          <p:nvPr/>
        </p:nvPicPr>
        <p:blipFill>
          <a:blip r:embed="rId2"/>
          <a:stretch>
            <a:fillRect/>
          </a:stretch>
        </p:blipFill>
        <p:spPr>
          <a:xfrm>
            <a:off x="3383280" y="1645920"/>
            <a:ext cx="868680" cy="868680"/>
          </a:xfrm>
          <a:prstGeom prst="rect">
            <a:avLst/>
          </a:prstGeom>
        </p:spPr>
      </p:pic>
      <p:sp>
        <p:nvSpPr>
          <p:cNvPr id="16" name="text-99"/>
          <p:cNvSpPr txBox="1"/>
          <p:nvPr/>
        </p:nvSpPr>
        <p:spPr>
          <a:xfrm>
            <a:off x="2980944" y="2606040"/>
            <a:ext cx="1737360" cy="256032"/>
          </a:xfrm>
          <a:prstGeom prst="rect">
            <a:avLst/>
          </a:prstGeom>
          <a:noFill/>
          <a:ln/>
        </p:spPr>
        <p:txBody>
          <a:bodyPr wrap="square" lIns="0" tIns="0" rIns="0" bIns="0" rtlCol="0" anchor="t"/>
          <a:lstStyle/>
          <a:p>
            <a:pPr indent="0" marL="0">
              <a:buNone/>
            </a:pPr>
            <a:r>
              <a:rPr lang="en-US" sz="1050" b="1" spc="100" kern="0" dirty="0">
                <a:solidFill>
                  <a:schemeClr val="accent2"/>
                </a:solidFill>
              </a:rPr>
              <a:t>02 · SEGMENTS</a:t>
            </a:r>
            <a:endParaRPr lang="en-US" sz="1050" dirty="0"/>
          </a:p>
        </p:txBody>
      </p:sp>
      <p:sp>
        <p:nvSpPr>
          <p:cNvPr id="17" name="text-100"/>
          <p:cNvSpPr txBox="1"/>
          <p:nvPr/>
        </p:nvSpPr>
        <p:spPr>
          <a:xfrm>
            <a:off x="2980944" y="2871216"/>
            <a:ext cx="1737360" cy="566928"/>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Segmentation &amp; Insight</a:t>
            </a:r>
            <a:endParaRPr lang="en-US" sz="1450" dirty="0"/>
          </a:p>
        </p:txBody>
      </p:sp>
      <p:sp>
        <p:nvSpPr>
          <p:cNvPr id="18" name="text-101"/>
          <p:cNvSpPr txBox="1"/>
          <p:nvPr/>
        </p:nvSpPr>
        <p:spPr>
          <a:xfrm>
            <a:off x="2980944" y="3456432"/>
            <a:ext cx="1737360" cy="914400"/>
          </a:xfrm>
          <a:prstGeom prst="rect">
            <a:avLst/>
          </a:prstGeom>
          <a:noFill/>
          <a:ln/>
        </p:spPr>
        <p:txBody>
          <a:bodyPr wrap="square" lIns="0" tIns="0" rIns="0" bIns="0" rtlCol="0" anchor="t"/>
          <a:lstStyle/>
          <a:p>
            <a:pPr indent="0" marL="0">
              <a:buNone/>
            </a:pPr>
            <a:r>
              <a:rPr lang="en-US" sz="1300" dirty="0">
                <a:solidFill>
                  <a:schemeClr val="bg2"/>
                </a:solidFill>
              </a:rPr>
              <a:t>Find, name and bias-test segments</a:t>
            </a:r>
            <a:endParaRPr lang="en-US" sz="1300" dirty="0"/>
          </a:p>
        </p:txBody>
      </p:sp>
      <p:sp>
        <p:nvSpPr>
          <p:cNvPr id="19" name="connector-102"/>
          <p:cNvSpPr/>
          <p:nvPr/>
        </p:nvSpPr>
        <p:spPr>
          <a:xfrm>
            <a:off x="4837176" y="2075688"/>
            <a:ext cx="219456" cy="91"/>
          </a:xfrm>
          <a:prstGeom prst="line">
            <a:avLst/>
          </a:prstGeom>
          <a:noFill/>
          <a:ln w="25400">
            <a:solidFill>
              <a:schemeClr val="accent1"/>
            </a:solidFill>
            <a:prstDash val="solid"/>
            <a:tailEnd type="triangle"/>
          </a:ln>
        </p:spPr>
      </p:sp>
      <p:sp>
        <p:nvSpPr>
          <p:cNvPr id="20" name="connector-103"/>
          <p:cNvSpPr/>
          <p:nvPr/>
        </p:nvSpPr>
        <p:spPr>
          <a:xfrm>
            <a:off x="3813048" y="4443984"/>
            <a:ext cx="91" cy="146304"/>
          </a:xfrm>
          <a:prstGeom prst="line">
            <a:avLst/>
          </a:prstGeom>
          <a:noFill/>
          <a:ln w="15875">
            <a:solidFill>
              <a:schemeClr val="bg2"/>
            </a:solidFill>
            <a:prstDash val="solid"/>
            <a:tailEnd type="triangle"/>
          </a:ln>
        </p:spPr>
      </p:sp>
      <p:sp>
        <p:nvSpPr>
          <p:cNvPr id="21" name="glass-104"/>
          <p:cNvSpPr/>
          <p:nvPr/>
        </p:nvSpPr>
        <p:spPr>
          <a:xfrm>
            <a:off x="2816352" y="4608576"/>
            <a:ext cx="1993392" cy="457200"/>
          </a:xfrm>
          <a:prstGeom prst="roundRect">
            <a:avLst>
              <a:gd name="adj" fmla="val 50000"/>
            </a:avLst>
          </a:prstGeom>
          <a:solidFill>
            <a:schemeClr val="tx2">
              <a:alpha val="90000"/>
            </a:schemeClr>
          </a:solidFill>
          <a:ln w="9525">
            <a:solidFill>
              <a:schemeClr val="bg2">
                <a:alpha val="22000"/>
              </a:schemeClr>
            </a:solidFill>
            <a:prstDash val="solid"/>
          </a:ln>
        </p:spPr>
      </p:sp>
      <p:sp>
        <p:nvSpPr>
          <p:cNvPr id="22" name="text-105"/>
          <p:cNvSpPr txBox="1"/>
          <p:nvPr/>
        </p:nvSpPr>
        <p:spPr>
          <a:xfrm>
            <a:off x="2816352" y="4608576"/>
            <a:ext cx="1993392" cy="457200"/>
          </a:xfrm>
          <a:prstGeom prst="rect">
            <a:avLst/>
          </a:prstGeom>
          <a:noFill/>
          <a:ln/>
        </p:spPr>
        <p:txBody>
          <a:bodyPr wrap="square" lIns="0" tIns="0" rIns="0" bIns="0" rtlCol="0" anchor="ctr"/>
          <a:lstStyle/>
          <a:p>
            <a:pPr algn="ctr" indent="0" marL="0">
              <a:buNone/>
            </a:pPr>
            <a:r>
              <a:rPr lang="en-US" sz="1250" b="1" dirty="0">
                <a:solidFill>
                  <a:schemeClr val="bg1"/>
                </a:solidFill>
              </a:rPr>
              <a:t>Review · regenerate</a:t>
            </a:r>
            <a:endParaRPr lang="en-US" sz="1250" dirty="0"/>
          </a:p>
        </p:txBody>
      </p:sp>
      <p:sp>
        <p:nvSpPr>
          <p:cNvPr id="23" name="glass-106"/>
          <p:cNvSpPr/>
          <p:nvPr/>
        </p:nvSpPr>
        <p:spPr>
          <a:xfrm>
            <a:off x="5084064" y="1572768"/>
            <a:ext cx="1993392" cy="2852928"/>
          </a:xfrm>
          <a:prstGeom prst="roundRect">
            <a:avLst>
              <a:gd name="adj" fmla="val 6422"/>
            </a:avLst>
          </a:prstGeom>
          <a:solidFill>
            <a:schemeClr val="accent3">
              <a:alpha val="12000"/>
            </a:schemeClr>
          </a:solidFill>
          <a:ln w="12700">
            <a:solidFill>
              <a:schemeClr val="accent3">
                <a:alpha val="45000"/>
              </a:schemeClr>
            </a:solidFill>
            <a:prstDash val="solid"/>
          </a:ln>
        </p:spPr>
      </p:sp>
      <p:pic>
        <p:nvPicPr>
          <p:cNvPr id="24" name="icon3d-107" descr="C:\Users\himat\AppData\Local\Temp\claude\c--Ai-stuffs-MOSAIC\b3ecbbac-d885-4fec-a9f8-3496f8d06c96\scratchpad\build\assets\icon-creative.png">    </p:cNvPr>
          <p:cNvPicPr>
            <a:picLocks noChangeAspect="1"/>
          </p:cNvPicPr>
          <p:nvPr/>
        </p:nvPicPr>
        <p:blipFill>
          <a:blip r:embed="rId3"/>
          <a:stretch>
            <a:fillRect/>
          </a:stretch>
        </p:blipFill>
        <p:spPr>
          <a:xfrm>
            <a:off x="5650992" y="1645920"/>
            <a:ext cx="868680" cy="868680"/>
          </a:xfrm>
          <a:prstGeom prst="rect">
            <a:avLst/>
          </a:prstGeom>
        </p:spPr>
      </p:pic>
      <p:sp>
        <p:nvSpPr>
          <p:cNvPr id="25" name="text-108"/>
          <p:cNvSpPr txBox="1"/>
          <p:nvPr/>
        </p:nvSpPr>
        <p:spPr>
          <a:xfrm>
            <a:off x="5248656" y="2606040"/>
            <a:ext cx="1737360" cy="256032"/>
          </a:xfrm>
          <a:prstGeom prst="rect">
            <a:avLst/>
          </a:prstGeom>
          <a:noFill/>
          <a:ln/>
        </p:spPr>
        <p:txBody>
          <a:bodyPr wrap="square" lIns="0" tIns="0" rIns="0" bIns="0" rtlCol="0" anchor="t"/>
          <a:lstStyle/>
          <a:p>
            <a:pPr indent="0" marL="0">
              <a:buNone/>
            </a:pPr>
            <a:r>
              <a:rPr lang="en-US" sz="1050" b="1" spc="100" kern="0" dirty="0">
                <a:solidFill>
                  <a:schemeClr val="accent3"/>
                </a:solidFill>
              </a:rPr>
              <a:t>03 · CREATIVE REVIEW</a:t>
            </a:r>
            <a:endParaRPr lang="en-US" sz="1050" dirty="0"/>
          </a:p>
        </p:txBody>
      </p:sp>
      <p:sp>
        <p:nvSpPr>
          <p:cNvPr id="26" name="text-109"/>
          <p:cNvSpPr txBox="1"/>
          <p:nvPr/>
        </p:nvSpPr>
        <p:spPr>
          <a:xfrm>
            <a:off x="5248656" y="2871216"/>
            <a:ext cx="1737360" cy="566928"/>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Creative Direction</a:t>
            </a:r>
            <a:endParaRPr lang="en-US" sz="1450" dirty="0"/>
          </a:p>
        </p:txBody>
      </p:sp>
      <p:sp>
        <p:nvSpPr>
          <p:cNvPr id="27" name="text-110"/>
          <p:cNvSpPr txBox="1"/>
          <p:nvPr/>
        </p:nvSpPr>
        <p:spPr>
          <a:xfrm>
            <a:off x="5248656" y="3456432"/>
            <a:ext cx="1737360" cy="914400"/>
          </a:xfrm>
          <a:prstGeom prst="rect">
            <a:avLst/>
          </a:prstGeom>
          <a:noFill/>
          <a:ln/>
        </p:spPr>
        <p:txBody>
          <a:bodyPr wrap="square" lIns="0" tIns="0" rIns="0" bIns="0" rtlCol="0" anchor="t"/>
          <a:lstStyle/>
          <a:p>
            <a:pPr indent="0" marL="0">
              <a:buNone/>
            </a:pPr>
            <a:r>
              <a:rPr lang="en-US" sz="1300" dirty="0">
                <a:solidFill>
                  <a:schemeClr val="bg2"/>
                </a:solidFill>
              </a:rPr>
              <a:t>A creative brief per segment</a:t>
            </a:r>
            <a:endParaRPr lang="en-US" sz="1300" dirty="0"/>
          </a:p>
        </p:txBody>
      </p:sp>
      <p:sp>
        <p:nvSpPr>
          <p:cNvPr id="28" name="connector-111"/>
          <p:cNvSpPr/>
          <p:nvPr/>
        </p:nvSpPr>
        <p:spPr>
          <a:xfrm>
            <a:off x="7104888" y="2075688"/>
            <a:ext cx="219456" cy="91"/>
          </a:xfrm>
          <a:prstGeom prst="line">
            <a:avLst/>
          </a:prstGeom>
          <a:noFill/>
          <a:ln w="25400">
            <a:solidFill>
              <a:schemeClr val="accent1"/>
            </a:solidFill>
            <a:prstDash val="solid"/>
            <a:tailEnd type="triangle"/>
          </a:ln>
        </p:spPr>
      </p:sp>
      <p:sp>
        <p:nvSpPr>
          <p:cNvPr id="29" name="connector-112"/>
          <p:cNvSpPr/>
          <p:nvPr/>
        </p:nvSpPr>
        <p:spPr>
          <a:xfrm>
            <a:off x="6080760" y="4443984"/>
            <a:ext cx="91" cy="146304"/>
          </a:xfrm>
          <a:prstGeom prst="line">
            <a:avLst/>
          </a:prstGeom>
          <a:noFill/>
          <a:ln w="15875">
            <a:solidFill>
              <a:schemeClr val="bg2"/>
            </a:solidFill>
            <a:prstDash val="solid"/>
            <a:tailEnd type="triangle"/>
          </a:ln>
        </p:spPr>
      </p:sp>
      <p:sp>
        <p:nvSpPr>
          <p:cNvPr id="30" name="glass-113"/>
          <p:cNvSpPr/>
          <p:nvPr/>
        </p:nvSpPr>
        <p:spPr>
          <a:xfrm>
            <a:off x="5084064" y="4608576"/>
            <a:ext cx="1993392" cy="457200"/>
          </a:xfrm>
          <a:prstGeom prst="roundRect">
            <a:avLst>
              <a:gd name="adj" fmla="val 50000"/>
            </a:avLst>
          </a:prstGeom>
          <a:solidFill>
            <a:schemeClr val="tx2">
              <a:alpha val="90000"/>
            </a:schemeClr>
          </a:solidFill>
          <a:ln w="9525">
            <a:solidFill>
              <a:schemeClr val="bg2">
                <a:alpha val="22000"/>
              </a:schemeClr>
            </a:solidFill>
            <a:prstDash val="solid"/>
          </a:ln>
        </p:spPr>
      </p:sp>
      <p:sp>
        <p:nvSpPr>
          <p:cNvPr id="31" name="text-114"/>
          <p:cNvSpPr txBox="1"/>
          <p:nvPr/>
        </p:nvSpPr>
        <p:spPr>
          <a:xfrm>
            <a:off x="5084064" y="4608576"/>
            <a:ext cx="1993392" cy="457200"/>
          </a:xfrm>
          <a:prstGeom prst="rect">
            <a:avLst/>
          </a:prstGeom>
          <a:noFill/>
          <a:ln/>
        </p:spPr>
        <p:txBody>
          <a:bodyPr wrap="square" lIns="0" tIns="0" rIns="0" bIns="0" rtlCol="0" anchor="ctr"/>
          <a:lstStyle/>
          <a:p>
            <a:pPr algn="ctr" indent="0" marL="0">
              <a:buNone/>
            </a:pPr>
            <a:r>
              <a:rPr lang="en-US" sz="1250" b="1" dirty="0">
                <a:solidFill>
                  <a:schemeClr val="bg1"/>
                </a:solidFill>
              </a:rPr>
              <a:t>Edit direction</a:t>
            </a:r>
            <a:endParaRPr lang="en-US" sz="1250" dirty="0"/>
          </a:p>
        </p:txBody>
      </p:sp>
      <p:sp>
        <p:nvSpPr>
          <p:cNvPr id="32" name="glass-115"/>
          <p:cNvSpPr/>
          <p:nvPr/>
        </p:nvSpPr>
        <p:spPr>
          <a:xfrm>
            <a:off x="7351776" y="1572768"/>
            <a:ext cx="1993392" cy="2852928"/>
          </a:xfrm>
          <a:prstGeom prst="roundRect">
            <a:avLst>
              <a:gd name="adj" fmla="val 6422"/>
            </a:avLst>
          </a:prstGeom>
          <a:solidFill>
            <a:schemeClr val="accent4">
              <a:alpha val="12000"/>
            </a:schemeClr>
          </a:solidFill>
          <a:ln w="12700">
            <a:solidFill>
              <a:schemeClr val="accent4">
                <a:alpha val="45000"/>
              </a:schemeClr>
            </a:solidFill>
            <a:prstDash val="solid"/>
          </a:ln>
        </p:spPr>
      </p:sp>
      <p:pic>
        <p:nvPicPr>
          <p:cNvPr id="33" name="icon3d-116" descr="C:\Users\himat\AppData\Local\Temp\claude\c--Ai-stuffs-MOSAIC\b3ecbbac-d885-4fec-a9f8-3496f8d06c96\scratchpad\build\assets\icon-composer.png">    </p:cNvPr>
          <p:cNvPicPr>
            <a:picLocks noChangeAspect="1"/>
          </p:cNvPicPr>
          <p:nvPr/>
        </p:nvPicPr>
        <p:blipFill>
          <a:blip r:embed="rId4"/>
          <a:stretch>
            <a:fillRect/>
          </a:stretch>
        </p:blipFill>
        <p:spPr>
          <a:xfrm>
            <a:off x="7918704" y="1645920"/>
            <a:ext cx="868680" cy="868680"/>
          </a:xfrm>
          <a:prstGeom prst="rect">
            <a:avLst/>
          </a:prstGeom>
        </p:spPr>
      </p:pic>
      <p:sp>
        <p:nvSpPr>
          <p:cNvPr id="34" name="text-117"/>
          <p:cNvSpPr txBox="1"/>
          <p:nvPr/>
        </p:nvSpPr>
        <p:spPr>
          <a:xfrm>
            <a:off x="7516368" y="2606040"/>
            <a:ext cx="1737360" cy="256032"/>
          </a:xfrm>
          <a:prstGeom prst="rect">
            <a:avLst/>
          </a:prstGeom>
          <a:noFill/>
          <a:ln/>
        </p:spPr>
        <p:txBody>
          <a:bodyPr wrap="square" lIns="0" tIns="0" rIns="0" bIns="0" rtlCol="0" anchor="t"/>
          <a:lstStyle/>
          <a:p>
            <a:pPr indent="0" marL="0">
              <a:buNone/>
            </a:pPr>
            <a:r>
              <a:rPr lang="en-US" sz="1050" b="1" spc="100" kern="0" dirty="0">
                <a:solidFill>
                  <a:schemeClr val="accent4"/>
                </a:solidFill>
              </a:rPr>
              <a:t>04 · EMAIL REVIEW</a:t>
            </a:r>
            <a:endParaRPr lang="en-US" sz="1050" dirty="0"/>
          </a:p>
        </p:txBody>
      </p:sp>
      <p:sp>
        <p:nvSpPr>
          <p:cNvPr id="35" name="text-118"/>
          <p:cNvSpPr txBox="1"/>
          <p:nvPr/>
        </p:nvSpPr>
        <p:spPr>
          <a:xfrm>
            <a:off x="7516368" y="2871216"/>
            <a:ext cx="1737360" cy="566928"/>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Email Composer</a:t>
            </a:r>
            <a:endParaRPr lang="en-US" sz="1450" dirty="0"/>
          </a:p>
        </p:txBody>
      </p:sp>
      <p:sp>
        <p:nvSpPr>
          <p:cNvPr id="36" name="text-119"/>
          <p:cNvSpPr txBox="1"/>
          <p:nvPr/>
        </p:nvSpPr>
        <p:spPr>
          <a:xfrm>
            <a:off x="7516368" y="3456432"/>
            <a:ext cx="1737360" cy="914400"/>
          </a:xfrm>
          <a:prstGeom prst="rect">
            <a:avLst/>
          </a:prstGeom>
          <a:noFill/>
          <a:ln/>
        </p:spPr>
        <p:txBody>
          <a:bodyPr wrap="square" lIns="0" tIns="0" rIns="0" bIns="0" rtlCol="0" anchor="t"/>
          <a:lstStyle/>
          <a:p>
            <a:pPr indent="0" marL="0">
              <a:buNone/>
            </a:pPr>
            <a:r>
              <a:rPr lang="en-US" sz="1300" dirty="0">
                <a:solidFill>
                  <a:schemeClr val="bg2"/>
                </a:solidFill>
              </a:rPr>
              <a:t>Model writes, code builds</a:t>
            </a:r>
            <a:endParaRPr lang="en-US" sz="1300" dirty="0"/>
          </a:p>
        </p:txBody>
      </p:sp>
      <p:sp>
        <p:nvSpPr>
          <p:cNvPr id="37" name="connector-120"/>
          <p:cNvSpPr/>
          <p:nvPr/>
        </p:nvSpPr>
        <p:spPr>
          <a:xfrm>
            <a:off x="9372600" y="2075688"/>
            <a:ext cx="219456" cy="91"/>
          </a:xfrm>
          <a:prstGeom prst="line">
            <a:avLst/>
          </a:prstGeom>
          <a:noFill/>
          <a:ln w="25400">
            <a:solidFill>
              <a:schemeClr val="accent1"/>
            </a:solidFill>
            <a:prstDash val="solid"/>
            <a:tailEnd type="triangle"/>
          </a:ln>
        </p:spPr>
      </p:sp>
      <p:sp>
        <p:nvSpPr>
          <p:cNvPr id="38" name="connector-121"/>
          <p:cNvSpPr/>
          <p:nvPr/>
        </p:nvSpPr>
        <p:spPr>
          <a:xfrm>
            <a:off x="8348472" y="4443984"/>
            <a:ext cx="91" cy="146304"/>
          </a:xfrm>
          <a:prstGeom prst="line">
            <a:avLst/>
          </a:prstGeom>
          <a:noFill/>
          <a:ln w="15875">
            <a:solidFill>
              <a:schemeClr val="bg2"/>
            </a:solidFill>
            <a:prstDash val="solid"/>
            <a:tailEnd type="triangle"/>
          </a:ln>
        </p:spPr>
      </p:sp>
      <p:sp>
        <p:nvSpPr>
          <p:cNvPr id="39" name="glass-122"/>
          <p:cNvSpPr/>
          <p:nvPr/>
        </p:nvSpPr>
        <p:spPr>
          <a:xfrm>
            <a:off x="7351776" y="4608576"/>
            <a:ext cx="1993392" cy="457200"/>
          </a:xfrm>
          <a:prstGeom prst="roundRect">
            <a:avLst>
              <a:gd name="adj" fmla="val 50000"/>
            </a:avLst>
          </a:prstGeom>
          <a:solidFill>
            <a:schemeClr val="tx2">
              <a:alpha val="90000"/>
            </a:schemeClr>
          </a:solidFill>
          <a:ln w="9525">
            <a:solidFill>
              <a:schemeClr val="bg2">
                <a:alpha val="22000"/>
              </a:schemeClr>
            </a:solidFill>
            <a:prstDash val="solid"/>
          </a:ln>
        </p:spPr>
      </p:sp>
      <p:sp>
        <p:nvSpPr>
          <p:cNvPr id="40" name="text-123"/>
          <p:cNvSpPr txBox="1"/>
          <p:nvPr/>
        </p:nvSpPr>
        <p:spPr>
          <a:xfrm>
            <a:off x="7351776" y="4608576"/>
            <a:ext cx="1993392" cy="457200"/>
          </a:xfrm>
          <a:prstGeom prst="rect">
            <a:avLst/>
          </a:prstGeom>
          <a:noFill/>
          <a:ln/>
        </p:spPr>
        <p:txBody>
          <a:bodyPr wrap="square" lIns="0" tIns="0" rIns="0" bIns="0" rtlCol="0" anchor="ctr"/>
          <a:lstStyle/>
          <a:p>
            <a:pPr algn="ctr" indent="0" marL="0">
              <a:buNone/>
            </a:pPr>
            <a:r>
              <a:rPr lang="en-US" sz="1250" b="1" dirty="0">
                <a:solidFill>
                  <a:schemeClr val="bg1"/>
                </a:solidFill>
              </a:rPr>
              <a:t>Edit in the builder</a:t>
            </a:r>
            <a:endParaRPr lang="en-US" sz="1250" dirty="0"/>
          </a:p>
        </p:txBody>
      </p:sp>
      <p:sp>
        <p:nvSpPr>
          <p:cNvPr id="41" name="glass-124"/>
          <p:cNvSpPr/>
          <p:nvPr/>
        </p:nvSpPr>
        <p:spPr>
          <a:xfrm>
            <a:off x="9619488" y="1572768"/>
            <a:ext cx="1993392" cy="2852928"/>
          </a:xfrm>
          <a:prstGeom prst="roundRect">
            <a:avLst>
              <a:gd name="adj" fmla="val 6422"/>
            </a:avLst>
          </a:prstGeom>
          <a:solidFill>
            <a:schemeClr val="accent5">
              <a:alpha val="12000"/>
            </a:schemeClr>
          </a:solidFill>
          <a:ln w="12700">
            <a:solidFill>
              <a:schemeClr val="accent5">
                <a:alpha val="45000"/>
              </a:schemeClr>
            </a:solidFill>
            <a:prstDash val="solid"/>
          </a:ln>
        </p:spPr>
      </p:sp>
      <p:pic>
        <p:nvPicPr>
          <p:cNvPr id="42" name="icon3d-125" descr="C:\Users\himat\AppData\Local\Temp\claude\c--Ai-stuffs-MOSAIC\b3ecbbac-d885-4fec-a9f8-3496f8d06c96\scratchpad\build\assets\icon-guardian.png">    </p:cNvPr>
          <p:cNvPicPr>
            <a:picLocks noChangeAspect="1"/>
          </p:cNvPicPr>
          <p:nvPr/>
        </p:nvPicPr>
        <p:blipFill>
          <a:blip r:embed="rId5"/>
          <a:stretch>
            <a:fillRect/>
          </a:stretch>
        </p:blipFill>
        <p:spPr>
          <a:xfrm>
            <a:off x="10186416" y="1645920"/>
            <a:ext cx="868680" cy="868680"/>
          </a:xfrm>
          <a:prstGeom prst="rect">
            <a:avLst/>
          </a:prstGeom>
        </p:spPr>
      </p:pic>
      <p:sp>
        <p:nvSpPr>
          <p:cNvPr id="43" name="text-126"/>
          <p:cNvSpPr txBox="1"/>
          <p:nvPr/>
        </p:nvSpPr>
        <p:spPr>
          <a:xfrm>
            <a:off x="9784080" y="2606040"/>
            <a:ext cx="1737360" cy="256032"/>
          </a:xfrm>
          <a:prstGeom prst="rect">
            <a:avLst/>
          </a:prstGeom>
          <a:noFill/>
          <a:ln/>
        </p:spPr>
        <p:txBody>
          <a:bodyPr wrap="square" lIns="0" tIns="0" rIns="0" bIns="0" rtlCol="0" anchor="t"/>
          <a:lstStyle/>
          <a:p>
            <a:pPr indent="0" marL="0">
              <a:buNone/>
            </a:pPr>
            <a:r>
              <a:rPr lang="en-US" sz="1050" b="1" spc="100" kern="0" dirty="0">
                <a:solidFill>
                  <a:schemeClr val="accent5"/>
                </a:solidFill>
              </a:rPr>
              <a:t>05 · APPROVAL QUEUE</a:t>
            </a:r>
            <a:endParaRPr lang="en-US" sz="1050" dirty="0"/>
          </a:p>
        </p:txBody>
      </p:sp>
      <p:sp>
        <p:nvSpPr>
          <p:cNvPr id="44" name="text-127"/>
          <p:cNvSpPr txBox="1"/>
          <p:nvPr/>
        </p:nvSpPr>
        <p:spPr>
          <a:xfrm>
            <a:off x="9784080" y="2871216"/>
            <a:ext cx="1737360" cy="566928"/>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Guardian + human gate</a:t>
            </a:r>
            <a:endParaRPr lang="en-US" sz="1450" dirty="0"/>
          </a:p>
        </p:txBody>
      </p:sp>
      <p:sp>
        <p:nvSpPr>
          <p:cNvPr id="45" name="text-128"/>
          <p:cNvSpPr txBox="1"/>
          <p:nvPr/>
        </p:nvSpPr>
        <p:spPr>
          <a:xfrm>
            <a:off x="9784080" y="3456432"/>
            <a:ext cx="1737360" cy="914400"/>
          </a:xfrm>
          <a:prstGeom prst="rect">
            <a:avLst/>
          </a:prstGeom>
          <a:noFill/>
          <a:ln/>
        </p:spPr>
        <p:txBody>
          <a:bodyPr wrap="square" lIns="0" tIns="0" rIns="0" bIns="0" rtlCol="0" anchor="t"/>
          <a:lstStyle/>
          <a:p>
            <a:pPr indent="0" marL="0">
              <a:buNone/>
            </a:pPr>
            <a:r>
              <a:rPr lang="en-US" sz="1300" dirty="0">
                <a:solidFill>
                  <a:schemeClr val="bg2"/>
                </a:solidFill>
              </a:rPr>
              <a:t>10 checks, then a person sends</a:t>
            </a:r>
            <a:endParaRPr lang="en-US" sz="1300" dirty="0"/>
          </a:p>
        </p:txBody>
      </p:sp>
      <p:sp>
        <p:nvSpPr>
          <p:cNvPr id="46" name="connector-129"/>
          <p:cNvSpPr/>
          <p:nvPr/>
        </p:nvSpPr>
        <p:spPr>
          <a:xfrm>
            <a:off x="10616184" y="4443984"/>
            <a:ext cx="91" cy="146304"/>
          </a:xfrm>
          <a:prstGeom prst="line">
            <a:avLst/>
          </a:prstGeom>
          <a:noFill/>
          <a:ln w="15875">
            <a:solidFill>
              <a:schemeClr val="bg2"/>
            </a:solidFill>
            <a:prstDash val="solid"/>
            <a:tailEnd type="triangle"/>
          </a:ln>
        </p:spPr>
      </p:sp>
      <p:sp>
        <p:nvSpPr>
          <p:cNvPr id="47" name="glass-130"/>
          <p:cNvSpPr/>
          <p:nvPr/>
        </p:nvSpPr>
        <p:spPr>
          <a:xfrm>
            <a:off x="9619488" y="4608576"/>
            <a:ext cx="1993392" cy="457200"/>
          </a:xfrm>
          <a:prstGeom prst="roundRect">
            <a:avLst>
              <a:gd name="adj" fmla="val 50000"/>
            </a:avLst>
          </a:prstGeom>
          <a:solidFill>
            <a:schemeClr val="tx2">
              <a:alpha val="90000"/>
            </a:schemeClr>
          </a:solidFill>
          <a:ln w="9525">
            <a:solidFill>
              <a:schemeClr val="bg2">
                <a:alpha val="22000"/>
              </a:schemeClr>
            </a:solidFill>
            <a:prstDash val="solid"/>
          </a:ln>
        </p:spPr>
      </p:sp>
      <p:sp>
        <p:nvSpPr>
          <p:cNvPr id="48" name="text-131"/>
          <p:cNvSpPr txBox="1"/>
          <p:nvPr/>
        </p:nvSpPr>
        <p:spPr>
          <a:xfrm>
            <a:off x="9619488" y="4608576"/>
            <a:ext cx="1993392" cy="457200"/>
          </a:xfrm>
          <a:prstGeom prst="rect">
            <a:avLst/>
          </a:prstGeom>
          <a:noFill/>
          <a:ln/>
        </p:spPr>
        <p:txBody>
          <a:bodyPr wrap="square" lIns="0" tIns="0" rIns="0" bIns="0" rtlCol="0" anchor="ctr"/>
          <a:lstStyle/>
          <a:p>
            <a:pPr algn="ctr" indent="0" marL="0">
              <a:buNone/>
            </a:pPr>
            <a:r>
              <a:rPr lang="en-US" sz="1250" b="1" dirty="0">
                <a:solidFill>
                  <a:schemeClr val="bg1"/>
                </a:solidFill>
              </a:rPr>
              <a:t>Confirm · press Send</a:t>
            </a:r>
            <a:endParaRPr lang="en-US" sz="1250" dirty="0"/>
          </a:p>
        </p:txBody>
      </p:sp>
      <p:sp>
        <p:nvSpPr>
          <p:cNvPr id="49" name="glass-132"/>
          <p:cNvSpPr/>
          <p:nvPr/>
        </p:nvSpPr>
        <p:spPr>
          <a:xfrm>
            <a:off x="548640" y="5303520"/>
            <a:ext cx="6766560" cy="868680"/>
          </a:xfrm>
          <a:prstGeom prst="roundRect">
            <a:avLst>
              <a:gd name="adj" fmla="val 14737"/>
            </a:avLst>
          </a:prstGeom>
          <a:solidFill>
            <a:schemeClr val="accent1">
              <a:alpha val="16000"/>
            </a:schemeClr>
          </a:solidFill>
          <a:ln w="12700">
            <a:solidFill>
              <a:schemeClr val="accent1">
                <a:alpha val="40000"/>
              </a:schemeClr>
            </a:solidFill>
            <a:prstDash val="solid"/>
          </a:ln>
        </p:spPr>
      </p:sp>
      <p:sp>
        <p:nvSpPr>
          <p:cNvPr id="50" name="text-133"/>
          <p:cNvSpPr txBox="1"/>
          <p:nvPr/>
        </p:nvSpPr>
        <p:spPr>
          <a:xfrm>
            <a:off x="777240" y="5303520"/>
            <a:ext cx="6400800" cy="868680"/>
          </a:xfrm>
          <a:prstGeom prst="rect">
            <a:avLst/>
          </a:prstGeom>
          <a:noFill/>
          <a:ln/>
        </p:spPr>
        <p:txBody>
          <a:bodyPr wrap="square" lIns="0" tIns="0" rIns="0" bIns="0" rtlCol="0" anchor="ctr"/>
          <a:lstStyle/>
          <a:p>
            <a:pPr indent="0" marL="0">
              <a:buNone/>
            </a:pPr>
            <a:r>
              <a:rPr lang="en-US" sz="1350" b="1" dirty="0">
                <a:solidFill>
                  <a:schemeClr val="accent1"/>
                </a:solidFill>
              </a:rPr>
              <a:t>Decision Ledger  </a:t>
            </a:r>
            <a:pPr indent="0" marL="0">
              <a:buNone/>
            </a:pPr>
            <a:r>
              <a:rPr lang="en-US" sz="1350" dirty="0">
                <a:solidFill>
                  <a:schemeClr val="bg1"/>
                </a:solidFill>
              </a:rPr>
              <a:t>every agent step, with prompt and model version</a:t>
            </a:r>
            <a:endParaRPr lang="en-US" sz="1350" dirty="0"/>
          </a:p>
        </p:txBody>
      </p:sp>
      <p:sp>
        <p:nvSpPr>
          <p:cNvPr id="51" name="glass-134"/>
          <p:cNvSpPr/>
          <p:nvPr/>
        </p:nvSpPr>
        <p:spPr>
          <a:xfrm>
            <a:off x="7498080" y="5303520"/>
            <a:ext cx="4142232" cy="868680"/>
          </a:xfrm>
          <a:prstGeom prst="roundRect">
            <a:avLst>
              <a:gd name="adj" fmla="val 14737"/>
            </a:avLst>
          </a:prstGeom>
          <a:solidFill>
            <a:schemeClr val="tx2">
              <a:alpha val="78000"/>
            </a:schemeClr>
          </a:solidFill>
          <a:ln w="9525">
            <a:solidFill>
              <a:schemeClr val="bg2">
                <a:alpha val="22000"/>
              </a:schemeClr>
            </a:solidFill>
            <a:prstDash val="solid"/>
          </a:ln>
        </p:spPr>
      </p:sp>
      <p:sp>
        <p:nvSpPr>
          <p:cNvPr id="52" name="text-135"/>
          <p:cNvSpPr txBox="1"/>
          <p:nvPr/>
        </p:nvSpPr>
        <p:spPr>
          <a:xfrm>
            <a:off x="7726680" y="5303520"/>
            <a:ext cx="3749040" cy="868680"/>
          </a:xfrm>
          <a:prstGeom prst="rect">
            <a:avLst/>
          </a:prstGeom>
          <a:noFill/>
          <a:ln/>
        </p:spPr>
        <p:txBody>
          <a:bodyPr wrap="square" lIns="0" tIns="0" rIns="0" bIns="0" rtlCol="0" anchor="ctr"/>
          <a:lstStyle/>
          <a:p>
            <a:pPr indent="0" marL="0">
              <a:buNone/>
            </a:pPr>
            <a:r>
              <a:rPr lang="en-US" sz="1350" b="1" dirty="0">
                <a:solidFill>
                  <a:schemeClr val="bg1"/>
                </a:solidFill>
              </a:rPr>
              <a:t>Activity log  </a:t>
            </a:r>
            <a:pPr indent="0" marL="0">
              <a:buNone/>
            </a:pPr>
            <a:r>
              <a:rPr lang="en-US" sz="1350" dirty="0">
                <a:solidFill>
                  <a:schemeClr val="bg2"/>
                </a:solidFill>
              </a:rPr>
              <a:t>every operator action</a:t>
            </a:r>
            <a:endParaRPr lang="en-US" sz="13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Each agent owns one decision</a:t>
            </a:r>
            <a:endParaRPr lang="en-US" sz="2800" dirty="0"/>
          </a:p>
        </p:txBody>
      </p:sp>
      <p:sp>
        <p:nvSpPr>
          <p:cNvPr id="3" name="text-136"/>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The Orchestrator stays simple: fixed stage order, owns state and the gate.</a:t>
            </a:r>
            <a:endParaRPr lang="en-US" sz="1600" dirty="0"/>
          </a:p>
        </p:txBody>
      </p:sp>
      <p:sp>
        <p:nvSpPr>
          <p:cNvPr id="4" name="glass-137"/>
          <p:cNvSpPr/>
          <p:nvPr/>
        </p:nvSpPr>
        <p:spPr>
          <a:xfrm>
            <a:off x="548640" y="1572768"/>
            <a:ext cx="5449824" cy="2212848"/>
          </a:xfrm>
          <a:prstGeom prst="roundRect">
            <a:avLst>
              <a:gd name="adj" fmla="val 5785"/>
            </a:avLst>
          </a:prstGeom>
          <a:solidFill>
            <a:schemeClr val="accent2">
              <a:alpha val="10000"/>
            </a:schemeClr>
          </a:solidFill>
          <a:ln w="12700">
            <a:solidFill>
              <a:schemeClr val="accent2">
                <a:alpha val="40000"/>
              </a:schemeClr>
            </a:solidFill>
            <a:prstDash val="solid"/>
          </a:ln>
        </p:spPr>
      </p:sp>
      <p:pic>
        <p:nvPicPr>
          <p:cNvPr id="5" name="icon3d-138" descr="C:\Users\himat\AppData\Local\Temp\claude\c--Ai-stuffs-MOSAIC\b3ecbbac-d885-4fec-a9f8-3496f8d06c96\scratchpad\build\assets\icon-segmentation.png">    </p:cNvPr>
          <p:cNvPicPr>
            <a:picLocks noChangeAspect="1"/>
          </p:cNvPicPr>
          <p:nvPr/>
        </p:nvPicPr>
        <p:blipFill>
          <a:blip r:embed="rId1"/>
          <a:stretch>
            <a:fillRect/>
          </a:stretch>
        </p:blipFill>
        <p:spPr>
          <a:xfrm>
            <a:off x="685800" y="1847088"/>
            <a:ext cx="1234440" cy="1234440"/>
          </a:xfrm>
          <a:prstGeom prst="rect">
            <a:avLst/>
          </a:prstGeom>
        </p:spPr>
      </p:pic>
      <p:sp>
        <p:nvSpPr>
          <p:cNvPr id="6" name="text-139"/>
          <p:cNvSpPr txBox="1"/>
          <p:nvPr/>
        </p:nvSpPr>
        <p:spPr>
          <a:xfrm>
            <a:off x="2084832" y="1755648"/>
            <a:ext cx="3794760" cy="347472"/>
          </a:xfrm>
          <a:prstGeom prst="rect">
            <a:avLst/>
          </a:prstGeom>
          <a:noFill/>
          <a:ln/>
        </p:spPr>
        <p:txBody>
          <a:bodyPr wrap="square" lIns="0" tIns="0" rIns="0" bIns="0" rtlCol="0" anchor="t"/>
          <a:lstStyle/>
          <a:p>
            <a:pPr indent="0" marL="0">
              <a:buNone/>
            </a:pPr>
            <a:r>
              <a:rPr lang="en-US" sz="1600" b="1" dirty="0">
                <a:solidFill>
                  <a:schemeClr val="bg1"/>
                </a:solidFill>
                <a:latin typeface="Century Gothic" pitchFamily="34" charset="0"/>
                <a:ea typeface="Century Gothic" pitchFamily="34" charset="-122"/>
                <a:cs typeface="Century Gothic" pitchFamily="34" charset="-120"/>
              </a:rPr>
              <a:t>Segmentation &amp; Insight</a:t>
            </a:r>
            <a:endParaRPr lang="en-US" sz="1600" dirty="0"/>
          </a:p>
        </p:txBody>
      </p:sp>
      <p:sp>
        <p:nvSpPr>
          <p:cNvPr id="7" name="chip-140"/>
          <p:cNvSpPr/>
          <p:nvPr/>
        </p:nvSpPr>
        <p:spPr>
          <a:xfrm>
            <a:off x="2084832" y="2148840"/>
            <a:ext cx="1188720" cy="274320"/>
          </a:xfrm>
          <a:prstGeom prst="roundRect">
            <a:avLst>
              <a:gd name="adj" fmla="val 50000"/>
            </a:avLst>
          </a:prstGeom>
          <a:solidFill>
            <a:schemeClr val="accent2">
              <a:alpha val="20000"/>
            </a:schemeClr>
          </a:solidFill>
          <a:ln w="9525">
            <a:solidFill>
              <a:schemeClr val="accent2">
                <a:alpha val="60000"/>
              </a:schemeClr>
            </a:solidFill>
            <a:prstDash val="solid"/>
          </a:ln>
        </p:spPr>
      </p:sp>
      <p:sp>
        <p:nvSpPr>
          <p:cNvPr id="8" name="text-141"/>
          <p:cNvSpPr txBox="1"/>
          <p:nvPr/>
        </p:nvSpPr>
        <p:spPr>
          <a:xfrm>
            <a:off x="2084832" y="2148840"/>
            <a:ext cx="1188720" cy="274320"/>
          </a:xfrm>
          <a:prstGeom prst="rect">
            <a:avLst/>
          </a:prstGeom>
          <a:noFill/>
          <a:ln/>
        </p:spPr>
        <p:txBody>
          <a:bodyPr wrap="square" lIns="0" tIns="0" rIns="0" bIns="0" rtlCol="0" anchor="ctr"/>
          <a:lstStyle/>
          <a:p>
            <a:pPr algn="ctr" indent="0" marL="0">
              <a:buNone/>
            </a:pPr>
            <a:r>
              <a:rPr lang="en-US" sz="1100" b="1" dirty="0">
                <a:solidFill>
                  <a:schemeClr val="accent2"/>
                </a:solidFill>
              </a:rPr>
              <a:t>seg-v3</a:t>
            </a:r>
            <a:endParaRPr lang="en-US" sz="1100" dirty="0"/>
          </a:p>
        </p:txBody>
      </p:sp>
      <p:sp>
        <p:nvSpPr>
          <p:cNvPr id="9" name="chip-142"/>
          <p:cNvSpPr/>
          <p:nvPr/>
        </p:nvSpPr>
        <p:spPr>
          <a:xfrm>
            <a:off x="3364992" y="2148840"/>
            <a:ext cx="566928"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10" name="text-143"/>
          <p:cNvSpPr txBox="1"/>
          <p:nvPr/>
        </p:nvSpPr>
        <p:spPr>
          <a:xfrm>
            <a:off x="3364992" y="2148840"/>
            <a:ext cx="566928" cy="274320"/>
          </a:xfrm>
          <a:prstGeom prst="rect">
            <a:avLst/>
          </a:prstGeom>
          <a:noFill/>
          <a:ln/>
        </p:spPr>
        <p:txBody>
          <a:bodyPr wrap="square" lIns="0" tIns="0" rIns="0" bIns="0" rtlCol="0" anchor="ctr"/>
          <a:lstStyle/>
          <a:p>
            <a:pPr algn="ctr" indent="0" marL="0">
              <a:buNone/>
            </a:pPr>
            <a:r>
              <a:rPr lang="en-US" sz="1100" b="1" dirty="0">
                <a:solidFill>
                  <a:schemeClr val="bg2"/>
                </a:solidFill>
              </a:rPr>
              <a:t>OQQ</a:t>
            </a:r>
            <a:endParaRPr lang="en-US" sz="1100" dirty="0"/>
          </a:p>
        </p:txBody>
      </p:sp>
      <p:sp>
        <p:nvSpPr>
          <p:cNvPr id="11" name="text-144"/>
          <p:cNvSpPr txBox="1"/>
          <p:nvPr/>
        </p:nvSpPr>
        <p:spPr>
          <a:xfrm>
            <a:off x="2084832" y="2514600"/>
            <a:ext cx="3794760" cy="310896"/>
          </a:xfrm>
          <a:prstGeom prst="rect">
            <a:avLst/>
          </a:prstGeom>
          <a:noFill/>
          <a:ln/>
        </p:spPr>
        <p:txBody>
          <a:bodyPr wrap="square" lIns="0" tIns="0" rIns="0" bIns="0" rtlCol="0" anchor="t"/>
          <a:lstStyle/>
          <a:p>
            <a:pPr indent="0" marL="0">
              <a:buNone/>
            </a:pPr>
            <a:r>
              <a:rPr lang="en-US" sz="1300" i="1" dirty="0">
                <a:solidFill>
                  <a:schemeClr val="bg2"/>
                </a:solidFill>
              </a:rPr>
              <a:t>Find and explain micro-segments</a:t>
            </a:r>
            <a:endParaRPr lang="en-US" sz="1300" dirty="0"/>
          </a:p>
        </p:txBody>
      </p:sp>
      <p:sp>
        <p:nvSpPr>
          <p:cNvPr id="12" name="text-145"/>
          <p:cNvSpPr txBox="1"/>
          <p:nvPr/>
        </p:nvSpPr>
        <p:spPr>
          <a:xfrm>
            <a:off x="2084832" y="2871216"/>
            <a:ext cx="3794760" cy="841248"/>
          </a:xfrm>
          <a:prstGeom prst="rect">
            <a:avLst/>
          </a:prstGeom>
          <a:noFill/>
          <a:ln/>
        </p:spPr>
        <p:txBody>
          <a:bodyPr wrap="square" lIns="0" tIns="0" rIns="0" bIns="0" rtlCol="0" anchor="t"/>
          <a:lstStyle/>
          <a:p>
            <a:pPr indent="0" marL="0">
              <a:spcAft>
                <a:spcPts val="200"/>
              </a:spcAft>
              <a:buNone/>
            </a:pPr>
            <a:r>
              <a:rPr lang="en-US" sz="1250" b="1" dirty="0">
                <a:solidFill>
                  <a:schemeClr val="accent2"/>
                </a:solidFill>
              </a:rPr>
              <a:t>Model  </a:t>
            </a:r>
            <a:pPr indent="0" marL="0">
              <a:spcAft>
                <a:spcPts val="200"/>
              </a:spcAft>
              <a:buNone/>
            </a:pPr>
            <a:r>
              <a:rPr lang="en-US" sz="1250" dirty="0">
                <a:solidFill>
                  <a:schemeClr val="bg1"/>
                </a:solidFill>
              </a:rPr>
              <a:t>HDBSCAN; LLM names clusters</a:t>
            </a:r>
            <a:endParaRPr lang="en-US" sz="1250" dirty="0"/>
          </a:p>
          <a:p>
            <a:pPr indent="0" marL="0">
              <a:spcAft>
                <a:spcPts val="200"/>
              </a:spcAft>
              <a:buNone/>
            </a:pPr>
            <a:r>
              <a:rPr lang="en-US" sz="1250" b="1" dirty="0">
                <a:solidFill>
                  <a:schemeClr val="accent2"/>
                </a:solidFill>
              </a:rPr>
              <a:t>Autonomy  </a:t>
            </a:r>
            <a:pPr indent="0" marL="0">
              <a:spcAft>
                <a:spcPts val="200"/>
              </a:spcAft>
              <a:buNone/>
            </a:pPr>
            <a:r>
              <a:rPr lang="en-US" sz="1250" dirty="0">
                <a:solidFill>
                  <a:schemeClr val="bg1"/>
                </a:solidFill>
              </a:rPr>
              <a:t>features, cluster count, noise</a:t>
            </a:r>
            <a:endParaRPr lang="en-US" sz="1250" dirty="0"/>
          </a:p>
        </p:txBody>
      </p:sp>
      <p:sp>
        <p:nvSpPr>
          <p:cNvPr id="13" name="glass-146"/>
          <p:cNvSpPr/>
          <p:nvPr/>
        </p:nvSpPr>
        <p:spPr>
          <a:xfrm>
            <a:off x="6190488" y="1572768"/>
            <a:ext cx="5449824" cy="2212848"/>
          </a:xfrm>
          <a:prstGeom prst="roundRect">
            <a:avLst>
              <a:gd name="adj" fmla="val 5785"/>
            </a:avLst>
          </a:prstGeom>
          <a:solidFill>
            <a:schemeClr val="accent3">
              <a:alpha val="10000"/>
            </a:schemeClr>
          </a:solidFill>
          <a:ln w="12700">
            <a:solidFill>
              <a:schemeClr val="accent3">
                <a:alpha val="40000"/>
              </a:schemeClr>
            </a:solidFill>
            <a:prstDash val="solid"/>
          </a:ln>
        </p:spPr>
      </p:sp>
      <p:pic>
        <p:nvPicPr>
          <p:cNvPr id="14" name="icon3d-147" descr="C:\Users\himat\AppData\Local\Temp\claude\c--Ai-stuffs-MOSAIC\b3ecbbac-d885-4fec-a9f8-3496f8d06c96\scratchpad\build\assets\icon-creative.png">    </p:cNvPr>
          <p:cNvPicPr>
            <a:picLocks noChangeAspect="1"/>
          </p:cNvPicPr>
          <p:nvPr/>
        </p:nvPicPr>
        <p:blipFill>
          <a:blip r:embed="rId2"/>
          <a:stretch>
            <a:fillRect/>
          </a:stretch>
        </p:blipFill>
        <p:spPr>
          <a:xfrm>
            <a:off x="6327648" y="1847088"/>
            <a:ext cx="1234440" cy="1234440"/>
          </a:xfrm>
          <a:prstGeom prst="rect">
            <a:avLst/>
          </a:prstGeom>
        </p:spPr>
      </p:pic>
      <p:sp>
        <p:nvSpPr>
          <p:cNvPr id="15" name="text-148"/>
          <p:cNvSpPr txBox="1"/>
          <p:nvPr/>
        </p:nvSpPr>
        <p:spPr>
          <a:xfrm>
            <a:off x="7726680" y="1755648"/>
            <a:ext cx="3794760" cy="347472"/>
          </a:xfrm>
          <a:prstGeom prst="rect">
            <a:avLst/>
          </a:prstGeom>
          <a:noFill/>
          <a:ln/>
        </p:spPr>
        <p:txBody>
          <a:bodyPr wrap="square" lIns="0" tIns="0" rIns="0" bIns="0" rtlCol="0" anchor="t"/>
          <a:lstStyle/>
          <a:p>
            <a:pPr indent="0" marL="0">
              <a:buNone/>
            </a:pPr>
            <a:r>
              <a:rPr lang="en-US" sz="1600" b="1" dirty="0">
                <a:solidFill>
                  <a:schemeClr val="bg1"/>
                </a:solidFill>
                <a:latin typeface="Century Gothic" pitchFamily="34" charset="0"/>
                <a:ea typeface="Century Gothic" pitchFamily="34" charset="-122"/>
                <a:cs typeface="Century Gothic" pitchFamily="34" charset="-120"/>
              </a:rPr>
              <a:t>Creative Direction</a:t>
            </a:r>
            <a:endParaRPr lang="en-US" sz="1600" dirty="0"/>
          </a:p>
        </p:txBody>
      </p:sp>
      <p:sp>
        <p:nvSpPr>
          <p:cNvPr id="16" name="chip-149"/>
          <p:cNvSpPr/>
          <p:nvPr/>
        </p:nvSpPr>
        <p:spPr>
          <a:xfrm>
            <a:off x="7726680" y="2148840"/>
            <a:ext cx="118872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17" name="text-150"/>
          <p:cNvSpPr txBox="1"/>
          <p:nvPr/>
        </p:nvSpPr>
        <p:spPr>
          <a:xfrm>
            <a:off x="7726680" y="2148840"/>
            <a:ext cx="1188720" cy="274320"/>
          </a:xfrm>
          <a:prstGeom prst="rect">
            <a:avLst/>
          </a:prstGeom>
          <a:noFill/>
          <a:ln/>
        </p:spPr>
        <p:txBody>
          <a:bodyPr wrap="square" lIns="0" tIns="0" rIns="0" bIns="0" rtlCol="0" anchor="ctr"/>
          <a:lstStyle/>
          <a:p>
            <a:pPr algn="ctr" indent="0" marL="0">
              <a:buNone/>
            </a:pPr>
            <a:r>
              <a:rPr lang="en-US" sz="1100" b="1" dirty="0">
                <a:solidFill>
                  <a:schemeClr val="accent3"/>
                </a:solidFill>
              </a:rPr>
              <a:t>direction-v2</a:t>
            </a:r>
            <a:endParaRPr lang="en-US" sz="1100" dirty="0"/>
          </a:p>
        </p:txBody>
      </p:sp>
      <p:sp>
        <p:nvSpPr>
          <p:cNvPr id="18" name="chip-151"/>
          <p:cNvSpPr/>
          <p:nvPr/>
        </p:nvSpPr>
        <p:spPr>
          <a:xfrm>
            <a:off x="9006840" y="2148840"/>
            <a:ext cx="566928"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19" name="text-152"/>
          <p:cNvSpPr txBox="1"/>
          <p:nvPr/>
        </p:nvSpPr>
        <p:spPr>
          <a:xfrm>
            <a:off x="9006840" y="2148840"/>
            <a:ext cx="566928" cy="274320"/>
          </a:xfrm>
          <a:prstGeom prst="rect">
            <a:avLst/>
          </a:prstGeom>
          <a:noFill/>
          <a:ln/>
        </p:spPr>
        <p:txBody>
          <a:bodyPr wrap="square" lIns="0" tIns="0" rIns="0" bIns="0" rtlCol="0" anchor="ctr"/>
          <a:lstStyle/>
          <a:p>
            <a:pPr algn="ctr" indent="0" marL="0">
              <a:buNone/>
            </a:pPr>
            <a:r>
              <a:rPr lang="en-US" sz="1100" b="1" dirty="0">
                <a:solidFill>
                  <a:schemeClr val="bg2"/>
                </a:solidFill>
              </a:rPr>
              <a:t>ABP</a:t>
            </a:r>
            <a:endParaRPr lang="en-US" sz="1100" dirty="0"/>
          </a:p>
        </p:txBody>
      </p:sp>
      <p:sp>
        <p:nvSpPr>
          <p:cNvPr id="20" name="text-153"/>
          <p:cNvSpPr txBox="1"/>
          <p:nvPr/>
        </p:nvSpPr>
        <p:spPr>
          <a:xfrm>
            <a:off x="7726680" y="2514600"/>
            <a:ext cx="3794760" cy="310896"/>
          </a:xfrm>
          <a:prstGeom prst="rect">
            <a:avLst/>
          </a:prstGeom>
          <a:noFill/>
          <a:ln/>
        </p:spPr>
        <p:txBody>
          <a:bodyPr wrap="square" lIns="0" tIns="0" rIns="0" bIns="0" rtlCol="0" anchor="t"/>
          <a:lstStyle/>
          <a:p>
            <a:pPr indent="0" marL="0">
              <a:buNone/>
            </a:pPr>
            <a:r>
              <a:rPr lang="en-US" sz="1300" i="1" dirty="0">
                <a:solidFill>
                  <a:schemeClr val="bg2"/>
                </a:solidFill>
              </a:rPr>
              <a:t>A written direction per segment</a:t>
            </a:r>
            <a:endParaRPr lang="en-US" sz="1300" dirty="0"/>
          </a:p>
        </p:txBody>
      </p:sp>
      <p:sp>
        <p:nvSpPr>
          <p:cNvPr id="21" name="text-154"/>
          <p:cNvSpPr txBox="1"/>
          <p:nvPr/>
        </p:nvSpPr>
        <p:spPr>
          <a:xfrm>
            <a:off x="7726680" y="2871216"/>
            <a:ext cx="3794760" cy="841248"/>
          </a:xfrm>
          <a:prstGeom prst="rect">
            <a:avLst/>
          </a:prstGeom>
          <a:noFill/>
          <a:ln/>
        </p:spPr>
        <p:txBody>
          <a:bodyPr wrap="square" lIns="0" tIns="0" rIns="0" bIns="0" rtlCol="0" anchor="t"/>
          <a:lstStyle/>
          <a:p>
            <a:pPr indent="0" marL="0">
              <a:spcAft>
                <a:spcPts val="200"/>
              </a:spcAft>
              <a:buNone/>
            </a:pPr>
            <a:r>
              <a:rPr lang="en-US" sz="1250" b="1" dirty="0">
                <a:solidFill>
                  <a:schemeClr val="accent3"/>
                </a:solidFill>
              </a:rPr>
              <a:t>Model  </a:t>
            </a:r>
            <a:pPr indent="0" marL="0">
              <a:spcAft>
                <a:spcPts val="200"/>
              </a:spcAft>
              <a:buNone/>
            </a:pPr>
            <a:r>
              <a:rPr lang="en-US" sz="1250" dirty="0">
                <a:solidFill>
                  <a:schemeClr val="bg1"/>
                </a:solidFill>
              </a:rPr>
              <a:t>gpt-5.6-luna · strict JSON</a:t>
            </a:r>
            <a:endParaRPr lang="en-US" sz="1250" dirty="0"/>
          </a:p>
          <a:p>
            <a:pPr indent="0" marL="0">
              <a:spcAft>
                <a:spcPts val="200"/>
              </a:spcAft>
              <a:buNone/>
            </a:pPr>
            <a:r>
              <a:rPr lang="en-US" sz="1250" b="1" dirty="0">
                <a:solidFill>
                  <a:schemeClr val="accent3"/>
                </a:solidFill>
              </a:rPr>
              <a:t>Autonomy  </a:t>
            </a:r>
            <a:pPr indent="0" marL="0">
              <a:spcAft>
                <a:spcPts val="200"/>
              </a:spcAft>
              <a:buNone/>
            </a:pPr>
            <a:r>
              <a:rPr lang="en-US" sz="1250" dirty="0">
                <a:solidFill>
                  <a:schemeClr val="bg1"/>
                </a:solidFill>
              </a:rPr>
              <a:t>tone, CTA, design, accent</a:t>
            </a:r>
            <a:endParaRPr lang="en-US" sz="1250" dirty="0"/>
          </a:p>
        </p:txBody>
      </p:sp>
      <p:sp>
        <p:nvSpPr>
          <p:cNvPr id="22" name="glass-155"/>
          <p:cNvSpPr/>
          <p:nvPr/>
        </p:nvSpPr>
        <p:spPr>
          <a:xfrm>
            <a:off x="548640" y="3931920"/>
            <a:ext cx="5449824" cy="2212848"/>
          </a:xfrm>
          <a:prstGeom prst="roundRect">
            <a:avLst>
              <a:gd name="adj" fmla="val 5785"/>
            </a:avLst>
          </a:prstGeom>
          <a:solidFill>
            <a:schemeClr val="accent4">
              <a:alpha val="10000"/>
            </a:schemeClr>
          </a:solidFill>
          <a:ln w="12700">
            <a:solidFill>
              <a:schemeClr val="accent4">
                <a:alpha val="40000"/>
              </a:schemeClr>
            </a:solidFill>
            <a:prstDash val="solid"/>
          </a:ln>
        </p:spPr>
      </p:sp>
      <p:pic>
        <p:nvPicPr>
          <p:cNvPr id="23" name="icon3d-156" descr="C:\Users\himat\AppData\Local\Temp\claude\c--Ai-stuffs-MOSAIC\b3ecbbac-d885-4fec-a9f8-3496f8d06c96\scratchpad\build\assets\icon-composer.png">    </p:cNvPr>
          <p:cNvPicPr>
            <a:picLocks noChangeAspect="1"/>
          </p:cNvPicPr>
          <p:nvPr/>
        </p:nvPicPr>
        <p:blipFill>
          <a:blip r:embed="rId3"/>
          <a:stretch>
            <a:fillRect/>
          </a:stretch>
        </p:blipFill>
        <p:spPr>
          <a:xfrm>
            <a:off x="685800" y="4206240"/>
            <a:ext cx="1234440" cy="1234440"/>
          </a:xfrm>
          <a:prstGeom prst="rect">
            <a:avLst/>
          </a:prstGeom>
        </p:spPr>
      </p:pic>
      <p:sp>
        <p:nvSpPr>
          <p:cNvPr id="24" name="text-157"/>
          <p:cNvSpPr txBox="1"/>
          <p:nvPr/>
        </p:nvSpPr>
        <p:spPr>
          <a:xfrm>
            <a:off x="2084832" y="4114800"/>
            <a:ext cx="3794760" cy="347472"/>
          </a:xfrm>
          <a:prstGeom prst="rect">
            <a:avLst/>
          </a:prstGeom>
          <a:noFill/>
          <a:ln/>
        </p:spPr>
        <p:txBody>
          <a:bodyPr wrap="square" lIns="0" tIns="0" rIns="0" bIns="0" rtlCol="0" anchor="t"/>
          <a:lstStyle/>
          <a:p>
            <a:pPr indent="0" marL="0">
              <a:buNone/>
            </a:pPr>
            <a:r>
              <a:rPr lang="en-US" sz="1600" b="1" dirty="0">
                <a:solidFill>
                  <a:schemeClr val="bg1"/>
                </a:solidFill>
                <a:latin typeface="Century Gothic" pitchFamily="34" charset="0"/>
                <a:ea typeface="Century Gothic" pitchFamily="34" charset="-122"/>
                <a:cs typeface="Century Gothic" pitchFamily="34" charset="-120"/>
              </a:rPr>
              <a:t>Email Composer &amp; Assembly</a:t>
            </a:r>
            <a:endParaRPr lang="en-US" sz="1600" dirty="0"/>
          </a:p>
        </p:txBody>
      </p:sp>
      <p:sp>
        <p:nvSpPr>
          <p:cNvPr id="25" name="chip-158"/>
          <p:cNvSpPr/>
          <p:nvPr/>
        </p:nvSpPr>
        <p:spPr>
          <a:xfrm>
            <a:off x="2084832" y="4507992"/>
            <a:ext cx="1188720" cy="274320"/>
          </a:xfrm>
          <a:prstGeom prst="roundRect">
            <a:avLst>
              <a:gd name="adj" fmla="val 50000"/>
            </a:avLst>
          </a:prstGeom>
          <a:solidFill>
            <a:schemeClr val="accent4">
              <a:alpha val="20000"/>
            </a:schemeClr>
          </a:solidFill>
          <a:ln w="9525">
            <a:solidFill>
              <a:schemeClr val="accent4">
                <a:alpha val="60000"/>
              </a:schemeClr>
            </a:solidFill>
            <a:prstDash val="solid"/>
          </a:ln>
        </p:spPr>
      </p:sp>
      <p:sp>
        <p:nvSpPr>
          <p:cNvPr id="26" name="text-159"/>
          <p:cNvSpPr txBox="1"/>
          <p:nvPr/>
        </p:nvSpPr>
        <p:spPr>
          <a:xfrm>
            <a:off x="2084832" y="4507992"/>
            <a:ext cx="1188720" cy="274320"/>
          </a:xfrm>
          <a:prstGeom prst="rect">
            <a:avLst/>
          </a:prstGeom>
          <a:noFill/>
          <a:ln/>
        </p:spPr>
        <p:txBody>
          <a:bodyPr wrap="square" lIns="0" tIns="0" rIns="0" bIns="0" rtlCol="0" anchor="ctr"/>
          <a:lstStyle/>
          <a:p>
            <a:pPr algn="ctr" indent="0" marL="0">
              <a:buNone/>
            </a:pPr>
            <a:r>
              <a:rPr lang="en-US" sz="1100" b="1" dirty="0">
                <a:solidFill>
                  <a:schemeClr val="accent4"/>
                </a:solidFill>
              </a:rPr>
              <a:t>email-v2</a:t>
            </a:r>
            <a:endParaRPr lang="en-US" sz="1100" dirty="0"/>
          </a:p>
        </p:txBody>
      </p:sp>
      <p:sp>
        <p:nvSpPr>
          <p:cNvPr id="27" name="chip-160"/>
          <p:cNvSpPr/>
          <p:nvPr/>
        </p:nvSpPr>
        <p:spPr>
          <a:xfrm>
            <a:off x="3364992" y="4507992"/>
            <a:ext cx="566928"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28" name="text-161"/>
          <p:cNvSpPr txBox="1"/>
          <p:nvPr/>
        </p:nvSpPr>
        <p:spPr>
          <a:xfrm>
            <a:off x="3364992" y="4507992"/>
            <a:ext cx="566928" cy="274320"/>
          </a:xfrm>
          <a:prstGeom prst="rect">
            <a:avLst/>
          </a:prstGeom>
          <a:noFill/>
          <a:ln/>
        </p:spPr>
        <p:txBody>
          <a:bodyPr wrap="square" lIns="0" tIns="0" rIns="0" bIns="0" rtlCol="0" anchor="ctr"/>
          <a:lstStyle/>
          <a:p>
            <a:pPr algn="ctr" indent="0" marL="0">
              <a:buNone/>
            </a:pPr>
            <a:r>
              <a:rPr lang="en-US" sz="1100" b="1" dirty="0">
                <a:solidFill>
                  <a:schemeClr val="bg2"/>
                </a:solidFill>
              </a:rPr>
              <a:t>OQQ</a:t>
            </a:r>
            <a:endParaRPr lang="en-US" sz="1100" dirty="0"/>
          </a:p>
        </p:txBody>
      </p:sp>
      <p:sp>
        <p:nvSpPr>
          <p:cNvPr id="29" name="text-162"/>
          <p:cNvSpPr txBox="1"/>
          <p:nvPr/>
        </p:nvSpPr>
        <p:spPr>
          <a:xfrm>
            <a:off x="2084832" y="4873752"/>
            <a:ext cx="3794760" cy="310896"/>
          </a:xfrm>
          <a:prstGeom prst="rect">
            <a:avLst/>
          </a:prstGeom>
          <a:noFill/>
          <a:ln/>
        </p:spPr>
        <p:txBody>
          <a:bodyPr wrap="square" lIns="0" tIns="0" rIns="0" bIns="0" rtlCol="0" anchor="t"/>
          <a:lstStyle/>
          <a:p>
            <a:pPr indent="0" marL="0">
              <a:buNone/>
            </a:pPr>
            <a:r>
              <a:rPr lang="en-US" sz="1300" i="1" dirty="0">
                <a:solidFill>
                  <a:schemeClr val="bg2"/>
                </a:solidFill>
              </a:rPr>
              <a:t>Write and assemble each email</a:t>
            </a:r>
            <a:endParaRPr lang="en-US" sz="1300" dirty="0"/>
          </a:p>
        </p:txBody>
      </p:sp>
      <p:sp>
        <p:nvSpPr>
          <p:cNvPr id="30" name="text-163"/>
          <p:cNvSpPr txBox="1"/>
          <p:nvPr/>
        </p:nvSpPr>
        <p:spPr>
          <a:xfrm>
            <a:off x="2084832" y="5230368"/>
            <a:ext cx="3794760" cy="841248"/>
          </a:xfrm>
          <a:prstGeom prst="rect">
            <a:avLst/>
          </a:prstGeom>
          <a:noFill/>
          <a:ln/>
        </p:spPr>
        <p:txBody>
          <a:bodyPr wrap="square" lIns="0" tIns="0" rIns="0" bIns="0" rtlCol="0" anchor="t"/>
          <a:lstStyle/>
          <a:p>
            <a:pPr indent="0" marL="0">
              <a:spcAft>
                <a:spcPts val="200"/>
              </a:spcAft>
              <a:buNone/>
            </a:pPr>
            <a:r>
              <a:rPr lang="en-US" sz="1250" b="1" dirty="0">
                <a:solidFill>
                  <a:schemeClr val="accent4"/>
                </a:solidFill>
              </a:rPr>
              <a:t>Model  </a:t>
            </a:r>
            <a:pPr indent="0" marL="0">
              <a:spcAft>
                <a:spcPts val="200"/>
              </a:spcAft>
              <a:buNone/>
            </a:pPr>
            <a:r>
              <a:rPr lang="en-US" sz="1250" dirty="0">
                <a:solidFill>
                  <a:schemeClr val="bg1"/>
                </a:solidFill>
              </a:rPr>
              <a:t>gpt-5.6-luna · word caps</a:t>
            </a:r>
            <a:endParaRPr lang="en-US" sz="1250" dirty="0"/>
          </a:p>
          <a:p>
            <a:pPr indent="0" marL="0">
              <a:spcAft>
                <a:spcPts val="200"/>
              </a:spcAft>
              <a:buNone/>
            </a:pPr>
            <a:r>
              <a:rPr lang="en-US" sz="1250" b="1" dirty="0">
                <a:solidFill>
                  <a:schemeClr val="accent4"/>
                </a:solidFill>
              </a:rPr>
              <a:t>Autonomy  </a:t>
            </a:r>
            <a:pPr indent="0" marL="0">
              <a:spcAft>
                <a:spcPts val="200"/>
              </a:spcAft>
              <a:buNone/>
            </a:pPr>
            <a:r>
              <a:rPr lang="en-US" sz="1250" dirty="0">
                <a:solidFill>
                  <a:schemeClr val="bg1"/>
                </a:solidFill>
              </a:rPr>
              <a:t>copy and which offers to cite</a:t>
            </a:r>
            <a:endParaRPr lang="en-US" sz="1250" dirty="0"/>
          </a:p>
        </p:txBody>
      </p:sp>
      <p:sp>
        <p:nvSpPr>
          <p:cNvPr id="31" name="glass-164"/>
          <p:cNvSpPr/>
          <p:nvPr/>
        </p:nvSpPr>
        <p:spPr>
          <a:xfrm>
            <a:off x="6190488" y="3931920"/>
            <a:ext cx="5449824" cy="2212848"/>
          </a:xfrm>
          <a:prstGeom prst="roundRect">
            <a:avLst>
              <a:gd name="adj" fmla="val 5785"/>
            </a:avLst>
          </a:prstGeom>
          <a:solidFill>
            <a:schemeClr val="accent5">
              <a:alpha val="10000"/>
            </a:schemeClr>
          </a:solidFill>
          <a:ln w="12700">
            <a:solidFill>
              <a:schemeClr val="accent5">
                <a:alpha val="40000"/>
              </a:schemeClr>
            </a:solidFill>
            <a:prstDash val="solid"/>
          </a:ln>
        </p:spPr>
      </p:sp>
      <p:pic>
        <p:nvPicPr>
          <p:cNvPr id="32" name="icon3d-165" descr="C:\Users\himat\AppData\Local\Temp\claude\c--Ai-stuffs-MOSAIC\b3ecbbac-d885-4fec-a9f8-3496f8d06c96\scratchpad\build\assets\icon-guardian.png">    </p:cNvPr>
          <p:cNvPicPr>
            <a:picLocks noChangeAspect="1"/>
          </p:cNvPicPr>
          <p:nvPr/>
        </p:nvPicPr>
        <p:blipFill>
          <a:blip r:embed="rId4"/>
          <a:stretch>
            <a:fillRect/>
          </a:stretch>
        </p:blipFill>
        <p:spPr>
          <a:xfrm>
            <a:off x="6327648" y="4206240"/>
            <a:ext cx="1234440" cy="1234440"/>
          </a:xfrm>
          <a:prstGeom prst="rect">
            <a:avLst/>
          </a:prstGeom>
        </p:spPr>
      </p:pic>
      <p:sp>
        <p:nvSpPr>
          <p:cNvPr id="33" name="text-166"/>
          <p:cNvSpPr txBox="1"/>
          <p:nvPr/>
        </p:nvSpPr>
        <p:spPr>
          <a:xfrm>
            <a:off x="7726680" y="4114800"/>
            <a:ext cx="3794760" cy="347472"/>
          </a:xfrm>
          <a:prstGeom prst="rect">
            <a:avLst/>
          </a:prstGeom>
          <a:noFill/>
          <a:ln/>
        </p:spPr>
        <p:txBody>
          <a:bodyPr wrap="square" lIns="0" tIns="0" rIns="0" bIns="0" rtlCol="0" anchor="t"/>
          <a:lstStyle/>
          <a:p>
            <a:pPr indent="0" marL="0">
              <a:buNone/>
            </a:pPr>
            <a:r>
              <a:rPr lang="en-US" sz="1600" b="1" dirty="0">
                <a:solidFill>
                  <a:schemeClr val="bg1"/>
                </a:solidFill>
                <a:latin typeface="Century Gothic" pitchFamily="34" charset="0"/>
                <a:ea typeface="Century Gothic" pitchFamily="34" charset="-122"/>
                <a:cs typeface="Century Gothic" pitchFamily="34" charset="-120"/>
              </a:rPr>
              <a:t>Compliance &amp; Brand Guardian</a:t>
            </a:r>
            <a:endParaRPr lang="en-US" sz="1600" dirty="0"/>
          </a:p>
        </p:txBody>
      </p:sp>
      <p:sp>
        <p:nvSpPr>
          <p:cNvPr id="34" name="chip-167"/>
          <p:cNvSpPr/>
          <p:nvPr/>
        </p:nvSpPr>
        <p:spPr>
          <a:xfrm>
            <a:off x="7726680" y="4507992"/>
            <a:ext cx="1188720" cy="274320"/>
          </a:xfrm>
          <a:prstGeom prst="roundRect">
            <a:avLst>
              <a:gd name="adj" fmla="val 50000"/>
            </a:avLst>
          </a:prstGeom>
          <a:solidFill>
            <a:schemeClr val="accent5">
              <a:alpha val="20000"/>
            </a:schemeClr>
          </a:solidFill>
          <a:ln w="9525">
            <a:solidFill>
              <a:schemeClr val="accent5">
                <a:alpha val="60000"/>
              </a:schemeClr>
            </a:solidFill>
            <a:prstDash val="solid"/>
          </a:ln>
        </p:spPr>
      </p:sp>
      <p:sp>
        <p:nvSpPr>
          <p:cNvPr id="35" name="text-168"/>
          <p:cNvSpPr txBox="1"/>
          <p:nvPr/>
        </p:nvSpPr>
        <p:spPr>
          <a:xfrm>
            <a:off x="7726680" y="4507992"/>
            <a:ext cx="1188720" cy="274320"/>
          </a:xfrm>
          <a:prstGeom prst="rect">
            <a:avLst/>
          </a:prstGeom>
          <a:noFill/>
          <a:ln/>
        </p:spPr>
        <p:txBody>
          <a:bodyPr wrap="square" lIns="0" tIns="0" rIns="0" bIns="0" rtlCol="0" anchor="ctr"/>
          <a:lstStyle/>
          <a:p>
            <a:pPr algn="ctr" indent="0" marL="0">
              <a:buNone/>
            </a:pPr>
            <a:r>
              <a:rPr lang="en-US" sz="1100" b="1" dirty="0">
                <a:solidFill>
                  <a:schemeClr val="accent5"/>
                </a:solidFill>
              </a:rPr>
              <a:t>guardian-v4</a:t>
            </a:r>
            <a:endParaRPr lang="en-US" sz="1100" dirty="0"/>
          </a:p>
        </p:txBody>
      </p:sp>
      <p:sp>
        <p:nvSpPr>
          <p:cNvPr id="36" name="chip-169"/>
          <p:cNvSpPr/>
          <p:nvPr/>
        </p:nvSpPr>
        <p:spPr>
          <a:xfrm>
            <a:off x="9006840" y="4507992"/>
            <a:ext cx="566928"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37" name="text-170"/>
          <p:cNvSpPr txBox="1"/>
          <p:nvPr/>
        </p:nvSpPr>
        <p:spPr>
          <a:xfrm>
            <a:off x="9006840" y="4507992"/>
            <a:ext cx="566928" cy="274320"/>
          </a:xfrm>
          <a:prstGeom prst="rect">
            <a:avLst/>
          </a:prstGeom>
          <a:noFill/>
          <a:ln/>
        </p:spPr>
        <p:txBody>
          <a:bodyPr wrap="square" lIns="0" tIns="0" rIns="0" bIns="0" rtlCol="0" anchor="ctr"/>
          <a:lstStyle/>
          <a:p>
            <a:pPr algn="ctr" indent="0" marL="0">
              <a:buNone/>
            </a:pPr>
            <a:r>
              <a:rPr lang="en-US" sz="1100" b="1" dirty="0">
                <a:solidFill>
                  <a:schemeClr val="bg2"/>
                </a:solidFill>
              </a:rPr>
              <a:t>ABP</a:t>
            </a:r>
            <a:endParaRPr lang="en-US" sz="1100" dirty="0"/>
          </a:p>
        </p:txBody>
      </p:sp>
      <p:sp>
        <p:nvSpPr>
          <p:cNvPr id="38" name="text-171"/>
          <p:cNvSpPr txBox="1"/>
          <p:nvPr/>
        </p:nvSpPr>
        <p:spPr>
          <a:xfrm>
            <a:off x="7726680" y="4873752"/>
            <a:ext cx="3794760" cy="310896"/>
          </a:xfrm>
          <a:prstGeom prst="rect">
            <a:avLst/>
          </a:prstGeom>
          <a:noFill/>
          <a:ln/>
        </p:spPr>
        <p:txBody>
          <a:bodyPr wrap="square" lIns="0" tIns="0" rIns="0" bIns="0" rtlCol="0" anchor="t"/>
          <a:lstStyle/>
          <a:p>
            <a:pPr indent="0" marL="0">
              <a:buNone/>
            </a:pPr>
            <a:r>
              <a:rPr lang="en-US" sz="1300" i="1" dirty="0">
                <a:solidFill>
                  <a:schemeClr val="bg2"/>
                </a:solidFill>
              </a:rPr>
              <a:t>Check every email before send</a:t>
            </a:r>
            <a:endParaRPr lang="en-US" sz="1300" dirty="0"/>
          </a:p>
        </p:txBody>
      </p:sp>
      <p:sp>
        <p:nvSpPr>
          <p:cNvPr id="39" name="text-172"/>
          <p:cNvSpPr txBox="1"/>
          <p:nvPr/>
        </p:nvSpPr>
        <p:spPr>
          <a:xfrm>
            <a:off x="7726680" y="5230368"/>
            <a:ext cx="3794760" cy="841248"/>
          </a:xfrm>
          <a:prstGeom prst="rect">
            <a:avLst/>
          </a:prstGeom>
          <a:noFill/>
          <a:ln/>
        </p:spPr>
        <p:txBody>
          <a:bodyPr wrap="square" lIns="0" tIns="0" rIns="0" bIns="0" rtlCol="0" anchor="t"/>
          <a:lstStyle/>
          <a:p>
            <a:pPr indent="0" marL="0">
              <a:spcAft>
                <a:spcPts val="200"/>
              </a:spcAft>
              <a:buNone/>
            </a:pPr>
            <a:r>
              <a:rPr lang="en-US" sz="1250" b="1" dirty="0">
                <a:solidFill>
                  <a:schemeClr val="accent5"/>
                </a:solidFill>
              </a:rPr>
              <a:t>Model  </a:t>
            </a:r>
            <a:pPr indent="0" marL="0">
              <a:spcAft>
                <a:spcPts val="200"/>
              </a:spcAft>
              <a:buNone/>
            </a:pPr>
            <a:r>
              <a:rPr lang="en-US" sz="1250" dirty="0">
                <a:solidFill>
                  <a:schemeClr val="bg1"/>
                </a:solidFill>
              </a:rPr>
              <a:t>rule engine — no LLM</a:t>
            </a:r>
            <a:endParaRPr lang="en-US" sz="1250" dirty="0"/>
          </a:p>
          <a:p>
            <a:pPr indent="0" marL="0">
              <a:spcAft>
                <a:spcPts val="200"/>
              </a:spcAft>
              <a:buNone/>
            </a:pPr>
            <a:r>
              <a:rPr lang="en-US" sz="1250" b="1" dirty="0">
                <a:solidFill>
                  <a:schemeClr val="accent5"/>
                </a:solidFill>
              </a:rPr>
              <a:t>Autonomy  </a:t>
            </a:r>
            <a:pPr indent="0" marL="0">
              <a:spcAft>
                <a:spcPts val="200"/>
              </a:spcAft>
              <a:buNone/>
            </a:pPr>
            <a:r>
              <a:rPr lang="en-US" sz="1250" dirty="0">
                <a:solidFill>
                  <a:schemeClr val="bg1"/>
                </a:solidFill>
              </a:rPr>
              <a:t>veto over every generator</a:t>
            </a:r>
            <a:endParaRPr lang="en-US" sz="12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173"/>
          <p:cNvSpPr txBox="1"/>
          <p:nvPr/>
        </p:nvSpPr>
        <p:spPr>
          <a:xfrm>
            <a:off x="685800" y="1600200"/>
            <a:ext cx="2743200" cy="1005840"/>
          </a:xfrm>
          <a:prstGeom prst="rect">
            <a:avLst/>
          </a:prstGeom>
          <a:noFill/>
          <a:ln/>
        </p:spPr>
        <p:txBody>
          <a:bodyPr wrap="square" lIns="0" tIns="0" rIns="0" bIns="0" rtlCol="0" anchor="t"/>
          <a:lstStyle/>
          <a:p>
            <a:pPr indent="0" marL="0">
              <a:buNone/>
            </a:pPr>
            <a:r>
              <a:rPr lang="en-US" sz="6400" b="1" dirty="0">
                <a:solidFill>
                  <a:schemeClr val="accent1"/>
                </a:solidFill>
                <a:latin typeface="Century Gothic" pitchFamily="34" charset="0"/>
                <a:ea typeface="Century Gothic" pitchFamily="34" charset="-122"/>
                <a:cs typeface="Century Gothic" pitchFamily="34" charset="-120"/>
              </a:rPr>
              <a:t>02</a:t>
            </a:r>
            <a:endParaRPr lang="en-US" sz="6400" dirty="0"/>
          </a:p>
        </p:txBody>
      </p:sp>
      <p:sp>
        <p:nvSpPr>
          <p:cNvPr id="3" name="Text 0"/>
          <p:cNvSpPr/>
          <p:nvPr>
            <p:ph idx="100" type="title" hasCustomPrompt="1"/>
          </p:nvPr>
        </p:nvSpPr>
        <p:spPr>
          <a:xfrm>
            <a:off x="685800" y="2788920"/>
            <a:ext cx="6217920" cy="86868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Architecture</a:t>
            </a:r>
            <a:endParaRPr lang="en-US" sz="4400" dirty="0"/>
          </a:p>
        </p:txBody>
      </p:sp>
      <p:sp>
        <p:nvSpPr>
          <p:cNvPr id="4" name="Text 0"/>
          <p:cNvSpPr/>
          <p:nvPr>
            <p:ph idx="101" type="body" hasCustomPrompt="1"/>
          </p:nvPr>
        </p:nvSpPr>
        <p:spPr>
          <a:xfrm>
            <a:off x="685800" y="379476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Five logical layers, two deployed services, and a typed blackboard instead of agent-to-agent calls.</a:t>
            </a:r>
            <a:endParaRPr lang="en-US" sz="1800" dirty="0"/>
          </a:p>
        </p:txBody>
      </p:sp>
      <p:sp>
        <p:nvSpPr>
          <p:cNvPr id="5" name="tile-174"/>
          <p:cNvSpPr/>
          <p:nvPr/>
        </p:nvSpPr>
        <p:spPr>
          <a:xfrm>
            <a:off x="685800" y="5257800"/>
            <a:ext cx="182880" cy="182880"/>
          </a:xfrm>
          <a:prstGeom prst="roundRect">
            <a:avLst>
              <a:gd name="adj" fmla="val 20000"/>
            </a:avLst>
          </a:prstGeom>
          <a:solidFill>
            <a:schemeClr val="accent6"/>
          </a:solidFill>
          <a:ln/>
        </p:spPr>
      </p:sp>
      <p:sp>
        <p:nvSpPr>
          <p:cNvPr id="6" name="tile-175"/>
          <p:cNvSpPr/>
          <p:nvPr/>
        </p:nvSpPr>
        <p:spPr>
          <a:xfrm>
            <a:off x="941832" y="5257800"/>
            <a:ext cx="182880" cy="182880"/>
          </a:xfrm>
          <a:prstGeom prst="roundRect">
            <a:avLst>
              <a:gd name="adj" fmla="val 20000"/>
            </a:avLst>
          </a:prstGeom>
          <a:solidFill>
            <a:schemeClr val="accent3"/>
          </a:solidFill>
          <a:ln/>
        </p:spPr>
      </p:sp>
      <p:sp>
        <p:nvSpPr>
          <p:cNvPr id="7" name="tile-176"/>
          <p:cNvSpPr/>
          <p:nvPr/>
        </p:nvSpPr>
        <p:spPr>
          <a:xfrm>
            <a:off x="1197864" y="5257800"/>
            <a:ext cx="182880" cy="182880"/>
          </a:xfrm>
          <a:prstGeom prst="roundRect">
            <a:avLst>
              <a:gd name="adj" fmla="val 20000"/>
            </a:avLst>
          </a:prstGeom>
          <a:solidFill>
            <a:schemeClr val="accent2"/>
          </a:solidFill>
          <a:ln/>
        </p:spPr>
      </p:sp>
      <p:sp>
        <p:nvSpPr>
          <p:cNvPr id="8" name="tile-177"/>
          <p:cNvSpPr/>
          <p:nvPr/>
        </p:nvSpPr>
        <p:spPr>
          <a:xfrm>
            <a:off x="1453896" y="5257800"/>
            <a:ext cx="182880" cy="182880"/>
          </a:xfrm>
          <a:prstGeom prst="roundRect">
            <a:avLst>
              <a:gd name="adj" fmla="val 20000"/>
            </a:avLst>
          </a:prstGeom>
          <a:solidFill>
            <a:schemeClr val="accent5"/>
          </a:solidFill>
          <a:ln/>
        </p:spPr>
      </p:sp>
      <p:sp>
        <p:nvSpPr>
          <p:cNvPr id="9" name="tile-178"/>
          <p:cNvSpPr/>
          <p:nvPr/>
        </p:nvSpPr>
        <p:spPr>
          <a:xfrm>
            <a:off x="1709928" y="5257800"/>
            <a:ext cx="182880" cy="182880"/>
          </a:xfrm>
          <a:prstGeom prst="roundRect">
            <a:avLst>
              <a:gd name="adj" fmla="val 20000"/>
            </a:avLst>
          </a:prstGeom>
          <a:solidFill>
            <a:schemeClr val="accent4"/>
          </a:solidFill>
          <a:ln/>
        </p:spPr>
      </p:sp>
      <p:sp>
        <p:nvSpPr>
          <p:cNvPr id="10" name="tile-179"/>
          <p:cNvSpPr/>
          <p:nvPr/>
        </p:nvSpPr>
        <p:spPr>
          <a:xfrm>
            <a:off x="1965960" y="5257800"/>
            <a:ext cx="182880" cy="182880"/>
          </a:xfrm>
          <a:prstGeom prst="roundRect">
            <a:avLst>
              <a:gd name="adj" fmla="val 20000"/>
            </a:avLst>
          </a:prstGeom>
          <a:solidFill>
            <a:schemeClr val="accent1"/>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Logical architecture: five layers</a:t>
            </a:r>
            <a:endParaRPr lang="en-US" sz="2800" dirty="0"/>
          </a:p>
        </p:txBody>
      </p:sp>
      <p:sp>
        <p:nvSpPr>
          <p:cNvPr id="3" name="text-180"/>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Dependencies point down only — the console never touches the database for pipeline state, and agents never call each other.</a:t>
            </a:r>
            <a:endParaRPr lang="en-US" sz="1600" dirty="0"/>
          </a:p>
        </p:txBody>
      </p:sp>
      <p:sp>
        <p:nvSpPr>
          <p:cNvPr id="4" name="glass-181"/>
          <p:cNvSpPr/>
          <p:nvPr/>
        </p:nvSpPr>
        <p:spPr>
          <a:xfrm>
            <a:off x="548640" y="1572768"/>
            <a:ext cx="11091672" cy="804672"/>
          </a:xfrm>
          <a:prstGeom prst="roundRect">
            <a:avLst>
              <a:gd name="adj" fmla="val 15909"/>
            </a:avLst>
          </a:prstGeom>
          <a:solidFill>
            <a:schemeClr val="bg2">
              <a:alpha val="10000"/>
            </a:schemeClr>
          </a:solidFill>
          <a:ln w="12700">
            <a:solidFill>
              <a:schemeClr val="bg2">
                <a:alpha val="35000"/>
              </a:schemeClr>
            </a:solidFill>
            <a:prstDash val="solid"/>
          </a:ln>
        </p:spPr>
      </p:sp>
      <p:sp>
        <p:nvSpPr>
          <p:cNvPr id="5" name="layer-label-182"/>
          <p:cNvSpPr/>
          <p:nvPr/>
        </p:nvSpPr>
        <p:spPr>
          <a:xfrm>
            <a:off x="548640" y="1572768"/>
            <a:ext cx="2240280" cy="804672"/>
          </a:xfrm>
          <a:prstGeom prst="roundRect">
            <a:avLst>
              <a:gd name="adj" fmla="val 15909"/>
            </a:avLst>
          </a:prstGeom>
          <a:solidFill>
            <a:schemeClr val="bg2">
              <a:alpha val="28000"/>
            </a:schemeClr>
          </a:solidFill>
          <a:ln/>
        </p:spPr>
      </p:sp>
      <p:sp>
        <p:nvSpPr>
          <p:cNvPr id="6" name="text-183"/>
          <p:cNvSpPr txBox="1"/>
          <p:nvPr/>
        </p:nvSpPr>
        <p:spPr>
          <a:xfrm>
            <a:off x="731520" y="1572768"/>
            <a:ext cx="2011680" cy="804672"/>
          </a:xfrm>
          <a:prstGeom prst="rect">
            <a:avLst/>
          </a:prstGeom>
          <a:noFill/>
          <a:ln/>
        </p:spPr>
        <p:txBody>
          <a:bodyPr wrap="square" lIns="0" tIns="0" rIns="0" bIns="0" rtlCol="0" anchor="ctr"/>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Presentation</a:t>
            </a:r>
            <a:endParaRPr lang="en-US" sz="1400" dirty="0"/>
          </a:p>
          <a:p>
            <a:pPr indent="0" marL="0">
              <a:buNone/>
            </a:pPr>
            <a:r>
              <a:rPr lang="en-US" sz="1150" dirty="0">
                <a:solidFill>
                  <a:schemeClr val="bg2"/>
                </a:solidFill>
              </a:rPr>
              <a:t>React 18 · Vite · TS</a:t>
            </a:r>
            <a:endParaRPr lang="en-US" sz="1400" dirty="0"/>
          </a:p>
        </p:txBody>
      </p:sp>
      <p:sp>
        <p:nvSpPr>
          <p:cNvPr id="7" name="component-184"/>
          <p:cNvSpPr/>
          <p:nvPr/>
        </p:nvSpPr>
        <p:spPr>
          <a:xfrm>
            <a:off x="2926080" y="1719072"/>
            <a:ext cx="2061972" cy="512064"/>
          </a:xfrm>
          <a:prstGeom prst="roundRect">
            <a:avLst>
              <a:gd name="adj" fmla="val 17857"/>
            </a:avLst>
          </a:prstGeom>
          <a:solidFill>
            <a:schemeClr val="tx1">
              <a:alpha val="70000"/>
            </a:schemeClr>
          </a:solidFill>
          <a:ln w="9525">
            <a:solidFill>
              <a:schemeClr val="bg2">
                <a:alpha val="50000"/>
              </a:schemeClr>
            </a:solidFill>
            <a:prstDash val="solid"/>
          </a:ln>
        </p:spPr>
      </p:sp>
      <p:sp>
        <p:nvSpPr>
          <p:cNvPr id="8" name="text-185"/>
          <p:cNvSpPr txBox="1"/>
          <p:nvPr/>
        </p:nvSpPr>
        <p:spPr>
          <a:xfrm>
            <a:off x="2971800" y="1719072"/>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Five pipeline tabs</a:t>
            </a:r>
            <a:endParaRPr lang="en-US" sz="1250" dirty="0"/>
          </a:p>
        </p:txBody>
      </p:sp>
      <p:sp>
        <p:nvSpPr>
          <p:cNvPr id="9" name="component-186"/>
          <p:cNvSpPr/>
          <p:nvPr/>
        </p:nvSpPr>
        <p:spPr>
          <a:xfrm>
            <a:off x="5097780" y="1719072"/>
            <a:ext cx="2061972" cy="512064"/>
          </a:xfrm>
          <a:prstGeom prst="roundRect">
            <a:avLst>
              <a:gd name="adj" fmla="val 17857"/>
            </a:avLst>
          </a:prstGeom>
          <a:solidFill>
            <a:schemeClr val="tx1">
              <a:alpha val="70000"/>
            </a:schemeClr>
          </a:solidFill>
          <a:ln w="9525">
            <a:solidFill>
              <a:schemeClr val="bg2">
                <a:alpha val="50000"/>
              </a:schemeClr>
            </a:solidFill>
            <a:prstDash val="solid"/>
          </a:ln>
        </p:spPr>
      </p:sp>
      <p:sp>
        <p:nvSpPr>
          <p:cNvPr id="10" name="text-187"/>
          <p:cNvSpPr txBox="1"/>
          <p:nvPr/>
        </p:nvSpPr>
        <p:spPr>
          <a:xfrm>
            <a:off x="5143500" y="1719072"/>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Route guard · pipeline.ts</a:t>
            </a:r>
            <a:endParaRPr lang="en-US" sz="1250" dirty="0"/>
          </a:p>
        </p:txBody>
      </p:sp>
      <p:sp>
        <p:nvSpPr>
          <p:cNvPr id="11" name="component-188"/>
          <p:cNvSpPr/>
          <p:nvPr/>
        </p:nvSpPr>
        <p:spPr>
          <a:xfrm>
            <a:off x="7269480" y="1719072"/>
            <a:ext cx="2061972" cy="512064"/>
          </a:xfrm>
          <a:prstGeom prst="roundRect">
            <a:avLst>
              <a:gd name="adj" fmla="val 17857"/>
            </a:avLst>
          </a:prstGeom>
          <a:solidFill>
            <a:schemeClr val="tx1">
              <a:alpha val="70000"/>
            </a:schemeClr>
          </a:solidFill>
          <a:ln w="9525">
            <a:solidFill>
              <a:schemeClr val="bg2">
                <a:alpha val="50000"/>
              </a:schemeClr>
            </a:solidFill>
            <a:prstDash val="solid"/>
          </a:ln>
        </p:spPr>
      </p:sp>
      <p:sp>
        <p:nvSpPr>
          <p:cNvPr id="12" name="text-189"/>
          <p:cNvSpPr txBox="1"/>
          <p:nvPr/>
        </p:nvSpPr>
        <p:spPr>
          <a:xfrm>
            <a:off x="7315200" y="1719072"/>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Email builder · 20 block types</a:t>
            </a:r>
            <a:endParaRPr lang="en-US" sz="1250" dirty="0"/>
          </a:p>
        </p:txBody>
      </p:sp>
      <p:sp>
        <p:nvSpPr>
          <p:cNvPr id="13" name="component-190"/>
          <p:cNvSpPr/>
          <p:nvPr/>
        </p:nvSpPr>
        <p:spPr>
          <a:xfrm>
            <a:off x="9441180" y="1719072"/>
            <a:ext cx="2061972" cy="512064"/>
          </a:xfrm>
          <a:prstGeom prst="roundRect">
            <a:avLst>
              <a:gd name="adj" fmla="val 17857"/>
            </a:avLst>
          </a:prstGeom>
          <a:solidFill>
            <a:schemeClr val="tx1">
              <a:alpha val="70000"/>
            </a:schemeClr>
          </a:solidFill>
          <a:ln w="9525">
            <a:solidFill>
              <a:schemeClr val="bg2">
                <a:alpha val="50000"/>
              </a:schemeClr>
            </a:solidFill>
            <a:prstDash val="solid"/>
          </a:ln>
        </p:spPr>
      </p:sp>
      <p:sp>
        <p:nvSpPr>
          <p:cNvPr id="14" name="text-191"/>
          <p:cNvSpPr txBox="1"/>
          <p:nvPr/>
        </p:nvSpPr>
        <p:spPr>
          <a:xfrm>
            <a:off x="9486900" y="1719072"/>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Settings · Logs</a:t>
            </a:r>
            <a:endParaRPr lang="en-US" sz="1250" dirty="0"/>
          </a:p>
        </p:txBody>
      </p:sp>
      <p:sp>
        <p:nvSpPr>
          <p:cNvPr id="15" name="connector-192"/>
          <p:cNvSpPr/>
          <p:nvPr/>
        </p:nvSpPr>
        <p:spPr>
          <a:xfrm>
            <a:off x="1664208" y="2386584"/>
            <a:ext cx="91" cy="109728"/>
          </a:xfrm>
          <a:prstGeom prst="line">
            <a:avLst/>
          </a:prstGeom>
          <a:noFill/>
          <a:ln w="15875">
            <a:solidFill>
              <a:schemeClr val="bg2"/>
            </a:solidFill>
            <a:prstDash val="solid"/>
            <a:tailEnd type="triangle"/>
          </a:ln>
        </p:spPr>
      </p:sp>
      <p:sp>
        <p:nvSpPr>
          <p:cNvPr id="16" name="glass-193"/>
          <p:cNvSpPr/>
          <p:nvPr/>
        </p:nvSpPr>
        <p:spPr>
          <a:xfrm>
            <a:off x="548640" y="2505456"/>
            <a:ext cx="11091672" cy="804672"/>
          </a:xfrm>
          <a:prstGeom prst="roundRect">
            <a:avLst>
              <a:gd name="adj" fmla="val 15909"/>
            </a:avLst>
          </a:prstGeom>
          <a:solidFill>
            <a:schemeClr val="accent1">
              <a:alpha val="10000"/>
            </a:schemeClr>
          </a:solidFill>
          <a:ln w="12700">
            <a:solidFill>
              <a:schemeClr val="accent1">
                <a:alpha val="35000"/>
              </a:schemeClr>
            </a:solidFill>
            <a:prstDash val="solid"/>
          </a:ln>
        </p:spPr>
      </p:sp>
      <p:sp>
        <p:nvSpPr>
          <p:cNvPr id="17" name="layer-label-194"/>
          <p:cNvSpPr/>
          <p:nvPr/>
        </p:nvSpPr>
        <p:spPr>
          <a:xfrm>
            <a:off x="548640" y="2505456"/>
            <a:ext cx="2240280" cy="804672"/>
          </a:xfrm>
          <a:prstGeom prst="roundRect">
            <a:avLst>
              <a:gd name="adj" fmla="val 15909"/>
            </a:avLst>
          </a:prstGeom>
          <a:solidFill>
            <a:schemeClr val="accent1">
              <a:alpha val="28000"/>
            </a:schemeClr>
          </a:solidFill>
          <a:ln/>
        </p:spPr>
      </p:sp>
      <p:sp>
        <p:nvSpPr>
          <p:cNvPr id="18" name="text-195"/>
          <p:cNvSpPr txBox="1"/>
          <p:nvPr/>
        </p:nvSpPr>
        <p:spPr>
          <a:xfrm>
            <a:off x="731520" y="2505456"/>
            <a:ext cx="2011680" cy="804672"/>
          </a:xfrm>
          <a:prstGeom prst="rect">
            <a:avLst/>
          </a:prstGeom>
          <a:noFill/>
          <a:ln/>
        </p:spPr>
        <p:txBody>
          <a:bodyPr wrap="square" lIns="0" tIns="0" rIns="0" bIns="0" rtlCol="0" anchor="ctr"/>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Orchestration</a:t>
            </a:r>
            <a:endParaRPr lang="en-US" sz="1400" dirty="0"/>
          </a:p>
          <a:p>
            <a:pPr indent="0" marL="0">
              <a:buNone/>
            </a:pPr>
            <a:r>
              <a:rPr lang="en-US" sz="1150" dirty="0">
                <a:solidFill>
                  <a:schemeClr val="bg2"/>
                </a:solidFill>
              </a:rPr>
              <a:t>FastAPI · Python 3.12</a:t>
            </a:r>
            <a:endParaRPr lang="en-US" sz="1400" dirty="0"/>
          </a:p>
        </p:txBody>
      </p:sp>
      <p:sp>
        <p:nvSpPr>
          <p:cNvPr id="19" name="component-196"/>
          <p:cNvSpPr/>
          <p:nvPr/>
        </p:nvSpPr>
        <p:spPr>
          <a:xfrm>
            <a:off x="2926080" y="2651760"/>
            <a:ext cx="2061972" cy="512064"/>
          </a:xfrm>
          <a:prstGeom prst="roundRect">
            <a:avLst>
              <a:gd name="adj" fmla="val 17857"/>
            </a:avLst>
          </a:prstGeom>
          <a:solidFill>
            <a:schemeClr val="tx1">
              <a:alpha val="70000"/>
            </a:schemeClr>
          </a:solidFill>
          <a:ln w="9525">
            <a:solidFill>
              <a:schemeClr val="accent1">
                <a:alpha val="50000"/>
              </a:schemeClr>
            </a:solidFill>
            <a:prstDash val="solid"/>
          </a:ln>
        </p:spPr>
      </p:sp>
      <p:sp>
        <p:nvSpPr>
          <p:cNvPr id="20" name="text-197"/>
          <p:cNvSpPr txBox="1"/>
          <p:nvPr/>
        </p:nvSpPr>
        <p:spPr>
          <a:xfrm>
            <a:off x="2971800" y="2651760"/>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REST routers</a:t>
            </a:r>
            <a:endParaRPr lang="en-US" sz="1250" dirty="0"/>
          </a:p>
        </p:txBody>
      </p:sp>
      <p:sp>
        <p:nvSpPr>
          <p:cNvPr id="21" name="component-198"/>
          <p:cNvSpPr/>
          <p:nvPr/>
        </p:nvSpPr>
        <p:spPr>
          <a:xfrm>
            <a:off x="5097780" y="2651760"/>
            <a:ext cx="2061972" cy="512064"/>
          </a:xfrm>
          <a:prstGeom prst="roundRect">
            <a:avLst>
              <a:gd name="adj" fmla="val 17857"/>
            </a:avLst>
          </a:prstGeom>
          <a:solidFill>
            <a:schemeClr val="tx1">
              <a:alpha val="70000"/>
            </a:schemeClr>
          </a:solidFill>
          <a:ln w="9525">
            <a:solidFill>
              <a:schemeClr val="accent1">
                <a:alpha val="50000"/>
              </a:schemeClr>
            </a:solidFill>
            <a:prstDash val="solid"/>
          </a:ln>
        </p:spPr>
      </p:sp>
      <p:sp>
        <p:nvSpPr>
          <p:cNvPr id="22" name="text-199"/>
          <p:cNvSpPr txBox="1"/>
          <p:nvPr/>
        </p:nvSpPr>
        <p:spPr>
          <a:xfrm>
            <a:off x="5143500" y="2651760"/>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Job runner + progress</a:t>
            </a:r>
            <a:endParaRPr lang="en-US" sz="1250" dirty="0"/>
          </a:p>
        </p:txBody>
      </p:sp>
      <p:sp>
        <p:nvSpPr>
          <p:cNvPr id="23" name="component-200"/>
          <p:cNvSpPr/>
          <p:nvPr/>
        </p:nvSpPr>
        <p:spPr>
          <a:xfrm>
            <a:off x="7269480" y="2651760"/>
            <a:ext cx="2061972" cy="512064"/>
          </a:xfrm>
          <a:prstGeom prst="roundRect">
            <a:avLst>
              <a:gd name="adj" fmla="val 17857"/>
            </a:avLst>
          </a:prstGeom>
          <a:solidFill>
            <a:schemeClr val="tx1">
              <a:alpha val="70000"/>
            </a:schemeClr>
          </a:solidFill>
          <a:ln w="9525">
            <a:solidFill>
              <a:schemeClr val="accent1">
                <a:alpha val="50000"/>
              </a:schemeClr>
            </a:solidFill>
            <a:prstDash val="solid"/>
          </a:ln>
        </p:spPr>
      </p:sp>
      <p:sp>
        <p:nvSpPr>
          <p:cNvPr id="24" name="text-201"/>
          <p:cNvSpPr txBox="1"/>
          <p:nvPr/>
        </p:nvSpPr>
        <p:spPr>
          <a:xfrm>
            <a:off x="7315200" y="2651760"/>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Gatekeeping · 409 on BLOCK</a:t>
            </a:r>
            <a:endParaRPr lang="en-US" sz="1250" dirty="0"/>
          </a:p>
        </p:txBody>
      </p:sp>
      <p:sp>
        <p:nvSpPr>
          <p:cNvPr id="25" name="component-202"/>
          <p:cNvSpPr/>
          <p:nvPr/>
        </p:nvSpPr>
        <p:spPr>
          <a:xfrm>
            <a:off x="9441180" y="2651760"/>
            <a:ext cx="2061972" cy="512064"/>
          </a:xfrm>
          <a:prstGeom prst="roundRect">
            <a:avLst>
              <a:gd name="adj" fmla="val 17857"/>
            </a:avLst>
          </a:prstGeom>
          <a:solidFill>
            <a:schemeClr val="tx1">
              <a:alpha val="70000"/>
            </a:schemeClr>
          </a:solidFill>
          <a:ln w="9525">
            <a:solidFill>
              <a:schemeClr val="accent1">
                <a:alpha val="50000"/>
              </a:schemeClr>
            </a:solidFill>
            <a:prstDash val="solid"/>
          </a:ln>
        </p:spPr>
      </p:sp>
      <p:sp>
        <p:nvSpPr>
          <p:cNvPr id="26" name="text-203"/>
          <p:cNvSpPr txBox="1"/>
          <p:nvPr/>
        </p:nvSpPr>
        <p:spPr>
          <a:xfrm>
            <a:off x="9486900" y="2651760"/>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LangGraph StateGraph</a:t>
            </a:r>
            <a:endParaRPr lang="en-US" sz="1250" dirty="0"/>
          </a:p>
        </p:txBody>
      </p:sp>
      <p:sp>
        <p:nvSpPr>
          <p:cNvPr id="27" name="connector-204"/>
          <p:cNvSpPr/>
          <p:nvPr/>
        </p:nvSpPr>
        <p:spPr>
          <a:xfrm>
            <a:off x="1664208" y="3319272"/>
            <a:ext cx="91" cy="109728"/>
          </a:xfrm>
          <a:prstGeom prst="line">
            <a:avLst/>
          </a:prstGeom>
          <a:noFill/>
          <a:ln w="15875">
            <a:solidFill>
              <a:schemeClr val="bg2"/>
            </a:solidFill>
            <a:prstDash val="solid"/>
            <a:tailEnd type="triangle"/>
          </a:ln>
        </p:spPr>
      </p:sp>
      <p:sp>
        <p:nvSpPr>
          <p:cNvPr id="28" name="glass-205"/>
          <p:cNvSpPr/>
          <p:nvPr/>
        </p:nvSpPr>
        <p:spPr>
          <a:xfrm>
            <a:off x="548640" y="3438144"/>
            <a:ext cx="11091672" cy="804672"/>
          </a:xfrm>
          <a:prstGeom prst="roundRect">
            <a:avLst>
              <a:gd name="adj" fmla="val 15909"/>
            </a:avLst>
          </a:prstGeom>
          <a:solidFill>
            <a:schemeClr val="accent2">
              <a:alpha val="10000"/>
            </a:schemeClr>
          </a:solidFill>
          <a:ln w="12700">
            <a:solidFill>
              <a:schemeClr val="accent2">
                <a:alpha val="35000"/>
              </a:schemeClr>
            </a:solidFill>
            <a:prstDash val="solid"/>
          </a:ln>
        </p:spPr>
      </p:sp>
      <p:sp>
        <p:nvSpPr>
          <p:cNvPr id="29" name="layer-label-206"/>
          <p:cNvSpPr/>
          <p:nvPr/>
        </p:nvSpPr>
        <p:spPr>
          <a:xfrm>
            <a:off x="548640" y="3438144"/>
            <a:ext cx="2240280" cy="804672"/>
          </a:xfrm>
          <a:prstGeom prst="roundRect">
            <a:avLst>
              <a:gd name="adj" fmla="val 15909"/>
            </a:avLst>
          </a:prstGeom>
          <a:solidFill>
            <a:schemeClr val="accent2">
              <a:alpha val="28000"/>
            </a:schemeClr>
          </a:solidFill>
          <a:ln/>
        </p:spPr>
      </p:sp>
      <p:sp>
        <p:nvSpPr>
          <p:cNvPr id="30" name="text-207"/>
          <p:cNvSpPr txBox="1"/>
          <p:nvPr/>
        </p:nvSpPr>
        <p:spPr>
          <a:xfrm>
            <a:off x="731520" y="3438144"/>
            <a:ext cx="2011680" cy="804672"/>
          </a:xfrm>
          <a:prstGeom prst="rect">
            <a:avLst/>
          </a:prstGeom>
          <a:noFill/>
          <a:ln/>
        </p:spPr>
        <p:txBody>
          <a:bodyPr wrap="square" lIns="0" tIns="0" rIns="0" bIns="0" rtlCol="0" anchor="ctr"/>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Agents</a:t>
            </a:r>
            <a:endParaRPr lang="en-US" sz="1400" dirty="0"/>
          </a:p>
          <a:p>
            <a:pPr indent="0" marL="0">
              <a:buNone/>
            </a:pPr>
            <a:r>
              <a:rPr lang="en-US" sz="1150" dirty="0">
                <a:solidFill>
                  <a:schemeClr val="bg2"/>
                </a:solidFill>
              </a:rPr>
              <a:t>one decision each</a:t>
            </a:r>
            <a:endParaRPr lang="en-US" sz="1400" dirty="0"/>
          </a:p>
        </p:txBody>
      </p:sp>
      <p:sp>
        <p:nvSpPr>
          <p:cNvPr id="31" name="component-208"/>
          <p:cNvSpPr/>
          <p:nvPr/>
        </p:nvSpPr>
        <p:spPr>
          <a:xfrm>
            <a:off x="2926080" y="3584448"/>
            <a:ext cx="1627632" cy="512064"/>
          </a:xfrm>
          <a:prstGeom prst="roundRect">
            <a:avLst>
              <a:gd name="adj" fmla="val 17857"/>
            </a:avLst>
          </a:prstGeom>
          <a:solidFill>
            <a:schemeClr val="tx1">
              <a:alpha val="70000"/>
            </a:schemeClr>
          </a:solidFill>
          <a:ln w="9525">
            <a:solidFill>
              <a:schemeClr val="accent2">
                <a:alpha val="50000"/>
              </a:schemeClr>
            </a:solidFill>
            <a:prstDash val="solid"/>
          </a:ln>
        </p:spPr>
      </p:sp>
      <p:sp>
        <p:nvSpPr>
          <p:cNvPr id="32" name="text-209"/>
          <p:cNvSpPr txBox="1"/>
          <p:nvPr/>
        </p:nvSpPr>
        <p:spPr>
          <a:xfrm>
            <a:off x="2971800" y="3584448"/>
            <a:ext cx="1536192" cy="512064"/>
          </a:xfrm>
          <a:prstGeom prst="rect">
            <a:avLst/>
          </a:prstGeom>
          <a:noFill/>
          <a:ln/>
        </p:spPr>
        <p:txBody>
          <a:bodyPr wrap="square" lIns="0" tIns="0" rIns="0" bIns="0" rtlCol="0" anchor="ctr"/>
          <a:lstStyle/>
          <a:p>
            <a:pPr algn="ctr" indent="0" marL="0">
              <a:buNone/>
            </a:pPr>
            <a:r>
              <a:rPr lang="en-US" sz="1250" dirty="0">
                <a:solidFill>
                  <a:schemeClr val="bg1"/>
                </a:solidFill>
              </a:rPr>
              <a:t>Segmentation · seg-v3</a:t>
            </a:r>
            <a:endParaRPr lang="en-US" sz="1250" dirty="0"/>
          </a:p>
        </p:txBody>
      </p:sp>
      <p:sp>
        <p:nvSpPr>
          <p:cNvPr id="33" name="component-210"/>
          <p:cNvSpPr/>
          <p:nvPr/>
        </p:nvSpPr>
        <p:spPr>
          <a:xfrm>
            <a:off x="4663440" y="3584448"/>
            <a:ext cx="1627632" cy="512064"/>
          </a:xfrm>
          <a:prstGeom prst="roundRect">
            <a:avLst>
              <a:gd name="adj" fmla="val 17857"/>
            </a:avLst>
          </a:prstGeom>
          <a:solidFill>
            <a:schemeClr val="tx1">
              <a:alpha val="70000"/>
            </a:schemeClr>
          </a:solidFill>
          <a:ln w="9525">
            <a:solidFill>
              <a:schemeClr val="accent2">
                <a:alpha val="50000"/>
              </a:schemeClr>
            </a:solidFill>
            <a:prstDash val="solid"/>
          </a:ln>
        </p:spPr>
      </p:sp>
      <p:sp>
        <p:nvSpPr>
          <p:cNvPr id="34" name="text-211"/>
          <p:cNvSpPr txBox="1"/>
          <p:nvPr/>
        </p:nvSpPr>
        <p:spPr>
          <a:xfrm>
            <a:off x="4709160" y="3584448"/>
            <a:ext cx="1536192" cy="512064"/>
          </a:xfrm>
          <a:prstGeom prst="rect">
            <a:avLst/>
          </a:prstGeom>
          <a:noFill/>
          <a:ln/>
        </p:spPr>
        <p:txBody>
          <a:bodyPr wrap="square" lIns="0" tIns="0" rIns="0" bIns="0" rtlCol="0" anchor="ctr"/>
          <a:lstStyle/>
          <a:p>
            <a:pPr algn="ctr" indent="0" marL="0">
              <a:buNone/>
            </a:pPr>
            <a:r>
              <a:rPr lang="en-US" sz="1250" dirty="0">
                <a:solidFill>
                  <a:schemeClr val="bg1"/>
                </a:solidFill>
              </a:rPr>
              <a:t>Creative · direction-v2</a:t>
            </a:r>
            <a:endParaRPr lang="en-US" sz="1250" dirty="0"/>
          </a:p>
        </p:txBody>
      </p:sp>
      <p:sp>
        <p:nvSpPr>
          <p:cNvPr id="35" name="component-212"/>
          <p:cNvSpPr/>
          <p:nvPr/>
        </p:nvSpPr>
        <p:spPr>
          <a:xfrm>
            <a:off x="6400800" y="3584448"/>
            <a:ext cx="1627632" cy="512064"/>
          </a:xfrm>
          <a:prstGeom prst="roundRect">
            <a:avLst>
              <a:gd name="adj" fmla="val 17857"/>
            </a:avLst>
          </a:prstGeom>
          <a:solidFill>
            <a:schemeClr val="tx1">
              <a:alpha val="70000"/>
            </a:schemeClr>
          </a:solidFill>
          <a:ln w="9525">
            <a:solidFill>
              <a:schemeClr val="accent2">
                <a:alpha val="50000"/>
              </a:schemeClr>
            </a:solidFill>
            <a:prstDash val="solid"/>
          </a:ln>
        </p:spPr>
      </p:sp>
      <p:sp>
        <p:nvSpPr>
          <p:cNvPr id="36" name="text-213"/>
          <p:cNvSpPr txBox="1"/>
          <p:nvPr/>
        </p:nvSpPr>
        <p:spPr>
          <a:xfrm>
            <a:off x="6446520" y="3584448"/>
            <a:ext cx="1536192" cy="512064"/>
          </a:xfrm>
          <a:prstGeom prst="rect">
            <a:avLst/>
          </a:prstGeom>
          <a:noFill/>
          <a:ln/>
        </p:spPr>
        <p:txBody>
          <a:bodyPr wrap="square" lIns="0" tIns="0" rIns="0" bIns="0" rtlCol="0" anchor="ctr"/>
          <a:lstStyle/>
          <a:p>
            <a:pPr algn="ctr" indent="0" marL="0">
              <a:buNone/>
            </a:pPr>
            <a:r>
              <a:rPr lang="en-US" sz="1250" dirty="0">
                <a:solidFill>
                  <a:schemeClr val="bg1"/>
                </a:solidFill>
              </a:rPr>
              <a:t>Composer · email-v2</a:t>
            </a:r>
            <a:endParaRPr lang="en-US" sz="1250" dirty="0"/>
          </a:p>
        </p:txBody>
      </p:sp>
      <p:sp>
        <p:nvSpPr>
          <p:cNvPr id="37" name="component-214"/>
          <p:cNvSpPr/>
          <p:nvPr/>
        </p:nvSpPr>
        <p:spPr>
          <a:xfrm>
            <a:off x="8138160" y="3584448"/>
            <a:ext cx="1627632" cy="512064"/>
          </a:xfrm>
          <a:prstGeom prst="roundRect">
            <a:avLst>
              <a:gd name="adj" fmla="val 17857"/>
            </a:avLst>
          </a:prstGeom>
          <a:solidFill>
            <a:schemeClr val="tx1">
              <a:alpha val="70000"/>
            </a:schemeClr>
          </a:solidFill>
          <a:ln w="9525">
            <a:solidFill>
              <a:schemeClr val="accent2">
                <a:alpha val="50000"/>
              </a:schemeClr>
            </a:solidFill>
            <a:prstDash val="solid"/>
          </a:ln>
        </p:spPr>
      </p:sp>
      <p:sp>
        <p:nvSpPr>
          <p:cNvPr id="38" name="text-215"/>
          <p:cNvSpPr txBox="1"/>
          <p:nvPr/>
        </p:nvSpPr>
        <p:spPr>
          <a:xfrm>
            <a:off x="8183880" y="3584448"/>
            <a:ext cx="1536192" cy="512064"/>
          </a:xfrm>
          <a:prstGeom prst="rect">
            <a:avLst/>
          </a:prstGeom>
          <a:noFill/>
          <a:ln/>
        </p:spPr>
        <p:txBody>
          <a:bodyPr wrap="square" lIns="0" tIns="0" rIns="0" bIns="0" rtlCol="0" anchor="ctr"/>
          <a:lstStyle/>
          <a:p>
            <a:pPr algn="ctr" indent="0" marL="0">
              <a:buNone/>
            </a:pPr>
            <a:r>
              <a:rPr lang="en-US" sz="1250" dirty="0">
                <a:solidFill>
                  <a:schemeClr val="bg1"/>
                </a:solidFill>
              </a:rPr>
              <a:t>Guardian · guardian-v4</a:t>
            </a:r>
            <a:endParaRPr lang="en-US" sz="1250" dirty="0"/>
          </a:p>
        </p:txBody>
      </p:sp>
      <p:sp>
        <p:nvSpPr>
          <p:cNvPr id="39" name="component-216"/>
          <p:cNvSpPr/>
          <p:nvPr/>
        </p:nvSpPr>
        <p:spPr>
          <a:xfrm>
            <a:off x="9875520" y="3584448"/>
            <a:ext cx="1627632" cy="512064"/>
          </a:xfrm>
          <a:prstGeom prst="roundRect">
            <a:avLst>
              <a:gd name="adj" fmla="val 17857"/>
            </a:avLst>
          </a:prstGeom>
          <a:solidFill>
            <a:schemeClr val="tx1">
              <a:alpha val="70000"/>
            </a:schemeClr>
          </a:solidFill>
          <a:ln w="9525">
            <a:solidFill>
              <a:schemeClr val="accent2">
                <a:alpha val="50000"/>
              </a:schemeClr>
            </a:solidFill>
            <a:prstDash val="solid"/>
          </a:ln>
        </p:spPr>
      </p:sp>
      <p:sp>
        <p:nvSpPr>
          <p:cNvPr id="40" name="text-217"/>
          <p:cNvSpPr txBox="1"/>
          <p:nvPr/>
        </p:nvSpPr>
        <p:spPr>
          <a:xfrm>
            <a:off x="9921240" y="3584448"/>
            <a:ext cx="1536192" cy="512064"/>
          </a:xfrm>
          <a:prstGeom prst="rect">
            <a:avLst/>
          </a:prstGeom>
          <a:noFill/>
          <a:ln/>
        </p:spPr>
        <p:txBody>
          <a:bodyPr wrap="square" lIns="0" tIns="0" rIns="0" bIns="0" rtlCol="0" anchor="ctr"/>
          <a:lstStyle/>
          <a:p>
            <a:pPr algn="ctr" indent="0" marL="0">
              <a:buNone/>
            </a:pPr>
            <a:r>
              <a:rPr lang="en-US" sz="1250" dirty="0">
                <a:solidFill>
                  <a:schemeClr val="bg1"/>
                </a:solidFill>
              </a:rPr>
              <a:t>Evaluator · eval-v1</a:t>
            </a:r>
            <a:endParaRPr lang="en-US" sz="1250" dirty="0"/>
          </a:p>
        </p:txBody>
      </p:sp>
      <p:sp>
        <p:nvSpPr>
          <p:cNvPr id="41" name="connector-218"/>
          <p:cNvSpPr/>
          <p:nvPr/>
        </p:nvSpPr>
        <p:spPr>
          <a:xfrm>
            <a:off x="1664208" y="4251960"/>
            <a:ext cx="91" cy="109728"/>
          </a:xfrm>
          <a:prstGeom prst="line">
            <a:avLst/>
          </a:prstGeom>
          <a:noFill/>
          <a:ln w="15875">
            <a:solidFill>
              <a:schemeClr val="bg2"/>
            </a:solidFill>
            <a:prstDash val="solid"/>
            <a:tailEnd type="triangle"/>
          </a:ln>
        </p:spPr>
      </p:sp>
      <p:sp>
        <p:nvSpPr>
          <p:cNvPr id="42" name="glass-219"/>
          <p:cNvSpPr/>
          <p:nvPr/>
        </p:nvSpPr>
        <p:spPr>
          <a:xfrm>
            <a:off x="548640" y="4370832"/>
            <a:ext cx="11091672" cy="804672"/>
          </a:xfrm>
          <a:prstGeom prst="roundRect">
            <a:avLst>
              <a:gd name="adj" fmla="val 15909"/>
            </a:avLst>
          </a:prstGeom>
          <a:solidFill>
            <a:schemeClr val="accent5">
              <a:alpha val="10000"/>
            </a:schemeClr>
          </a:solidFill>
          <a:ln w="12700">
            <a:solidFill>
              <a:schemeClr val="accent5">
                <a:alpha val="35000"/>
              </a:schemeClr>
            </a:solidFill>
            <a:prstDash val="solid"/>
          </a:ln>
        </p:spPr>
      </p:sp>
      <p:sp>
        <p:nvSpPr>
          <p:cNvPr id="43" name="layer-label-220"/>
          <p:cNvSpPr/>
          <p:nvPr/>
        </p:nvSpPr>
        <p:spPr>
          <a:xfrm>
            <a:off x="548640" y="4370832"/>
            <a:ext cx="2240280" cy="804672"/>
          </a:xfrm>
          <a:prstGeom prst="roundRect">
            <a:avLst>
              <a:gd name="adj" fmla="val 15909"/>
            </a:avLst>
          </a:prstGeom>
          <a:solidFill>
            <a:schemeClr val="accent5">
              <a:alpha val="28000"/>
            </a:schemeClr>
          </a:solidFill>
          <a:ln/>
        </p:spPr>
      </p:sp>
      <p:sp>
        <p:nvSpPr>
          <p:cNvPr id="44" name="text-221"/>
          <p:cNvSpPr txBox="1"/>
          <p:nvPr/>
        </p:nvSpPr>
        <p:spPr>
          <a:xfrm>
            <a:off x="731520" y="4370832"/>
            <a:ext cx="2011680" cy="804672"/>
          </a:xfrm>
          <a:prstGeom prst="rect">
            <a:avLst/>
          </a:prstGeom>
          <a:noFill/>
          <a:ln/>
        </p:spPr>
        <p:txBody>
          <a:bodyPr wrap="square" lIns="0" tIns="0" rIns="0" bIns="0" rtlCol="0" anchor="ctr"/>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Common services</a:t>
            </a:r>
            <a:endParaRPr lang="en-US" sz="1400" dirty="0"/>
          </a:p>
          <a:p>
            <a:pPr indent="0" marL="0">
              <a:buNone/>
            </a:pPr>
            <a:r>
              <a:rPr lang="en-US" sz="1150" dirty="0">
                <a:solidFill>
                  <a:schemeClr val="bg2"/>
                </a:solidFill>
              </a:rPr>
              <a:t>shared by every agent</a:t>
            </a:r>
            <a:endParaRPr lang="en-US" sz="1400" dirty="0"/>
          </a:p>
        </p:txBody>
      </p:sp>
      <p:sp>
        <p:nvSpPr>
          <p:cNvPr id="45" name="component-222"/>
          <p:cNvSpPr/>
          <p:nvPr/>
        </p:nvSpPr>
        <p:spPr>
          <a:xfrm>
            <a:off x="29260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46" name="text-223"/>
          <p:cNvSpPr txBox="1"/>
          <p:nvPr/>
        </p:nvSpPr>
        <p:spPr>
          <a:xfrm>
            <a:off x="29718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OpenRouter client</a:t>
            </a:r>
            <a:endParaRPr lang="en-US" sz="1250" dirty="0"/>
          </a:p>
        </p:txBody>
      </p:sp>
      <p:sp>
        <p:nvSpPr>
          <p:cNvPr id="47" name="component-224"/>
          <p:cNvSpPr/>
          <p:nvPr/>
        </p:nvSpPr>
        <p:spPr>
          <a:xfrm>
            <a:off x="43738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48" name="text-225"/>
          <p:cNvSpPr txBox="1"/>
          <p:nvPr/>
        </p:nvSpPr>
        <p:spPr>
          <a:xfrm>
            <a:off x="44196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Decision Ledger</a:t>
            </a:r>
            <a:endParaRPr lang="en-US" sz="1250" dirty="0"/>
          </a:p>
        </p:txBody>
      </p:sp>
      <p:sp>
        <p:nvSpPr>
          <p:cNvPr id="49" name="component-226"/>
          <p:cNvSpPr/>
          <p:nvPr/>
        </p:nvSpPr>
        <p:spPr>
          <a:xfrm>
            <a:off x="58216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50" name="text-227"/>
          <p:cNvSpPr txBox="1"/>
          <p:nvPr/>
        </p:nvSpPr>
        <p:spPr>
          <a:xfrm>
            <a:off x="58674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Activity log + cost</a:t>
            </a:r>
            <a:endParaRPr lang="en-US" sz="1250" dirty="0"/>
          </a:p>
        </p:txBody>
      </p:sp>
      <p:sp>
        <p:nvSpPr>
          <p:cNvPr id="51" name="component-228"/>
          <p:cNvSpPr/>
          <p:nvPr/>
        </p:nvSpPr>
        <p:spPr>
          <a:xfrm>
            <a:off x="72694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52" name="text-229"/>
          <p:cNvSpPr txBox="1"/>
          <p:nvPr/>
        </p:nvSpPr>
        <p:spPr>
          <a:xfrm>
            <a:off x="73152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CSV profiler</a:t>
            </a:r>
            <a:endParaRPr lang="en-US" sz="1250" dirty="0"/>
          </a:p>
        </p:txBody>
      </p:sp>
      <p:sp>
        <p:nvSpPr>
          <p:cNvPr id="53" name="component-230"/>
          <p:cNvSpPr/>
          <p:nvPr/>
        </p:nvSpPr>
        <p:spPr>
          <a:xfrm>
            <a:off x="87172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54" name="text-231"/>
          <p:cNvSpPr txBox="1"/>
          <p:nvPr/>
        </p:nvSpPr>
        <p:spPr>
          <a:xfrm>
            <a:off x="87630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Brand context</a:t>
            </a:r>
            <a:endParaRPr lang="en-US" sz="1250" dirty="0"/>
          </a:p>
        </p:txBody>
      </p:sp>
      <p:sp>
        <p:nvSpPr>
          <p:cNvPr id="55" name="component-232"/>
          <p:cNvSpPr/>
          <p:nvPr/>
        </p:nvSpPr>
        <p:spPr>
          <a:xfrm>
            <a:off x="10165080" y="4517136"/>
            <a:ext cx="1338072" cy="512064"/>
          </a:xfrm>
          <a:prstGeom prst="roundRect">
            <a:avLst>
              <a:gd name="adj" fmla="val 17857"/>
            </a:avLst>
          </a:prstGeom>
          <a:solidFill>
            <a:schemeClr val="tx1">
              <a:alpha val="70000"/>
            </a:schemeClr>
          </a:solidFill>
          <a:ln w="9525">
            <a:solidFill>
              <a:schemeClr val="accent5">
                <a:alpha val="50000"/>
              </a:schemeClr>
            </a:solidFill>
            <a:prstDash val="solid"/>
          </a:ln>
        </p:spPr>
      </p:sp>
      <p:sp>
        <p:nvSpPr>
          <p:cNvPr id="56" name="text-233"/>
          <p:cNvSpPr txBox="1"/>
          <p:nvPr/>
        </p:nvSpPr>
        <p:spPr>
          <a:xfrm>
            <a:off x="10210800" y="4517136"/>
            <a:ext cx="1246632" cy="512064"/>
          </a:xfrm>
          <a:prstGeom prst="rect">
            <a:avLst/>
          </a:prstGeom>
          <a:noFill/>
          <a:ln/>
        </p:spPr>
        <p:txBody>
          <a:bodyPr wrap="square" lIns="0" tIns="0" rIns="0" bIns="0" rtlCol="0" anchor="ctr"/>
          <a:lstStyle/>
          <a:p>
            <a:pPr algn="ctr" indent="0" marL="0">
              <a:buNone/>
            </a:pPr>
            <a:r>
              <a:rPr lang="en-US" sz="1250" dirty="0">
                <a:solidFill>
                  <a:schemeClr val="bg1"/>
                </a:solidFill>
              </a:rPr>
              <a:t>Storage + Mailer</a:t>
            </a:r>
            <a:endParaRPr lang="en-US" sz="1250" dirty="0"/>
          </a:p>
        </p:txBody>
      </p:sp>
      <p:sp>
        <p:nvSpPr>
          <p:cNvPr id="57" name="connector-234"/>
          <p:cNvSpPr/>
          <p:nvPr/>
        </p:nvSpPr>
        <p:spPr>
          <a:xfrm>
            <a:off x="1664208" y="5184648"/>
            <a:ext cx="91" cy="109728"/>
          </a:xfrm>
          <a:prstGeom prst="line">
            <a:avLst/>
          </a:prstGeom>
          <a:noFill/>
          <a:ln w="15875">
            <a:solidFill>
              <a:schemeClr val="bg2"/>
            </a:solidFill>
            <a:prstDash val="solid"/>
            <a:tailEnd type="triangle"/>
          </a:ln>
        </p:spPr>
      </p:sp>
      <p:sp>
        <p:nvSpPr>
          <p:cNvPr id="58" name="glass-235"/>
          <p:cNvSpPr/>
          <p:nvPr/>
        </p:nvSpPr>
        <p:spPr>
          <a:xfrm>
            <a:off x="548640" y="5303520"/>
            <a:ext cx="11091672" cy="804672"/>
          </a:xfrm>
          <a:prstGeom prst="roundRect">
            <a:avLst>
              <a:gd name="adj" fmla="val 15909"/>
            </a:avLst>
          </a:prstGeom>
          <a:solidFill>
            <a:schemeClr val="accent4">
              <a:alpha val="10000"/>
            </a:schemeClr>
          </a:solidFill>
          <a:ln w="12700">
            <a:solidFill>
              <a:schemeClr val="accent4">
                <a:alpha val="35000"/>
              </a:schemeClr>
            </a:solidFill>
            <a:prstDash val="solid"/>
          </a:ln>
        </p:spPr>
      </p:sp>
      <p:sp>
        <p:nvSpPr>
          <p:cNvPr id="59" name="layer-label-236"/>
          <p:cNvSpPr/>
          <p:nvPr/>
        </p:nvSpPr>
        <p:spPr>
          <a:xfrm>
            <a:off x="548640" y="5303520"/>
            <a:ext cx="2240280" cy="804672"/>
          </a:xfrm>
          <a:prstGeom prst="roundRect">
            <a:avLst>
              <a:gd name="adj" fmla="val 15909"/>
            </a:avLst>
          </a:prstGeom>
          <a:solidFill>
            <a:schemeClr val="accent4">
              <a:alpha val="28000"/>
            </a:schemeClr>
          </a:solidFill>
          <a:ln/>
        </p:spPr>
      </p:sp>
      <p:sp>
        <p:nvSpPr>
          <p:cNvPr id="60" name="text-237"/>
          <p:cNvSpPr txBox="1"/>
          <p:nvPr/>
        </p:nvSpPr>
        <p:spPr>
          <a:xfrm>
            <a:off x="731520" y="5303520"/>
            <a:ext cx="2011680" cy="804672"/>
          </a:xfrm>
          <a:prstGeom prst="rect">
            <a:avLst/>
          </a:prstGeom>
          <a:noFill/>
          <a:ln/>
        </p:spPr>
        <p:txBody>
          <a:bodyPr wrap="square" lIns="0" tIns="0" rIns="0" bIns="0" rtlCol="0" anchor="ctr"/>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Data &amp; external</a:t>
            </a:r>
            <a:endParaRPr lang="en-US" sz="1400" dirty="0"/>
          </a:p>
          <a:p>
            <a:pPr indent="0" marL="0">
              <a:buNone/>
            </a:pPr>
            <a:r>
              <a:rPr lang="en-US" sz="1150" dirty="0">
                <a:solidFill>
                  <a:schemeClr val="bg2"/>
                </a:solidFill>
              </a:rPr>
              <a:t>managed services</a:t>
            </a:r>
            <a:endParaRPr lang="en-US" sz="1400" dirty="0"/>
          </a:p>
        </p:txBody>
      </p:sp>
      <p:sp>
        <p:nvSpPr>
          <p:cNvPr id="61" name="component-238"/>
          <p:cNvSpPr/>
          <p:nvPr/>
        </p:nvSpPr>
        <p:spPr>
          <a:xfrm>
            <a:off x="2926080" y="5449824"/>
            <a:ext cx="2061972" cy="512064"/>
          </a:xfrm>
          <a:prstGeom prst="roundRect">
            <a:avLst>
              <a:gd name="adj" fmla="val 17857"/>
            </a:avLst>
          </a:prstGeom>
          <a:solidFill>
            <a:schemeClr val="tx1">
              <a:alpha val="70000"/>
            </a:schemeClr>
          </a:solidFill>
          <a:ln w="9525">
            <a:solidFill>
              <a:schemeClr val="accent4">
                <a:alpha val="50000"/>
              </a:schemeClr>
            </a:solidFill>
            <a:prstDash val="solid"/>
          </a:ln>
        </p:spPr>
      </p:sp>
      <p:sp>
        <p:nvSpPr>
          <p:cNvPr id="62" name="text-239"/>
          <p:cNvSpPr txBox="1"/>
          <p:nvPr/>
        </p:nvSpPr>
        <p:spPr>
          <a:xfrm>
            <a:off x="2971800" y="5449824"/>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Supabase Postgres</a:t>
            </a:r>
            <a:endParaRPr lang="en-US" sz="1250" dirty="0"/>
          </a:p>
        </p:txBody>
      </p:sp>
      <p:sp>
        <p:nvSpPr>
          <p:cNvPr id="63" name="component-240"/>
          <p:cNvSpPr/>
          <p:nvPr/>
        </p:nvSpPr>
        <p:spPr>
          <a:xfrm>
            <a:off x="5097780" y="5449824"/>
            <a:ext cx="2061972" cy="512064"/>
          </a:xfrm>
          <a:prstGeom prst="roundRect">
            <a:avLst>
              <a:gd name="adj" fmla="val 17857"/>
            </a:avLst>
          </a:prstGeom>
          <a:solidFill>
            <a:schemeClr val="tx1">
              <a:alpha val="70000"/>
            </a:schemeClr>
          </a:solidFill>
          <a:ln w="9525">
            <a:solidFill>
              <a:schemeClr val="accent4">
                <a:alpha val="50000"/>
              </a:schemeClr>
            </a:solidFill>
            <a:prstDash val="solid"/>
          </a:ln>
        </p:spPr>
      </p:sp>
      <p:sp>
        <p:nvSpPr>
          <p:cNvPr id="64" name="text-241"/>
          <p:cNvSpPr txBox="1"/>
          <p:nvPr/>
        </p:nvSpPr>
        <p:spPr>
          <a:xfrm>
            <a:off x="5143500" y="5449824"/>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Supabase Storage</a:t>
            </a:r>
            <a:endParaRPr lang="en-US" sz="1250" dirty="0"/>
          </a:p>
        </p:txBody>
      </p:sp>
      <p:sp>
        <p:nvSpPr>
          <p:cNvPr id="65" name="component-242"/>
          <p:cNvSpPr/>
          <p:nvPr/>
        </p:nvSpPr>
        <p:spPr>
          <a:xfrm>
            <a:off x="7269480" y="5449824"/>
            <a:ext cx="2061972" cy="512064"/>
          </a:xfrm>
          <a:prstGeom prst="roundRect">
            <a:avLst>
              <a:gd name="adj" fmla="val 17857"/>
            </a:avLst>
          </a:prstGeom>
          <a:solidFill>
            <a:schemeClr val="tx1">
              <a:alpha val="70000"/>
            </a:schemeClr>
          </a:solidFill>
          <a:ln w="9525">
            <a:solidFill>
              <a:schemeClr val="accent4">
                <a:alpha val="50000"/>
              </a:schemeClr>
            </a:solidFill>
            <a:prstDash val="solid"/>
          </a:ln>
        </p:spPr>
      </p:sp>
      <p:sp>
        <p:nvSpPr>
          <p:cNvPr id="66" name="text-243"/>
          <p:cNvSpPr txBox="1"/>
          <p:nvPr/>
        </p:nvSpPr>
        <p:spPr>
          <a:xfrm>
            <a:off x="7315200" y="5449824"/>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OpenRouter models</a:t>
            </a:r>
            <a:endParaRPr lang="en-US" sz="1250" dirty="0"/>
          </a:p>
        </p:txBody>
      </p:sp>
      <p:sp>
        <p:nvSpPr>
          <p:cNvPr id="67" name="component-244"/>
          <p:cNvSpPr/>
          <p:nvPr/>
        </p:nvSpPr>
        <p:spPr>
          <a:xfrm>
            <a:off x="9441180" y="5449824"/>
            <a:ext cx="2061972" cy="512064"/>
          </a:xfrm>
          <a:prstGeom prst="roundRect">
            <a:avLst>
              <a:gd name="adj" fmla="val 17857"/>
            </a:avLst>
          </a:prstGeom>
          <a:solidFill>
            <a:schemeClr val="tx1">
              <a:alpha val="70000"/>
            </a:schemeClr>
          </a:solidFill>
          <a:ln w="9525">
            <a:solidFill>
              <a:schemeClr val="accent4">
                <a:alpha val="50000"/>
              </a:schemeClr>
            </a:solidFill>
            <a:prstDash val="solid"/>
          </a:ln>
        </p:spPr>
      </p:sp>
      <p:sp>
        <p:nvSpPr>
          <p:cNvPr id="68" name="text-245"/>
          <p:cNvSpPr txBox="1"/>
          <p:nvPr/>
        </p:nvSpPr>
        <p:spPr>
          <a:xfrm>
            <a:off x="9486900" y="5449824"/>
            <a:ext cx="1970532" cy="512064"/>
          </a:xfrm>
          <a:prstGeom prst="rect">
            <a:avLst/>
          </a:prstGeom>
          <a:noFill/>
          <a:ln/>
        </p:spPr>
        <p:txBody>
          <a:bodyPr wrap="square" lIns="0" tIns="0" rIns="0" bIns="0" rtlCol="0" anchor="ctr"/>
          <a:lstStyle/>
          <a:p>
            <a:pPr algn="ctr" indent="0" marL="0">
              <a:buNone/>
            </a:pPr>
            <a:r>
              <a:rPr lang="en-US" sz="1250" dirty="0">
                <a:solidFill>
                  <a:schemeClr val="bg1"/>
                </a:solidFill>
              </a:rPr>
              <a:t>Resend dispatch</a:t>
            </a:r>
            <a:endParaRPr lang="en-US" sz="12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Agents never call each other</a:t>
            </a:r>
            <a:endParaRPr lang="en-US" sz="2800" dirty="0"/>
          </a:p>
        </p:txBody>
      </p:sp>
      <p:sp>
        <p:nvSpPr>
          <p:cNvPr id="3" name="text-295"/>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They share a typed blackboard, and every step is logged.</a:t>
            </a:r>
            <a:endParaRPr lang="en-US" sz="1600" dirty="0"/>
          </a:p>
        </p:txBody>
      </p:sp>
      <p:sp>
        <p:nvSpPr>
          <p:cNvPr id="4" name="glass-296"/>
          <p:cNvSpPr/>
          <p:nvPr/>
        </p:nvSpPr>
        <p:spPr>
          <a:xfrm>
            <a:off x="2377440" y="1572768"/>
            <a:ext cx="3246120" cy="713232"/>
          </a:xfrm>
          <a:prstGeom prst="roundRect">
            <a:avLst>
              <a:gd name="adj" fmla="val 17949"/>
            </a:avLst>
          </a:prstGeom>
          <a:solidFill>
            <a:schemeClr val="accent1">
              <a:alpha val="18000"/>
            </a:schemeClr>
          </a:solidFill>
          <a:ln w="12700">
            <a:solidFill>
              <a:schemeClr val="accent1">
                <a:alpha val="60000"/>
              </a:schemeClr>
            </a:solidFill>
            <a:prstDash val="solid"/>
          </a:ln>
        </p:spPr>
      </p:sp>
      <p:pic>
        <p:nvPicPr>
          <p:cNvPr id="5" name="icon3d-297" descr="C:\Users\himat\AppData\Local\Temp\claude\c--Ai-stuffs-MOSAIC\b3ecbbac-d885-4fec-a9f8-3496f8d06c96\scratchpad\build\assets\icon-orchestrator.png">    </p:cNvPr>
          <p:cNvPicPr>
            <a:picLocks noChangeAspect="1"/>
          </p:cNvPicPr>
          <p:nvPr/>
        </p:nvPicPr>
        <p:blipFill>
          <a:blip r:embed="rId1"/>
          <a:stretch>
            <a:fillRect/>
          </a:stretch>
        </p:blipFill>
        <p:spPr>
          <a:xfrm>
            <a:off x="2468880" y="1591056"/>
            <a:ext cx="658368" cy="658368"/>
          </a:xfrm>
          <a:prstGeom prst="rect">
            <a:avLst/>
          </a:prstGeom>
        </p:spPr>
      </p:pic>
      <p:sp>
        <p:nvSpPr>
          <p:cNvPr id="6" name="text-298"/>
          <p:cNvSpPr txBox="1"/>
          <p:nvPr/>
        </p:nvSpPr>
        <p:spPr>
          <a:xfrm>
            <a:off x="3200400" y="1572768"/>
            <a:ext cx="2377440" cy="713232"/>
          </a:xfrm>
          <a:prstGeom prst="rect">
            <a:avLst/>
          </a:prstGeom>
          <a:noFill/>
          <a:ln/>
        </p:spPr>
        <p:txBody>
          <a:bodyPr wrap="square" lIns="0" tIns="0" rIns="0" bIns="0" rtlCol="0" anchor="ctr"/>
          <a:lstStyle/>
          <a:p>
            <a:pPr indent="0" marL="0">
              <a:buNone/>
            </a:pPr>
            <a:r>
              <a:rPr lang="en-US" sz="1500" b="1" dirty="0">
                <a:solidFill>
                  <a:schemeClr val="bg1"/>
                </a:solidFill>
              </a:rPr>
              <a:t>Orchestrator</a:t>
            </a:r>
            <a:endParaRPr lang="en-US" sz="1500" dirty="0"/>
          </a:p>
          <a:p>
            <a:pPr indent="0" marL="0">
              <a:buNone/>
            </a:pPr>
            <a:r>
              <a:rPr lang="en-US" sz="1150" dirty="0">
                <a:solidFill>
                  <a:schemeClr val="bg2"/>
                </a:solidFill>
              </a:rPr>
              <a:t>LangGraph · owns state + gate</a:t>
            </a:r>
            <a:endParaRPr lang="en-US" sz="1500" dirty="0"/>
          </a:p>
        </p:txBody>
      </p:sp>
      <p:sp>
        <p:nvSpPr>
          <p:cNvPr id="7" name="glass-299"/>
          <p:cNvSpPr/>
          <p:nvPr/>
        </p:nvSpPr>
        <p:spPr>
          <a:xfrm>
            <a:off x="2377440" y="2697480"/>
            <a:ext cx="3246120" cy="2194560"/>
          </a:xfrm>
          <a:prstGeom prst="roundRect">
            <a:avLst>
              <a:gd name="adj" fmla="val 5833"/>
            </a:avLst>
          </a:prstGeom>
          <a:solidFill>
            <a:schemeClr val="accent4">
              <a:alpha val="16000"/>
            </a:schemeClr>
          </a:solidFill>
          <a:ln w="19050">
            <a:solidFill>
              <a:schemeClr val="accent4">
                <a:alpha val="75000"/>
              </a:schemeClr>
            </a:solidFill>
            <a:prstDash val="solid"/>
          </a:ln>
          <a:effectLst>
            <a:outerShdw sx="100000" sy="100000" kx="0" ky="0" algn="bl" rotWithShape="0" blurRad="177800" dist="38100" dir="5400000">
              <a:srgbClr val="000000">
                <a:alpha val="35000"/>
              </a:srgbClr>
            </a:outerShdw>
          </a:effectLst>
        </p:spPr>
      </p:sp>
      <p:sp>
        <p:nvSpPr>
          <p:cNvPr id="8" name="text-300"/>
          <p:cNvSpPr txBox="1"/>
          <p:nvPr/>
        </p:nvSpPr>
        <p:spPr>
          <a:xfrm>
            <a:off x="2560320" y="2816352"/>
            <a:ext cx="2926080" cy="365760"/>
          </a:xfrm>
          <a:prstGeom prst="rect">
            <a:avLst/>
          </a:prstGeom>
          <a:noFill/>
          <a:ln/>
        </p:spPr>
        <p:txBody>
          <a:bodyPr wrap="square" lIns="0" tIns="0" rIns="0" bIns="0" rtlCol="0" anchor="t"/>
          <a:lstStyle/>
          <a:p>
            <a:pPr indent="0" marL="0">
              <a:buNone/>
            </a:pPr>
            <a:r>
              <a:rPr lang="en-US" sz="1700" b="1" dirty="0">
                <a:solidFill>
                  <a:schemeClr val="accent4"/>
                </a:solidFill>
                <a:latin typeface="Century Gothic" pitchFamily="34" charset="0"/>
                <a:ea typeface="Century Gothic" pitchFamily="34" charset="-122"/>
                <a:cs typeface="Century Gothic" pitchFamily="34" charset="-120"/>
              </a:rPr>
              <a:t>Shared blackboard</a:t>
            </a:r>
            <a:endParaRPr lang="en-US" sz="1700" dirty="0"/>
          </a:p>
        </p:txBody>
      </p:sp>
      <p:sp>
        <p:nvSpPr>
          <p:cNvPr id="9" name="text-301"/>
          <p:cNvSpPr txBox="1"/>
          <p:nvPr/>
        </p:nvSpPr>
        <p:spPr>
          <a:xfrm>
            <a:off x="2560320" y="3172968"/>
            <a:ext cx="2926080" cy="320040"/>
          </a:xfrm>
          <a:prstGeom prst="rect">
            <a:avLst/>
          </a:prstGeom>
          <a:noFill/>
          <a:ln/>
        </p:spPr>
        <p:txBody>
          <a:bodyPr wrap="square" lIns="0" tIns="0" rIns="0" bIns="0" rtlCol="0" anchor="t"/>
          <a:lstStyle/>
          <a:p>
            <a:pPr indent="0" marL="0">
              <a:buNone/>
            </a:pPr>
            <a:r>
              <a:rPr lang="en-US" sz="1150" dirty="0">
                <a:solidFill>
                  <a:schemeClr val="bg2"/>
                </a:solidFill>
              </a:rPr>
              <a:t>WorkspaceState, saved in Supabase</a:t>
            </a:r>
            <a:endParaRPr lang="en-US" sz="1150" dirty="0"/>
          </a:p>
        </p:txBody>
      </p:sp>
      <p:sp>
        <p:nvSpPr>
          <p:cNvPr id="10" name="artifact-302"/>
          <p:cNvSpPr/>
          <p:nvPr/>
        </p:nvSpPr>
        <p:spPr>
          <a:xfrm>
            <a:off x="2560320" y="3611880"/>
            <a:ext cx="1371600" cy="384048"/>
          </a:xfrm>
          <a:prstGeom prst="roundRect">
            <a:avLst>
              <a:gd name="adj" fmla="val 19048"/>
            </a:avLst>
          </a:prstGeom>
          <a:solidFill>
            <a:schemeClr val="tx1">
              <a:alpha val="75000"/>
            </a:schemeClr>
          </a:solidFill>
          <a:ln w="9525">
            <a:solidFill>
              <a:schemeClr val="accent4">
                <a:alpha val="50000"/>
              </a:schemeClr>
            </a:solidFill>
            <a:prstDash val="solid"/>
          </a:ln>
        </p:spPr>
      </p:sp>
      <p:sp>
        <p:nvSpPr>
          <p:cNvPr id="11" name="text-303"/>
          <p:cNvSpPr txBox="1"/>
          <p:nvPr/>
        </p:nvSpPr>
        <p:spPr>
          <a:xfrm>
            <a:off x="2560320" y="3611880"/>
            <a:ext cx="1371600" cy="384048"/>
          </a:xfrm>
          <a:prstGeom prst="rect">
            <a:avLst/>
          </a:prstGeom>
          <a:noFill/>
          <a:ln/>
        </p:spPr>
        <p:txBody>
          <a:bodyPr wrap="square" lIns="0" tIns="0" rIns="0" bIns="0" rtlCol="0" anchor="ctr"/>
          <a:lstStyle/>
          <a:p>
            <a:pPr algn="ctr" indent="0" marL="0">
              <a:buNone/>
            </a:pPr>
            <a:r>
              <a:rPr lang="en-US" sz="1150" dirty="0">
                <a:solidFill>
                  <a:schemeClr val="bg1"/>
                </a:solidFill>
              </a:rPr>
              <a:t>SegmentBrief</a:t>
            </a:r>
            <a:endParaRPr lang="en-US" sz="1150" dirty="0"/>
          </a:p>
        </p:txBody>
      </p:sp>
      <p:sp>
        <p:nvSpPr>
          <p:cNvPr id="12" name="artifact-304"/>
          <p:cNvSpPr/>
          <p:nvPr/>
        </p:nvSpPr>
        <p:spPr>
          <a:xfrm>
            <a:off x="4023360" y="3611880"/>
            <a:ext cx="1371600" cy="384048"/>
          </a:xfrm>
          <a:prstGeom prst="roundRect">
            <a:avLst>
              <a:gd name="adj" fmla="val 19048"/>
            </a:avLst>
          </a:prstGeom>
          <a:solidFill>
            <a:schemeClr val="tx1">
              <a:alpha val="75000"/>
            </a:schemeClr>
          </a:solidFill>
          <a:ln w="9525">
            <a:solidFill>
              <a:schemeClr val="accent4">
                <a:alpha val="50000"/>
              </a:schemeClr>
            </a:solidFill>
            <a:prstDash val="solid"/>
          </a:ln>
        </p:spPr>
      </p:sp>
      <p:sp>
        <p:nvSpPr>
          <p:cNvPr id="13" name="text-305"/>
          <p:cNvSpPr txBox="1"/>
          <p:nvPr/>
        </p:nvSpPr>
        <p:spPr>
          <a:xfrm>
            <a:off x="4023360" y="3611880"/>
            <a:ext cx="1371600" cy="384048"/>
          </a:xfrm>
          <a:prstGeom prst="rect">
            <a:avLst/>
          </a:prstGeom>
          <a:noFill/>
          <a:ln/>
        </p:spPr>
        <p:txBody>
          <a:bodyPr wrap="square" lIns="0" tIns="0" rIns="0" bIns="0" rtlCol="0" anchor="ctr"/>
          <a:lstStyle/>
          <a:p>
            <a:pPr algn="ctr" indent="0" marL="0">
              <a:buNone/>
            </a:pPr>
            <a:r>
              <a:rPr lang="en-US" sz="1150" dirty="0">
                <a:solidFill>
                  <a:schemeClr val="bg1"/>
                </a:solidFill>
              </a:rPr>
              <a:t>CreativeDirection</a:t>
            </a:r>
            <a:endParaRPr lang="en-US" sz="1150" dirty="0"/>
          </a:p>
        </p:txBody>
      </p:sp>
      <p:sp>
        <p:nvSpPr>
          <p:cNvPr id="14" name="artifact-306"/>
          <p:cNvSpPr/>
          <p:nvPr/>
        </p:nvSpPr>
        <p:spPr>
          <a:xfrm>
            <a:off x="2560320" y="4114800"/>
            <a:ext cx="1371600" cy="384048"/>
          </a:xfrm>
          <a:prstGeom prst="roundRect">
            <a:avLst>
              <a:gd name="adj" fmla="val 19048"/>
            </a:avLst>
          </a:prstGeom>
          <a:solidFill>
            <a:schemeClr val="tx1">
              <a:alpha val="75000"/>
            </a:schemeClr>
          </a:solidFill>
          <a:ln w="9525">
            <a:solidFill>
              <a:schemeClr val="accent4">
                <a:alpha val="50000"/>
              </a:schemeClr>
            </a:solidFill>
            <a:prstDash val="solid"/>
          </a:ln>
        </p:spPr>
      </p:sp>
      <p:sp>
        <p:nvSpPr>
          <p:cNvPr id="15" name="text-307"/>
          <p:cNvSpPr txBox="1"/>
          <p:nvPr/>
        </p:nvSpPr>
        <p:spPr>
          <a:xfrm>
            <a:off x="2560320" y="4114800"/>
            <a:ext cx="1371600" cy="384048"/>
          </a:xfrm>
          <a:prstGeom prst="rect">
            <a:avLst/>
          </a:prstGeom>
          <a:noFill/>
          <a:ln/>
        </p:spPr>
        <p:txBody>
          <a:bodyPr wrap="square" lIns="0" tIns="0" rIns="0" bIns="0" rtlCol="0" anchor="ctr"/>
          <a:lstStyle/>
          <a:p>
            <a:pPr algn="ctr" indent="0" marL="0">
              <a:buNone/>
            </a:pPr>
            <a:r>
              <a:rPr lang="en-US" sz="1150" dirty="0">
                <a:solidFill>
                  <a:schemeClr val="bg1"/>
                </a:solidFill>
              </a:rPr>
              <a:t>SegmentEmail</a:t>
            </a:r>
            <a:endParaRPr lang="en-US" sz="1150" dirty="0"/>
          </a:p>
        </p:txBody>
      </p:sp>
      <p:sp>
        <p:nvSpPr>
          <p:cNvPr id="16" name="artifact-308"/>
          <p:cNvSpPr/>
          <p:nvPr/>
        </p:nvSpPr>
        <p:spPr>
          <a:xfrm>
            <a:off x="4023360" y="4114800"/>
            <a:ext cx="1371600" cy="384048"/>
          </a:xfrm>
          <a:prstGeom prst="roundRect">
            <a:avLst>
              <a:gd name="adj" fmla="val 19048"/>
            </a:avLst>
          </a:prstGeom>
          <a:solidFill>
            <a:schemeClr val="tx1">
              <a:alpha val="75000"/>
            </a:schemeClr>
          </a:solidFill>
          <a:ln w="9525">
            <a:solidFill>
              <a:schemeClr val="accent4">
                <a:alpha val="50000"/>
              </a:schemeClr>
            </a:solidFill>
            <a:prstDash val="solid"/>
          </a:ln>
        </p:spPr>
      </p:sp>
      <p:sp>
        <p:nvSpPr>
          <p:cNvPr id="17" name="text-309"/>
          <p:cNvSpPr txBox="1"/>
          <p:nvPr/>
        </p:nvSpPr>
        <p:spPr>
          <a:xfrm>
            <a:off x="4023360" y="4114800"/>
            <a:ext cx="1371600" cy="384048"/>
          </a:xfrm>
          <a:prstGeom prst="rect">
            <a:avLst/>
          </a:prstGeom>
          <a:noFill/>
          <a:ln/>
        </p:spPr>
        <p:txBody>
          <a:bodyPr wrap="square" lIns="0" tIns="0" rIns="0" bIns="0" rtlCol="0" anchor="ctr"/>
          <a:lstStyle/>
          <a:p>
            <a:pPr algn="ctr" indent="0" marL="0">
              <a:buNone/>
            </a:pPr>
            <a:r>
              <a:rPr lang="en-US" sz="1150" dirty="0">
                <a:solidFill>
                  <a:schemeClr val="bg1"/>
                </a:solidFill>
              </a:rPr>
              <a:t>GuardianVerdict</a:t>
            </a:r>
            <a:endParaRPr lang="en-US" sz="1150" dirty="0"/>
          </a:p>
        </p:txBody>
      </p:sp>
      <p:sp>
        <p:nvSpPr>
          <p:cNvPr id="18" name="glass-310"/>
          <p:cNvSpPr/>
          <p:nvPr/>
        </p:nvSpPr>
        <p:spPr>
          <a:xfrm>
            <a:off x="548640" y="2331720"/>
            <a:ext cx="1508760" cy="1234440"/>
          </a:xfrm>
          <a:prstGeom prst="roundRect">
            <a:avLst>
              <a:gd name="adj" fmla="val 10370"/>
            </a:avLst>
          </a:prstGeom>
          <a:solidFill>
            <a:schemeClr val="accent2">
              <a:alpha val="14000"/>
            </a:schemeClr>
          </a:solidFill>
          <a:ln w="12700">
            <a:solidFill>
              <a:schemeClr val="accent2">
                <a:alpha val="55000"/>
              </a:schemeClr>
            </a:solidFill>
            <a:prstDash val="solid"/>
          </a:ln>
        </p:spPr>
      </p:sp>
      <p:pic>
        <p:nvPicPr>
          <p:cNvPr id="19" name="icon3d-311" descr="C:\Users\himat\AppData\Local\Temp\claude\c--Ai-stuffs-MOSAIC\b3ecbbac-d885-4fec-a9f8-3496f8d06c96\scratchpad\build\assets\icon-segmentation.png">    </p:cNvPr>
          <p:cNvPicPr>
            <a:picLocks noChangeAspect="1"/>
          </p:cNvPicPr>
          <p:nvPr/>
        </p:nvPicPr>
        <p:blipFill>
          <a:blip r:embed="rId2"/>
          <a:stretch>
            <a:fillRect/>
          </a:stretch>
        </p:blipFill>
        <p:spPr>
          <a:xfrm>
            <a:off x="960120" y="2386584"/>
            <a:ext cx="713232" cy="713232"/>
          </a:xfrm>
          <a:prstGeom prst="rect">
            <a:avLst/>
          </a:prstGeom>
        </p:spPr>
      </p:pic>
      <p:sp>
        <p:nvSpPr>
          <p:cNvPr id="20" name="num-bg-312"/>
          <p:cNvSpPr/>
          <p:nvPr/>
        </p:nvSpPr>
        <p:spPr>
          <a:xfrm>
            <a:off x="640080" y="2423160"/>
            <a:ext cx="292608" cy="292608"/>
          </a:xfrm>
          <a:prstGeom prst="ellipse">
            <a:avLst/>
          </a:prstGeom>
          <a:solidFill>
            <a:schemeClr val="accent2"/>
          </a:solidFill>
          <a:ln/>
        </p:spPr>
      </p:sp>
      <p:sp>
        <p:nvSpPr>
          <p:cNvPr id="21" name="text-313"/>
          <p:cNvSpPr txBox="1"/>
          <p:nvPr/>
        </p:nvSpPr>
        <p:spPr>
          <a:xfrm>
            <a:off x="640080" y="242316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1</a:t>
            </a:r>
            <a:endParaRPr lang="en-US" sz="1300" dirty="0"/>
          </a:p>
        </p:txBody>
      </p:sp>
      <p:sp>
        <p:nvSpPr>
          <p:cNvPr id="22" name="text-314"/>
          <p:cNvSpPr txBox="1"/>
          <p:nvPr/>
        </p:nvSpPr>
        <p:spPr>
          <a:xfrm>
            <a:off x="548640" y="3136392"/>
            <a:ext cx="1508760" cy="347472"/>
          </a:xfrm>
          <a:prstGeom prst="rect">
            <a:avLst/>
          </a:prstGeom>
          <a:noFill/>
          <a:ln/>
        </p:spPr>
        <p:txBody>
          <a:bodyPr wrap="square" lIns="0" tIns="0" rIns="0" bIns="0" rtlCol="0" anchor="t"/>
          <a:lstStyle/>
          <a:p>
            <a:pPr algn="ctr" indent="0" marL="0">
              <a:buNone/>
            </a:pPr>
            <a:r>
              <a:rPr lang="en-US" sz="1350" b="1" dirty="0">
                <a:solidFill>
                  <a:schemeClr val="bg1"/>
                </a:solidFill>
              </a:rPr>
              <a:t>Segmentation</a:t>
            </a:r>
            <a:endParaRPr lang="en-US" sz="1350" dirty="0"/>
          </a:p>
        </p:txBody>
      </p:sp>
      <p:sp>
        <p:nvSpPr>
          <p:cNvPr id="23" name="glass-315"/>
          <p:cNvSpPr/>
          <p:nvPr/>
        </p:nvSpPr>
        <p:spPr>
          <a:xfrm>
            <a:off x="5989320" y="2331720"/>
            <a:ext cx="1508760" cy="1234440"/>
          </a:xfrm>
          <a:prstGeom prst="roundRect">
            <a:avLst>
              <a:gd name="adj" fmla="val 10370"/>
            </a:avLst>
          </a:prstGeom>
          <a:solidFill>
            <a:schemeClr val="accent3">
              <a:alpha val="14000"/>
            </a:schemeClr>
          </a:solidFill>
          <a:ln w="12700">
            <a:solidFill>
              <a:schemeClr val="accent3">
                <a:alpha val="55000"/>
              </a:schemeClr>
            </a:solidFill>
            <a:prstDash val="solid"/>
          </a:ln>
        </p:spPr>
      </p:sp>
      <p:pic>
        <p:nvPicPr>
          <p:cNvPr id="24" name="icon3d-316" descr="C:\Users\himat\AppData\Local\Temp\claude\c--Ai-stuffs-MOSAIC\b3ecbbac-d885-4fec-a9f8-3496f8d06c96\scratchpad\build\assets\icon-creative.png">    </p:cNvPr>
          <p:cNvPicPr>
            <a:picLocks noChangeAspect="1"/>
          </p:cNvPicPr>
          <p:nvPr/>
        </p:nvPicPr>
        <p:blipFill>
          <a:blip r:embed="rId3"/>
          <a:stretch>
            <a:fillRect/>
          </a:stretch>
        </p:blipFill>
        <p:spPr>
          <a:xfrm>
            <a:off x="6400800" y="2386584"/>
            <a:ext cx="713232" cy="713232"/>
          </a:xfrm>
          <a:prstGeom prst="rect">
            <a:avLst/>
          </a:prstGeom>
        </p:spPr>
      </p:pic>
      <p:sp>
        <p:nvSpPr>
          <p:cNvPr id="25" name="num-bg-317"/>
          <p:cNvSpPr/>
          <p:nvPr/>
        </p:nvSpPr>
        <p:spPr>
          <a:xfrm>
            <a:off x="6080760" y="2423160"/>
            <a:ext cx="292608" cy="292608"/>
          </a:xfrm>
          <a:prstGeom prst="ellipse">
            <a:avLst/>
          </a:prstGeom>
          <a:solidFill>
            <a:schemeClr val="accent3"/>
          </a:solidFill>
          <a:ln/>
        </p:spPr>
      </p:sp>
      <p:sp>
        <p:nvSpPr>
          <p:cNvPr id="26" name="text-318"/>
          <p:cNvSpPr txBox="1"/>
          <p:nvPr/>
        </p:nvSpPr>
        <p:spPr>
          <a:xfrm>
            <a:off x="6080760" y="242316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2</a:t>
            </a:r>
            <a:endParaRPr lang="en-US" sz="1300" dirty="0"/>
          </a:p>
        </p:txBody>
      </p:sp>
      <p:sp>
        <p:nvSpPr>
          <p:cNvPr id="27" name="text-319"/>
          <p:cNvSpPr txBox="1"/>
          <p:nvPr/>
        </p:nvSpPr>
        <p:spPr>
          <a:xfrm>
            <a:off x="5989320" y="3136392"/>
            <a:ext cx="1508760" cy="347472"/>
          </a:xfrm>
          <a:prstGeom prst="rect">
            <a:avLst/>
          </a:prstGeom>
          <a:noFill/>
          <a:ln/>
        </p:spPr>
        <p:txBody>
          <a:bodyPr wrap="square" lIns="0" tIns="0" rIns="0" bIns="0" rtlCol="0" anchor="t"/>
          <a:lstStyle/>
          <a:p>
            <a:pPr algn="ctr" indent="0" marL="0">
              <a:buNone/>
            </a:pPr>
            <a:r>
              <a:rPr lang="en-US" sz="1350" b="1" dirty="0">
                <a:solidFill>
                  <a:schemeClr val="bg1"/>
                </a:solidFill>
              </a:rPr>
              <a:t>Creative</a:t>
            </a:r>
            <a:endParaRPr lang="en-US" sz="1350" dirty="0"/>
          </a:p>
        </p:txBody>
      </p:sp>
      <p:sp>
        <p:nvSpPr>
          <p:cNvPr id="28" name="glass-320"/>
          <p:cNvSpPr/>
          <p:nvPr/>
        </p:nvSpPr>
        <p:spPr>
          <a:xfrm>
            <a:off x="5989320" y="3977640"/>
            <a:ext cx="1508760" cy="1234440"/>
          </a:xfrm>
          <a:prstGeom prst="roundRect">
            <a:avLst>
              <a:gd name="adj" fmla="val 10370"/>
            </a:avLst>
          </a:prstGeom>
          <a:solidFill>
            <a:schemeClr val="accent4">
              <a:alpha val="14000"/>
            </a:schemeClr>
          </a:solidFill>
          <a:ln w="12700">
            <a:solidFill>
              <a:schemeClr val="accent4">
                <a:alpha val="55000"/>
              </a:schemeClr>
            </a:solidFill>
            <a:prstDash val="solid"/>
          </a:ln>
        </p:spPr>
      </p:sp>
      <p:pic>
        <p:nvPicPr>
          <p:cNvPr id="29" name="icon3d-321" descr="C:\Users\himat\AppData\Local\Temp\claude\c--Ai-stuffs-MOSAIC\b3ecbbac-d885-4fec-a9f8-3496f8d06c96\scratchpad\build\assets\icon-composer.png">    </p:cNvPr>
          <p:cNvPicPr>
            <a:picLocks noChangeAspect="1"/>
          </p:cNvPicPr>
          <p:nvPr/>
        </p:nvPicPr>
        <p:blipFill>
          <a:blip r:embed="rId4"/>
          <a:stretch>
            <a:fillRect/>
          </a:stretch>
        </p:blipFill>
        <p:spPr>
          <a:xfrm>
            <a:off x="6400800" y="4032504"/>
            <a:ext cx="713232" cy="713232"/>
          </a:xfrm>
          <a:prstGeom prst="rect">
            <a:avLst/>
          </a:prstGeom>
        </p:spPr>
      </p:pic>
      <p:sp>
        <p:nvSpPr>
          <p:cNvPr id="30" name="num-bg-322"/>
          <p:cNvSpPr/>
          <p:nvPr/>
        </p:nvSpPr>
        <p:spPr>
          <a:xfrm>
            <a:off x="6080760" y="4069080"/>
            <a:ext cx="292608" cy="292608"/>
          </a:xfrm>
          <a:prstGeom prst="ellipse">
            <a:avLst/>
          </a:prstGeom>
          <a:solidFill>
            <a:schemeClr val="accent4"/>
          </a:solidFill>
          <a:ln/>
        </p:spPr>
      </p:sp>
      <p:sp>
        <p:nvSpPr>
          <p:cNvPr id="31" name="text-323"/>
          <p:cNvSpPr txBox="1"/>
          <p:nvPr/>
        </p:nvSpPr>
        <p:spPr>
          <a:xfrm>
            <a:off x="6080760" y="406908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3</a:t>
            </a:r>
            <a:endParaRPr lang="en-US" sz="1300" dirty="0"/>
          </a:p>
        </p:txBody>
      </p:sp>
      <p:sp>
        <p:nvSpPr>
          <p:cNvPr id="32" name="text-324"/>
          <p:cNvSpPr txBox="1"/>
          <p:nvPr/>
        </p:nvSpPr>
        <p:spPr>
          <a:xfrm>
            <a:off x="5989320" y="4782312"/>
            <a:ext cx="1508760" cy="347472"/>
          </a:xfrm>
          <a:prstGeom prst="rect">
            <a:avLst/>
          </a:prstGeom>
          <a:noFill/>
          <a:ln/>
        </p:spPr>
        <p:txBody>
          <a:bodyPr wrap="square" lIns="0" tIns="0" rIns="0" bIns="0" rtlCol="0" anchor="t"/>
          <a:lstStyle/>
          <a:p>
            <a:pPr algn="ctr" indent="0" marL="0">
              <a:buNone/>
            </a:pPr>
            <a:r>
              <a:rPr lang="en-US" sz="1350" b="1" dirty="0">
                <a:solidFill>
                  <a:schemeClr val="bg1"/>
                </a:solidFill>
              </a:rPr>
              <a:t>Composer</a:t>
            </a:r>
            <a:endParaRPr lang="en-US" sz="1350" dirty="0"/>
          </a:p>
        </p:txBody>
      </p:sp>
      <p:sp>
        <p:nvSpPr>
          <p:cNvPr id="33" name="glass-325"/>
          <p:cNvSpPr/>
          <p:nvPr/>
        </p:nvSpPr>
        <p:spPr>
          <a:xfrm>
            <a:off x="548640" y="3977640"/>
            <a:ext cx="1508760" cy="1234440"/>
          </a:xfrm>
          <a:prstGeom prst="roundRect">
            <a:avLst>
              <a:gd name="adj" fmla="val 10370"/>
            </a:avLst>
          </a:prstGeom>
          <a:solidFill>
            <a:schemeClr val="accent5">
              <a:alpha val="14000"/>
            </a:schemeClr>
          </a:solidFill>
          <a:ln w="12700">
            <a:solidFill>
              <a:schemeClr val="accent5">
                <a:alpha val="55000"/>
              </a:schemeClr>
            </a:solidFill>
            <a:prstDash val="solid"/>
          </a:ln>
        </p:spPr>
      </p:sp>
      <p:pic>
        <p:nvPicPr>
          <p:cNvPr id="34" name="icon3d-326" descr="C:\Users\himat\AppData\Local\Temp\claude\c--Ai-stuffs-MOSAIC\b3ecbbac-d885-4fec-a9f8-3496f8d06c96\scratchpad\build\assets\icon-guardian.png">    </p:cNvPr>
          <p:cNvPicPr>
            <a:picLocks noChangeAspect="1"/>
          </p:cNvPicPr>
          <p:nvPr/>
        </p:nvPicPr>
        <p:blipFill>
          <a:blip r:embed="rId5"/>
          <a:stretch>
            <a:fillRect/>
          </a:stretch>
        </p:blipFill>
        <p:spPr>
          <a:xfrm>
            <a:off x="960120" y="4032504"/>
            <a:ext cx="713232" cy="713232"/>
          </a:xfrm>
          <a:prstGeom prst="rect">
            <a:avLst/>
          </a:prstGeom>
        </p:spPr>
      </p:pic>
      <p:sp>
        <p:nvSpPr>
          <p:cNvPr id="35" name="num-bg-327"/>
          <p:cNvSpPr/>
          <p:nvPr/>
        </p:nvSpPr>
        <p:spPr>
          <a:xfrm>
            <a:off x="640080" y="4069080"/>
            <a:ext cx="292608" cy="292608"/>
          </a:xfrm>
          <a:prstGeom prst="ellipse">
            <a:avLst/>
          </a:prstGeom>
          <a:solidFill>
            <a:schemeClr val="accent5"/>
          </a:solidFill>
          <a:ln/>
        </p:spPr>
      </p:sp>
      <p:sp>
        <p:nvSpPr>
          <p:cNvPr id="36" name="text-328"/>
          <p:cNvSpPr txBox="1"/>
          <p:nvPr/>
        </p:nvSpPr>
        <p:spPr>
          <a:xfrm>
            <a:off x="640080" y="4069080"/>
            <a:ext cx="292608" cy="29260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4</a:t>
            </a:r>
            <a:endParaRPr lang="en-US" sz="1300" dirty="0"/>
          </a:p>
        </p:txBody>
      </p:sp>
      <p:sp>
        <p:nvSpPr>
          <p:cNvPr id="37" name="text-329"/>
          <p:cNvSpPr txBox="1"/>
          <p:nvPr/>
        </p:nvSpPr>
        <p:spPr>
          <a:xfrm>
            <a:off x="548640" y="4782312"/>
            <a:ext cx="1508760" cy="347472"/>
          </a:xfrm>
          <a:prstGeom prst="rect">
            <a:avLst/>
          </a:prstGeom>
          <a:noFill/>
          <a:ln/>
        </p:spPr>
        <p:txBody>
          <a:bodyPr wrap="square" lIns="0" tIns="0" rIns="0" bIns="0" rtlCol="0" anchor="t"/>
          <a:lstStyle/>
          <a:p>
            <a:pPr algn="ctr" indent="0" marL="0">
              <a:buNone/>
            </a:pPr>
            <a:r>
              <a:rPr lang="en-US" sz="1350" b="1" dirty="0">
                <a:solidFill>
                  <a:schemeClr val="bg1"/>
                </a:solidFill>
              </a:rPr>
              <a:t>Guardian</a:t>
            </a:r>
            <a:endParaRPr lang="en-US" sz="1350" dirty="0"/>
          </a:p>
        </p:txBody>
      </p:sp>
      <p:sp>
        <p:nvSpPr>
          <p:cNvPr id="38" name="connector-330"/>
          <p:cNvSpPr/>
          <p:nvPr/>
        </p:nvSpPr>
        <p:spPr>
          <a:xfrm>
            <a:off x="2075688" y="2880360"/>
            <a:ext cx="283464" cy="91"/>
          </a:xfrm>
          <a:prstGeom prst="line">
            <a:avLst/>
          </a:prstGeom>
          <a:noFill/>
          <a:ln w="22225">
            <a:solidFill>
              <a:schemeClr val="accent2"/>
            </a:solidFill>
            <a:prstDash val="solid"/>
            <a:headEnd type="triangle"/>
            <a:tailEnd type="triangle"/>
          </a:ln>
        </p:spPr>
      </p:sp>
      <p:sp>
        <p:nvSpPr>
          <p:cNvPr id="39" name="connector-331"/>
          <p:cNvSpPr/>
          <p:nvPr/>
        </p:nvSpPr>
        <p:spPr>
          <a:xfrm flipH="1">
            <a:off x="5641848" y="2880360"/>
            <a:ext cx="329184" cy="91"/>
          </a:xfrm>
          <a:prstGeom prst="line">
            <a:avLst/>
          </a:prstGeom>
          <a:noFill/>
          <a:ln w="22225">
            <a:solidFill>
              <a:schemeClr val="accent3"/>
            </a:solidFill>
            <a:prstDash val="solid"/>
            <a:headEnd type="triangle"/>
            <a:tailEnd type="triangle"/>
          </a:ln>
        </p:spPr>
      </p:sp>
      <p:sp>
        <p:nvSpPr>
          <p:cNvPr id="40" name="connector-332"/>
          <p:cNvSpPr/>
          <p:nvPr/>
        </p:nvSpPr>
        <p:spPr>
          <a:xfrm flipH="1">
            <a:off x="5641848" y="4572000"/>
            <a:ext cx="329184" cy="91"/>
          </a:xfrm>
          <a:prstGeom prst="line">
            <a:avLst/>
          </a:prstGeom>
          <a:noFill/>
          <a:ln w="22225">
            <a:solidFill>
              <a:schemeClr val="accent4"/>
            </a:solidFill>
            <a:prstDash val="solid"/>
            <a:headEnd type="triangle"/>
            <a:tailEnd type="triangle"/>
          </a:ln>
        </p:spPr>
      </p:sp>
      <p:sp>
        <p:nvSpPr>
          <p:cNvPr id="41" name="connector-333"/>
          <p:cNvSpPr/>
          <p:nvPr/>
        </p:nvSpPr>
        <p:spPr>
          <a:xfrm>
            <a:off x="2075688" y="4572000"/>
            <a:ext cx="283464" cy="91"/>
          </a:xfrm>
          <a:prstGeom prst="line">
            <a:avLst/>
          </a:prstGeom>
          <a:noFill/>
          <a:ln w="22225">
            <a:solidFill>
              <a:schemeClr val="accent5"/>
            </a:solidFill>
            <a:prstDash val="solid"/>
            <a:headEnd type="triangle"/>
            <a:tailEnd type="triangle"/>
          </a:ln>
        </p:spPr>
      </p:sp>
      <p:sp>
        <p:nvSpPr>
          <p:cNvPr id="42" name="connector-334"/>
          <p:cNvSpPr/>
          <p:nvPr/>
        </p:nvSpPr>
        <p:spPr>
          <a:xfrm>
            <a:off x="4005072" y="2304288"/>
            <a:ext cx="91" cy="374904"/>
          </a:xfrm>
          <a:prstGeom prst="line">
            <a:avLst/>
          </a:prstGeom>
          <a:noFill/>
          <a:ln w="22225">
            <a:solidFill>
              <a:schemeClr val="accent1"/>
            </a:solidFill>
            <a:prstDash val="solid"/>
            <a:tailEnd type="triangle"/>
          </a:ln>
        </p:spPr>
      </p:sp>
      <p:sp>
        <p:nvSpPr>
          <p:cNvPr id="43" name="connector-335"/>
          <p:cNvSpPr/>
          <p:nvPr/>
        </p:nvSpPr>
        <p:spPr>
          <a:xfrm>
            <a:off x="4005072" y="4910328"/>
            <a:ext cx="91" cy="466344"/>
          </a:xfrm>
          <a:prstGeom prst="line">
            <a:avLst/>
          </a:prstGeom>
          <a:noFill/>
          <a:ln w="22225">
            <a:solidFill>
              <a:schemeClr val="accent1"/>
            </a:solidFill>
            <a:prstDash val="solid"/>
            <a:tailEnd type="triangle"/>
          </a:ln>
        </p:spPr>
      </p:sp>
      <p:sp>
        <p:nvSpPr>
          <p:cNvPr id="44" name="glass-336"/>
          <p:cNvSpPr/>
          <p:nvPr/>
        </p:nvSpPr>
        <p:spPr>
          <a:xfrm>
            <a:off x="2377440" y="5394960"/>
            <a:ext cx="3246120" cy="777240"/>
          </a:xfrm>
          <a:prstGeom prst="roundRect">
            <a:avLst>
              <a:gd name="adj" fmla="val 16471"/>
            </a:avLst>
          </a:prstGeom>
          <a:solidFill>
            <a:schemeClr val="accent1">
              <a:alpha val="18000"/>
            </a:schemeClr>
          </a:solidFill>
          <a:ln w="12700">
            <a:solidFill>
              <a:schemeClr val="accent1">
                <a:alpha val="60000"/>
              </a:schemeClr>
            </a:solidFill>
            <a:prstDash val="solid"/>
          </a:ln>
        </p:spPr>
      </p:sp>
      <p:sp>
        <p:nvSpPr>
          <p:cNvPr id="45" name="text-337"/>
          <p:cNvSpPr txBox="1"/>
          <p:nvPr/>
        </p:nvSpPr>
        <p:spPr>
          <a:xfrm>
            <a:off x="2377440" y="5394960"/>
            <a:ext cx="3246120" cy="777240"/>
          </a:xfrm>
          <a:prstGeom prst="rect">
            <a:avLst/>
          </a:prstGeom>
          <a:noFill/>
          <a:ln/>
        </p:spPr>
        <p:txBody>
          <a:bodyPr wrap="square" lIns="0" tIns="0" rIns="0" bIns="0" rtlCol="0" anchor="ctr"/>
          <a:lstStyle/>
          <a:p>
            <a:pPr algn="ctr" indent="0" marL="0">
              <a:buNone/>
            </a:pPr>
            <a:r>
              <a:rPr lang="en-US" sz="1450" b="1" dirty="0">
                <a:solidFill>
                  <a:schemeClr val="bg1"/>
                </a:solidFill>
              </a:rPr>
              <a:t>Decision Ledger</a:t>
            </a:r>
            <a:endParaRPr lang="en-US" sz="1450" dirty="0"/>
          </a:p>
          <a:p>
            <a:pPr algn="ctr" indent="0" marL="0">
              <a:buNone/>
            </a:pPr>
            <a:r>
              <a:rPr lang="en-US" sz="1150" dirty="0">
                <a:solidFill>
                  <a:schemeClr val="bg2"/>
                </a:solidFill>
              </a:rPr>
              <a:t>prompt + model version · lineage</a:t>
            </a:r>
            <a:endParaRPr lang="en-US" sz="1450" dirty="0"/>
          </a:p>
        </p:txBody>
      </p:sp>
      <p:sp>
        <p:nvSpPr>
          <p:cNvPr id="46" name="glass-338"/>
          <p:cNvSpPr/>
          <p:nvPr/>
        </p:nvSpPr>
        <p:spPr>
          <a:xfrm>
            <a:off x="7909560" y="1572768"/>
            <a:ext cx="3730752" cy="4599432"/>
          </a:xfrm>
          <a:prstGeom prst="roundRect">
            <a:avLst>
              <a:gd name="adj" fmla="val 3431"/>
            </a:avLst>
          </a:prstGeom>
          <a:solidFill>
            <a:schemeClr val="tx2">
              <a:alpha val="78000"/>
            </a:schemeClr>
          </a:solidFill>
          <a:ln w="9525">
            <a:solidFill>
              <a:schemeClr val="bg2">
                <a:alpha val="22000"/>
              </a:schemeClr>
            </a:solidFill>
            <a:prstDash val="solid"/>
          </a:ln>
        </p:spPr>
      </p:sp>
      <p:sp>
        <p:nvSpPr>
          <p:cNvPr id="47" name="text-339"/>
          <p:cNvSpPr txBox="1"/>
          <p:nvPr/>
        </p:nvSpPr>
        <p:spPr>
          <a:xfrm>
            <a:off x="8138160" y="1737360"/>
            <a:ext cx="3383280" cy="365760"/>
          </a:xfrm>
          <a:prstGeom prst="rect">
            <a:avLst/>
          </a:prstGeom>
          <a:noFill/>
          <a:ln/>
        </p:spPr>
        <p:txBody>
          <a:bodyPr wrap="square" lIns="0" tIns="0" rIns="0" bIns="0" rtlCol="0" anchor="t"/>
          <a:lstStyle/>
          <a:p>
            <a:pPr indent="0" marL="0">
              <a:buNone/>
            </a:pPr>
            <a:r>
              <a:rPr lang="en-US" sz="1700" b="1" dirty="0">
                <a:solidFill>
                  <a:schemeClr val="bg1"/>
                </a:solidFill>
                <a:latin typeface="Century Gothic" pitchFamily="34" charset="0"/>
                <a:ea typeface="Century Gothic" pitchFamily="34" charset="-122"/>
                <a:cs typeface="Century Gothic" pitchFamily="34" charset="-120"/>
              </a:rPr>
              <a:t>One stage, end to end</a:t>
            </a:r>
            <a:endParaRPr lang="en-US" sz="1700" dirty="0"/>
          </a:p>
        </p:txBody>
      </p:sp>
      <p:sp>
        <p:nvSpPr>
          <p:cNvPr id="48" name="num-bg-340"/>
          <p:cNvSpPr/>
          <p:nvPr/>
        </p:nvSpPr>
        <p:spPr>
          <a:xfrm>
            <a:off x="8138160" y="2286000"/>
            <a:ext cx="365760" cy="365760"/>
          </a:xfrm>
          <a:prstGeom prst="ellipse">
            <a:avLst/>
          </a:prstGeom>
          <a:solidFill>
            <a:schemeClr val="accent1"/>
          </a:solidFill>
          <a:ln/>
        </p:spPr>
      </p:sp>
      <p:sp>
        <p:nvSpPr>
          <p:cNvPr id="49" name="text-341"/>
          <p:cNvSpPr txBox="1"/>
          <p:nvPr/>
        </p:nvSpPr>
        <p:spPr>
          <a:xfrm>
            <a:off x="8138160" y="228600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1</a:t>
            </a:r>
            <a:endParaRPr lang="en-US" sz="1300" dirty="0"/>
          </a:p>
        </p:txBody>
      </p:sp>
      <p:sp>
        <p:nvSpPr>
          <p:cNvPr id="50" name="text-342"/>
          <p:cNvSpPr txBox="1"/>
          <p:nvPr/>
        </p:nvSpPr>
        <p:spPr>
          <a:xfrm>
            <a:off x="8641080" y="2267712"/>
            <a:ext cx="2834640" cy="868680"/>
          </a:xfrm>
          <a:prstGeom prst="rect">
            <a:avLst/>
          </a:prstGeom>
          <a:noFill/>
          <a:ln/>
        </p:spPr>
        <p:txBody>
          <a:bodyPr wrap="square" lIns="0" tIns="0" rIns="0" bIns="0" rtlCol="0" anchor="t"/>
          <a:lstStyle/>
          <a:p>
            <a:pPr indent="0" marL="0">
              <a:buNone/>
            </a:pPr>
            <a:r>
              <a:rPr lang="en-US" sz="1350" dirty="0">
                <a:solidFill>
                  <a:schemeClr val="bg1"/>
                </a:solidFill>
              </a:rPr>
              <a:t>Console starts a stage, gets a job id.</a:t>
            </a:r>
            <a:endParaRPr lang="en-US" sz="1350" dirty="0"/>
          </a:p>
        </p:txBody>
      </p:sp>
      <p:sp>
        <p:nvSpPr>
          <p:cNvPr id="51" name="num-bg-343"/>
          <p:cNvSpPr/>
          <p:nvPr/>
        </p:nvSpPr>
        <p:spPr>
          <a:xfrm>
            <a:off x="8138160" y="3236976"/>
            <a:ext cx="365760" cy="365760"/>
          </a:xfrm>
          <a:prstGeom prst="ellipse">
            <a:avLst/>
          </a:prstGeom>
          <a:solidFill>
            <a:schemeClr val="accent1"/>
          </a:solidFill>
          <a:ln/>
        </p:spPr>
      </p:sp>
      <p:sp>
        <p:nvSpPr>
          <p:cNvPr id="52" name="text-344"/>
          <p:cNvSpPr txBox="1"/>
          <p:nvPr/>
        </p:nvSpPr>
        <p:spPr>
          <a:xfrm>
            <a:off x="8138160" y="3236976"/>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2</a:t>
            </a:r>
            <a:endParaRPr lang="en-US" sz="1300" dirty="0"/>
          </a:p>
        </p:txBody>
      </p:sp>
      <p:sp>
        <p:nvSpPr>
          <p:cNvPr id="53" name="text-345"/>
          <p:cNvSpPr txBox="1"/>
          <p:nvPr/>
        </p:nvSpPr>
        <p:spPr>
          <a:xfrm>
            <a:off x="8641080" y="3218688"/>
            <a:ext cx="2834640" cy="868680"/>
          </a:xfrm>
          <a:prstGeom prst="rect">
            <a:avLst/>
          </a:prstGeom>
          <a:noFill/>
          <a:ln/>
        </p:spPr>
        <p:txBody>
          <a:bodyPr wrap="square" lIns="0" tIns="0" rIns="0" bIns="0" rtlCol="0" anchor="t"/>
          <a:lstStyle/>
          <a:p>
            <a:pPr indent="0" marL="0">
              <a:buNone/>
            </a:pPr>
            <a:r>
              <a:rPr lang="en-US" sz="1350" dirty="0">
                <a:solidFill>
                  <a:schemeClr val="bg1"/>
                </a:solidFill>
              </a:rPr>
              <a:t>A worker runs the agent on blackboard inputs.</a:t>
            </a:r>
            <a:endParaRPr lang="en-US" sz="1350" dirty="0"/>
          </a:p>
        </p:txBody>
      </p:sp>
      <p:sp>
        <p:nvSpPr>
          <p:cNvPr id="54" name="num-bg-346"/>
          <p:cNvSpPr/>
          <p:nvPr/>
        </p:nvSpPr>
        <p:spPr>
          <a:xfrm>
            <a:off x="8138160" y="4187952"/>
            <a:ext cx="365760" cy="365760"/>
          </a:xfrm>
          <a:prstGeom prst="ellipse">
            <a:avLst/>
          </a:prstGeom>
          <a:solidFill>
            <a:schemeClr val="accent1"/>
          </a:solidFill>
          <a:ln/>
        </p:spPr>
      </p:sp>
      <p:sp>
        <p:nvSpPr>
          <p:cNvPr id="55" name="text-347"/>
          <p:cNvSpPr txBox="1"/>
          <p:nvPr/>
        </p:nvSpPr>
        <p:spPr>
          <a:xfrm>
            <a:off x="8138160" y="4187952"/>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3</a:t>
            </a:r>
            <a:endParaRPr lang="en-US" sz="1300" dirty="0"/>
          </a:p>
        </p:txBody>
      </p:sp>
      <p:sp>
        <p:nvSpPr>
          <p:cNvPr id="56" name="text-348"/>
          <p:cNvSpPr txBox="1"/>
          <p:nvPr/>
        </p:nvSpPr>
        <p:spPr>
          <a:xfrm>
            <a:off x="8641080" y="4169664"/>
            <a:ext cx="2834640" cy="868680"/>
          </a:xfrm>
          <a:prstGeom prst="rect">
            <a:avLst/>
          </a:prstGeom>
          <a:noFill/>
          <a:ln/>
        </p:spPr>
        <p:txBody>
          <a:bodyPr wrap="square" lIns="0" tIns="0" rIns="0" bIns="0" rtlCol="0" anchor="t"/>
          <a:lstStyle/>
          <a:p>
            <a:pPr indent="0" marL="0">
              <a:buNone/>
            </a:pPr>
            <a:r>
              <a:rPr lang="en-US" sz="1350" dirty="0">
                <a:solidFill>
                  <a:schemeClr val="bg1"/>
                </a:solidFill>
              </a:rPr>
              <a:t>Typed output saved; ledger appended.</a:t>
            </a:r>
            <a:endParaRPr lang="en-US" sz="1350" dirty="0"/>
          </a:p>
        </p:txBody>
      </p:sp>
      <p:sp>
        <p:nvSpPr>
          <p:cNvPr id="57" name="num-bg-349"/>
          <p:cNvSpPr/>
          <p:nvPr/>
        </p:nvSpPr>
        <p:spPr>
          <a:xfrm>
            <a:off x="8138160" y="5138928"/>
            <a:ext cx="365760" cy="365760"/>
          </a:xfrm>
          <a:prstGeom prst="ellipse">
            <a:avLst/>
          </a:prstGeom>
          <a:solidFill>
            <a:schemeClr val="accent1"/>
          </a:solidFill>
          <a:ln/>
        </p:spPr>
      </p:sp>
      <p:sp>
        <p:nvSpPr>
          <p:cNvPr id="58" name="text-350"/>
          <p:cNvSpPr txBox="1"/>
          <p:nvPr/>
        </p:nvSpPr>
        <p:spPr>
          <a:xfrm>
            <a:off x="8138160" y="513892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4</a:t>
            </a:r>
            <a:endParaRPr lang="en-US" sz="1300" dirty="0"/>
          </a:p>
        </p:txBody>
      </p:sp>
      <p:sp>
        <p:nvSpPr>
          <p:cNvPr id="59" name="text-351"/>
          <p:cNvSpPr txBox="1"/>
          <p:nvPr/>
        </p:nvSpPr>
        <p:spPr>
          <a:xfrm>
            <a:off x="8641080" y="5120640"/>
            <a:ext cx="2834640" cy="868680"/>
          </a:xfrm>
          <a:prstGeom prst="rect">
            <a:avLst/>
          </a:prstGeom>
          <a:noFill/>
          <a:ln/>
        </p:spPr>
        <p:txBody>
          <a:bodyPr wrap="square" lIns="0" tIns="0" rIns="0" bIns="0" rtlCol="0" anchor="t"/>
          <a:lstStyle/>
          <a:p>
            <a:pPr indent="0" marL="0">
              <a:buNone/>
            </a:pPr>
            <a:r>
              <a:rPr lang="en-US" sz="1350" dirty="0">
                <a:solidFill>
                  <a:schemeClr val="bg1"/>
                </a:solidFill>
              </a:rPr>
              <a:t>Console polls progress; next tab unlocks.</a:t>
            </a:r>
            <a:endParaRPr lang="en-US" sz="13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352"/>
          <p:cNvSpPr txBox="1"/>
          <p:nvPr/>
        </p:nvSpPr>
        <p:spPr>
          <a:xfrm>
            <a:off x="685800" y="1600200"/>
            <a:ext cx="2743200" cy="1005840"/>
          </a:xfrm>
          <a:prstGeom prst="rect">
            <a:avLst/>
          </a:prstGeom>
          <a:noFill/>
          <a:ln/>
        </p:spPr>
        <p:txBody>
          <a:bodyPr wrap="square" lIns="0" tIns="0" rIns="0" bIns="0" rtlCol="0" anchor="t"/>
          <a:lstStyle/>
          <a:p>
            <a:pPr indent="0" marL="0">
              <a:buNone/>
            </a:pPr>
            <a:r>
              <a:rPr lang="en-US" sz="6400" b="1" dirty="0">
                <a:solidFill>
                  <a:schemeClr val="accent1"/>
                </a:solidFill>
                <a:latin typeface="Century Gothic" pitchFamily="34" charset="0"/>
                <a:ea typeface="Century Gothic" pitchFamily="34" charset="-122"/>
                <a:cs typeface="Century Gothic" pitchFamily="34" charset="-120"/>
              </a:rPr>
              <a:t>03</a:t>
            </a:r>
            <a:endParaRPr lang="en-US" sz="6400" dirty="0"/>
          </a:p>
        </p:txBody>
      </p:sp>
      <p:sp>
        <p:nvSpPr>
          <p:cNvPr id="3" name="Text 0"/>
          <p:cNvSpPr/>
          <p:nvPr>
            <p:ph idx="100" type="title" hasCustomPrompt="1"/>
          </p:nvPr>
        </p:nvSpPr>
        <p:spPr>
          <a:xfrm>
            <a:off x="685800" y="2788920"/>
            <a:ext cx="6217920" cy="86868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Agent design</a:t>
            </a:r>
            <a:endParaRPr lang="en-US" sz="4400" dirty="0"/>
          </a:p>
        </p:txBody>
      </p:sp>
      <p:sp>
        <p:nvSpPr>
          <p:cNvPr id="4" name="Text 0"/>
          <p:cNvSpPr/>
          <p:nvPr>
            <p:ph idx="101" type="body" hasCustomPrompt="1"/>
          </p:nvPr>
        </p:nvSpPr>
        <p:spPr>
          <a:xfrm>
            <a:off x="685800" y="379476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How each agent reasons, what it is allowed to decide, and what code decides instead.</a:t>
            </a:r>
            <a:endParaRPr lang="en-US" sz="1800" dirty="0"/>
          </a:p>
        </p:txBody>
      </p:sp>
      <p:sp>
        <p:nvSpPr>
          <p:cNvPr id="5" name="tile-353"/>
          <p:cNvSpPr/>
          <p:nvPr/>
        </p:nvSpPr>
        <p:spPr>
          <a:xfrm>
            <a:off x="685800" y="5257800"/>
            <a:ext cx="182880" cy="182880"/>
          </a:xfrm>
          <a:prstGeom prst="roundRect">
            <a:avLst>
              <a:gd name="adj" fmla="val 20000"/>
            </a:avLst>
          </a:prstGeom>
          <a:solidFill>
            <a:schemeClr val="accent6"/>
          </a:solidFill>
          <a:ln/>
        </p:spPr>
      </p:sp>
      <p:sp>
        <p:nvSpPr>
          <p:cNvPr id="6" name="tile-354"/>
          <p:cNvSpPr/>
          <p:nvPr/>
        </p:nvSpPr>
        <p:spPr>
          <a:xfrm>
            <a:off x="941832" y="5257800"/>
            <a:ext cx="182880" cy="182880"/>
          </a:xfrm>
          <a:prstGeom prst="roundRect">
            <a:avLst>
              <a:gd name="adj" fmla="val 20000"/>
            </a:avLst>
          </a:prstGeom>
          <a:solidFill>
            <a:schemeClr val="accent3"/>
          </a:solidFill>
          <a:ln/>
        </p:spPr>
      </p:sp>
      <p:sp>
        <p:nvSpPr>
          <p:cNvPr id="7" name="tile-355"/>
          <p:cNvSpPr/>
          <p:nvPr/>
        </p:nvSpPr>
        <p:spPr>
          <a:xfrm>
            <a:off x="1197864" y="5257800"/>
            <a:ext cx="182880" cy="182880"/>
          </a:xfrm>
          <a:prstGeom prst="roundRect">
            <a:avLst>
              <a:gd name="adj" fmla="val 20000"/>
            </a:avLst>
          </a:prstGeom>
          <a:solidFill>
            <a:schemeClr val="accent2"/>
          </a:solidFill>
          <a:ln/>
        </p:spPr>
      </p:sp>
      <p:sp>
        <p:nvSpPr>
          <p:cNvPr id="8" name="tile-356"/>
          <p:cNvSpPr/>
          <p:nvPr/>
        </p:nvSpPr>
        <p:spPr>
          <a:xfrm>
            <a:off x="1453896" y="5257800"/>
            <a:ext cx="182880" cy="182880"/>
          </a:xfrm>
          <a:prstGeom prst="roundRect">
            <a:avLst>
              <a:gd name="adj" fmla="val 20000"/>
            </a:avLst>
          </a:prstGeom>
          <a:solidFill>
            <a:schemeClr val="accent5"/>
          </a:solidFill>
          <a:ln/>
        </p:spPr>
      </p:sp>
      <p:sp>
        <p:nvSpPr>
          <p:cNvPr id="9" name="tile-357"/>
          <p:cNvSpPr/>
          <p:nvPr/>
        </p:nvSpPr>
        <p:spPr>
          <a:xfrm>
            <a:off x="1709928" y="5257800"/>
            <a:ext cx="182880" cy="182880"/>
          </a:xfrm>
          <a:prstGeom prst="roundRect">
            <a:avLst>
              <a:gd name="adj" fmla="val 20000"/>
            </a:avLst>
          </a:prstGeom>
          <a:solidFill>
            <a:schemeClr val="accent4"/>
          </a:solidFill>
          <a:ln/>
        </p:spPr>
      </p:sp>
      <p:sp>
        <p:nvSpPr>
          <p:cNvPr id="10" name="tile-358"/>
          <p:cNvSpPr/>
          <p:nvPr/>
        </p:nvSpPr>
        <p:spPr>
          <a:xfrm>
            <a:off x="1965960" y="5257800"/>
            <a:ext cx="182880" cy="182880"/>
          </a:xfrm>
          <a:prstGeom prst="roundRect">
            <a:avLst>
              <a:gd name="adj" fmla="val 20000"/>
            </a:avLst>
          </a:prstGeom>
          <a:solidFill>
            <a:schemeClr val="accent1"/>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Segments that explain themselves</a:t>
            </a:r>
            <a:endParaRPr lang="en-US" sz="2800" dirty="0"/>
          </a:p>
        </p:txBody>
      </p:sp>
      <p:sp>
        <p:nvSpPr>
          <p:cNvPr id="3" name="text-359"/>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The numbers find the segments; the model only names them.</a:t>
            </a:r>
            <a:endParaRPr lang="en-US" sz="1600" dirty="0"/>
          </a:p>
        </p:txBody>
      </p:sp>
      <p:pic>
        <p:nvPicPr>
          <p:cNvPr id="4" name="icon3d-360" descr="C:\Users\himat\AppData\Local\Temp\claude\c--Ai-stuffs-MOSAIC\b3ecbbac-d885-4fec-a9f8-3496f8d06c96\scratchpad\build\assets\icon-segmentation.png">    </p:cNvPr>
          <p:cNvPicPr>
            <a:picLocks noChangeAspect="1"/>
          </p:cNvPicPr>
          <p:nvPr/>
        </p:nvPicPr>
        <p:blipFill>
          <a:blip r:embed="rId1"/>
          <a:stretch>
            <a:fillRect/>
          </a:stretch>
        </p:blipFill>
        <p:spPr>
          <a:xfrm>
            <a:off x="457200" y="1463040"/>
            <a:ext cx="868680" cy="868680"/>
          </a:xfrm>
          <a:prstGeom prst="rect">
            <a:avLst/>
          </a:prstGeom>
        </p:spPr>
      </p:pic>
      <p:sp>
        <p:nvSpPr>
          <p:cNvPr id="5" name="text-361"/>
          <p:cNvSpPr txBox="1"/>
          <p:nvPr/>
        </p:nvSpPr>
        <p:spPr>
          <a:xfrm>
            <a:off x="1371600" y="1691640"/>
            <a:ext cx="4206240" cy="411480"/>
          </a:xfrm>
          <a:prstGeom prst="rect">
            <a:avLst/>
          </a:prstGeom>
          <a:noFill/>
          <a:ln/>
        </p:spPr>
        <p:txBody>
          <a:bodyPr wrap="square" lIns="0" tIns="0" rIns="0" bIns="0" rtlCol="0" anchor="t"/>
          <a:lstStyle/>
          <a:p>
            <a:pPr indent="0" marL="0">
              <a:buNone/>
            </a:pPr>
            <a:r>
              <a:rPr lang="en-US" sz="1500" b="1" dirty="0">
                <a:solidFill>
                  <a:schemeClr val="accent2"/>
                </a:solidFill>
                <a:latin typeface="Century Gothic" pitchFamily="34" charset="0"/>
                <a:ea typeface="Century Gothic" pitchFamily="34" charset="-122"/>
                <a:cs typeface="Century Gothic" pitchFamily="34" charset="-120"/>
              </a:rPr>
              <a:t>Segmentation &amp; Insight · seg-v3</a:t>
            </a:r>
            <a:endParaRPr lang="en-US" sz="1500" dirty="0"/>
          </a:p>
        </p:txBody>
      </p:sp>
      <p:sp>
        <p:nvSpPr>
          <p:cNvPr id="6" name="num-bg-362"/>
          <p:cNvSpPr/>
          <p:nvPr/>
        </p:nvSpPr>
        <p:spPr>
          <a:xfrm>
            <a:off x="548640" y="2432304"/>
            <a:ext cx="365760" cy="365760"/>
          </a:xfrm>
          <a:prstGeom prst="ellipse">
            <a:avLst/>
          </a:prstGeom>
          <a:solidFill>
            <a:schemeClr val="accent2"/>
          </a:solidFill>
          <a:ln/>
        </p:spPr>
      </p:sp>
      <p:sp>
        <p:nvSpPr>
          <p:cNvPr id="7" name="text-363"/>
          <p:cNvSpPr txBox="1"/>
          <p:nvPr/>
        </p:nvSpPr>
        <p:spPr>
          <a:xfrm>
            <a:off x="548640" y="2432304"/>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1</a:t>
            </a:r>
            <a:endParaRPr lang="en-US" sz="1300" dirty="0"/>
          </a:p>
        </p:txBody>
      </p:sp>
      <p:sp>
        <p:nvSpPr>
          <p:cNvPr id="8" name="text-364"/>
          <p:cNvSpPr txBox="1"/>
          <p:nvPr/>
        </p:nvSpPr>
        <p:spPr>
          <a:xfrm>
            <a:off x="1078992" y="2377440"/>
            <a:ext cx="4480560" cy="292608"/>
          </a:xfrm>
          <a:prstGeom prst="rect">
            <a:avLst/>
          </a:prstGeom>
          <a:noFill/>
          <a:ln/>
        </p:spPr>
        <p:txBody>
          <a:bodyPr wrap="square" lIns="0" tIns="0" rIns="0" bIns="0" rtlCol="0" anchor="t"/>
          <a:lstStyle/>
          <a:p>
            <a:pPr indent="0" marL="0">
              <a:buNone/>
            </a:pPr>
            <a:r>
              <a:rPr lang="en-US" sz="1500" b="1" dirty="0">
                <a:solidFill>
                  <a:schemeClr val="bg1"/>
                </a:solidFill>
              </a:rPr>
              <a:t>Profile any CSV</a:t>
            </a:r>
            <a:endParaRPr lang="en-US" sz="1500" dirty="0"/>
          </a:p>
        </p:txBody>
      </p:sp>
      <p:sp>
        <p:nvSpPr>
          <p:cNvPr id="9" name="text-365"/>
          <p:cNvSpPr txBox="1"/>
          <p:nvPr/>
        </p:nvSpPr>
        <p:spPr>
          <a:xfrm>
            <a:off x="1078992" y="2670048"/>
            <a:ext cx="4480560" cy="274320"/>
          </a:xfrm>
          <a:prstGeom prst="rect">
            <a:avLst/>
          </a:prstGeom>
          <a:noFill/>
          <a:ln/>
        </p:spPr>
        <p:txBody>
          <a:bodyPr wrap="square" lIns="0" tIns="0" rIns="0" bIns="0" rtlCol="0" anchor="t"/>
          <a:lstStyle/>
          <a:p>
            <a:pPr indent="0" marL="0">
              <a:buNone/>
            </a:pPr>
            <a:r>
              <a:rPr lang="en-US" sz="1250" dirty="0">
                <a:solidFill>
                  <a:schemeClr val="bg2"/>
                </a:solidFill>
              </a:rPr>
              <a:t>schema inferred on every run</a:t>
            </a:r>
            <a:endParaRPr lang="en-US" sz="1250" dirty="0"/>
          </a:p>
        </p:txBody>
      </p:sp>
      <p:sp>
        <p:nvSpPr>
          <p:cNvPr id="10" name="num-bg-366"/>
          <p:cNvSpPr/>
          <p:nvPr/>
        </p:nvSpPr>
        <p:spPr>
          <a:xfrm>
            <a:off x="548640" y="3054096"/>
            <a:ext cx="365760" cy="365760"/>
          </a:xfrm>
          <a:prstGeom prst="ellipse">
            <a:avLst/>
          </a:prstGeom>
          <a:solidFill>
            <a:schemeClr val="accent3"/>
          </a:solidFill>
          <a:ln/>
        </p:spPr>
      </p:sp>
      <p:sp>
        <p:nvSpPr>
          <p:cNvPr id="11" name="text-367"/>
          <p:cNvSpPr txBox="1"/>
          <p:nvPr/>
        </p:nvSpPr>
        <p:spPr>
          <a:xfrm>
            <a:off x="548640" y="3054096"/>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2</a:t>
            </a:r>
            <a:endParaRPr lang="en-US" sz="1300" dirty="0"/>
          </a:p>
        </p:txBody>
      </p:sp>
      <p:sp>
        <p:nvSpPr>
          <p:cNvPr id="12" name="text-368"/>
          <p:cNvSpPr txBox="1"/>
          <p:nvPr/>
        </p:nvSpPr>
        <p:spPr>
          <a:xfrm>
            <a:off x="1078992" y="2999232"/>
            <a:ext cx="4480560" cy="292608"/>
          </a:xfrm>
          <a:prstGeom prst="rect">
            <a:avLst/>
          </a:prstGeom>
          <a:noFill/>
          <a:ln/>
        </p:spPr>
        <p:txBody>
          <a:bodyPr wrap="square" lIns="0" tIns="0" rIns="0" bIns="0" rtlCol="0" anchor="t"/>
          <a:lstStyle/>
          <a:p>
            <a:pPr indent="0" marL="0">
              <a:buNone/>
            </a:pPr>
            <a:r>
              <a:rPr lang="en-US" sz="1500" b="1" dirty="0">
                <a:solidFill>
                  <a:schemeClr val="bg1"/>
                </a:solidFill>
              </a:rPr>
              <a:t>Hold out protected columns</a:t>
            </a:r>
            <a:endParaRPr lang="en-US" sz="1500" dirty="0"/>
          </a:p>
        </p:txBody>
      </p:sp>
      <p:sp>
        <p:nvSpPr>
          <p:cNvPr id="13" name="text-369"/>
          <p:cNvSpPr txBox="1"/>
          <p:nvPr/>
        </p:nvSpPr>
        <p:spPr>
          <a:xfrm>
            <a:off x="1078992" y="3291840"/>
            <a:ext cx="4480560" cy="274320"/>
          </a:xfrm>
          <a:prstGeom prst="rect">
            <a:avLst/>
          </a:prstGeom>
          <a:noFill/>
          <a:ln/>
        </p:spPr>
        <p:txBody>
          <a:bodyPr wrap="square" lIns="0" tIns="0" rIns="0" bIns="0" rtlCol="0" anchor="t"/>
          <a:lstStyle/>
          <a:p>
            <a:pPr indent="0" marL="0">
              <a:buNone/>
            </a:pPr>
            <a:r>
              <a:rPr lang="en-US" sz="1250" dirty="0">
                <a:solidFill>
                  <a:schemeClr val="bg2"/>
                </a:solidFill>
              </a:rPr>
              <a:t>age and gender never used to cluster</a:t>
            </a:r>
            <a:endParaRPr lang="en-US" sz="1250" dirty="0"/>
          </a:p>
        </p:txBody>
      </p:sp>
      <p:sp>
        <p:nvSpPr>
          <p:cNvPr id="14" name="num-bg-370"/>
          <p:cNvSpPr/>
          <p:nvPr/>
        </p:nvSpPr>
        <p:spPr>
          <a:xfrm>
            <a:off x="548640" y="3675888"/>
            <a:ext cx="365760" cy="365760"/>
          </a:xfrm>
          <a:prstGeom prst="ellipse">
            <a:avLst/>
          </a:prstGeom>
          <a:solidFill>
            <a:schemeClr val="accent2"/>
          </a:solidFill>
          <a:ln/>
        </p:spPr>
      </p:sp>
      <p:sp>
        <p:nvSpPr>
          <p:cNvPr id="15" name="text-371"/>
          <p:cNvSpPr txBox="1"/>
          <p:nvPr/>
        </p:nvSpPr>
        <p:spPr>
          <a:xfrm>
            <a:off x="548640" y="3675888"/>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3</a:t>
            </a:r>
            <a:endParaRPr lang="en-US" sz="1300" dirty="0"/>
          </a:p>
        </p:txBody>
      </p:sp>
      <p:sp>
        <p:nvSpPr>
          <p:cNvPr id="16" name="text-372"/>
          <p:cNvSpPr txBox="1"/>
          <p:nvPr/>
        </p:nvSpPr>
        <p:spPr>
          <a:xfrm>
            <a:off x="1078992" y="3621024"/>
            <a:ext cx="4480560" cy="292608"/>
          </a:xfrm>
          <a:prstGeom prst="rect">
            <a:avLst/>
          </a:prstGeom>
          <a:noFill/>
          <a:ln/>
        </p:spPr>
        <p:txBody>
          <a:bodyPr wrap="square" lIns="0" tIns="0" rIns="0" bIns="0" rtlCol="0" anchor="t"/>
          <a:lstStyle/>
          <a:p>
            <a:pPr indent="0" marL="0">
              <a:buNone/>
            </a:pPr>
            <a:r>
              <a:rPr lang="en-US" sz="1500" b="1" dirty="0">
                <a:solidFill>
                  <a:schemeClr val="bg1"/>
                </a:solidFill>
              </a:rPr>
              <a:t>Cluster with HDBSCAN</a:t>
            </a:r>
            <a:endParaRPr lang="en-US" sz="1500" dirty="0"/>
          </a:p>
        </p:txBody>
      </p:sp>
      <p:sp>
        <p:nvSpPr>
          <p:cNvPr id="17" name="text-373"/>
          <p:cNvSpPr txBox="1"/>
          <p:nvPr/>
        </p:nvSpPr>
        <p:spPr>
          <a:xfrm>
            <a:off x="1078992" y="3913632"/>
            <a:ext cx="4480560" cy="274320"/>
          </a:xfrm>
          <a:prstGeom prst="rect">
            <a:avLst/>
          </a:prstGeom>
          <a:noFill/>
          <a:ln/>
        </p:spPr>
        <p:txBody>
          <a:bodyPr wrap="square" lIns="0" tIns="0" rIns="0" bIns="0" rtlCol="0" anchor="t"/>
          <a:lstStyle/>
          <a:p>
            <a:pPr indent="0" marL="0">
              <a:buNone/>
            </a:pPr>
            <a:r>
              <a:rPr lang="en-US" sz="1250" dirty="0">
                <a:solidFill>
                  <a:schemeClr val="bg2"/>
                </a:solidFill>
              </a:rPr>
              <a:t>misfits stay as noise</a:t>
            </a:r>
            <a:endParaRPr lang="en-US" sz="1250" dirty="0"/>
          </a:p>
        </p:txBody>
      </p:sp>
      <p:sp>
        <p:nvSpPr>
          <p:cNvPr id="18" name="num-bg-374"/>
          <p:cNvSpPr/>
          <p:nvPr/>
        </p:nvSpPr>
        <p:spPr>
          <a:xfrm>
            <a:off x="548640" y="4297680"/>
            <a:ext cx="365760" cy="365760"/>
          </a:xfrm>
          <a:prstGeom prst="ellipse">
            <a:avLst/>
          </a:prstGeom>
          <a:solidFill>
            <a:schemeClr val="accent2"/>
          </a:solidFill>
          <a:ln/>
        </p:spPr>
      </p:sp>
      <p:sp>
        <p:nvSpPr>
          <p:cNvPr id="19" name="text-375"/>
          <p:cNvSpPr txBox="1"/>
          <p:nvPr/>
        </p:nvSpPr>
        <p:spPr>
          <a:xfrm>
            <a:off x="548640" y="4297680"/>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4</a:t>
            </a:r>
            <a:endParaRPr lang="en-US" sz="1300" dirty="0"/>
          </a:p>
        </p:txBody>
      </p:sp>
      <p:sp>
        <p:nvSpPr>
          <p:cNvPr id="20" name="text-376"/>
          <p:cNvSpPr txBox="1"/>
          <p:nvPr/>
        </p:nvSpPr>
        <p:spPr>
          <a:xfrm>
            <a:off x="1078992" y="4242816"/>
            <a:ext cx="4480560" cy="292608"/>
          </a:xfrm>
          <a:prstGeom prst="rect">
            <a:avLst/>
          </a:prstGeom>
          <a:noFill/>
          <a:ln/>
        </p:spPr>
        <p:txBody>
          <a:bodyPr wrap="square" lIns="0" tIns="0" rIns="0" bIns="0" rtlCol="0" anchor="t"/>
          <a:lstStyle/>
          <a:p>
            <a:pPr indent="0" marL="0">
              <a:buNone/>
            </a:pPr>
            <a:r>
              <a:rPr lang="en-US" sz="1500" b="1" dirty="0">
                <a:solidFill>
                  <a:schemeClr val="bg1"/>
                </a:solidFill>
              </a:rPr>
              <a:t>Explain, then name</a:t>
            </a:r>
            <a:endParaRPr lang="en-US" sz="1500" dirty="0"/>
          </a:p>
        </p:txBody>
      </p:sp>
      <p:sp>
        <p:nvSpPr>
          <p:cNvPr id="21" name="text-377"/>
          <p:cNvSpPr txBox="1"/>
          <p:nvPr/>
        </p:nvSpPr>
        <p:spPr>
          <a:xfrm>
            <a:off x="1078992" y="4535424"/>
            <a:ext cx="4480560" cy="274320"/>
          </a:xfrm>
          <a:prstGeom prst="rect">
            <a:avLst/>
          </a:prstGeom>
          <a:noFill/>
          <a:ln/>
        </p:spPr>
        <p:txBody>
          <a:bodyPr wrap="square" lIns="0" tIns="0" rIns="0" bIns="0" rtlCol="0" anchor="t"/>
          <a:lstStyle/>
          <a:p>
            <a:pPr indent="0" marL="0">
              <a:buNone/>
            </a:pPr>
            <a:r>
              <a:rPr lang="en-US" sz="1250" dirty="0">
                <a:solidFill>
                  <a:schemeClr val="bg2"/>
                </a:solidFill>
              </a:rPr>
              <a:t>top traits → short name</a:t>
            </a:r>
            <a:endParaRPr lang="en-US" sz="1250" dirty="0"/>
          </a:p>
        </p:txBody>
      </p:sp>
      <p:sp>
        <p:nvSpPr>
          <p:cNvPr id="22" name="num-bg-378"/>
          <p:cNvSpPr/>
          <p:nvPr/>
        </p:nvSpPr>
        <p:spPr>
          <a:xfrm>
            <a:off x="548640" y="4919472"/>
            <a:ext cx="365760" cy="365760"/>
          </a:xfrm>
          <a:prstGeom prst="ellipse">
            <a:avLst/>
          </a:prstGeom>
          <a:solidFill>
            <a:schemeClr val="accent3"/>
          </a:solidFill>
          <a:ln/>
        </p:spPr>
      </p:sp>
      <p:sp>
        <p:nvSpPr>
          <p:cNvPr id="23" name="text-379"/>
          <p:cNvSpPr txBox="1"/>
          <p:nvPr/>
        </p:nvSpPr>
        <p:spPr>
          <a:xfrm>
            <a:off x="548640" y="4919472"/>
            <a:ext cx="365760" cy="365760"/>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5</a:t>
            </a:r>
            <a:endParaRPr lang="en-US" sz="1300" dirty="0"/>
          </a:p>
        </p:txBody>
      </p:sp>
      <p:sp>
        <p:nvSpPr>
          <p:cNvPr id="24" name="text-380"/>
          <p:cNvSpPr txBox="1"/>
          <p:nvPr/>
        </p:nvSpPr>
        <p:spPr>
          <a:xfrm>
            <a:off x="1078992" y="4864608"/>
            <a:ext cx="4480560" cy="292608"/>
          </a:xfrm>
          <a:prstGeom prst="rect">
            <a:avLst/>
          </a:prstGeom>
          <a:noFill/>
          <a:ln/>
        </p:spPr>
        <p:txBody>
          <a:bodyPr wrap="square" lIns="0" tIns="0" rIns="0" bIns="0" rtlCol="0" anchor="t"/>
          <a:lstStyle/>
          <a:p>
            <a:pPr indent="0" marL="0">
              <a:buNone/>
            </a:pPr>
            <a:r>
              <a:rPr lang="en-US" sz="1500" b="1" dirty="0">
                <a:solidFill>
                  <a:schemeClr val="bg1"/>
                </a:solidFill>
              </a:rPr>
              <a:t>Proxy-test every segment</a:t>
            </a:r>
            <a:endParaRPr lang="en-US" sz="1500" dirty="0"/>
          </a:p>
        </p:txBody>
      </p:sp>
      <p:sp>
        <p:nvSpPr>
          <p:cNvPr id="25" name="text-381"/>
          <p:cNvSpPr txBox="1"/>
          <p:nvPr/>
        </p:nvSpPr>
        <p:spPr>
          <a:xfrm>
            <a:off x="1078992" y="5157216"/>
            <a:ext cx="4480560" cy="274320"/>
          </a:xfrm>
          <a:prstGeom prst="rect">
            <a:avLst/>
          </a:prstGeom>
          <a:noFill/>
          <a:ln/>
        </p:spPr>
        <p:txBody>
          <a:bodyPr wrap="square" lIns="0" tIns="0" rIns="0" bIns="0" rtlCol="0" anchor="t"/>
          <a:lstStyle/>
          <a:p>
            <a:pPr indent="0" marL="0">
              <a:buNone/>
            </a:pPr>
            <a:r>
              <a:rPr lang="en-US" sz="1250" dirty="0">
                <a:solidFill>
                  <a:schemeClr val="bg2"/>
                </a:solidFill>
              </a:rPr>
              <a:t>flag hidden age or gender skew</a:t>
            </a:r>
            <a:endParaRPr lang="en-US" sz="1250" dirty="0"/>
          </a:p>
        </p:txBody>
      </p:sp>
      <p:sp>
        <p:nvSpPr>
          <p:cNvPr id="26" name="glass-382"/>
          <p:cNvSpPr/>
          <p:nvPr/>
        </p:nvSpPr>
        <p:spPr>
          <a:xfrm>
            <a:off x="548640" y="5559552"/>
            <a:ext cx="1572768" cy="640080"/>
          </a:xfrm>
          <a:prstGeom prst="roundRect">
            <a:avLst>
              <a:gd name="adj" fmla="val 20000"/>
            </a:avLst>
          </a:prstGeom>
          <a:solidFill>
            <a:schemeClr val="accent2">
              <a:alpha val="14000"/>
            </a:schemeClr>
          </a:solidFill>
          <a:ln w="12700">
            <a:solidFill>
              <a:schemeClr val="accent2">
                <a:alpha val="45000"/>
              </a:schemeClr>
            </a:solidFill>
            <a:prstDash val="solid"/>
          </a:ln>
        </p:spPr>
      </p:sp>
      <p:sp>
        <p:nvSpPr>
          <p:cNvPr id="27" name="text-383"/>
          <p:cNvSpPr txBox="1"/>
          <p:nvPr/>
        </p:nvSpPr>
        <p:spPr>
          <a:xfrm>
            <a:off x="548640" y="5559552"/>
            <a:ext cx="1572768" cy="640080"/>
          </a:xfrm>
          <a:prstGeom prst="rect">
            <a:avLst/>
          </a:prstGeom>
          <a:noFill/>
          <a:ln/>
        </p:spPr>
        <p:txBody>
          <a:bodyPr wrap="square" lIns="0" tIns="0" rIns="0" bIns="0" rtlCol="0" anchor="ctr"/>
          <a:lstStyle/>
          <a:p>
            <a:pPr algn="ctr" indent="0" marL="0">
              <a:buNone/>
            </a:pPr>
            <a:r>
              <a:rPr lang="en-US" sz="1800" b="1" dirty="0">
                <a:solidFill>
                  <a:schemeClr val="accent2"/>
                </a:solidFill>
                <a:latin typeface="Century Gothic" pitchFamily="34" charset="0"/>
                <a:ea typeface="Century Gothic" pitchFamily="34" charset="-122"/>
                <a:cs typeface="Century Gothic" pitchFamily="34" charset="-120"/>
              </a:rPr>
              <a:t>6  </a:t>
            </a:r>
            <a:pPr algn="ctr" indent="0" marL="0">
              <a:buNone/>
            </a:pPr>
            <a:r>
              <a:rPr lang="en-US" sz="1200" dirty="0">
                <a:solidFill>
                  <a:schemeClr val="bg2"/>
                </a:solidFill>
              </a:rPr>
              <a:t>segments</a:t>
            </a:r>
            <a:endParaRPr lang="en-US" sz="1400" dirty="0"/>
          </a:p>
        </p:txBody>
      </p:sp>
      <p:sp>
        <p:nvSpPr>
          <p:cNvPr id="28" name="glass-384"/>
          <p:cNvSpPr/>
          <p:nvPr/>
        </p:nvSpPr>
        <p:spPr>
          <a:xfrm>
            <a:off x="2249424" y="5559552"/>
            <a:ext cx="1572768" cy="640080"/>
          </a:xfrm>
          <a:prstGeom prst="roundRect">
            <a:avLst>
              <a:gd name="adj" fmla="val 20000"/>
            </a:avLst>
          </a:prstGeom>
          <a:solidFill>
            <a:schemeClr val="accent2">
              <a:alpha val="14000"/>
            </a:schemeClr>
          </a:solidFill>
          <a:ln w="12700">
            <a:solidFill>
              <a:schemeClr val="accent2">
                <a:alpha val="45000"/>
              </a:schemeClr>
            </a:solidFill>
            <a:prstDash val="solid"/>
          </a:ln>
        </p:spPr>
      </p:sp>
      <p:sp>
        <p:nvSpPr>
          <p:cNvPr id="29" name="text-385"/>
          <p:cNvSpPr txBox="1"/>
          <p:nvPr/>
        </p:nvSpPr>
        <p:spPr>
          <a:xfrm>
            <a:off x="2249424" y="5559552"/>
            <a:ext cx="1572768" cy="640080"/>
          </a:xfrm>
          <a:prstGeom prst="rect">
            <a:avLst/>
          </a:prstGeom>
          <a:noFill/>
          <a:ln/>
        </p:spPr>
        <p:txBody>
          <a:bodyPr wrap="square" lIns="0" tIns="0" rIns="0" bIns="0" rtlCol="0" anchor="ctr"/>
          <a:lstStyle/>
          <a:p>
            <a:pPr algn="ctr" indent="0" marL="0">
              <a:buNone/>
            </a:pPr>
            <a:r>
              <a:rPr lang="en-US" sz="1800" b="1" dirty="0">
                <a:solidFill>
                  <a:schemeClr val="accent2"/>
                </a:solidFill>
                <a:latin typeface="Century Gothic" pitchFamily="34" charset="0"/>
                <a:ea typeface="Century Gothic" pitchFamily="34" charset="-122"/>
                <a:cs typeface="Century Gothic" pitchFamily="34" charset="-120"/>
              </a:rPr>
              <a:t>0.382  </a:t>
            </a:r>
            <a:pPr algn="ctr" indent="0" marL="0">
              <a:buNone/>
            </a:pPr>
            <a:r>
              <a:rPr lang="en-US" sz="1200" dirty="0">
                <a:solidFill>
                  <a:schemeClr val="bg2"/>
                </a:solidFill>
              </a:rPr>
              <a:t>silhouette</a:t>
            </a:r>
            <a:endParaRPr lang="en-US" sz="1400" dirty="0"/>
          </a:p>
        </p:txBody>
      </p:sp>
      <p:sp>
        <p:nvSpPr>
          <p:cNvPr id="30" name="glass-386"/>
          <p:cNvSpPr/>
          <p:nvPr/>
        </p:nvSpPr>
        <p:spPr>
          <a:xfrm>
            <a:off x="3950208" y="5559552"/>
            <a:ext cx="1572768" cy="640080"/>
          </a:xfrm>
          <a:prstGeom prst="roundRect">
            <a:avLst>
              <a:gd name="adj" fmla="val 20000"/>
            </a:avLst>
          </a:prstGeom>
          <a:solidFill>
            <a:schemeClr val="accent2">
              <a:alpha val="14000"/>
            </a:schemeClr>
          </a:solidFill>
          <a:ln w="12700">
            <a:solidFill>
              <a:schemeClr val="accent2">
                <a:alpha val="45000"/>
              </a:schemeClr>
            </a:solidFill>
            <a:prstDash val="solid"/>
          </a:ln>
        </p:spPr>
      </p:sp>
      <p:sp>
        <p:nvSpPr>
          <p:cNvPr id="31" name="text-387"/>
          <p:cNvSpPr txBox="1"/>
          <p:nvPr/>
        </p:nvSpPr>
        <p:spPr>
          <a:xfrm>
            <a:off x="3950208" y="5559552"/>
            <a:ext cx="1572768" cy="640080"/>
          </a:xfrm>
          <a:prstGeom prst="rect">
            <a:avLst/>
          </a:prstGeom>
          <a:noFill/>
          <a:ln/>
        </p:spPr>
        <p:txBody>
          <a:bodyPr wrap="square" lIns="0" tIns="0" rIns="0" bIns="0" rtlCol="0" anchor="ctr"/>
          <a:lstStyle/>
          <a:p>
            <a:pPr algn="ctr" indent="0" marL="0">
              <a:buNone/>
            </a:pPr>
            <a:r>
              <a:rPr lang="en-US" sz="1800" b="1" dirty="0">
                <a:solidFill>
                  <a:schemeClr val="accent2"/>
                </a:solidFill>
                <a:latin typeface="Century Gothic" pitchFamily="34" charset="0"/>
                <a:ea typeface="Century Gothic" pitchFamily="34" charset="-122"/>
                <a:cs typeface="Century Gothic" pitchFamily="34" charset="-120"/>
              </a:rPr>
              <a:t>25.6%  </a:t>
            </a:r>
            <a:pPr algn="ctr" indent="0" marL="0">
              <a:buNone/>
            </a:pPr>
            <a:r>
              <a:rPr lang="en-US" sz="1200" dirty="0">
                <a:solidFill>
                  <a:schemeClr val="bg2"/>
                </a:solidFill>
              </a:rPr>
              <a:t>noise</a:t>
            </a:r>
            <a:endParaRPr lang="en-US" sz="1400" dirty="0"/>
          </a:p>
        </p:txBody>
      </p:sp>
      <p:sp>
        <p:nvSpPr>
          <p:cNvPr id="32" name="browser-frame-388"/>
          <p:cNvSpPr/>
          <p:nvPr/>
        </p:nvSpPr>
        <p:spPr>
          <a:xfrm>
            <a:off x="5888736" y="1517904"/>
            <a:ext cx="5751576" cy="4326990"/>
          </a:xfrm>
          <a:prstGeom prst="roundRect">
            <a:avLst>
              <a:gd name="adj" fmla="val 2113"/>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33" name="frame-dot-389"/>
          <p:cNvSpPr/>
          <p:nvPr/>
        </p:nvSpPr>
        <p:spPr>
          <a:xfrm>
            <a:off x="6016752" y="1627632"/>
            <a:ext cx="91440" cy="91440"/>
          </a:xfrm>
          <a:prstGeom prst="ellipse">
            <a:avLst/>
          </a:prstGeom>
          <a:solidFill>
            <a:schemeClr val="accent6"/>
          </a:solidFill>
          <a:ln/>
        </p:spPr>
      </p:sp>
      <p:sp>
        <p:nvSpPr>
          <p:cNvPr id="34" name="frame-dot-390"/>
          <p:cNvSpPr/>
          <p:nvPr/>
        </p:nvSpPr>
        <p:spPr>
          <a:xfrm>
            <a:off x="6172200" y="1627632"/>
            <a:ext cx="91440" cy="91440"/>
          </a:xfrm>
          <a:prstGeom prst="ellipse">
            <a:avLst/>
          </a:prstGeom>
          <a:solidFill>
            <a:schemeClr val="accent3"/>
          </a:solidFill>
          <a:ln/>
        </p:spPr>
      </p:sp>
      <p:sp>
        <p:nvSpPr>
          <p:cNvPr id="35" name="frame-dot-391"/>
          <p:cNvSpPr/>
          <p:nvPr/>
        </p:nvSpPr>
        <p:spPr>
          <a:xfrm>
            <a:off x="6327648" y="1627632"/>
            <a:ext cx="91440" cy="91440"/>
          </a:xfrm>
          <a:prstGeom prst="ellipse">
            <a:avLst/>
          </a:prstGeom>
          <a:solidFill>
            <a:schemeClr val="accent5"/>
          </a:solidFill>
          <a:ln/>
        </p:spPr>
      </p:sp>
      <p:pic>
        <p:nvPicPr>
          <p:cNvPr id="36" name="screenshot-392" descr="C:\Ai stuffs\MOSAIC\docs\media\console\segments.jpg">    </p:cNvPr>
          <p:cNvPicPr>
            <a:picLocks noChangeAspect="1"/>
          </p:cNvPicPr>
          <p:nvPr/>
        </p:nvPicPr>
        <p:blipFill>
          <a:blip r:embed="rId2"/>
          <a:stretch>
            <a:fillRect/>
          </a:stretch>
        </p:blipFill>
        <p:spPr>
          <a:xfrm>
            <a:off x="5943600" y="1810512"/>
            <a:ext cx="5641848" cy="3979518"/>
          </a:xfrm>
          <a:prstGeom prst="rect">
            <a:avLst/>
          </a:prstGeom>
        </p:spPr>
      </p:pic>
      <p:sp>
        <p:nvSpPr>
          <p:cNvPr id="37" name="text-393"/>
          <p:cNvSpPr txBox="1"/>
          <p:nvPr/>
        </p:nvSpPr>
        <p:spPr>
          <a:xfrm>
            <a:off x="5943600" y="5918046"/>
            <a:ext cx="5641848" cy="274320"/>
          </a:xfrm>
          <a:prstGeom prst="rect">
            <a:avLst/>
          </a:prstGeom>
          <a:noFill/>
          <a:ln/>
        </p:spPr>
        <p:txBody>
          <a:bodyPr wrap="square" lIns="0" tIns="0" rIns="0" bIns="0" rtlCol="0" anchor="t"/>
          <a:lstStyle/>
          <a:p>
            <a:pPr algn="ctr" indent="0" marL="0">
              <a:buNone/>
            </a:pPr>
            <a:r>
              <a:rPr lang="en-US" sz="1100" i="1" dirty="0">
                <a:solidFill>
                  <a:schemeClr val="bg2"/>
                </a:solidFill>
              </a:rPr>
              <a:t>Segments tab in the console</a:t>
            </a:r>
            <a:endParaRPr lang="en-US" sz="11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The model writes words; code builds the email</a:t>
            </a:r>
            <a:endParaRPr lang="en-US" sz="2800" dirty="0"/>
          </a:p>
        </p:txBody>
      </p:sp>
      <p:sp>
        <p:nvSpPr>
          <p:cNvPr id="3" name="text-394"/>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A bad response can shorten the copy — never break the template.</a:t>
            </a:r>
            <a:endParaRPr lang="en-US" sz="1600" dirty="0"/>
          </a:p>
        </p:txBody>
      </p:sp>
      <p:sp>
        <p:nvSpPr>
          <p:cNvPr id="4" name="glass-395"/>
          <p:cNvSpPr/>
          <p:nvPr/>
        </p:nvSpPr>
        <p:spPr>
          <a:xfrm>
            <a:off x="548640" y="1572768"/>
            <a:ext cx="5257800" cy="2194560"/>
          </a:xfrm>
          <a:prstGeom prst="roundRect">
            <a:avLst>
              <a:gd name="adj" fmla="val 5833"/>
            </a:avLst>
          </a:prstGeom>
          <a:solidFill>
            <a:schemeClr val="accent3">
              <a:alpha val="12000"/>
            </a:schemeClr>
          </a:solidFill>
          <a:ln w="12700">
            <a:solidFill>
              <a:schemeClr val="accent3">
                <a:alpha val="50000"/>
              </a:schemeClr>
            </a:solidFill>
            <a:prstDash val="solid"/>
          </a:ln>
        </p:spPr>
      </p:sp>
      <p:pic>
        <p:nvPicPr>
          <p:cNvPr id="5" name="icon3d-396" descr="C:\Users\himat\AppData\Local\Temp\claude\c--Ai-stuffs-MOSAIC\b3ecbbac-d885-4fec-a9f8-3496f8d06c96\scratchpad\build\assets\icon-creative.png">    </p:cNvPr>
          <p:cNvPicPr>
            <a:picLocks noChangeAspect="1"/>
          </p:cNvPicPr>
          <p:nvPr/>
        </p:nvPicPr>
        <p:blipFill>
          <a:blip r:embed="rId1"/>
          <a:stretch>
            <a:fillRect/>
          </a:stretch>
        </p:blipFill>
        <p:spPr>
          <a:xfrm>
            <a:off x="658368" y="1664208"/>
            <a:ext cx="822960" cy="822960"/>
          </a:xfrm>
          <a:prstGeom prst="rect">
            <a:avLst/>
          </a:prstGeom>
        </p:spPr>
      </p:pic>
      <p:sp>
        <p:nvSpPr>
          <p:cNvPr id="6" name="text-397"/>
          <p:cNvSpPr txBox="1"/>
          <p:nvPr/>
        </p:nvSpPr>
        <p:spPr>
          <a:xfrm>
            <a:off x="1572768" y="1783080"/>
            <a:ext cx="4114800" cy="411480"/>
          </a:xfrm>
          <a:prstGeom prst="rect">
            <a:avLst/>
          </a:prstGeom>
          <a:noFill/>
          <a:ln/>
        </p:spPr>
        <p:txBody>
          <a:bodyPr wrap="square" lIns="0" tIns="0" rIns="0" bIns="0" rtlCol="0" anchor="t"/>
          <a:lstStyle/>
          <a:p>
            <a:pPr indent="0" marL="0">
              <a:buNone/>
            </a:pPr>
            <a:r>
              <a:rPr lang="en-US" sz="1500" b="1" dirty="0">
                <a:solidFill>
                  <a:schemeClr val="accent3"/>
                </a:solidFill>
                <a:latin typeface="Century Gothic" pitchFamily="34" charset="0"/>
                <a:ea typeface="Century Gothic" pitchFamily="34" charset="-122"/>
                <a:cs typeface="Century Gothic" pitchFamily="34" charset="-120"/>
              </a:rPr>
              <a:t>Creative Direction · direction-v2</a:t>
            </a:r>
            <a:endParaRPr lang="en-US" sz="1500" dirty="0"/>
          </a:p>
        </p:txBody>
      </p:sp>
      <p:sp>
        <p:nvSpPr>
          <p:cNvPr id="7" name="text-398"/>
          <p:cNvSpPr txBox="1"/>
          <p:nvPr/>
        </p:nvSpPr>
        <p:spPr>
          <a:xfrm>
            <a:off x="822960" y="2606040"/>
            <a:ext cx="4846320" cy="109728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Six short fields</a:t>
            </a:r>
            <a:endParaRPr lang="en-US" sz="1400" dirty="0"/>
          </a:p>
          <a:p>
            <a:pPr marL="177800" indent="-177800">
              <a:spcAft>
                <a:spcPts val="600"/>
              </a:spcAft>
              <a:buSzPct val="100000"/>
              <a:buChar char="•"/>
            </a:pPr>
            <a:r>
              <a:rPr lang="en-US" sz="1400" dirty="0">
                <a:solidFill>
                  <a:schemeClr val="bg1"/>
                </a:solidFill>
              </a:rPr>
              <a:t>Accent colour checked in code</a:t>
            </a:r>
            <a:endParaRPr lang="en-US" sz="1400" dirty="0"/>
          </a:p>
          <a:p>
            <a:pPr marL="177800" indent="-177800">
              <a:spcAft>
                <a:spcPts val="600"/>
              </a:spcAft>
              <a:buSzPct val="100000"/>
              <a:buChar char="•"/>
            </a:pPr>
            <a:r>
              <a:rPr lang="en-US" sz="1400" dirty="0">
                <a:solidFill>
                  <a:schemeClr val="bg1"/>
                </a:solidFill>
              </a:rPr>
              <a:t>No urgency or scarcity tricks</a:t>
            </a:r>
            <a:endParaRPr lang="en-US" sz="1400" dirty="0"/>
          </a:p>
        </p:txBody>
      </p:sp>
      <p:sp>
        <p:nvSpPr>
          <p:cNvPr id="8" name="glass-399"/>
          <p:cNvSpPr/>
          <p:nvPr/>
        </p:nvSpPr>
        <p:spPr>
          <a:xfrm>
            <a:off x="548640" y="3931920"/>
            <a:ext cx="5257800" cy="2240280"/>
          </a:xfrm>
          <a:prstGeom prst="roundRect">
            <a:avLst>
              <a:gd name="adj" fmla="val 5714"/>
            </a:avLst>
          </a:prstGeom>
          <a:solidFill>
            <a:schemeClr val="accent4">
              <a:alpha val="12000"/>
            </a:schemeClr>
          </a:solidFill>
          <a:ln w="12700">
            <a:solidFill>
              <a:schemeClr val="accent4">
                <a:alpha val="50000"/>
              </a:schemeClr>
            </a:solidFill>
            <a:prstDash val="solid"/>
          </a:ln>
        </p:spPr>
      </p:sp>
      <p:pic>
        <p:nvPicPr>
          <p:cNvPr id="9" name="icon3d-400" descr="C:\Users\himat\AppData\Local\Temp\claude\c--Ai-stuffs-MOSAIC\b3ecbbac-d885-4fec-a9f8-3496f8d06c96\scratchpad\build\assets\icon-composer.png">    </p:cNvPr>
          <p:cNvPicPr>
            <a:picLocks noChangeAspect="1"/>
          </p:cNvPicPr>
          <p:nvPr/>
        </p:nvPicPr>
        <p:blipFill>
          <a:blip r:embed="rId2"/>
          <a:stretch>
            <a:fillRect/>
          </a:stretch>
        </p:blipFill>
        <p:spPr>
          <a:xfrm>
            <a:off x="658368" y="4023360"/>
            <a:ext cx="822960" cy="822960"/>
          </a:xfrm>
          <a:prstGeom prst="rect">
            <a:avLst/>
          </a:prstGeom>
        </p:spPr>
      </p:pic>
      <p:sp>
        <p:nvSpPr>
          <p:cNvPr id="10" name="text-401"/>
          <p:cNvSpPr txBox="1"/>
          <p:nvPr/>
        </p:nvSpPr>
        <p:spPr>
          <a:xfrm>
            <a:off x="1572768" y="4142232"/>
            <a:ext cx="4114800" cy="411480"/>
          </a:xfrm>
          <a:prstGeom prst="rect">
            <a:avLst/>
          </a:prstGeom>
          <a:noFill/>
          <a:ln/>
        </p:spPr>
        <p:txBody>
          <a:bodyPr wrap="square" lIns="0" tIns="0" rIns="0" bIns="0" rtlCol="0" anchor="t"/>
          <a:lstStyle/>
          <a:p>
            <a:pPr indent="0" marL="0">
              <a:buNone/>
            </a:pPr>
            <a:r>
              <a:rPr lang="en-US" sz="1500" b="1" dirty="0">
                <a:solidFill>
                  <a:schemeClr val="accent4"/>
                </a:solidFill>
                <a:latin typeface="Century Gothic" pitchFamily="34" charset="0"/>
                <a:ea typeface="Century Gothic" pitchFamily="34" charset="-122"/>
                <a:cs typeface="Century Gothic" pitchFamily="34" charset="-120"/>
              </a:rPr>
              <a:t>Email Composer · email-v2</a:t>
            </a:r>
            <a:endParaRPr lang="en-US" sz="1500" dirty="0"/>
          </a:p>
        </p:txBody>
      </p:sp>
      <p:sp>
        <p:nvSpPr>
          <p:cNvPr id="11" name="text-402"/>
          <p:cNvSpPr txBox="1"/>
          <p:nvPr/>
        </p:nvSpPr>
        <p:spPr>
          <a:xfrm>
            <a:off x="822960" y="4937760"/>
            <a:ext cx="4846320" cy="11887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Model writes the words only</a:t>
            </a:r>
            <a:endParaRPr lang="en-US" sz="1400" dirty="0"/>
          </a:p>
          <a:p>
            <a:pPr marL="177800" indent="-177800">
              <a:spcAft>
                <a:spcPts val="600"/>
              </a:spcAft>
              <a:buSzPct val="100000"/>
              <a:buChar char="•"/>
            </a:pPr>
            <a:r>
              <a:rPr lang="en-US" sz="1400" dirty="0">
                <a:solidFill>
                  <a:schemeClr val="bg1"/>
                </a:solidFill>
              </a:rPr>
              <a:t>Code builds the layout</a:t>
            </a:r>
            <a:endParaRPr lang="en-US" sz="1400" dirty="0"/>
          </a:p>
          <a:p>
            <a:pPr marL="177800" indent="-177800">
              <a:spcAft>
                <a:spcPts val="600"/>
              </a:spcAft>
              <a:buSzPct val="100000"/>
              <a:buChar char="•"/>
            </a:pPr>
            <a:r>
              <a:rPr lang="en-US" sz="1400" dirty="0">
                <a:solidFill>
                  <a:schemeClr val="bg1"/>
                </a:solidFill>
              </a:rPr>
              <a:t>Made-up offers dropped</a:t>
            </a:r>
            <a:endParaRPr lang="en-US" sz="1400" dirty="0"/>
          </a:p>
        </p:txBody>
      </p:sp>
      <p:sp>
        <p:nvSpPr>
          <p:cNvPr id="12" name="browser-frame-403"/>
          <p:cNvSpPr/>
          <p:nvPr/>
        </p:nvSpPr>
        <p:spPr>
          <a:xfrm>
            <a:off x="6117336" y="1517904"/>
            <a:ext cx="5522976" cy="4165745"/>
          </a:xfrm>
          <a:prstGeom prst="roundRect">
            <a:avLst>
              <a:gd name="adj" fmla="val 2195"/>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13" name="frame-dot-404"/>
          <p:cNvSpPr/>
          <p:nvPr/>
        </p:nvSpPr>
        <p:spPr>
          <a:xfrm>
            <a:off x="6245352" y="1627632"/>
            <a:ext cx="91440" cy="91440"/>
          </a:xfrm>
          <a:prstGeom prst="ellipse">
            <a:avLst/>
          </a:prstGeom>
          <a:solidFill>
            <a:schemeClr val="accent6"/>
          </a:solidFill>
          <a:ln/>
        </p:spPr>
      </p:sp>
      <p:sp>
        <p:nvSpPr>
          <p:cNvPr id="14" name="frame-dot-405"/>
          <p:cNvSpPr/>
          <p:nvPr/>
        </p:nvSpPr>
        <p:spPr>
          <a:xfrm>
            <a:off x="6400800" y="1627632"/>
            <a:ext cx="91440" cy="91440"/>
          </a:xfrm>
          <a:prstGeom prst="ellipse">
            <a:avLst/>
          </a:prstGeom>
          <a:solidFill>
            <a:schemeClr val="accent3"/>
          </a:solidFill>
          <a:ln/>
        </p:spPr>
      </p:sp>
      <p:sp>
        <p:nvSpPr>
          <p:cNvPr id="15" name="frame-dot-406"/>
          <p:cNvSpPr/>
          <p:nvPr/>
        </p:nvSpPr>
        <p:spPr>
          <a:xfrm>
            <a:off x="6556248" y="1627632"/>
            <a:ext cx="91440" cy="91440"/>
          </a:xfrm>
          <a:prstGeom prst="ellipse">
            <a:avLst/>
          </a:prstGeom>
          <a:solidFill>
            <a:schemeClr val="accent5"/>
          </a:solidFill>
          <a:ln/>
        </p:spPr>
      </p:sp>
      <p:pic>
        <p:nvPicPr>
          <p:cNvPr id="16" name="screenshot-407" descr="C:\Ai stuffs\MOSAIC\docs\media\console\emails.jpg">    </p:cNvPr>
          <p:cNvPicPr>
            <a:picLocks noChangeAspect="1"/>
          </p:cNvPicPr>
          <p:nvPr/>
        </p:nvPicPr>
        <p:blipFill>
          <a:blip r:embed="rId3"/>
          <a:stretch>
            <a:fillRect/>
          </a:stretch>
        </p:blipFill>
        <p:spPr>
          <a:xfrm>
            <a:off x="6172200" y="1810512"/>
            <a:ext cx="5413248" cy="3818273"/>
          </a:xfrm>
          <a:prstGeom prst="rect">
            <a:avLst/>
          </a:prstGeom>
        </p:spPr>
      </p:pic>
      <p:sp>
        <p:nvSpPr>
          <p:cNvPr id="17" name="text-408"/>
          <p:cNvSpPr txBox="1"/>
          <p:nvPr/>
        </p:nvSpPr>
        <p:spPr>
          <a:xfrm>
            <a:off x="6172200" y="5756801"/>
            <a:ext cx="5413248" cy="274320"/>
          </a:xfrm>
          <a:prstGeom prst="rect">
            <a:avLst/>
          </a:prstGeom>
          <a:noFill/>
          <a:ln/>
        </p:spPr>
        <p:txBody>
          <a:bodyPr wrap="square" lIns="0" tIns="0" rIns="0" bIns="0" rtlCol="0" anchor="t"/>
          <a:lstStyle/>
          <a:p>
            <a:pPr algn="ctr" indent="0" marL="0">
              <a:buNone/>
            </a:pPr>
            <a:r>
              <a:rPr lang="en-US" sz="1100" i="1" dirty="0">
                <a:solidFill>
                  <a:schemeClr val="bg2"/>
                </a:solidFill>
              </a:rPr>
              <a:t>Email Review — one email per segment</a:t>
            </a:r>
            <a:endParaRPr lang="en-US" sz="11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Ten checks between a draft and an inbox</a:t>
            </a:r>
            <a:endParaRPr lang="en-US" sz="2800" dirty="0"/>
          </a:p>
        </p:txBody>
      </p:sp>
      <p:sp>
        <p:nvSpPr>
          <p:cNvPr id="3" name="text-409"/>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Rule-based, and re-run after every edit.</a:t>
            </a:r>
            <a:endParaRPr lang="en-US" sz="1600" dirty="0"/>
          </a:p>
        </p:txBody>
      </p:sp>
      <p:sp>
        <p:nvSpPr>
          <p:cNvPr id="4" name="glass-410"/>
          <p:cNvSpPr/>
          <p:nvPr/>
        </p:nvSpPr>
        <p:spPr>
          <a:xfrm>
            <a:off x="548640" y="1572768"/>
            <a:ext cx="2560320" cy="3383280"/>
          </a:xfrm>
          <a:prstGeom prst="roundRect">
            <a:avLst>
              <a:gd name="adj" fmla="val 5000"/>
            </a:avLst>
          </a:prstGeom>
          <a:solidFill>
            <a:schemeClr val="accent5">
              <a:alpha val="8000"/>
            </a:schemeClr>
          </a:solidFill>
          <a:ln w="12700">
            <a:solidFill>
              <a:schemeClr val="accent5">
                <a:alpha val="35000"/>
              </a:schemeClr>
            </a:solidFill>
            <a:prstDash val="solid"/>
          </a:ln>
        </p:spPr>
      </p:sp>
      <p:sp>
        <p:nvSpPr>
          <p:cNvPr id="5" name="text-411"/>
          <p:cNvSpPr txBox="1"/>
          <p:nvPr/>
        </p:nvSpPr>
        <p:spPr>
          <a:xfrm>
            <a:off x="731520" y="1691640"/>
            <a:ext cx="219456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COMPLIANCE</a:t>
            </a:r>
            <a:endParaRPr lang="en-US" sz="1200" dirty="0"/>
          </a:p>
        </p:txBody>
      </p:sp>
      <p:sp>
        <p:nvSpPr>
          <p:cNvPr id="6" name="text-412"/>
          <p:cNvSpPr txBox="1"/>
          <p:nvPr/>
        </p:nvSpPr>
        <p:spPr>
          <a:xfrm>
            <a:off x="731520" y="1947672"/>
            <a:ext cx="2194560" cy="274320"/>
          </a:xfrm>
          <a:prstGeom prst="rect">
            <a:avLst/>
          </a:prstGeom>
          <a:noFill/>
          <a:ln/>
        </p:spPr>
        <p:txBody>
          <a:bodyPr wrap="square" lIns="0" tIns="0" rIns="0" bIns="0" rtlCol="0" anchor="t"/>
          <a:lstStyle/>
          <a:p>
            <a:pPr indent="0" marL="0">
              <a:buNone/>
            </a:pPr>
            <a:r>
              <a:rPr lang="en-US" sz="1200" i="1" dirty="0">
                <a:solidFill>
                  <a:schemeClr val="bg2"/>
                </a:solidFill>
              </a:rPr>
              <a:t>may we lawfully send this?</a:t>
            </a:r>
            <a:endParaRPr lang="en-US" sz="1200" dirty="0"/>
          </a:p>
        </p:txBody>
      </p:sp>
      <p:sp>
        <p:nvSpPr>
          <p:cNvPr id="7" name="check-413"/>
          <p:cNvSpPr/>
          <p:nvPr/>
        </p:nvSpPr>
        <p:spPr>
          <a:xfrm>
            <a:off x="685800" y="233172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8" name="text-414"/>
          <p:cNvSpPr txBox="1"/>
          <p:nvPr/>
        </p:nvSpPr>
        <p:spPr>
          <a:xfrm>
            <a:off x="795528" y="233172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Consent</a:t>
            </a:r>
            <a:endParaRPr lang="en-US" sz="1250" dirty="0"/>
          </a:p>
        </p:txBody>
      </p:sp>
      <p:sp>
        <p:nvSpPr>
          <p:cNvPr id="9" name="chip-415"/>
          <p:cNvSpPr/>
          <p:nvPr/>
        </p:nvSpPr>
        <p:spPr>
          <a:xfrm>
            <a:off x="2258568" y="2478024"/>
            <a:ext cx="640080" cy="256032"/>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10" name="text-416"/>
          <p:cNvSpPr txBox="1"/>
          <p:nvPr/>
        </p:nvSpPr>
        <p:spPr>
          <a:xfrm>
            <a:off x="2258568" y="2478024"/>
            <a:ext cx="640080" cy="256032"/>
          </a:xfrm>
          <a:prstGeom prst="rect">
            <a:avLst/>
          </a:prstGeom>
          <a:noFill/>
          <a:ln/>
        </p:spPr>
        <p:txBody>
          <a:bodyPr wrap="square" lIns="0" tIns="0" rIns="0" bIns="0" rtlCol="0" anchor="ctr"/>
          <a:lstStyle/>
          <a:p>
            <a:pPr algn="ctr" indent="0" marL="0">
              <a:buNone/>
            </a:pPr>
            <a:r>
              <a:rPr lang="en-US" sz="1050" b="1" dirty="0">
                <a:solidFill>
                  <a:schemeClr val="accent6"/>
                </a:solidFill>
              </a:rPr>
              <a:t>block</a:t>
            </a:r>
            <a:endParaRPr lang="en-US" sz="1050" dirty="0"/>
          </a:p>
        </p:txBody>
      </p:sp>
      <p:sp>
        <p:nvSpPr>
          <p:cNvPr id="11" name="check-417"/>
          <p:cNvSpPr/>
          <p:nvPr/>
        </p:nvSpPr>
        <p:spPr>
          <a:xfrm>
            <a:off x="685800" y="297180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12" name="text-418"/>
          <p:cNvSpPr txBox="1"/>
          <p:nvPr/>
        </p:nvSpPr>
        <p:spPr>
          <a:xfrm>
            <a:off x="795528" y="297180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Unsubscribe link</a:t>
            </a:r>
            <a:endParaRPr lang="en-US" sz="1250" dirty="0"/>
          </a:p>
        </p:txBody>
      </p:sp>
      <p:sp>
        <p:nvSpPr>
          <p:cNvPr id="13" name="chip-419"/>
          <p:cNvSpPr/>
          <p:nvPr/>
        </p:nvSpPr>
        <p:spPr>
          <a:xfrm>
            <a:off x="2258568" y="3118104"/>
            <a:ext cx="640080" cy="256032"/>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14" name="text-420"/>
          <p:cNvSpPr txBox="1"/>
          <p:nvPr/>
        </p:nvSpPr>
        <p:spPr>
          <a:xfrm>
            <a:off x="2258568" y="3118104"/>
            <a:ext cx="640080" cy="256032"/>
          </a:xfrm>
          <a:prstGeom prst="rect">
            <a:avLst/>
          </a:prstGeom>
          <a:noFill/>
          <a:ln/>
        </p:spPr>
        <p:txBody>
          <a:bodyPr wrap="square" lIns="0" tIns="0" rIns="0" bIns="0" rtlCol="0" anchor="ctr"/>
          <a:lstStyle/>
          <a:p>
            <a:pPr algn="ctr" indent="0" marL="0">
              <a:buNone/>
            </a:pPr>
            <a:r>
              <a:rPr lang="en-US" sz="1050" b="1" dirty="0">
                <a:solidFill>
                  <a:schemeClr val="accent6"/>
                </a:solidFill>
              </a:rPr>
              <a:t>block</a:t>
            </a:r>
            <a:endParaRPr lang="en-US" sz="1050" dirty="0"/>
          </a:p>
        </p:txBody>
      </p:sp>
      <p:sp>
        <p:nvSpPr>
          <p:cNvPr id="15" name="check-421"/>
          <p:cNvSpPr/>
          <p:nvPr/>
        </p:nvSpPr>
        <p:spPr>
          <a:xfrm>
            <a:off x="685800" y="361188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16" name="text-422"/>
          <p:cNvSpPr txBox="1"/>
          <p:nvPr/>
        </p:nvSpPr>
        <p:spPr>
          <a:xfrm>
            <a:off x="795528" y="361188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PII leak</a:t>
            </a:r>
            <a:endParaRPr lang="en-US" sz="1250" dirty="0"/>
          </a:p>
        </p:txBody>
      </p:sp>
      <p:sp>
        <p:nvSpPr>
          <p:cNvPr id="17" name="chip-423"/>
          <p:cNvSpPr/>
          <p:nvPr/>
        </p:nvSpPr>
        <p:spPr>
          <a:xfrm>
            <a:off x="2258568" y="3758184"/>
            <a:ext cx="640080" cy="256032"/>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18" name="text-424"/>
          <p:cNvSpPr txBox="1"/>
          <p:nvPr/>
        </p:nvSpPr>
        <p:spPr>
          <a:xfrm>
            <a:off x="2258568" y="3758184"/>
            <a:ext cx="640080" cy="256032"/>
          </a:xfrm>
          <a:prstGeom prst="rect">
            <a:avLst/>
          </a:prstGeom>
          <a:noFill/>
          <a:ln/>
        </p:spPr>
        <p:txBody>
          <a:bodyPr wrap="square" lIns="0" tIns="0" rIns="0" bIns="0" rtlCol="0" anchor="ctr"/>
          <a:lstStyle/>
          <a:p>
            <a:pPr algn="ctr" indent="0" marL="0">
              <a:buNone/>
            </a:pPr>
            <a:r>
              <a:rPr lang="en-US" sz="1050" b="1" dirty="0">
                <a:solidFill>
                  <a:schemeClr val="accent6"/>
                </a:solidFill>
              </a:rPr>
              <a:t>block</a:t>
            </a:r>
            <a:endParaRPr lang="en-US" sz="1050" dirty="0"/>
          </a:p>
        </p:txBody>
      </p:sp>
      <p:sp>
        <p:nvSpPr>
          <p:cNvPr id="19" name="check-425"/>
          <p:cNvSpPr/>
          <p:nvPr/>
        </p:nvSpPr>
        <p:spPr>
          <a:xfrm>
            <a:off x="685800" y="425196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20" name="text-426"/>
          <p:cNvSpPr txBox="1"/>
          <p:nvPr/>
        </p:nvSpPr>
        <p:spPr>
          <a:xfrm>
            <a:off x="795528" y="425196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Bias proxy</a:t>
            </a:r>
            <a:endParaRPr lang="en-US" sz="1250" dirty="0"/>
          </a:p>
        </p:txBody>
      </p:sp>
      <p:sp>
        <p:nvSpPr>
          <p:cNvPr id="21" name="chip-427"/>
          <p:cNvSpPr/>
          <p:nvPr/>
        </p:nvSpPr>
        <p:spPr>
          <a:xfrm>
            <a:off x="2258568" y="4398264"/>
            <a:ext cx="640080" cy="256032"/>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22" name="text-428"/>
          <p:cNvSpPr txBox="1"/>
          <p:nvPr/>
        </p:nvSpPr>
        <p:spPr>
          <a:xfrm>
            <a:off x="2258568" y="4398264"/>
            <a:ext cx="640080" cy="256032"/>
          </a:xfrm>
          <a:prstGeom prst="rect">
            <a:avLst/>
          </a:prstGeom>
          <a:noFill/>
          <a:ln/>
        </p:spPr>
        <p:txBody>
          <a:bodyPr wrap="square" lIns="0" tIns="0" rIns="0" bIns="0" rtlCol="0" anchor="ctr"/>
          <a:lstStyle/>
          <a:p>
            <a:pPr algn="ctr" indent="0" marL="0">
              <a:buNone/>
            </a:pPr>
            <a:r>
              <a:rPr lang="en-US" sz="1050" b="1" dirty="0">
                <a:solidFill>
                  <a:schemeClr val="accent3"/>
                </a:solidFill>
              </a:rPr>
              <a:t>revise</a:t>
            </a:r>
            <a:endParaRPr lang="en-US" sz="1050" dirty="0"/>
          </a:p>
        </p:txBody>
      </p:sp>
      <p:sp>
        <p:nvSpPr>
          <p:cNvPr id="23" name="glass-429"/>
          <p:cNvSpPr/>
          <p:nvPr/>
        </p:nvSpPr>
        <p:spPr>
          <a:xfrm>
            <a:off x="3246120" y="1572768"/>
            <a:ext cx="2560320" cy="3383280"/>
          </a:xfrm>
          <a:prstGeom prst="roundRect">
            <a:avLst>
              <a:gd name="adj" fmla="val 5000"/>
            </a:avLst>
          </a:prstGeom>
          <a:solidFill>
            <a:schemeClr val="accent5">
              <a:alpha val="8000"/>
            </a:schemeClr>
          </a:solidFill>
          <a:ln w="12700">
            <a:solidFill>
              <a:schemeClr val="accent5">
                <a:alpha val="35000"/>
              </a:schemeClr>
            </a:solidFill>
            <a:prstDash val="solid"/>
          </a:ln>
        </p:spPr>
      </p:sp>
      <p:sp>
        <p:nvSpPr>
          <p:cNvPr id="24" name="text-430"/>
          <p:cNvSpPr txBox="1"/>
          <p:nvPr/>
        </p:nvSpPr>
        <p:spPr>
          <a:xfrm>
            <a:off x="3429000" y="1691640"/>
            <a:ext cx="219456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CONTENT</a:t>
            </a:r>
            <a:endParaRPr lang="en-US" sz="1200" dirty="0"/>
          </a:p>
        </p:txBody>
      </p:sp>
      <p:sp>
        <p:nvSpPr>
          <p:cNvPr id="25" name="text-431"/>
          <p:cNvSpPr txBox="1"/>
          <p:nvPr/>
        </p:nvSpPr>
        <p:spPr>
          <a:xfrm>
            <a:off x="3429000" y="1947672"/>
            <a:ext cx="2194560" cy="274320"/>
          </a:xfrm>
          <a:prstGeom prst="rect">
            <a:avLst/>
          </a:prstGeom>
          <a:noFill/>
          <a:ln/>
        </p:spPr>
        <p:txBody>
          <a:bodyPr wrap="square" lIns="0" tIns="0" rIns="0" bIns="0" rtlCol="0" anchor="t"/>
          <a:lstStyle/>
          <a:p>
            <a:pPr indent="0" marL="0">
              <a:buNone/>
            </a:pPr>
            <a:r>
              <a:rPr lang="en-US" sz="1200" i="1" dirty="0">
                <a:solidFill>
                  <a:schemeClr val="bg2"/>
                </a:solidFill>
              </a:rPr>
              <a:t>does the copy hold up?</a:t>
            </a:r>
            <a:endParaRPr lang="en-US" sz="1200" dirty="0"/>
          </a:p>
        </p:txBody>
      </p:sp>
      <p:sp>
        <p:nvSpPr>
          <p:cNvPr id="26" name="check-432"/>
          <p:cNvSpPr/>
          <p:nvPr/>
        </p:nvSpPr>
        <p:spPr>
          <a:xfrm>
            <a:off x="3383280" y="233172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27" name="text-433"/>
          <p:cNvSpPr txBox="1"/>
          <p:nvPr/>
        </p:nvSpPr>
        <p:spPr>
          <a:xfrm>
            <a:off x="3493008" y="233172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Prompt injection</a:t>
            </a:r>
            <a:endParaRPr lang="en-US" sz="1250" dirty="0"/>
          </a:p>
        </p:txBody>
      </p:sp>
      <p:sp>
        <p:nvSpPr>
          <p:cNvPr id="28" name="chip-434"/>
          <p:cNvSpPr/>
          <p:nvPr/>
        </p:nvSpPr>
        <p:spPr>
          <a:xfrm>
            <a:off x="4956048" y="2478024"/>
            <a:ext cx="640080" cy="256032"/>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29" name="text-435"/>
          <p:cNvSpPr txBox="1"/>
          <p:nvPr/>
        </p:nvSpPr>
        <p:spPr>
          <a:xfrm>
            <a:off x="4956048" y="2478024"/>
            <a:ext cx="640080" cy="256032"/>
          </a:xfrm>
          <a:prstGeom prst="rect">
            <a:avLst/>
          </a:prstGeom>
          <a:noFill/>
          <a:ln/>
        </p:spPr>
        <p:txBody>
          <a:bodyPr wrap="square" lIns="0" tIns="0" rIns="0" bIns="0" rtlCol="0" anchor="ctr"/>
          <a:lstStyle/>
          <a:p>
            <a:pPr algn="ctr" indent="0" marL="0">
              <a:buNone/>
            </a:pPr>
            <a:r>
              <a:rPr lang="en-US" sz="1050" b="1" dirty="0">
                <a:solidFill>
                  <a:schemeClr val="accent6"/>
                </a:solidFill>
              </a:rPr>
              <a:t>block</a:t>
            </a:r>
            <a:endParaRPr lang="en-US" sz="1050" dirty="0"/>
          </a:p>
        </p:txBody>
      </p:sp>
      <p:sp>
        <p:nvSpPr>
          <p:cNvPr id="30" name="check-436"/>
          <p:cNvSpPr/>
          <p:nvPr/>
        </p:nvSpPr>
        <p:spPr>
          <a:xfrm>
            <a:off x="3383280" y="297180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31" name="text-437"/>
          <p:cNvSpPr txBox="1"/>
          <p:nvPr/>
        </p:nvSpPr>
        <p:spPr>
          <a:xfrm>
            <a:off x="3493008" y="297180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Real offers only</a:t>
            </a:r>
            <a:endParaRPr lang="en-US" sz="1250" dirty="0"/>
          </a:p>
        </p:txBody>
      </p:sp>
      <p:sp>
        <p:nvSpPr>
          <p:cNvPr id="32" name="chip-438"/>
          <p:cNvSpPr/>
          <p:nvPr/>
        </p:nvSpPr>
        <p:spPr>
          <a:xfrm>
            <a:off x="4956048" y="3118104"/>
            <a:ext cx="640080" cy="256032"/>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33" name="text-439"/>
          <p:cNvSpPr txBox="1"/>
          <p:nvPr/>
        </p:nvSpPr>
        <p:spPr>
          <a:xfrm>
            <a:off x="4956048" y="3118104"/>
            <a:ext cx="640080" cy="256032"/>
          </a:xfrm>
          <a:prstGeom prst="rect">
            <a:avLst/>
          </a:prstGeom>
          <a:noFill/>
          <a:ln/>
        </p:spPr>
        <p:txBody>
          <a:bodyPr wrap="square" lIns="0" tIns="0" rIns="0" bIns="0" rtlCol="0" anchor="ctr"/>
          <a:lstStyle/>
          <a:p>
            <a:pPr algn="ctr" indent="0" marL="0">
              <a:buNone/>
            </a:pPr>
            <a:r>
              <a:rPr lang="en-US" sz="1050" b="1" dirty="0">
                <a:solidFill>
                  <a:schemeClr val="accent3"/>
                </a:solidFill>
              </a:rPr>
              <a:t>revise</a:t>
            </a:r>
            <a:endParaRPr lang="en-US" sz="1050" dirty="0"/>
          </a:p>
        </p:txBody>
      </p:sp>
      <p:sp>
        <p:nvSpPr>
          <p:cNvPr id="34" name="check-440"/>
          <p:cNvSpPr/>
          <p:nvPr/>
        </p:nvSpPr>
        <p:spPr>
          <a:xfrm>
            <a:off x="3383280" y="361188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35" name="text-441"/>
          <p:cNvSpPr txBox="1"/>
          <p:nvPr/>
        </p:nvSpPr>
        <p:spPr>
          <a:xfrm>
            <a:off x="3493008" y="361188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Merge tags</a:t>
            </a:r>
            <a:endParaRPr lang="en-US" sz="1250" dirty="0"/>
          </a:p>
        </p:txBody>
      </p:sp>
      <p:sp>
        <p:nvSpPr>
          <p:cNvPr id="36" name="chip-442"/>
          <p:cNvSpPr/>
          <p:nvPr/>
        </p:nvSpPr>
        <p:spPr>
          <a:xfrm>
            <a:off x="4956048" y="3758184"/>
            <a:ext cx="640080" cy="256032"/>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37" name="text-443"/>
          <p:cNvSpPr txBox="1"/>
          <p:nvPr/>
        </p:nvSpPr>
        <p:spPr>
          <a:xfrm>
            <a:off x="4956048" y="3758184"/>
            <a:ext cx="640080" cy="256032"/>
          </a:xfrm>
          <a:prstGeom prst="rect">
            <a:avLst/>
          </a:prstGeom>
          <a:noFill/>
          <a:ln/>
        </p:spPr>
        <p:txBody>
          <a:bodyPr wrap="square" lIns="0" tIns="0" rIns="0" bIns="0" rtlCol="0" anchor="ctr"/>
          <a:lstStyle/>
          <a:p>
            <a:pPr algn="ctr" indent="0" marL="0">
              <a:buNone/>
            </a:pPr>
            <a:r>
              <a:rPr lang="en-US" sz="1050" b="1" dirty="0">
                <a:solidFill>
                  <a:schemeClr val="accent6"/>
                </a:solidFill>
              </a:rPr>
              <a:t>block</a:t>
            </a:r>
            <a:endParaRPr lang="en-US" sz="1050" dirty="0"/>
          </a:p>
        </p:txBody>
      </p:sp>
      <p:sp>
        <p:nvSpPr>
          <p:cNvPr id="38" name="glass-444"/>
          <p:cNvSpPr/>
          <p:nvPr/>
        </p:nvSpPr>
        <p:spPr>
          <a:xfrm>
            <a:off x="5943600" y="1572768"/>
            <a:ext cx="2560320" cy="3383280"/>
          </a:xfrm>
          <a:prstGeom prst="roundRect">
            <a:avLst>
              <a:gd name="adj" fmla="val 5000"/>
            </a:avLst>
          </a:prstGeom>
          <a:solidFill>
            <a:schemeClr val="accent5">
              <a:alpha val="8000"/>
            </a:schemeClr>
          </a:solidFill>
          <a:ln w="12700">
            <a:solidFill>
              <a:schemeClr val="accent5">
                <a:alpha val="35000"/>
              </a:schemeClr>
            </a:solidFill>
            <a:prstDash val="solid"/>
          </a:ln>
        </p:spPr>
      </p:sp>
      <p:sp>
        <p:nvSpPr>
          <p:cNvPr id="39" name="text-445"/>
          <p:cNvSpPr txBox="1"/>
          <p:nvPr/>
        </p:nvSpPr>
        <p:spPr>
          <a:xfrm>
            <a:off x="6126480" y="1691640"/>
            <a:ext cx="2194560" cy="274320"/>
          </a:xfrm>
          <a:prstGeom prst="rect">
            <a:avLst/>
          </a:prstGeom>
          <a:noFill/>
          <a:ln/>
        </p:spPr>
        <p:txBody>
          <a:bodyPr wrap="square" lIns="0" tIns="0" rIns="0" bIns="0" rtlCol="0" anchor="t"/>
          <a:lstStyle/>
          <a:p>
            <a:pPr indent="0" marL="0">
              <a:buNone/>
            </a:pPr>
            <a:r>
              <a:rPr lang="en-US" sz="1200" b="1" spc="150" kern="0" dirty="0">
                <a:solidFill>
                  <a:schemeClr val="accent5"/>
                </a:solidFill>
              </a:rPr>
              <a:t>DELIVERABILITY</a:t>
            </a:r>
            <a:endParaRPr lang="en-US" sz="1200" dirty="0"/>
          </a:p>
        </p:txBody>
      </p:sp>
      <p:sp>
        <p:nvSpPr>
          <p:cNvPr id="40" name="text-446"/>
          <p:cNvSpPr txBox="1"/>
          <p:nvPr/>
        </p:nvSpPr>
        <p:spPr>
          <a:xfrm>
            <a:off x="6126480" y="1947672"/>
            <a:ext cx="2194560" cy="274320"/>
          </a:xfrm>
          <a:prstGeom prst="rect">
            <a:avLst/>
          </a:prstGeom>
          <a:noFill/>
          <a:ln/>
        </p:spPr>
        <p:txBody>
          <a:bodyPr wrap="square" lIns="0" tIns="0" rIns="0" bIns="0" rtlCol="0" anchor="t"/>
          <a:lstStyle/>
          <a:p>
            <a:pPr indent="0" marL="0">
              <a:buNone/>
            </a:pPr>
            <a:r>
              <a:rPr lang="en-US" sz="1200" i="1" dirty="0">
                <a:solidFill>
                  <a:schemeClr val="bg2"/>
                </a:solidFill>
              </a:rPr>
              <a:t>will it land and render?</a:t>
            </a:r>
            <a:endParaRPr lang="en-US" sz="1200" dirty="0"/>
          </a:p>
        </p:txBody>
      </p:sp>
      <p:sp>
        <p:nvSpPr>
          <p:cNvPr id="41" name="check-447"/>
          <p:cNvSpPr/>
          <p:nvPr/>
        </p:nvSpPr>
        <p:spPr>
          <a:xfrm>
            <a:off x="6080760" y="233172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42" name="text-448"/>
          <p:cNvSpPr txBox="1"/>
          <p:nvPr/>
        </p:nvSpPr>
        <p:spPr>
          <a:xfrm>
            <a:off x="6190488" y="233172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Subject line</a:t>
            </a:r>
            <a:endParaRPr lang="en-US" sz="1250" dirty="0"/>
          </a:p>
        </p:txBody>
      </p:sp>
      <p:sp>
        <p:nvSpPr>
          <p:cNvPr id="43" name="chip-449"/>
          <p:cNvSpPr/>
          <p:nvPr/>
        </p:nvSpPr>
        <p:spPr>
          <a:xfrm>
            <a:off x="7653528" y="2478024"/>
            <a:ext cx="640080" cy="256032"/>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44" name="text-450"/>
          <p:cNvSpPr txBox="1"/>
          <p:nvPr/>
        </p:nvSpPr>
        <p:spPr>
          <a:xfrm>
            <a:off x="7653528" y="2478024"/>
            <a:ext cx="640080" cy="256032"/>
          </a:xfrm>
          <a:prstGeom prst="rect">
            <a:avLst/>
          </a:prstGeom>
          <a:noFill/>
          <a:ln/>
        </p:spPr>
        <p:txBody>
          <a:bodyPr wrap="square" lIns="0" tIns="0" rIns="0" bIns="0" rtlCol="0" anchor="ctr"/>
          <a:lstStyle/>
          <a:p>
            <a:pPr algn="ctr" indent="0" marL="0">
              <a:buNone/>
            </a:pPr>
            <a:r>
              <a:rPr lang="en-US" sz="1050" b="1" dirty="0">
                <a:solidFill>
                  <a:schemeClr val="accent3"/>
                </a:solidFill>
              </a:rPr>
              <a:t>revise</a:t>
            </a:r>
            <a:endParaRPr lang="en-US" sz="1050" dirty="0"/>
          </a:p>
        </p:txBody>
      </p:sp>
      <p:sp>
        <p:nvSpPr>
          <p:cNvPr id="45" name="check-451"/>
          <p:cNvSpPr/>
          <p:nvPr/>
        </p:nvSpPr>
        <p:spPr>
          <a:xfrm>
            <a:off x="6080760" y="297180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46" name="text-452"/>
          <p:cNvSpPr txBox="1"/>
          <p:nvPr/>
        </p:nvSpPr>
        <p:spPr>
          <a:xfrm>
            <a:off x="6190488" y="297180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Links</a:t>
            </a:r>
            <a:endParaRPr lang="en-US" sz="1250" dirty="0"/>
          </a:p>
        </p:txBody>
      </p:sp>
      <p:sp>
        <p:nvSpPr>
          <p:cNvPr id="47" name="chip-453"/>
          <p:cNvSpPr/>
          <p:nvPr/>
        </p:nvSpPr>
        <p:spPr>
          <a:xfrm>
            <a:off x="7653528" y="3118104"/>
            <a:ext cx="640080" cy="256032"/>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48" name="text-454"/>
          <p:cNvSpPr txBox="1"/>
          <p:nvPr/>
        </p:nvSpPr>
        <p:spPr>
          <a:xfrm>
            <a:off x="7653528" y="3118104"/>
            <a:ext cx="640080" cy="256032"/>
          </a:xfrm>
          <a:prstGeom prst="rect">
            <a:avLst/>
          </a:prstGeom>
          <a:noFill/>
          <a:ln/>
        </p:spPr>
        <p:txBody>
          <a:bodyPr wrap="square" lIns="0" tIns="0" rIns="0" bIns="0" rtlCol="0" anchor="ctr"/>
          <a:lstStyle/>
          <a:p>
            <a:pPr algn="ctr" indent="0" marL="0">
              <a:buNone/>
            </a:pPr>
            <a:r>
              <a:rPr lang="en-US" sz="1050" b="1" dirty="0">
                <a:solidFill>
                  <a:schemeClr val="accent3"/>
                </a:solidFill>
              </a:rPr>
              <a:t>revise</a:t>
            </a:r>
            <a:endParaRPr lang="en-US" sz="1050" dirty="0"/>
          </a:p>
        </p:txBody>
      </p:sp>
      <p:sp>
        <p:nvSpPr>
          <p:cNvPr id="49" name="check-455"/>
          <p:cNvSpPr/>
          <p:nvPr/>
        </p:nvSpPr>
        <p:spPr>
          <a:xfrm>
            <a:off x="6080760" y="3611880"/>
            <a:ext cx="2286000" cy="548640"/>
          </a:xfrm>
          <a:prstGeom prst="roundRect">
            <a:avLst>
              <a:gd name="adj" fmla="val 13333"/>
            </a:avLst>
          </a:prstGeom>
          <a:solidFill>
            <a:schemeClr val="tx1">
              <a:alpha val="75000"/>
            </a:schemeClr>
          </a:solidFill>
          <a:ln w="6350">
            <a:solidFill>
              <a:schemeClr val="bg2">
                <a:alpha val="20000"/>
              </a:schemeClr>
            </a:solidFill>
            <a:prstDash val="solid"/>
          </a:ln>
        </p:spPr>
      </p:sp>
      <p:sp>
        <p:nvSpPr>
          <p:cNvPr id="50" name="text-456"/>
          <p:cNvSpPr txBox="1"/>
          <p:nvPr/>
        </p:nvSpPr>
        <p:spPr>
          <a:xfrm>
            <a:off x="6190488" y="3611880"/>
            <a:ext cx="1417320" cy="548640"/>
          </a:xfrm>
          <a:prstGeom prst="rect">
            <a:avLst/>
          </a:prstGeom>
          <a:noFill/>
          <a:ln/>
        </p:spPr>
        <p:txBody>
          <a:bodyPr wrap="square" lIns="0" tIns="0" rIns="0" bIns="0" rtlCol="0" anchor="ctr"/>
          <a:lstStyle/>
          <a:p>
            <a:pPr indent="0" marL="0">
              <a:buNone/>
            </a:pPr>
            <a:r>
              <a:rPr lang="en-US" sz="1250" b="1" dirty="0">
                <a:solidFill>
                  <a:schemeClr val="bg1"/>
                </a:solidFill>
              </a:rPr>
              <a:t>Images</a:t>
            </a:r>
            <a:endParaRPr lang="en-US" sz="1250" dirty="0"/>
          </a:p>
        </p:txBody>
      </p:sp>
      <p:sp>
        <p:nvSpPr>
          <p:cNvPr id="51" name="chip-457"/>
          <p:cNvSpPr/>
          <p:nvPr/>
        </p:nvSpPr>
        <p:spPr>
          <a:xfrm>
            <a:off x="7653528" y="3758184"/>
            <a:ext cx="640080" cy="256032"/>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52" name="text-458"/>
          <p:cNvSpPr txBox="1"/>
          <p:nvPr/>
        </p:nvSpPr>
        <p:spPr>
          <a:xfrm>
            <a:off x="7653528" y="3758184"/>
            <a:ext cx="640080" cy="256032"/>
          </a:xfrm>
          <a:prstGeom prst="rect">
            <a:avLst/>
          </a:prstGeom>
          <a:noFill/>
          <a:ln/>
        </p:spPr>
        <p:txBody>
          <a:bodyPr wrap="square" lIns="0" tIns="0" rIns="0" bIns="0" rtlCol="0" anchor="ctr"/>
          <a:lstStyle/>
          <a:p>
            <a:pPr algn="ctr" indent="0" marL="0">
              <a:buNone/>
            </a:pPr>
            <a:r>
              <a:rPr lang="en-US" sz="1050" b="1" dirty="0">
                <a:solidFill>
                  <a:schemeClr val="accent3"/>
                </a:solidFill>
              </a:rPr>
              <a:t>revise</a:t>
            </a:r>
            <a:endParaRPr lang="en-US" sz="1050" dirty="0"/>
          </a:p>
        </p:txBody>
      </p:sp>
      <p:sp>
        <p:nvSpPr>
          <p:cNvPr id="53" name="glass-459"/>
          <p:cNvSpPr/>
          <p:nvPr/>
        </p:nvSpPr>
        <p:spPr>
          <a:xfrm>
            <a:off x="548640" y="5120640"/>
            <a:ext cx="2560320" cy="1051560"/>
          </a:xfrm>
          <a:prstGeom prst="roundRect">
            <a:avLst>
              <a:gd name="adj" fmla="val 12174"/>
            </a:avLst>
          </a:prstGeom>
          <a:solidFill>
            <a:schemeClr val="accent5">
              <a:alpha val="18000"/>
            </a:schemeClr>
          </a:solidFill>
          <a:ln w="12700">
            <a:solidFill>
              <a:schemeClr val="accent5">
                <a:alpha val="70000"/>
              </a:schemeClr>
            </a:solidFill>
            <a:prstDash val="solid"/>
          </a:ln>
        </p:spPr>
      </p:sp>
      <p:sp>
        <p:nvSpPr>
          <p:cNvPr id="54" name="text-460"/>
          <p:cNvSpPr txBox="1"/>
          <p:nvPr/>
        </p:nvSpPr>
        <p:spPr>
          <a:xfrm>
            <a:off x="731520" y="5212080"/>
            <a:ext cx="2194560" cy="384048"/>
          </a:xfrm>
          <a:prstGeom prst="rect">
            <a:avLst/>
          </a:prstGeom>
          <a:noFill/>
          <a:ln/>
        </p:spPr>
        <p:txBody>
          <a:bodyPr wrap="square" lIns="0" tIns="0" rIns="0" bIns="0" rtlCol="0" anchor="t"/>
          <a:lstStyle/>
          <a:p>
            <a:pPr indent="0" marL="0">
              <a:buNone/>
            </a:pPr>
            <a:r>
              <a:rPr lang="en-US" sz="1800" b="1" dirty="0">
                <a:solidFill>
                  <a:schemeClr val="accent5"/>
                </a:solidFill>
                <a:latin typeface="Century Gothic" pitchFamily="34" charset="0"/>
                <a:ea typeface="Century Gothic" pitchFamily="34" charset="-122"/>
                <a:cs typeface="Century Gothic" pitchFamily="34" charset="-120"/>
              </a:rPr>
              <a:t>PASS</a:t>
            </a:r>
            <a:endParaRPr lang="en-US" sz="1800" dirty="0"/>
          </a:p>
        </p:txBody>
      </p:sp>
      <p:sp>
        <p:nvSpPr>
          <p:cNvPr id="55" name="text-461"/>
          <p:cNvSpPr txBox="1"/>
          <p:nvPr/>
        </p:nvSpPr>
        <p:spPr>
          <a:xfrm>
            <a:off x="731520" y="5596128"/>
            <a:ext cx="2240280" cy="502920"/>
          </a:xfrm>
          <a:prstGeom prst="rect">
            <a:avLst/>
          </a:prstGeom>
          <a:noFill/>
          <a:ln/>
        </p:spPr>
        <p:txBody>
          <a:bodyPr wrap="square" lIns="0" tIns="0" rIns="0" bIns="0" rtlCol="0" anchor="t"/>
          <a:lstStyle/>
          <a:p>
            <a:pPr indent="0" marL="0">
              <a:buNone/>
            </a:pPr>
            <a:r>
              <a:rPr lang="en-US" sz="1250" dirty="0">
                <a:solidFill>
                  <a:schemeClr val="bg1"/>
                </a:solidFill>
              </a:rPr>
              <a:t>a person sends</a:t>
            </a:r>
            <a:endParaRPr lang="en-US" sz="1250" dirty="0"/>
          </a:p>
        </p:txBody>
      </p:sp>
      <p:sp>
        <p:nvSpPr>
          <p:cNvPr id="56" name="glass-462"/>
          <p:cNvSpPr/>
          <p:nvPr/>
        </p:nvSpPr>
        <p:spPr>
          <a:xfrm>
            <a:off x="3246120" y="5120640"/>
            <a:ext cx="2560320" cy="1051560"/>
          </a:xfrm>
          <a:prstGeom prst="roundRect">
            <a:avLst>
              <a:gd name="adj" fmla="val 12174"/>
            </a:avLst>
          </a:prstGeom>
          <a:solidFill>
            <a:schemeClr val="accent3">
              <a:alpha val="18000"/>
            </a:schemeClr>
          </a:solidFill>
          <a:ln w="12700">
            <a:solidFill>
              <a:schemeClr val="accent3">
                <a:alpha val="70000"/>
              </a:schemeClr>
            </a:solidFill>
            <a:prstDash val="solid"/>
          </a:ln>
        </p:spPr>
      </p:sp>
      <p:sp>
        <p:nvSpPr>
          <p:cNvPr id="57" name="text-463"/>
          <p:cNvSpPr txBox="1"/>
          <p:nvPr/>
        </p:nvSpPr>
        <p:spPr>
          <a:xfrm>
            <a:off x="3429000" y="5212080"/>
            <a:ext cx="2194560" cy="384048"/>
          </a:xfrm>
          <a:prstGeom prst="rect">
            <a:avLst/>
          </a:prstGeom>
          <a:noFill/>
          <a:ln/>
        </p:spPr>
        <p:txBody>
          <a:bodyPr wrap="square" lIns="0" tIns="0" rIns="0" bIns="0" rtlCol="0" anchor="t"/>
          <a:lstStyle/>
          <a:p>
            <a:pPr indent="0" marL="0">
              <a:buNone/>
            </a:pPr>
            <a:r>
              <a:rPr lang="en-US" sz="1800" b="1" dirty="0">
                <a:solidFill>
                  <a:schemeClr val="accent3"/>
                </a:solidFill>
                <a:latin typeface="Century Gothic" pitchFamily="34" charset="0"/>
                <a:ea typeface="Century Gothic" pitchFamily="34" charset="-122"/>
                <a:cs typeface="Century Gothic" pitchFamily="34" charset="-120"/>
              </a:rPr>
              <a:t>REVISE</a:t>
            </a:r>
            <a:endParaRPr lang="en-US" sz="1800" dirty="0"/>
          </a:p>
        </p:txBody>
      </p:sp>
      <p:sp>
        <p:nvSpPr>
          <p:cNvPr id="58" name="text-464"/>
          <p:cNvSpPr txBox="1"/>
          <p:nvPr/>
        </p:nvSpPr>
        <p:spPr>
          <a:xfrm>
            <a:off x="3429000" y="5596128"/>
            <a:ext cx="2240280" cy="502920"/>
          </a:xfrm>
          <a:prstGeom prst="rect">
            <a:avLst/>
          </a:prstGeom>
          <a:noFill/>
          <a:ln/>
        </p:spPr>
        <p:txBody>
          <a:bodyPr wrap="square" lIns="0" tIns="0" rIns="0" bIns="0" rtlCol="0" anchor="t"/>
          <a:lstStyle/>
          <a:p>
            <a:pPr indent="0" marL="0">
              <a:buNone/>
            </a:pPr>
            <a:r>
              <a:rPr lang="en-US" sz="1250" dirty="0">
                <a:solidFill>
                  <a:schemeClr val="bg1"/>
                </a:solidFill>
              </a:rPr>
              <a:t>fix, or send knowingly</a:t>
            </a:r>
            <a:endParaRPr lang="en-US" sz="1250" dirty="0"/>
          </a:p>
        </p:txBody>
      </p:sp>
      <p:sp>
        <p:nvSpPr>
          <p:cNvPr id="59" name="glass-465"/>
          <p:cNvSpPr/>
          <p:nvPr/>
        </p:nvSpPr>
        <p:spPr>
          <a:xfrm>
            <a:off x="5943600" y="5120640"/>
            <a:ext cx="2560320" cy="1051560"/>
          </a:xfrm>
          <a:prstGeom prst="roundRect">
            <a:avLst>
              <a:gd name="adj" fmla="val 12174"/>
            </a:avLst>
          </a:prstGeom>
          <a:solidFill>
            <a:schemeClr val="accent6">
              <a:alpha val="18000"/>
            </a:schemeClr>
          </a:solidFill>
          <a:ln w="12700">
            <a:solidFill>
              <a:schemeClr val="accent6">
                <a:alpha val="70000"/>
              </a:schemeClr>
            </a:solidFill>
            <a:prstDash val="solid"/>
          </a:ln>
        </p:spPr>
      </p:sp>
      <p:sp>
        <p:nvSpPr>
          <p:cNvPr id="60" name="text-466"/>
          <p:cNvSpPr txBox="1"/>
          <p:nvPr/>
        </p:nvSpPr>
        <p:spPr>
          <a:xfrm>
            <a:off x="6126480" y="5212080"/>
            <a:ext cx="2194560" cy="384048"/>
          </a:xfrm>
          <a:prstGeom prst="rect">
            <a:avLst/>
          </a:prstGeom>
          <a:noFill/>
          <a:ln/>
        </p:spPr>
        <p:txBody>
          <a:bodyPr wrap="square" lIns="0" tIns="0" rIns="0" bIns="0" rtlCol="0" anchor="t"/>
          <a:lstStyle/>
          <a:p>
            <a:pPr indent="0" marL="0">
              <a:buNone/>
            </a:pPr>
            <a:r>
              <a:rPr lang="en-US" sz="1800" b="1" dirty="0">
                <a:solidFill>
                  <a:schemeClr val="accent6"/>
                </a:solidFill>
                <a:latin typeface="Century Gothic" pitchFamily="34" charset="0"/>
                <a:ea typeface="Century Gothic" pitchFamily="34" charset="-122"/>
                <a:cs typeface="Century Gothic" pitchFamily="34" charset="-120"/>
              </a:rPr>
              <a:t>BLOCK</a:t>
            </a:r>
            <a:endParaRPr lang="en-US" sz="1800" dirty="0"/>
          </a:p>
        </p:txBody>
      </p:sp>
      <p:sp>
        <p:nvSpPr>
          <p:cNvPr id="61" name="text-467"/>
          <p:cNvSpPr txBox="1"/>
          <p:nvPr/>
        </p:nvSpPr>
        <p:spPr>
          <a:xfrm>
            <a:off x="6126480" y="5596128"/>
            <a:ext cx="2240280" cy="502920"/>
          </a:xfrm>
          <a:prstGeom prst="rect">
            <a:avLst/>
          </a:prstGeom>
          <a:noFill/>
          <a:ln/>
        </p:spPr>
        <p:txBody>
          <a:bodyPr wrap="square" lIns="0" tIns="0" rIns="0" bIns="0" rtlCol="0" anchor="t"/>
          <a:lstStyle/>
          <a:p>
            <a:pPr indent="0" marL="0">
              <a:buNone/>
            </a:pPr>
            <a:r>
              <a:rPr lang="en-US" sz="1250" dirty="0">
                <a:solidFill>
                  <a:schemeClr val="bg1"/>
                </a:solidFill>
              </a:rPr>
              <a:t>cannot be sent</a:t>
            </a:r>
            <a:endParaRPr lang="en-US" sz="1250" dirty="0"/>
          </a:p>
        </p:txBody>
      </p:sp>
      <p:sp>
        <p:nvSpPr>
          <p:cNvPr id="62" name="glass-468"/>
          <p:cNvSpPr/>
          <p:nvPr/>
        </p:nvSpPr>
        <p:spPr>
          <a:xfrm>
            <a:off x="8732520" y="1572768"/>
            <a:ext cx="2907792" cy="4599432"/>
          </a:xfrm>
          <a:prstGeom prst="roundRect">
            <a:avLst>
              <a:gd name="adj" fmla="val 4403"/>
            </a:avLst>
          </a:prstGeom>
          <a:solidFill>
            <a:schemeClr val="tx2">
              <a:alpha val="78000"/>
            </a:schemeClr>
          </a:solidFill>
          <a:ln w="9525">
            <a:solidFill>
              <a:schemeClr val="bg2">
                <a:alpha val="22000"/>
              </a:schemeClr>
            </a:solidFill>
            <a:prstDash val="solid"/>
          </a:ln>
        </p:spPr>
      </p:sp>
      <p:sp>
        <p:nvSpPr>
          <p:cNvPr id="63" name="text-469"/>
          <p:cNvSpPr txBox="1"/>
          <p:nvPr/>
        </p:nvSpPr>
        <p:spPr>
          <a:xfrm>
            <a:off x="8915400" y="1691640"/>
            <a:ext cx="2560320" cy="292608"/>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Demo workspace</a:t>
            </a:r>
            <a:endParaRPr lang="en-US" sz="1500" dirty="0"/>
          </a:p>
        </p:txBody>
      </p:sp>
      <p:sp>
        <p:nvSpPr>
          <p:cNvPr id="64" name="text-470"/>
          <p:cNvSpPr txBox="1"/>
          <p:nvPr/>
        </p:nvSpPr>
        <p:spPr>
          <a:xfrm>
            <a:off x="8915400" y="1984248"/>
            <a:ext cx="2560320" cy="274320"/>
          </a:xfrm>
          <a:prstGeom prst="rect">
            <a:avLst/>
          </a:prstGeom>
          <a:noFill/>
          <a:ln/>
        </p:spPr>
        <p:txBody>
          <a:bodyPr wrap="square" lIns="0" tIns="0" rIns="0" bIns="0" rtlCol="0" anchor="t"/>
          <a:lstStyle/>
          <a:p>
            <a:pPr indent="0" marL="0">
              <a:buNone/>
            </a:pPr>
            <a:r>
              <a:rPr lang="en-US" sz="1200" dirty="0">
                <a:solidFill>
                  <a:schemeClr val="bg2"/>
                </a:solidFill>
              </a:rPr>
              <a:t>re-checked 14 Oct 2026</a:t>
            </a:r>
            <a:endParaRPr lang="en-US" sz="1200" dirty="0"/>
          </a:p>
        </p:txBody>
      </p:sp>
      <p:graphicFrame>
        <p:nvGraphicFramePr>
          <p:cNvPr id="65" name="verdict-donut" descr=""/>
          <p:cNvGraphicFramePr/>
          <p:nvPr/>
        </p:nvGraphicFramePr>
        <p:xfrm>
          <a:off x="8915400" y="2286000"/>
          <a:ext cx="2560320" cy="2377440"/>
        </p:xfrm>
        <a:graphic xmlns:a="http://schemas.openxmlformats.org/drawingml/2006/main">
          <a:graphicData uri="http://schemas.openxmlformats.org/drawingml/2006/chart">
            <c:chart xmlns:c="http://schemas.openxmlformats.org/drawingml/2006/chart" r:id="rId1"/>
          </a:graphicData>
        </a:graphic>
      </p:graphicFrame>
      <p:sp>
        <p:nvSpPr>
          <p:cNvPr id="66" name="text-471"/>
          <p:cNvSpPr txBox="1"/>
          <p:nvPr/>
        </p:nvSpPr>
        <p:spPr>
          <a:xfrm>
            <a:off x="9646920" y="3017520"/>
            <a:ext cx="1097280" cy="914400"/>
          </a:xfrm>
          <a:prstGeom prst="rect">
            <a:avLst/>
          </a:prstGeom>
          <a:noFill/>
          <a:ln/>
        </p:spPr>
        <p:txBody>
          <a:bodyPr wrap="square" lIns="0" tIns="0" rIns="0" bIns="0" rtlCol="0" anchor="ctr"/>
          <a:lstStyle/>
          <a:p>
            <a:pPr algn="ctr" indent="0" marL="0">
              <a:buNone/>
            </a:pPr>
            <a:r>
              <a:rPr lang="en-US" sz="3200" b="1" dirty="0">
                <a:solidFill>
                  <a:schemeClr val="bg1"/>
                </a:solidFill>
                <a:latin typeface="Century Gothic" pitchFamily="34" charset="0"/>
                <a:ea typeface="Century Gothic" pitchFamily="34" charset="-122"/>
                <a:cs typeface="Century Gothic" pitchFamily="34" charset="-120"/>
              </a:rPr>
              <a:t>6</a:t>
            </a:r>
            <a:endParaRPr lang="en-US" sz="1400" dirty="0"/>
          </a:p>
          <a:p>
            <a:pPr algn="ctr" indent="0" marL="0">
              <a:buNone/>
            </a:pPr>
            <a:r>
              <a:rPr lang="en-US" sz="1200" dirty="0">
                <a:solidFill>
                  <a:schemeClr val="bg2"/>
                </a:solidFill>
              </a:rPr>
              <a:t>emails</a:t>
            </a:r>
            <a:endParaRPr lang="en-US" sz="1400" dirty="0"/>
          </a:p>
        </p:txBody>
      </p:sp>
      <p:sp>
        <p:nvSpPr>
          <p:cNvPr id="67" name="legend-dot-472"/>
          <p:cNvSpPr/>
          <p:nvPr/>
        </p:nvSpPr>
        <p:spPr>
          <a:xfrm>
            <a:off x="8961120" y="4937760"/>
            <a:ext cx="164592" cy="164592"/>
          </a:xfrm>
          <a:prstGeom prst="ellipse">
            <a:avLst/>
          </a:prstGeom>
          <a:solidFill>
            <a:schemeClr val="accent5"/>
          </a:solidFill>
          <a:ln/>
        </p:spPr>
      </p:sp>
      <p:sp>
        <p:nvSpPr>
          <p:cNvPr id="68" name="text-473"/>
          <p:cNvSpPr txBox="1"/>
          <p:nvPr/>
        </p:nvSpPr>
        <p:spPr>
          <a:xfrm>
            <a:off x="9235440" y="4846320"/>
            <a:ext cx="2286000" cy="347472"/>
          </a:xfrm>
          <a:prstGeom prst="rect">
            <a:avLst/>
          </a:prstGeom>
          <a:noFill/>
          <a:ln/>
        </p:spPr>
        <p:txBody>
          <a:bodyPr wrap="square" lIns="0" tIns="0" rIns="0" bIns="0" rtlCol="0" anchor="ctr"/>
          <a:lstStyle/>
          <a:p>
            <a:pPr indent="0" marL="0">
              <a:buNone/>
            </a:pPr>
            <a:r>
              <a:rPr lang="en-US" sz="1350" b="1" dirty="0">
                <a:solidFill>
                  <a:schemeClr val="bg1"/>
                </a:solidFill>
              </a:rPr>
              <a:t>5  </a:t>
            </a:r>
            <a:pPr indent="0" marL="0">
              <a:buNone/>
            </a:pPr>
            <a:r>
              <a:rPr lang="en-US" sz="1350" dirty="0">
                <a:solidFill>
                  <a:schemeClr val="bg2"/>
                </a:solidFill>
              </a:rPr>
              <a:t>PASS</a:t>
            </a:r>
            <a:endParaRPr lang="en-US" sz="1350" dirty="0"/>
          </a:p>
        </p:txBody>
      </p:sp>
      <p:sp>
        <p:nvSpPr>
          <p:cNvPr id="69" name="legend-dot-474"/>
          <p:cNvSpPr/>
          <p:nvPr/>
        </p:nvSpPr>
        <p:spPr>
          <a:xfrm>
            <a:off x="8961120" y="5349240"/>
            <a:ext cx="164592" cy="164592"/>
          </a:xfrm>
          <a:prstGeom prst="ellipse">
            <a:avLst/>
          </a:prstGeom>
          <a:solidFill>
            <a:schemeClr val="accent3"/>
          </a:solidFill>
          <a:ln/>
        </p:spPr>
      </p:sp>
      <p:sp>
        <p:nvSpPr>
          <p:cNvPr id="70" name="text-475"/>
          <p:cNvSpPr txBox="1"/>
          <p:nvPr/>
        </p:nvSpPr>
        <p:spPr>
          <a:xfrm>
            <a:off x="9235440" y="5257800"/>
            <a:ext cx="2286000" cy="347472"/>
          </a:xfrm>
          <a:prstGeom prst="rect">
            <a:avLst/>
          </a:prstGeom>
          <a:noFill/>
          <a:ln/>
        </p:spPr>
        <p:txBody>
          <a:bodyPr wrap="square" lIns="0" tIns="0" rIns="0" bIns="0" rtlCol="0" anchor="ctr"/>
          <a:lstStyle/>
          <a:p>
            <a:pPr indent="0" marL="0">
              <a:buNone/>
            </a:pPr>
            <a:r>
              <a:rPr lang="en-US" sz="1350" b="1" dirty="0">
                <a:solidFill>
                  <a:schemeClr val="bg1"/>
                </a:solidFill>
              </a:rPr>
              <a:t>1  </a:t>
            </a:r>
            <a:pPr indent="0" marL="0">
              <a:buNone/>
            </a:pPr>
            <a:r>
              <a:rPr lang="en-US" sz="1350" dirty="0">
                <a:solidFill>
                  <a:schemeClr val="bg2"/>
                </a:solidFill>
              </a:rPr>
              <a:t>REVISE · age proxy</a:t>
            </a:r>
            <a:endParaRPr lang="en-US" sz="1350" dirty="0"/>
          </a:p>
        </p:txBody>
      </p:sp>
      <p:sp>
        <p:nvSpPr>
          <p:cNvPr id="71" name="legend-dot-476"/>
          <p:cNvSpPr/>
          <p:nvPr/>
        </p:nvSpPr>
        <p:spPr>
          <a:xfrm>
            <a:off x="8961120" y="5760720"/>
            <a:ext cx="164592" cy="164592"/>
          </a:xfrm>
          <a:prstGeom prst="ellipse">
            <a:avLst/>
          </a:prstGeom>
          <a:solidFill>
            <a:schemeClr val="accent6"/>
          </a:solidFill>
          <a:ln/>
        </p:spPr>
      </p:sp>
      <p:sp>
        <p:nvSpPr>
          <p:cNvPr id="72" name="text-477"/>
          <p:cNvSpPr txBox="1"/>
          <p:nvPr/>
        </p:nvSpPr>
        <p:spPr>
          <a:xfrm>
            <a:off x="9235440" y="5669280"/>
            <a:ext cx="2286000" cy="347472"/>
          </a:xfrm>
          <a:prstGeom prst="rect">
            <a:avLst/>
          </a:prstGeom>
          <a:noFill/>
          <a:ln/>
        </p:spPr>
        <p:txBody>
          <a:bodyPr wrap="square" lIns="0" tIns="0" rIns="0" bIns="0" rtlCol="0" anchor="ctr"/>
          <a:lstStyle/>
          <a:p>
            <a:pPr indent="0" marL="0">
              <a:buNone/>
            </a:pPr>
            <a:r>
              <a:rPr lang="en-US" sz="1350" b="1" dirty="0">
                <a:solidFill>
                  <a:schemeClr val="bg1"/>
                </a:solidFill>
              </a:rPr>
              <a:t>0  </a:t>
            </a:r>
            <a:pPr indent="0" marL="0">
              <a:buNone/>
            </a:pPr>
            <a:r>
              <a:rPr lang="en-US" sz="1350" dirty="0">
                <a:solidFill>
                  <a:schemeClr val="bg2"/>
                </a:solidFill>
              </a:rPr>
              <a:t>BLOCK</a:t>
            </a:r>
            <a:endParaRPr lang="en-US" sz="13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478"/>
          <p:cNvSpPr txBox="1"/>
          <p:nvPr/>
        </p:nvSpPr>
        <p:spPr>
          <a:xfrm>
            <a:off x="685800" y="1600200"/>
            <a:ext cx="2743200" cy="1005840"/>
          </a:xfrm>
          <a:prstGeom prst="rect">
            <a:avLst/>
          </a:prstGeom>
          <a:noFill/>
          <a:ln/>
        </p:spPr>
        <p:txBody>
          <a:bodyPr wrap="square" lIns="0" tIns="0" rIns="0" bIns="0" rtlCol="0" anchor="t"/>
          <a:lstStyle/>
          <a:p>
            <a:pPr indent="0" marL="0">
              <a:buNone/>
            </a:pPr>
            <a:r>
              <a:rPr lang="en-US" sz="6400" b="1" dirty="0">
                <a:solidFill>
                  <a:schemeClr val="accent1"/>
                </a:solidFill>
                <a:latin typeface="Century Gothic" pitchFamily="34" charset="0"/>
                <a:ea typeface="Century Gothic" pitchFamily="34" charset="-122"/>
                <a:cs typeface="Century Gothic" pitchFamily="34" charset="-120"/>
              </a:rPr>
              <a:t>04</a:t>
            </a:r>
            <a:endParaRPr lang="en-US" sz="6400" dirty="0"/>
          </a:p>
        </p:txBody>
      </p:sp>
      <p:sp>
        <p:nvSpPr>
          <p:cNvPr id="3" name="Text 0"/>
          <p:cNvSpPr/>
          <p:nvPr>
            <p:ph idx="100" type="title" hasCustomPrompt="1"/>
          </p:nvPr>
        </p:nvSpPr>
        <p:spPr>
          <a:xfrm>
            <a:off x="685800" y="2788920"/>
            <a:ext cx="6217920" cy="86868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Assurance</a:t>
            </a:r>
            <a:endParaRPr lang="en-US" sz="4400" dirty="0"/>
          </a:p>
        </p:txBody>
      </p:sp>
      <p:sp>
        <p:nvSpPr>
          <p:cNvPr id="4" name="Text 0"/>
          <p:cNvSpPr/>
          <p:nvPr>
            <p:ph idx="101" type="body" hasCustomPrompt="1"/>
          </p:nvPr>
        </p:nvSpPr>
        <p:spPr>
          <a:xfrm>
            <a:off x="685800" y="379476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Responsible AI enforced in code, the security risk register, and the MLSecOps pipeline that guards every change.</a:t>
            </a:r>
            <a:endParaRPr lang="en-US" sz="1800" dirty="0"/>
          </a:p>
        </p:txBody>
      </p:sp>
      <p:sp>
        <p:nvSpPr>
          <p:cNvPr id="5" name="tile-479"/>
          <p:cNvSpPr/>
          <p:nvPr/>
        </p:nvSpPr>
        <p:spPr>
          <a:xfrm>
            <a:off x="685800" y="5257800"/>
            <a:ext cx="182880" cy="182880"/>
          </a:xfrm>
          <a:prstGeom prst="roundRect">
            <a:avLst>
              <a:gd name="adj" fmla="val 20000"/>
            </a:avLst>
          </a:prstGeom>
          <a:solidFill>
            <a:schemeClr val="accent6"/>
          </a:solidFill>
          <a:ln/>
        </p:spPr>
      </p:sp>
      <p:sp>
        <p:nvSpPr>
          <p:cNvPr id="6" name="tile-480"/>
          <p:cNvSpPr/>
          <p:nvPr/>
        </p:nvSpPr>
        <p:spPr>
          <a:xfrm>
            <a:off x="941832" y="5257800"/>
            <a:ext cx="182880" cy="182880"/>
          </a:xfrm>
          <a:prstGeom prst="roundRect">
            <a:avLst>
              <a:gd name="adj" fmla="val 20000"/>
            </a:avLst>
          </a:prstGeom>
          <a:solidFill>
            <a:schemeClr val="accent3"/>
          </a:solidFill>
          <a:ln/>
        </p:spPr>
      </p:sp>
      <p:sp>
        <p:nvSpPr>
          <p:cNvPr id="7" name="tile-481"/>
          <p:cNvSpPr/>
          <p:nvPr/>
        </p:nvSpPr>
        <p:spPr>
          <a:xfrm>
            <a:off x="1197864" y="5257800"/>
            <a:ext cx="182880" cy="182880"/>
          </a:xfrm>
          <a:prstGeom prst="roundRect">
            <a:avLst>
              <a:gd name="adj" fmla="val 20000"/>
            </a:avLst>
          </a:prstGeom>
          <a:solidFill>
            <a:schemeClr val="accent2"/>
          </a:solidFill>
          <a:ln/>
        </p:spPr>
      </p:sp>
      <p:sp>
        <p:nvSpPr>
          <p:cNvPr id="8" name="tile-482"/>
          <p:cNvSpPr/>
          <p:nvPr/>
        </p:nvSpPr>
        <p:spPr>
          <a:xfrm>
            <a:off x="1453896" y="5257800"/>
            <a:ext cx="182880" cy="182880"/>
          </a:xfrm>
          <a:prstGeom prst="roundRect">
            <a:avLst>
              <a:gd name="adj" fmla="val 20000"/>
            </a:avLst>
          </a:prstGeom>
          <a:solidFill>
            <a:schemeClr val="accent5"/>
          </a:solidFill>
          <a:ln/>
        </p:spPr>
      </p:sp>
      <p:sp>
        <p:nvSpPr>
          <p:cNvPr id="9" name="tile-483"/>
          <p:cNvSpPr/>
          <p:nvPr/>
        </p:nvSpPr>
        <p:spPr>
          <a:xfrm>
            <a:off x="1709928" y="5257800"/>
            <a:ext cx="182880" cy="182880"/>
          </a:xfrm>
          <a:prstGeom prst="roundRect">
            <a:avLst>
              <a:gd name="adj" fmla="val 20000"/>
            </a:avLst>
          </a:prstGeom>
          <a:solidFill>
            <a:schemeClr val="accent4"/>
          </a:solidFill>
          <a:ln/>
        </p:spPr>
      </p:sp>
      <p:sp>
        <p:nvSpPr>
          <p:cNvPr id="10" name="tile-484"/>
          <p:cNvSpPr/>
          <p:nvPr/>
        </p:nvSpPr>
        <p:spPr>
          <a:xfrm>
            <a:off x="1965960" y="5257800"/>
            <a:ext cx="182880" cy="182880"/>
          </a:xfrm>
          <a:prstGeom prst="roundRect">
            <a:avLst>
              <a:gd name="adj" fmla="val 20000"/>
            </a:avLst>
          </a:prstGeom>
          <a:solidFill>
            <a:schemeClr val="accent1"/>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Responsible AI, enforced in code</a:t>
            </a:r>
            <a:endParaRPr lang="en-US" sz="2800" dirty="0"/>
          </a:p>
        </p:txBody>
      </p:sp>
      <p:sp>
        <p:nvSpPr>
          <p:cNvPr id="3" name="text-485"/>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A limit nobody enforces is not a control — every principle maps to something the code checks.</a:t>
            </a:r>
            <a:endParaRPr lang="en-US" sz="1600" dirty="0"/>
          </a:p>
        </p:txBody>
      </p:sp>
      <p:sp>
        <p:nvSpPr>
          <p:cNvPr id="4" name="icon-ring-486"/>
          <p:cNvSpPr/>
          <p:nvPr/>
        </p:nvSpPr>
        <p:spPr>
          <a:xfrm>
            <a:off x="548640" y="1645920"/>
            <a:ext cx="548640" cy="548640"/>
          </a:xfrm>
          <a:prstGeom prst="ellipse">
            <a:avLst/>
          </a:prstGeom>
          <a:solidFill>
            <a:schemeClr val="accent2">
              <a:alpha val="18000"/>
            </a:schemeClr>
          </a:solidFill>
          <a:ln w="12700">
            <a:solidFill>
              <a:schemeClr val="accent2">
                <a:alpha val="70000"/>
              </a:schemeClr>
            </a:solidFill>
            <a:prstDash val="solid"/>
          </a:ln>
        </p:spPr>
      </p:sp>
      <p:pic>
        <p:nvPicPr>
          <p:cNvPr id="5" name="icon-487" descr="preencoded.png">    </p:cNvPr>
          <p:cNvPicPr>
            <a:picLocks noChangeAspect="1"/>
          </p:cNvPicPr>
          <p:nvPr/>
        </p:nvPicPr>
        <p:blipFill>
          <a:blip r:embed="rId1"/>
          <a:stretch>
            <a:fillRect/>
          </a:stretch>
        </p:blipFill>
        <p:spPr>
          <a:xfrm>
            <a:off x="691286" y="1788566"/>
            <a:ext cx="263347" cy="263347"/>
          </a:xfrm>
          <a:prstGeom prst="rect">
            <a:avLst/>
          </a:prstGeom>
        </p:spPr>
      </p:pic>
      <p:sp>
        <p:nvSpPr>
          <p:cNvPr id="6" name="text-488"/>
          <p:cNvSpPr txBox="1"/>
          <p:nvPr/>
        </p:nvSpPr>
        <p:spPr>
          <a:xfrm>
            <a:off x="1280160" y="1591056"/>
            <a:ext cx="5486400" cy="310896"/>
          </a:xfrm>
          <a:prstGeom prst="rect">
            <a:avLst/>
          </a:prstGeom>
          <a:noFill/>
          <a:ln/>
        </p:spPr>
        <p:txBody>
          <a:bodyPr wrap="square" lIns="0" tIns="0" rIns="0" bIns="0" rtlCol="0" anchor="t"/>
          <a:lstStyle/>
          <a:p>
            <a:pPr indent="0" marL="0">
              <a:buNone/>
            </a:pPr>
            <a:r>
              <a:rPr lang="en-US" sz="1550" b="1" dirty="0">
                <a:solidFill>
                  <a:schemeClr val="bg1"/>
                </a:solidFill>
              </a:rPr>
              <a:t>Fairness</a:t>
            </a:r>
            <a:endParaRPr lang="en-US" sz="1550" dirty="0"/>
          </a:p>
        </p:txBody>
      </p:sp>
      <p:sp>
        <p:nvSpPr>
          <p:cNvPr id="7" name="text-489"/>
          <p:cNvSpPr txBox="1"/>
          <p:nvPr/>
        </p:nvSpPr>
        <p:spPr>
          <a:xfrm>
            <a:off x="1280160" y="1920240"/>
            <a:ext cx="5577840" cy="548640"/>
          </a:xfrm>
          <a:prstGeom prst="rect">
            <a:avLst/>
          </a:prstGeom>
          <a:noFill/>
          <a:ln/>
        </p:spPr>
        <p:txBody>
          <a:bodyPr wrap="square" lIns="0" tIns="0" rIns="0" bIns="0" rtlCol="0" anchor="t"/>
          <a:lstStyle/>
          <a:p>
            <a:pPr indent="0" marL="0">
              <a:buNone/>
            </a:pPr>
            <a:r>
              <a:rPr lang="en-US" sz="1300" dirty="0">
                <a:solidFill>
                  <a:schemeClr val="bg2"/>
                </a:solidFill>
              </a:rPr>
              <a:t>Protected attributes never enter clustering; a proxy test catches segments that correlate with them anyway.</a:t>
            </a:r>
            <a:endParaRPr lang="en-US" sz="1300" dirty="0"/>
          </a:p>
        </p:txBody>
      </p:sp>
      <p:sp>
        <p:nvSpPr>
          <p:cNvPr id="8" name="icon-ring-490"/>
          <p:cNvSpPr/>
          <p:nvPr/>
        </p:nvSpPr>
        <p:spPr>
          <a:xfrm>
            <a:off x="548640" y="2578608"/>
            <a:ext cx="548640" cy="548640"/>
          </a:xfrm>
          <a:prstGeom prst="ellipse">
            <a:avLst/>
          </a:prstGeom>
          <a:solidFill>
            <a:schemeClr val="accent4">
              <a:alpha val="18000"/>
            </a:schemeClr>
          </a:solidFill>
          <a:ln w="12700">
            <a:solidFill>
              <a:schemeClr val="accent4">
                <a:alpha val="70000"/>
              </a:schemeClr>
            </a:solidFill>
            <a:prstDash val="solid"/>
          </a:ln>
        </p:spPr>
      </p:sp>
      <p:pic>
        <p:nvPicPr>
          <p:cNvPr id="9" name="icon-491" descr="preencoded.png">    </p:cNvPr>
          <p:cNvPicPr>
            <a:picLocks noChangeAspect="1"/>
          </p:cNvPicPr>
          <p:nvPr/>
        </p:nvPicPr>
        <p:blipFill>
          <a:blip r:embed="rId2"/>
          <a:stretch>
            <a:fillRect/>
          </a:stretch>
        </p:blipFill>
        <p:spPr>
          <a:xfrm>
            <a:off x="691286" y="2721254"/>
            <a:ext cx="263347" cy="263347"/>
          </a:xfrm>
          <a:prstGeom prst="rect">
            <a:avLst/>
          </a:prstGeom>
        </p:spPr>
      </p:pic>
      <p:sp>
        <p:nvSpPr>
          <p:cNvPr id="10" name="text-492"/>
          <p:cNvSpPr txBox="1"/>
          <p:nvPr/>
        </p:nvSpPr>
        <p:spPr>
          <a:xfrm>
            <a:off x="1280160" y="2523744"/>
            <a:ext cx="5486400" cy="310896"/>
          </a:xfrm>
          <a:prstGeom prst="rect">
            <a:avLst/>
          </a:prstGeom>
          <a:noFill/>
          <a:ln/>
        </p:spPr>
        <p:txBody>
          <a:bodyPr wrap="square" lIns="0" tIns="0" rIns="0" bIns="0" rtlCol="0" anchor="t"/>
          <a:lstStyle/>
          <a:p>
            <a:pPr indent="0" marL="0">
              <a:buNone/>
            </a:pPr>
            <a:r>
              <a:rPr lang="en-US" sz="1550" b="1" dirty="0">
                <a:solidFill>
                  <a:schemeClr val="bg1"/>
                </a:solidFill>
              </a:rPr>
              <a:t>Explainability</a:t>
            </a:r>
            <a:endParaRPr lang="en-US" sz="1550" dirty="0"/>
          </a:p>
        </p:txBody>
      </p:sp>
      <p:sp>
        <p:nvSpPr>
          <p:cNvPr id="11" name="text-493"/>
          <p:cNvSpPr txBox="1"/>
          <p:nvPr/>
        </p:nvSpPr>
        <p:spPr>
          <a:xfrm>
            <a:off x="1280160" y="2852928"/>
            <a:ext cx="5577840" cy="548640"/>
          </a:xfrm>
          <a:prstGeom prst="rect">
            <a:avLst/>
          </a:prstGeom>
          <a:noFill/>
          <a:ln/>
        </p:spPr>
        <p:txBody>
          <a:bodyPr wrap="square" lIns="0" tIns="0" rIns="0" bIns="0" rtlCol="0" anchor="t"/>
          <a:lstStyle/>
          <a:p>
            <a:pPr indent="0" marL="0">
              <a:buNone/>
            </a:pPr>
            <a:r>
              <a:rPr lang="en-US" sz="1300" dirty="0">
                <a:solidFill>
                  <a:schemeClr val="bg2"/>
                </a:solidFill>
              </a:rPr>
              <a:t>Z-scored traits per segment, a rationale per direction, cited offers and per-check results per email.</a:t>
            </a:r>
            <a:endParaRPr lang="en-US" sz="1300" dirty="0"/>
          </a:p>
        </p:txBody>
      </p:sp>
      <p:sp>
        <p:nvSpPr>
          <p:cNvPr id="12" name="icon-ring-494"/>
          <p:cNvSpPr/>
          <p:nvPr/>
        </p:nvSpPr>
        <p:spPr>
          <a:xfrm>
            <a:off x="548640" y="3511296"/>
            <a:ext cx="548640" cy="548640"/>
          </a:xfrm>
          <a:prstGeom prst="ellipse">
            <a:avLst/>
          </a:prstGeom>
          <a:solidFill>
            <a:schemeClr val="accent5">
              <a:alpha val="18000"/>
            </a:schemeClr>
          </a:solidFill>
          <a:ln w="12700">
            <a:solidFill>
              <a:schemeClr val="accent5">
                <a:alpha val="70000"/>
              </a:schemeClr>
            </a:solidFill>
            <a:prstDash val="solid"/>
          </a:ln>
        </p:spPr>
      </p:sp>
      <p:pic>
        <p:nvPicPr>
          <p:cNvPr id="13" name="icon-495" descr="preencoded.png">    </p:cNvPr>
          <p:cNvPicPr>
            <a:picLocks noChangeAspect="1"/>
          </p:cNvPicPr>
          <p:nvPr/>
        </p:nvPicPr>
        <p:blipFill>
          <a:blip r:embed="rId3"/>
          <a:stretch>
            <a:fillRect/>
          </a:stretch>
        </p:blipFill>
        <p:spPr>
          <a:xfrm>
            <a:off x="691286" y="3653942"/>
            <a:ext cx="263347" cy="263347"/>
          </a:xfrm>
          <a:prstGeom prst="rect">
            <a:avLst/>
          </a:prstGeom>
        </p:spPr>
      </p:pic>
      <p:sp>
        <p:nvSpPr>
          <p:cNvPr id="14" name="text-496"/>
          <p:cNvSpPr txBox="1"/>
          <p:nvPr/>
        </p:nvSpPr>
        <p:spPr>
          <a:xfrm>
            <a:off x="1280160" y="3456432"/>
            <a:ext cx="5486400" cy="310896"/>
          </a:xfrm>
          <a:prstGeom prst="rect">
            <a:avLst/>
          </a:prstGeom>
          <a:noFill/>
          <a:ln/>
        </p:spPr>
        <p:txBody>
          <a:bodyPr wrap="square" lIns="0" tIns="0" rIns="0" bIns="0" rtlCol="0" anchor="t"/>
          <a:lstStyle/>
          <a:p>
            <a:pPr indent="0" marL="0">
              <a:buNone/>
            </a:pPr>
            <a:r>
              <a:rPr lang="en-US" sz="1550" b="1" dirty="0">
                <a:solidFill>
                  <a:schemeClr val="bg1"/>
                </a:solidFill>
              </a:rPr>
              <a:t>Accountability</a:t>
            </a:r>
            <a:endParaRPr lang="en-US" sz="1550" dirty="0"/>
          </a:p>
        </p:txBody>
      </p:sp>
      <p:sp>
        <p:nvSpPr>
          <p:cNvPr id="15" name="text-497"/>
          <p:cNvSpPr txBox="1"/>
          <p:nvPr/>
        </p:nvSpPr>
        <p:spPr>
          <a:xfrm>
            <a:off x="1280160" y="3785616"/>
            <a:ext cx="5577840" cy="548640"/>
          </a:xfrm>
          <a:prstGeom prst="rect">
            <a:avLst/>
          </a:prstGeom>
          <a:noFill/>
          <a:ln/>
        </p:spPr>
        <p:txBody>
          <a:bodyPr wrap="square" lIns="0" tIns="0" rIns="0" bIns="0" rtlCol="0" anchor="t"/>
          <a:lstStyle/>
          <a:p>
            <a:pPr indent="0" marL="0">
              <a:buNone/>
            </a:pPr>
            <a:r>
              <a:rPr lang="en-US" sz="1300" dirty="0">
                <a:solidFill>
                  <a:schemeClr val="bg2"/>
                </a:solidFill>
              </a:rPr>
              <a:t>Only a person can send; BLOCK is refused server-side; every decision lands in the append-only ledger.</a:t>
            </a:r>
            <a:endParaRPr lang="en-US" sz="1300" dirty="0"/>
          </a:p>
        </p:txBody>
      </p:sp>
      <p:sp>
        <p:nvSpPr>
          <p:cNvPr id="16" name="icon-ring-498"/>
          <p:cNvSpPr/>
          <p:nvPr/>
        </p:nvSpPr>
        <p:spPr>
          <a:xfrm>
            <a:off x="548640" y="4443984"/>
            <a:ext cx="548640" cy="548640"/>
          </a:xfrm>
          <a:prstGeom prst="ellipse">
            <a:avLst/>
          </a:prstGeom>
          <a:solidFill>
            <a:schemeClr val="accent3">
              <a:alpha val="18000"/>
            </a:schemeClr>
          </a:solidFill>
          <a:ln w="12700">
            <a:solidFill>
              <a:schemeClr val="accent3">
                <a:alpha val="70000"/>
              </a:schemeClr>
            </a:solidFill>
            <a:prstDash val="solid"/>
          </a:ln>
        </p:spPr>
      </p:sp>
      <p:pic>
        <p:nvPicPr>
          <p:cNvPr id="17" name="icon-499" descr="preencoded.png">    </p:cNvPr>
          <p:cNvPicPr>
            <a:picLocks noChangeAspect="1"/>
          </p:cNvPicPr>
          <p:nvPr/>
        </p:nvPicPr>
        <p:blipFill>
          <a:blip r:embed="rId4"/>
          <a:stretch>
            <a:fillRect/>
          </a:stretch>
        </p:blipFill>
        <p:spPr>
          <a:xfrm>
            <a:off x="691286" y="4586630"/>
            <a:ext cx="263347" cy="263347"/>
          </a:xfrm>
          <a:prstGeom prst="rect">
            <a:avLst/>
          </a:prstGeom>
        </p:spPr>
      </p:pic>
      <p:sp>
        <p:nvSpPr>
          <p:cNvPr id="18" name="text-500"/>
          <p:cNvSpPr txBox="1"/>
          <p:nvPr/>
        </p:nvSpPr>
        <p:spPr>
          <a:xfrm>
            <a:off x="1280160" y="4389120"/>
            <a:ext cx="5486400" cy="310896"/>
          </a:xfrm>
          <a:prstGeom prst="rect">
            <a:avLst/>
          </a:prstGeom>
          <a:noFill/>
          <a:ln/>
        </p:spPr>
        <p:txBody>
          <a:bodyPr wrap="square" lIns="0" tIns="0" rIns="0" bIns="0" rtlCol="0" anchor="t"/>
          <a:lstStyle/>
          <a:p>
            <a:pPr indent="0" marL="0">
              <a:buNone/>
            </a:pPr>
            <a:r>
              <a:rPr lang="en-US" sz="1550" b="1" dirty="0">
                <a:solidFill>
                  <a:schemeClr val="bg1"/>
                </a:solidFill>
              </a:rPr>
              <a:t>Manipulation guardrail</a:t>
            </a:r>
            <a:endParaRPr lang="en-US" sz="1550" dirty="0"/>
          </a:p>
        </p:txBody>
      </p:sp>
      <p:sp>
        <p:nvSpPr>
          <p:cNvPr id="19" name="text-501"/>
          <p:cNvSpPr txBox="1"/>
          <p:nvPr/>
        </p:nvSpPr>
        <p:spPr>
          <a:xfrm>
            <a:off x="1280160" y="4718304"/>
            <a:ext cx="5577840" cy="548640"/>
          </a:xfrm>
          <a:prstGeom prst="rect">
            <a:avLst/>
          </a:prstGeom>
          <a:noFill/>
          <a:ln/>
        </p:spPr>
        <p:txBody>
          <a:bodyPr wrap="square" lIns="0" tIns="0" rIns="0" bIns="0" rtlCol="0" anchor="t"/>
          <a:lstStyle/>
          <a:p>
            <a:pPr indent="0" marL="0">
              <a:buNone/>
            </a:pPr>
            <a:r>
              <a:rPr lang="en-US" sz="1300" dirty="0">
                <a:solidFill>
                  <a:schemeClr val="bg2"/>
                </a:solidFill>
              </a:rPr>
              <a:t>No urgency or scarcity in prompts; the judge scores “no dark patterns”; spam phrasing is flagged.</a:t>
            </a:r>
            <a:endParaRPr lang="en-US" sz="1300" dirty="0"/>
          </a:p>
        </p:txBody>
      </p:sp>
      <p:sp>
        <p:nvSpPr>
          <p:cNvPr id="20" name="icon-ring-502"/>
          <p:cNvSpPr/>
          <p:nvPr/>
        </p:nvSpPr>
        <p:spPr>
          <a:xfrm>
            <a:off x="548640" y="5376672"/>
            <a:ext cx="548640" cy="548640"/>
          </a:xfrm>
          <a:prstGeom prst="ellipse">
            <a:avLst/>
          </a:prstGeom>
          <a:solidFill>
            <a:schemeClr val="accent1">
              <a:alpha val="18000"/>
            </a:schemeClr>
          </a:solidFill>
          <a:ln w="12700">
            <a:solidFill>
              <a:schemeClr val="accent1">
                <a:alpha val="70000"/>
              </a:schemeClr>
            </a:solidFill>
            <a:prstDash val="solid"/>
          </a:ln>
        </p:spPr>
      </p:sp>
      <p:pic>
        <p:nvPicPr>
          <p:cNvPr id="21" name="icon-503" descr="preencoded.png">    </p:cNvPr>
          <p:cNvPicPr>
            <a:picLocks noChangeAspect="1"/>
          </p:cNvPicPr>
          <p:nvPr/>
        </p:nvPicPr>
        <p:blipFill>
          <a:blip r:embed="rId5"/>
          <a:stretch>
            <a:fillRect/>
          </a:stretch>
        </p:blipFill>
        <p:spPr>
          <a:xfrm>
            <a:off x="691286" y="5519318"/>
            <a:ext cx="263347" cy="263347"/>
          </a:xfrm>
          <a:prstGeom prst="rect">
            <a:avLst/>
          </a:prstGeom>
        </p:spPr>
      </p:pic>
      <p:sp>
        <p:nvSpPr>
          <p:cNvPr id="22" name="text-504"/>
          <p:cNvSpPr txBox="1"/>
          <p:nvPr/>
        </p:nvSpPr>
        <p:spPr>
          <a:xfrm>
            <a:off x="1280160" y="5321808"/>
            <a:ext cx="5486400" cy="310896"/>
          </a:xfrm>
          <a:prstGeom prst="rect">
            <a:avLst/>
          </a:prstGeom>
          <a:noFill/>
          <a:ln/>
        </p:spPr>
        <p:txBody>
          <a:bodyPr wrap="square" lIns="0" tIns="0" rIns="0" bIns="0" rtlCol="0" anchor="t"/>
          <a:lstStyle/>
          <a:p>
            <a:pPr indent="0" marL="0">
              <a:buNone/>
            </a:pPr>
            <a:r>
              <a:rPr lang="en-US" sz="1550" b="1" dirty="0">
                <a:solidFill>
                  <a:schemeClr val="bg1"/>
                </a:solidFill>
              </a:rPr>
              <a:t>Governance</a:t>
            </a:r>
            <a:endParaRPr lang="en-US" sz="1550" dirty="0"/>
          </a:p>
        </p:txBody>
      </p:sp>
      <p:sp>
        <p:nvSpPr>
          <p:cNvPr id="23" name="text-505"/>
          <p:cNvSpPr txBox="1"/>
          <p:nvPr/>
        </p:nvSpPr>
        <p:spPr>
          <a:xfrm>
            <a:off x="1280160" y="5650992"/>
            <a:ext cx="5577840" cy="548640"/>
          </a:xfrm>
          <a:prstGeom prst="rect">
            <a:avLst/>
          </a:prstGeom>
          <a:noFill/>
          <a:ln/>
        </p:spPr>
        <p:txBody>
          <a:bodyPr wrap="square" lIns="0" tIns="0" rIns="0" bIns="0" rtlCol="0" anchor="t"/>
          <a:lstStyle/>
          <a:p>
            <a:pPr indent="0" marL="0">
              <a:buNone/>
            </a:pPr>
            <a:r>
              <a:rPr lang="en-US" sz="1300" dirty="0">
                <a:solidFill>
                  <a:schemeClr val="bg2"/>
                </a:solidFill>
              </a:rPr>
              <a:t>IMDA Model AI Governance Framework mapping; PDPA consent re-checked whenever the Guardian runs.</a:t>
            </a:r>
            <a:endParaRPr lang="en-US" sz="1300" dirty="0"/>
          </a:p>
        </p:txBody>
      </p:sp>
      <p:sp>
        <p:nvSpPr>
          <p:cNvPr id="24" name="glass-506"/>
          <p:cNvSpPr/>
          <p:nvPr/>
        </p:nvSpPr>
        <p:spPr>
          <a:xfrm>
            <a:off x="7269480" y="1572768"/>
            <a:ext cx="4370832" cy="4599432"/>
          </a:xfrm>
          <a:prstGeom prst="roundRect">
            <a:avLst>
              <a:gd name="adj" fmla="val 2929"/>
            </a:avLst>
          </a:prstGeom>
          <a:solidFill>
            <a:schemeClr val="accent3">
              <a:alpha val="12000"/>
            </a:schemeClr>
          </a:solidFill>
          <a:ln w="12700">
            <a:solidFill>
              <a:schemeClr val="accent3">
                <a:alpha val="55000"/>
              </a:schemeClr>
            </a:solidFill>
            <a:prstDash val="solid"/>
          </a:ln>
        </p:spPr>
      </p:sp>
      <p:sp>
        <p:nvSpPr>
          <p:cNvPr id="25" name="text-507"/>
          <p:cNvSpPr txBox="1"/>
          <p:nvPr/>
        </p:nvSpPr>
        <p:spPr>
          <a:xfrm>
            <a:off x="7498080" y="1737360"/>
            <a:ext cx="3931920" cy="274320"/>
          </a:xfrm>
          <a:prstGeom prst="rect">
            <a:avLst/>
          </a:prstGeom>
          <a:noFill/>
          <a:ln/>
        </p:spPr>
        <p:txBody>
          <a:bodyPr wrap="square" lIns="0" tIns="0" rIns="0" bIns="0" rtlCol="0" anchor="t"/>
          <a:lstStyle/>
          <a:p>
            <a:pPr indent="0" marL="0">
              <a:buNone/>
            </a:pPr>
            <a:r>
              <a:rPr lang="en-US" sz="1150" b="1" spc="150" kern="0" dirty="0">
                <a:solidFill>
                  <a:schemeClr val="accent3"/>
                </a:solidFill>
              </a:rPr>
              <a:t>REAL FINDING ON THE DEMO DATA</a:t>
            </a:r>
            <a:endParaRPr lang="en-US" sz="1150" dirty="0"/>
          </a:p>
        </p:txBody>
      </p:sp>
      <p:sp>
        <p:nvSpPr>
          <p:cNvPr id="26" name="text-508"/>
          <p:cNvSpPr txBox="1"/>
          <p:nvPr/>
        </p:nvSpPr>
        <p:spPr>
          <a:xfrm>
            <a:off x="7498080" y="2029968"/>
            <a:ext cx="1737360" cy="777240"/>
          </a:xfrm>
          <a:prstGeom prst="rect">
            <a:avLst/>
          </a:prstGeom>
          <a:noFill/>
          <a:ln/>
        </p:spPr>
        <p:txBody>
          <a:bodyPr wrap="square" lIns="0" tIns="0" rIns="0" bIns="0" rtlCol="0" anchor="t"/>
          <a:lstStyle/>
          <a:p>
            <a:pPr indent="0" marL="0">
              <a:buNone/>
            </a:pPr>
            <a:r>
              <a:rPr lang="en-US" sz="4600" b="1" dirty="0">
                <a:solidFill>
                  <a:schemeClr val="accent3"/>
                </a:solidFill>
                <a:latin typeface="Century Gothic" pitchFamily="34" charset="0"/>
                <a:ea typeface="Century Gothic" pitchFamily="34" charset="-122"/>
                <a:cs typeface="Century Gothic" pitchFamily="34" charset="-120"/>
              </a:rPr>
              <a:t>37%</a:t>
            </a:r>
            <a:endParaRPr lang="en-US" sz="4600" dirty="0"/>
          </a:p>
        </p:txBody>
      </p:sp>
      <p:sp>
        <p:nvSpPr>
          <p:cNvPr id="27" name="text-509"/>
          <p:cNvSpPr txBox="1"/>
          <p:nvPr/>
        </p:nvSpPr>
        <p:spPr>
          <a:xfrm>
            <a:off x="9281160" y="2103120"/>
            <a:ext cx="2240280" cy="914400"/>
          </a:xfrm>
          <a:prstGeom prst="rect">
            <a:avLst/>
          </a:prstGeom>
          <a:noFill/>
          <a:ln/>
        </p:spPr>
        <p:txBody>
          <a:bodyPr wrap="square" lIns="0" tIns="0" rIns="0" bIns="0" rtlCol="0" anchor="t"/>
          <a:lstStyle/>
          <a:p>
            <a:pPr indent="0" marL="0">
              <a:buNone/>
            </a:pPr>
            <a:r>
              <a:rPr lang="en-US" sz="1250" dirty="0">
                <a:solidFill>
                  <a:schemeClr val="bg1"/>
                </a:solidFill>
              </a:rPr>
              <a:t>age deviation in “Loyal Full-Price Buyers” — flagged, then carried into the Guardian as REVISE.</a:t>
            </a:r>
            <a:endParaRPr lang="en-US" sz="1250" dirty="0"/>
          </a:p>
        </p:txBody>
      </p:sp>
      <p:sp>
        <p:nvSpPr>
          <p:cNvPr id="28" name="browser-frame-510"/>
          <p:cNvSpPr/>
          <p:nvPr/>
        </p:nvSpPr>
        <p:spPr>
          <a:xfrm>
            <a:off x="8284464" y="3108960"/>
            <a:ext cx="2350008" cy="2842329"/>
          </a:xfrm>
          <a:prstGeom prst="roundRect">
            <a:avLst>
              <a:gd name="adj" fmla="val 3891"/>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29" name="frame-dot-511"/>
          <p:cNvSpPr/>
          <p:nvPr/>
        </p:nvSpPr>
        <p:spPr>
          <a:xfrm>
            <a:off x="8412480" y="3218688"/>
            <a:ext cx="91440" cy="91440"/>
          </a:xfrm>
          <a:prstGeom prst="ellipse">
            <a:avLst/>
          </a:prstGeom>
          <a:solidFill>
            <a:schemeClr val="accent6"/>
          </a:solidFill>
          <a:ln/>
        </p:spPr>
      </p:sp>
      <p:sp>
        <p:nvSpPr>
          <p:cNvPr id="30" name="frame-dot-512"/>
          <p:cNvSpPr/>
          <p:nvPr/>
        </p:nvSpPr>
        <p:spPr>
          <a:xfrm>
            <a:off x="8567928" y="3218688"/>
            <a:ext cx="91440" cy="91440"/>
          </a:xfrm>
          <a:prstGeom prst="ellipse">
            <a:avLst/>
          </a:prstGeom>
          <a:solidFill>
            <a:schemeClr val="accent3"/>
          </a:solidFill>
          <a:ln/>
        </p:spPr>
      </p:sp>
      <p:sp>
        <p:nvSpPr>
          <p:cNvPr id="31" name="frame-dot-513"/>
          <p:cNvSpPr/>
          <p:nvPr/>
        </p:nvSpPr>
        <p:spPr>
          <a:xfrm>
            <a:off x="8723376" y="3218688"/>
            <a:ext cx="91440" cy="91440"/>
          </a:xfrm>
          <a:prstGeom prst="ellipse">
            <a:avLst/>
          </a:prstGeom>
          <a:solidFill>
            <a:schemeClr val="accent5"/>
          </a:solidFill>
          <a:ln/>
        </p:spPr>
      </p:sp>
      <p:pic>
        <p:nvPicPr>
          <p:cNvPr id="32" name="screenshot-514" descr="C:\Ai stuffs\MOSAIC\docs\media\console\segment-flag.jpg">    </p:cNvPr>
          <p:cNvPicPr>
            <a:picLocks noChangeAspect="1"/>
          </p:cNvPicPr>
          <p:nvPr/>
        </p:nvPicPr>
        <p:blipFill>
          <a:blip r:embed="rId6"/>
          <a:stretch>
            <a:fillRect/>
          </a:stretch>
        </p:blipFill>
        <p:spPr>
          <a:xfrm>
            <a:off x="8339328" y="3401568"/>
            <a:ext cx="2240280" cy="2494857"/>
          </a:xfrm>
          <a:prstGeom prst="rect">
            <a:avLst/>
          </a:prstGeom>
        </p:spPr>
      </p:pic>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AI security risk register</a:t>
            </a:r>
            <a:endParaRPr lang="en-US" sz="2800" dirty="0"/>
          </a:p>
        </p:txBody>
      </p:sp>
      <p:sp>
        <p:nvSpPr>
          <p:cNvPr id="3" name="text-515"/>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14 risks mapped to the OWASP Top 10 for LLM Applications (2025). Full register with evidence: report §6.</a:t>
            </a:r>
            <a:endParaRPr lang="en-US" sz="1600" dirty="0"/>
          </a:p>
        </p:txBody>
      </p:sp>
      <p:sp>
        <p:nvSpPr>
          <p:cNvPr id="4" name="glass-516"/>
          <p:cNvSpPr/>
          <p:nvPr/>
        </p:nvSpPr>
        <p:spPr>
          <a:xfrm>
            <a:off x="548640" y="1572768"/>
            <a:ext cx="5120640" cy="4599432"/>
          </a:xfrm>
          <a:prstGeom prst="roundRect">
            <a:avLst>
              <a:gd name="adj" fmla="val 2783"/>
            </a:avLst>
          </a:prstGeom>
          <a:solidFill>
            <a:schemeClr val="tx2">
              <a:alpha val="78000"/>
            </a:schemeClr>
          </a:solidFill>
          <a:ln w="9525">
            <a:solidFill>
              <a:schemeClr val="bg2">
                <a:alpha val="22000"/>
              </a:schemeClr>
            </a:solidFill>
            <a:prstDash val="solid"/>
          </a:ln>
        </p:spPr>
      </p:sp>
      <p:sp>
        <p:nvSpPr>
          <p:cNvPr id="5" name="text-517"/>
          <p:cNvSpPr txBox="1"/>
          <p:nvPr/>
        </p:nvSpPr>
        <p:spPr>
          <a:xfrm>
            <a:off x="777240" y="1691640"/>
            <a:ext cx="4663440" cy="320040"/>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Inherent likelihood × impact</a:t>
            </a:r>
            <a:endParaRPr lang="en-US" sz="1450" dirty="0"/>
          </a:p>
        </p:txBody>
      </p:sp>
      <p:sp>
        <p:nvSpPr>
          <p:cNvPr id="6" name="text-518"/>
          <p:cNvSpPr txBox="1"/>
          <p:nvPr/>
        </p:nvSpPr>
        <p:spPr>
          <a:xfrm>
            <a:off x="685800" y="2194560"/>
            <a:ext cx="685800" cy="1078992"/>
          </a:xfrm>
          <a:prstGeom prst="rect">
            <a:avLst/>
          </a:prstGeom>
          <a:noFill/>
          <a:ln/>
        </p:spPr>
        <p:txBody>
          <a:bodyPr wrap="square" lIns="0" tIns="0" rIns="0" bIns="0" rtlCol="0" anchor="ctr"/>
          <a:lstStyle/>
          <a:p>
            <a:pPr algn="ctr" indent="0" marL="0">
              <a:buNone/>
            </a:pPr>
            <a:r>
              <a:rPr lang="en-US" sz="1200" dirty="0">
                <a:solidFill>
                  <a:schemeClr val="bg2"/>
                </a:solidFill>
              </a:rPr>
              <a:t>High</a:t>
            </a:r>
            <a:endParaRPr lang="en-US" sz="1200" dirty="0"/>
          </a:p>
        </p:txBody>
      </p:sp>
      <p:sp>
        <p:nvSpPr>
          <p:cNvPr id="7" name="heat-cell-519"/>
          <p:cNvSpPr/>
          <p:nvPr/>
        </p:nvSpPr>
        <p:spPr>
          <a:xfrm>
            <a:off x="1453896" y="2231136"/>
            <a:ext cx="1225296" cy="1005840"/>
          </a:xfrm>
          <a:prstGeom prst="roundRect">
            <a:avLst>
              <a:gd name="adj" fmla="val 7273"/>
            </a:avLst>
          </a:prstGeom>
          <a:solidFill>
            <a:schemeClr val="accent3">
              <a:alpha val="28000"/>
            </a:schemeClr>
          </a:solidFill>
          <a:ln/>
        </p:spPr>
      </p:sp>
      <p:sp>
        <p:nvSpPr>
          <p:cNvPr id="8" name="heat-cell-520"/>
          <p:cNvSpPr/>
          <p:nvPr/>
        </p:nvSpPr>
        <p:spPr>
          <a:xfrm>
            <a:off x="2752344" y="2231136"/>
            <a:ext cx="1225296" cy="1005840"/>
          </a:xfrm>
          <a:prstGeom prst="roundRect">
            <a:avLst>
              <a:gd name="adj" fmla="val 7273"/>
            </a:avLst>
          </a:prstGeom>
          <a:solidFill>
            <a:schemeClr val="accent6">
              <a:alpha val="38000"/>
            </a:schemeClr>
          </a:solidFill>
          <a:ln/>
        </p:spPr>
      </p:sp>
      <p:sp>
        <p:nvSpPr>
          <p:cNvPr id="9" name="heat-cell-521"/>
          <p:cNvSpPr/>
          <p:nvPr/>
        </p:nvSpPr>
        <p:spPr>
          <a:xfrm>
            <a:off x="4050792" y="2231136"/>
            <a:ext cx="1225296" cy="1005840"/>
          </a:xfrm>
          <a:prstGeom prst="roundRect">
            <a:avLst>
              <a:gd name="adj" fmla="val 7273"/>
            </a:avLst>
          </a:prstGeom>
          <a:solidFill>
            <a:schemeClr val="accent6">
              <a:alpha val="38000"/>
            </a:schemeClr>
          </a:solidFill>
          <a:ln/>
        </p:spPr>
      </p:sp>
      <p:sp>
        <p:nvSpPr>
          <p:cNvPr id="10" name="text-522"/>
          <p:cNvSpPr txBox="1"/>
          <p:nvPr/>
        </p:nvSpPr>
        <p:spPr>
          <a:xfrm>
            <a:off x="685800" y="3273552"/>
            <a:ext cx="685800" cy="1078992"/>
          </a:xfrm>
          <a:prstGeom prst="rect">
            <a:avLst/>
          </a:prstGeom>
          <a:noFill/>
          <a:ln/>
        </p:spPr>
        <p:txBody>
          <a:bodyPr wrap="square" lIns="0" tIns="0" rIns="0" bIns="0" rtlCol="0" anchor="ctr"/>
          <a:lstStyle/>
          <a:p>
            <a:pPr algn="ctr" indent="0" marL="0">
              <a:buNone/>
            </a:pPr>
            <a:r>
              <a:rPr lang="en-US" sz="1200" dirty="0">
                <a:solidFill>
                  <a:schemeClr val="bg2"/>
                </a:solidFill>
              </a:rPr>
              <a:t>Med</a:t>
            </a:r>
            <a:endParaRPr lang="en-US" sz="1200" dirty="0"/>
          </a:p>
        </p:txBody>
      </p:sp>
      <p:sp>
        <p:nvSpPr>
          <p:cNvPr id="11" name="heat-cell-523"/>
          <p:cNvSpPr/>
          <p:nvPr/>
        </p:nvSpPr>
        <p:spPr>
          <a:xfrm>
            <a:off x="1453896" y="3310128"/>
            <a:ext cx="1225296" cy="1005840"/>
          </a:xfrm>
          <a:prstGeom prst="roundRect">
            <a:avLst>
              <a:gd name="adj" fmla="val 7273"/>
            </a:avLst>
          </a:prstGeom>
          <a:solidFill>
            <a:schemeClr val="accent5">
              <a:alpha val="18000"/>
            </a:schemeClr>
          </a:solidFill>
          <a:ln/>
        </p:spPr>
      </p:sp>
      <p:sp>
        <p:nvSpPr>
          <p:cNvPr id="12" name="heat-cell-524"/>
          <p:cNvSpPr/>
          <p:nvPr/>
        </p:nvSpPr>
        <p:spPr>
          <a:xfrm>
            <a:off x="2752344" y="3310128"/>
            <a:ext cx="1225296" cy="1005840"/>
          </a:xfrm>
          <a:prstGeom prst="roundRect">
            <a:avLst>
              <a:gd name="adj" fmla="val 7273"/>
            </a:avLst>
          </a:prstGeom>
          <a:solidFill>
            <a:schemeClr val="accent3">
              <a:alpha val="28000"/>
            </a:schemeClr>
          </a:solidFill>
          <a:ln/>
        </p:spPr>
      </p:sp>
      <p:sp>
        <p:nvSpPr>
          <p:cNvPr id="13" name="chip-525"/>
          <p:cNvSpPr/>
          <p:nvPr/>
        </p:nvSpPr>
        <p:spPr>
          <a:xfrm>
            <a:off x="2825496" y="3401568"/>
            <a:ext cx="347472" cy="256032"/>
          </a:xfrm>
          <a:prstGeom prst="roundRect">
            <a:avLst>
              <a:gd name="adj" fmla="val 50000"/>
            </a:avLst>
          </a:prstGeom>
          <a:solidFill>
            <a:schemeClr val="bg1"/>
          </a:solidFill>
          <a:ln/>
        </p:spPr>
      </p:sp>
      <p:sp>
        <p:nvSpPr>
          <p:cNvPr id="14" name="text-526"/>
          <p:cNvSpPr txBox="1"/>
          <p:nvPr/>
        </p:nvSpPr>
        <p:spPr>
          <a:xfrm>
            <a:off x="2825496"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R4</a:t>
            </a:r>
            <a:endParaRPr lang="en-US" sz="1000" dirty="0"/>
          </a:p>
        </p:txBody>
      </p:sp>
      <p:sp>
        <p:nvSpPr>
          <p:cNvPr id="15" name="chip-527"/>
          <p:cNvSpPr/>
          <p:nvPr/>
        </p:nvSpPr>
        <p:spPr>
          <a:xfrm>
            <a:off x="3209544" y="3401568"/>
            <a:ext cx="347472" cy="256032"/>
          </a:xfrm>
          <a:prstGeom prst="roundRect">
            <a:avLst>
              <a:gd name="adj" fmla="val 50000"/>
            </a:avLst>
          </a:prstGeom>
          <a:solidFill>
            <a:schemeClr val="bg1"/>
          </a:solidFill>
          <a:ln/>
        </p:spPr>
      </p:sp>
      <p:sp>
        <p:nvSpPr>
          <p:cNvPr id="16" name="text-528"/>
          <p:cNvSpPr txBox="1"/>
          <p:nvPr/>
        </p:nvSpPr>
        <p:spPr>
          <a:xfrm>
            <a:off x="3209544"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R5</a:t>
            </a:r>
            <a:endParaRPr lang="en-US" sz="1000" dirty="0"/>
          </a:p>
        </p:txBody>
      </p:sp>
      <p:sp>
        <p:nvSpPr>
          <p:cNvPr id="17" name="chip-529"/>
          <p:cNvSpPr/>
          <p:nvPr/>
        </p:nvSpPr>
        <p:spPr>
          <a:xfrm>
            <a:off x="3593592" y="3401568"/>
            <a:ext cx="347472" cy="256032"/>
          </a:xfrm>
          <a:prstGeom prst="roundRect">
            <a:avLst>
              <a:gd name="adj" fmla="val 50000"/>
            </a:avLst>
          </a:prstGeom>
          <a:solidFill>
            <a:schemeClr val="bg1"/>
          </a:solidFill>
          <a:ln/>
        </p:spPr>
      </p:sp>
      <p:sp>
        <p:nvSpPr>
          <p:cNvPr id="18" name="text-530"/>
          <p:cNvSpPr txBox="1"/>
          <p:nvPr/>
        </p:nvSpPr>
        <p:spPr>
          <a:xfrm>
            <a:off x="3593592"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R8</a:t>
            </a:r>
            <a:endParaRPr lang="en-US" sz="1000" dirty="0"/>
          </a:p>
        </p:txBody>
      </p:sp>
      <p:sp>
        <p:nvSpPr>
          <p:cNvPr id="19" name="chip-531"/>
          <p:cNvSpPr/>
          <p:nvPr/>
        </p:nvSpPr>
        <p:spPr>
          <a:xfrm>
            <a:off x="2825496" y="3730752"/>
            <a:ext cx="347472" cy="256032"/>
          </a:xfrm>
          <a:prstGeom prst="roundRect">
            <a:avLst>
              <a:gd name="adj" fmla="val 50000"/>
            </a:avLst>
          </a:prstGeom>
          <a:solidFill>
            <a:schemeClr val="bg1"/>
          </a:solidFill>
          <a:ln/>
        </p:spPr>
      </p:sp>
      <p:sp>
        <p:nvSpPr>
          <p:cNvPr id="20" name="text-532"/>
          <p:cNvSpPr txBox="1"/>
          <p:nvPr/>
        </p:nvSpPr>
        <p:spPr>
          <a:xfrm>
            <a:off x="2825496" y="3730752"/>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R9</a:t>
            </a:r>
            <a:endParaRPr lang="en-US" sz="1000" dirty="0"/>
          </a:p>
        </p:txBody>
      </p:sp>
      <p:sp>
        <p:nvSpPr>
          <p:cNvPr id="21" name="chip-533"/>
          <p:cNvSpPr/>
          <p:nvPr/>
        </p:nvSpPr>
        <p:spPr>
          <a:xfrm>
            <a:off x="3209544" y="3730752"/>
            <a:ext cx="347472" cy="256032"/>
          </a:xfrm>
          <a:prstGeom prst="roundRect">
            <a:avLst>
              <a:gd name="adj" fmla="val 50000"/>
            </a:avLst>
          </a:prstGeom>
          <a:solidFill>
            <a:schemeClr val="bg1"/>
          </a:solidFill>
          <a:ln/>
        </p:spPr>
      </p:sp>
      <p:sp>
        <p:nvSpPr>
          <p:cNvPr id="22" name="text-534"/>
          <p:cNvSpPr txBox="1"/>
          <p:nvPr/>
        </p:nvSpPr>
        <p:spPr>
          <a:xfrm>
            <a:off x="3209544" y="3730752"/>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R11</a:t>
            </a:r>
            <a:endParaRPr lang="en-US" sz="1000" dirty="0"/>
          </a:p>
        </p:txBody>
      </p:sp>
      <p:sp>
        <p:nvSpPr>
          <p:cNvPr id="23" name="heat-cell-535"/>
          <p:cNvSpPr/>
          <p:nvPr/>
        </p:nvSpPr>
        <p:spPr>
          <a:xfrm>
            <a:off x="4050792" y="3310128"/>
            <a:ext cx="1225296" cy="1005840"/>
          </a:xfrm>
          <a:prstGeom prst="roundRect">
            <a:avLst>
              <a:gd name="adj" fmla="val 7273"/>
            </a:avLst>
          </a:prstGeom>
          <a:solidFill>
            <a:schemeClr val="accent6">
              <a:alpha val="38000"/>
            </a:schemeClr>
          </a:solidFill>
          <a:ln/>
        </p:spPr>
      </p:sp>
      <p:sp>
        <p:nvSpPr>
          <p:cNvPr id="24" name="chip-536"/>
          <p:cNvSpPr/>
          <p:nvPr/>
        </p:nvSpPr>
        <p:spPr>
          <a:xfrm>
            <a:off x="4123944" y="3401568"/>
            <a:ext cx="347472" cy="256032"/>
          </a:xfrm>
          <a:prstGeom prst="roundRect">
            <a:avLst>
              <a:gd name="adj" fmla="val 50000"/>
            </a:avLst>
          </a:prstGeom>
          <a:solidFill>
            <a:schemeClr val="bg1"/>
          </a:solidFill>
          <a:ln/>
        </p:spPr>
      </p:sp>
      <p:sp>
        <p:nvSpPr>
          <p:cNvPr id="25" name="text-537"/>
          <p:cNvSpPr txBox="1"/>
          <p:nvPr/>
        </p:nvSpPr>
        <p:spPr>
          <a:xfrm>
            <a:off x="4123944"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a:t>
            </a:r>
            <a:endParaRPr lang="en-US" sz="1000" dirty="0"/>
          </a:p>
        </p:txBody>
      </p:sp>
      <p:sp>
        <p:nvSpPr>
          <p:cNvPr id="26" name="chip-538"/>
          <p:cNvSpPr/>
          <p:nvPr/>
        </p:nvSpPr>
        <p:spPr>
          <a:xfrm>
            <a:off x="4507992" y="3401568"/>
            <a:ext cx="347472" cy="256032"/>
          </a:xfrm>
          <a:prstGeom prst="roundRect">
            <a:avLst>
              <a:gd name="adj" fmla="val 50000"/>
            </a:avLst>
          </a:prstGeom>
          <a:solidFill>
            <a:schemeClr val="bg1"/>
          </a:solidFill>
          <a:ln/>
        </p:spPr>
      </p:sp>
      <p:sp>
        <p:nvSpPr>
          <p:cNvPr id="27" name="text-539"/>
          <p:cNvSpPr txBox="1"/>
          <p:nvPr/>
        </p:nvSpPr>
        <p:spPr>
          <a:xfrm>
            <a:off x="4507992"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R12</a:t>
            </a:r>
            <a:endParaRPr lang="en-US" sz="1000" dirty="0"/>
          </a:p>
        </p:txBody>
      </p:sp>
      <p:sp>
        <p:nvSpPr>
          <p:cNvPr id="28" name="chip-540"/>
          <p:cNvSpPr/>
          <p:nvPr/>
        </p:nvSpPr>
        <p:spPr>
          <a:xfrm>
            <a:off x="4892040" y="3401568"/>
            <a:ext cx="347472" cy="256032"/>
          </a:xfrm>
          <a:prstGeom prst="roundRect">
            <a:avLst>
              <a:gd name="adj" fmla="val 50000"/>
            </a:avLst>
          </a:prstGeom>
          <a:solidFill>
            <a:schemeClr val="bg1"/>
          </a:solidFill>
          <a:ln/>
        </p:spPr>
      </p:sp>
      <p:sp>
        <p:nvSpPr>
          <p:cNvPr id="29" name="text-541"/>
          <p:cNvSpPr txBox="1"/>
          <p:nvPr/>
        </p:nvSpPr>
        <p:spPr>
          <a:xfrm>
            <a:off x="4892040" y="3401568"/>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R13</a:t>
            </a:r>
            <a:endParaRPr lang="en-US" sz="1000" dirty="0"/>
          </a:p>
        </p:txBody>
      </p:sp>
      <p:sp>
        <p:nvSpPr>
          <p:cNvPr id="30" name="text-542"/>
          <p:cNvSpPr txBox="1"/>
          <p:nvPr/>
        </p:nvSpPr>
        <p:spPr>
          <a:xfrm>
            <a:off x="685800" y="4352544"/>
            <a:ext cx="685800" cy="1078992"/>
          </a:xfrm>
          <a:prstGeom prst="rect">
            <a:avLst/>
          </a:prstGeom>
          <a:noFill/>
          <a:ln/>
        </p:spPr>
        <p:txBody>
          <a:bodyPr wrap="square" lIns="0" tIns="0" rIns="0" bIns="0" rtlCol="0" anchor="ctr"/>
          <a:lstStyle/>
          <a:p>
            <a:pPr algn="ctr" indent="0" marL="0">
              <a:buNone/>
            </a:pPr>
            <a:r>
              <a:rPr lang="en-US" sz="1200" dirty="0">
                <a:solidFill>
                  <a:schemeClr val="bg2"/>
                </a:solidFill>
              </a:rPr>
              <a:t>Low</a:t>
            </a:r>
            <a:endParaRPr lang="en-US" sz="1200" dirty="0"/>
          </a:p>
        </p:txBody>
      </p:sp>
      <p:sp>
        <p:nvSpPr>
          <p:cNvPr id="31" name="heat-cell-543"/>
          <p:cNvSpPr/>
          <p:nvPr/>
        </p:nvSpPr>
        <p:spPr>
          <a:xfrm>
            <a:off x="1453896" y="4389120"/>
            <a:ext cx="1225296" cy="1005840"/>
          </a:xfrm>
          <a:prstGeom prst="roundRect">
            <a:avLst>
              <a:gd name="adj" fmla="val 7273"/>
            </a:avLst>
          </a:prstGeom>
          <a:solidFill>
            <a:schemeClr val="accent5">
              <a:alpha val="18000"/>
            </a:schemeClr>
          </a:solidFill>
          <a:ln/>
        </p:spPr>
      </p:sp>
      <p:sp>
        <p:nvSpPr>
          <p:cNvPr id="32" name="chip-544"/>
          <p:cNvSpPr/>
          <p:nvPr/>
        </p:nvSpPr>
        <p:spPr>
          <a:xfrm>
            <a:off x="1527048" y="4480560"/>
            <a:ext cx="347472" cy="256032"/>
          </a:xfrm>
          <a:prstGeom prst="roundRect">
            <a:avLst>
              <a:gd name="adj" fmla="val 50000"/>
            </a:avLst>
          </a:prstGeom>
          <a:solidFill>
            <a:schemeClr val="bg1"/>
          </a:solidFill>
          <a:ln/>
        </p:spPr>
      </p:sp>
      <p:sp>
        <p:nvSpPr>
          <p:cNvPr id="33" name="text-545"/>
          <p:cNvSpPr txBox="1"/>
          <p:nvPr/>
        </p:nvSpPr>
        <p:spPr>
          <a:xfrm>
            <a:off x="1527048"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R14</a:t>
            </a:r>
            <a:endParaRPr lang="en-US" sz="1000" dirty="0"/>
          </a:p>
        </p:txBody>
      </p:sp>
      <p:sp>
        <p:nvSpPr>
          <p:cNvPr id="34" name="heat-cell-546"/>
          <p:cNvSpPr/>
          <p:nvPr/>
        </p:nvSpPr>
        <p:spPr>
          <a:xfrm>
            <a:off x="2752344" y="4389120"/>
            <a:ext cx="1225296" cy="1005840"/>
          </a:xfrm>
          <a:prstGeom prst="roundRect">
            <a:avLst>
              <a:gd name="adj" fmla="val 7273"/>
            </a:avLst>
          </a:prstGeom>
          <a:solidFill>
            <a:schemeClr val="accent5">
              <a:alpha val="18000"/>
            </a:schemeClr>
          </a:solidFill>
          <a:ln/>
        </p:spPr>
      </p:sp>
      <p:sp>
        <p:nvSpPr>
          <p:cNvPr id="35" name="chip-547"/>
          <p:cNvSpPr/>
          <p:nvPr/>
        </p:nvSpPr>
        <p:spPr>
          <a:xfrm>
            <a:off x="2825496" y="4480560"/>
            <a:ext cx="347472" cy="256032"/>
          </a:xfrm>
          <a:prstGeom prst="roundRect">
            <a:avLst>
              <a:gd name="adj" fmla="val 50000"/>
            </a:avLst>
          </a:prstGeom>
          <a:solidFill>
            <a:schemeClr val="bg1"/>
          </a:solidFill>
          <a:ln/>
        </p:spPr>
      </p:sp>
      <p:sp>
        <p:nvSpPr>
          <p:cNvPr id="36" name="text-548"/>
          <p:cNvSpPr txBox="1"/>
          <p:nvPr/>
        </p:nvSpPr>
        <p:spPr>
          <a:xfrm>
            <a:off x="2825496"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R2</a:t>
            </a:r>
            <a:endParaRPr lang="en-US" sz="1000" dirty="0"/>
          </a:p>
        </p:txBody>
      </p:sp>
      <p:sp>
        <p:nvSpPr>
          <p:cNvPr id="37" name="chip-549"/>
          <p:cNvSpPr/>
          <p:nvPr/>
        </p:nvSpPr>
        <p:spPr>
          <a:xfrm>
            <a:off x="3209544" y="4480560"/>
            <a:ext cx="347472" cy="256032"/>
          </a:xfrm>
          <a:prstGeom prst="roundRect">
            <a:avLst>
              <a:gd name="adj" fmla="val 50000"/>
            </a:avLst>
          </a:prstGeom>
          <a:solidFill>
            <a:schemeClr val="bg1"/>
          </a:solidFill>
          <a:ln/>
        </p:spPr>
      </p:sp>
      <p:sp>
        <p:nvSpPr>
          <p:cNvPr id="38" name="text-550"/>
          <p:cNvSpPr txBox="1"/>
          <p:nvPr/>
        </p:nvSpPr>
        <p:spPr>
          <a:xfrm>
            <a:off x="3209544"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R6</a:t>
            </a:r>
            <a:endParaRPr lang="en-US" sz="1000" dirty="0"/>
          </a:p>
        </p:txBody>
      </p:sp>
      <p:sp>
        <p:nvSpPr>
          <p:cNvPr id="39" name="heat-cell-551"/>
          <p:cNvSpPr/>
          <p:nvPr/>
        </p:nvSpPr>
        <p:spPr>
          <a:xfrm>
            <a:off x="4050792" y="4389120"/>
            <a:ext cx="1225296" cy="1005840"/>
          </a:xfrm>
          <a:prstGeom prst="roundRect">
            <a:avLst>
              <a:gd name="adj" fmla="val 7273"/>
            </a:avLst>
          </a:prstGeom>
          <a:solidFill>
            <a:schemeClr val="accent3">
              <a:alpha val="28000"/>
            </a:schemeClr>
          </a:solidFill>
          <a:ln/>
        </p:spPr>
      </p:sp>
      <p:sp>
        <p:nvSpPr>
          <p:cNvPr id="40" name="chip-552"/>
          <p:cNvSpPr/>
          <p:nvPr/>
        </p:nvSpPr>
        <p:spPr>
          <a:xfrm>
            <a:off x="4123944" y="4480560"/>
            <a:ext cx="347472" cy="256032"/>
          </a:xfrm>
          <a:prstGeom prst="roundRect">
            <a:avLst>
              <a:gd name="adj" fmla="val 50000"/>
            </a:avLst>
          </a:prstGeom>
          <a:solidFill>
            <a:schemeClr val="bg1"/>
          </a:solidFill>
          <a:ln/>
        </p:spPr>
      </p:sp>
      <p:sp>
        <p:nvSpPr>
          <p:cNvPr id="41" name="text-553"/>
          <p:cNvSpPr txBox="1"/>
          <p:nvPr/>
        </p:nvSpPr>
        <p:spPr>
          <a:xfrm>
            <a:off x="4123944"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R3</a:t>
            </a:r>
            <a:endParaRPr lang="en-US" sz="1000" dirty="0"/>
          </a:p>
        </p:txBody>
      </p:sp>
      <p:sp>
        <p:nvSpPr>
          <p:cNvPr id="42" name="chip-554"/>
          <p:cNvSpPr/>
          <p:nvPr/>
        </p:nvSpPr>
        <p:spPr>
          <a:xfrm>
            <a:off x="4507992" y="4480560"/>
            <a:ext cx="347472" cy="256032"/>
          </a:xfrm>
          <a:prstGeom prst="roundRect">
            <a:avLst>
              <a:gd name="adj" fmla="val 50000"/>
            </a:avLst>
          </a:prstGeom>
          <a:solidFill>
            <a:schemeClr val="bg1"/>
          </a:solidFill>
          <a:ln/>
        </p:spPr>
      </p:sp>
      <p:sp>
        <p:nvSpPr>
          <p:cNvPr id="43" name="text-555"/>
          <p:cNvSpPr txBox="1"/>
          <p:nvPr/>
        </p:nvSpPr>
        <p:spPr>
          <a:xfrm>
            <a:off x="4507992"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R7</a:t>
            </a:r>
            <a:endParaRPr lang="en-US" sz="1000" dirty="0"/>
          </a:p>
        </p:txBody>
      </p:sp>
      <p:sp>
        <p:nvSpPr>
          <p:cNvPr id="44" name="chip-556"/>
          <p:cNvSpPr/>
          <p:nvPr/>
        </p:nvSpPr>
        <p:spPr>
          <a:xfrm>
            <a:off x="4892040" y="4480560"/>
            <a:ext cx="347472" cy="256032"/>
          </a:xfrm>
          <a:prstGeom prst="roundRect">
            <a:avLst>
              <a:gd name="adj" fmla="val 50000"/>
            </a:avLst>
          </a:prstGeom>
          <a:solidFill>
            <a:schemeClr val="bg1"/>
          </a:solidFill>
          <a:ln/>
        </p:spPr>
      </p:sp>
      <p:sp>
        <p:nvSpPr>
          <p:cNvPr id="45" name="text-557"/>
          <p:cNvSpPr txBox="1"/>
          <p:nvPr/>
        </p:nvSpPr>
        <p:spPr>
          <a:xfrm>
            <a:off x="4892040" y="4480560"/>
            <a:ext cx="347472" cy="256032"/>
          </a:xfrm>
          <a:prstGeom prst="rect">
            <a:avLst/>
          </a:prstGeom>
          <a:noFill/>
          <a:ln/>
        </p:spPr>
        <p:txBody>
          <a:bodyPr wrap="square" lIns="0" tIns="0" rIns="0" bIns="0" rtlCol="0" anchor="ctr"/>
          <a:lstStyle/>
          <a:p>
            <a:pPr algn="ctr" indent="0" marL="0">
              <a:buNone/>
            </a:pPr>
            <a:r>
              <a:rPr lang="en-US" sz="1000" b="1" dirty="0">
                <a:solidFill>
                  <a:schemeClr val="tx1"/>
                </a:solidFill>
              </a:rPr>
              <a:t>R10</a:t>
            </a:r>
            <a:endParaRPr lang="en-US" sz="1000" dirty="0"/>
          </a:p>
        </p:txBody>
      </p:sp>
      <p:sp>
        <p:nvSpPr>
          <p:cNvPr id="46" name="text-558"/>
          <p:cNvSpPr txBox="1"/>
          <p:nvPr/>
        </p:nvSpPr>
        <p:spPr>
          <a:xfrm>
            <a:off x="1417320" y="5449824"/>
            <a:ext cx="1298448" cy="274320"/>
          </a:xfrm>
          <a:prstGeom prst="rect">
            <a:avLst/>
          </a:prstGeom>
          <a:noFill/>
          <a:ln/>
        </p:spPr>
        <p:txBody>
          <a:bodyPr wrap="square" lIns="0" tIns="0" rIns="0" bIns="0" rtlCol="0" anchor="t"/>
          <a:lstStyle/>
          <a:p>
            <a:pPr algn="ctr" indent="0" marL="0">
              <a:buNone/>
            </a:pPr>
            <a:r>
              <a:rPr lang="en-US" sz="1200" dirty="0">
                <a:solidFill>
                  <a:schemeClr val="bg2"/>
                </a:solidFill>
              </a:rPr>
              <a:t>Low</a:t>
            </a:r>
            <a:endParaRPr lang="en-US" sz="1200" dirty="0"/>
          </a:p>
        </p:txBody>
      </p:sp>
      <p:sp>
        <p:nvSpPr>
          <p:cNvPr id="47" name="text-559"/>
          <p:cNvSpPr txBox="1"/>
          <p:nvPr/>
        </p:nvSpPr>
        <p:spPr>
          <a:xfrm>
            <a:off x="2715768" y="5449824"/>
            <a:ext cx="1298448" cy="274320"/>
          </a:xfrm>
          <a:prstGeom prst="rect">
            <a:avLst/>
          </a:prstGeom>
          <a:noFill/>
          <a:ln/>
        </p:spPr>
        <p:txBody>
          <a:bodyPr wrap="square" lIns="0" tIns="0" rIns="0" bIns="0" rtlCol="0" anchor="t"/>
          <a:lstStyle/>
          <a:p>
            <a:pPr algn="ctr" indent="0" marL="0">
              <a:buNone/>
            </a:pPr>
            <a:r>
              <a:rPr lang="en-US" sz="1200" dirty="0">
                <a:solidFill>
                  <a:schemeClr val="bg2"/>
                </a:solidFill>
              </a:rPr>
              <a:t>Med</a:t>
            </a:r>
            <a:endParaRPr lang="en-US" sz="1200" dirty="0"/>
          </a:p>
        </p:txBody>
      </p:sp>
      <p:sp>
        <p:nvSpPr>
          <p:cNvPr id="48" name="text-560"/>
          <p:cNvSpPr txBox="1"/>
          <p:nvPr/>
        </p:nvSpPr>
        <p:spPr>
          <a:xfrm>
            <a:off x="4014216" y="5449824"/>
            <a:ext cx="1298448" cy="274320"/>
          </a:xfrm>
          <a:prstGeom prst="rect">
            <a:avLst/>
          </a:prstGeom>
          <a:noFill/>
          <a:ln/>
        </p:spPr>
        <p:txBody>
          <a:bodyPr wrap="square" lIns="0" tIns="0" rIns="0" bIns="0" rtlCol="0" anchor="t"/>
          <a:lstStyle/>
          <a:p>
            <a:pPr algn="ctr" indent="0" marL="0">
              <a:buNone/>
            </a:pPr>
            <a:r>
              <a:rPr lang="en-US" sz="1200" dirty="0">
                <a:solidFill>
                  <a:schemeClr val="bg2"/>
                </a:solidFill>
              </a:rPr>
              <a:t>High</a:t>
            </a:r>
            <a:endParaRPr lang="en-US" sz="1200" dirty="0"/>
          </a:p>
        </p:txBody>
      </p:sp>
      <p:sp>
        <p:nvSpPr>
          <p:cNvPr id="49" name="text-561"/>
          <p:cNvSpPr txBox="1"/>
          <p:nvPr/>
        </p:nvSpPr>
        <p:spPr>
          <a:xfrm>
            <a:off x="1417320" y="5705856"/>
            <a:ext cx="3895344" cy="274320"/>
          </a:xfrm>
          <a:prstGeom prst="rect">
            <a:avLst/>
          </a:prstGeom>
          <a:noFill/>
          <a:ln/>
        </p:spPr>
        <p:txBody>
          <a:bodyPr wrap="square" lIns="0" tIns="0" rIns="0" bIns="0" rtlCol="0" anchor="t"/>
          <a:lstStyle/>
          <a:p>
            <a:pPr algn="ctr" indent="0" marL="0">
              <a:buNone/>
            </a:pPr>
            <a:r>
              <a:rPr lang="en-US" sz="1100" b="1" spc="150" kern="0" dirty="0">
                <a:solidFill>
                  <a:schemeClr val="bg2"/>
                </a:solidFill>
              </a:rPr>
              <a:t>IMPACT →</a:t>
            </a:r>
            <a:endParaRPr lang="en-US" sz="1100" dirty="0"/>
          </a:p>
        </p:txBody>
      </p:sp>
      <p:sp>
        <p:nvSpPr>
          <p:cNvPr id="50" name="text-562"/>
          <p:cNvSpPr txBox="1"/>
          <p:nvPr/>
        </p:nvSpPr>
        <p:spPr>
          <a:xfrm>
            <a:off x="640080" y="1938528"/>
            <a:ext cx="1463040" cy="256032"/>
          </a:xfrm>
          <a:prstGeom prst="rect">
            <a:avLst/>
          </a:prstGeom>
          <a:noFill/>
          <a:ln/>
        </p:spPr>
        <p:txBody>
          <a:bodyPr wrap="square" lIns="0" tIns="0" rIns="0" bIns="0" rtlCol="0" anchor="t"/>
          <a:lstStyle/>
          <a:p>
            <a:pPr indent="0" marL="0">
              <a:buNone/>
            </a:pPr>
            <a:r>
              <a:rPr lang="en-US" sz="1100" b="1" spc="100" kern="0" dirty="0">
                <a:solidFill>
                  <a:schemeClr val="bg2"/>
                </a:solidFill>
              </a:rPr>
              <a:t>LIKELIHOOD ↑</a:t>
            </a:r>
            <a:endParaRPr lang="en-US" sz="1100" dirty="0"/>
          </a:p>
        </p:txBody>
      </p:sp>
      <p:sp>
        <p:nvSpPr>
          <p:cNvPr id="51" name="glass-563"/>
          <p:cNvSpPr/>
          <p:nvPr/>
        </p:nvSpPr>
        <p:spPr>
          <a:xfrm>
            <a:off x="5897880" y="1572768"/>
            <a:ext cx="5742432" cy="4599432"/>
          </a:xfrm>
          <a:prstGeom prst="roundRect">
            <a:avLst>
              <a:gd name="adj" fmla="val 2783"/>
            </a:avLst>
          </a:prstGeom>
          <a:solidFill>
            <a:schemeClr val="tx2">
              <a:alpha val="78000"/>
            </a:schemeClr>
          </a:solidFill>
          <a:ln w="9525">
            <a:solidFill>
              <a:schemeClr val="bg2">
                <a:alpha val="22000"/>
              </a:schemeClr>
            </a:solidFill>
            <a:prstDash val="solid"/>
          </a:ln>
        </p:spPr>
      </p:sp>
      <p:sp>
        <p:nvSpPr>
          <p:cNvPr id="52" name="text-564"/>
          <p:cNvSpPr txBox="1"/>
          <p:nvPr/>
        </p:nvSpPr>
        <p:spPr>
          <a:xfrm>
            <a:off x="6126480" y="1691640"/>
            <a:ext cx="5303520" cy="320040"/>
          </a:xfrm>
          <a:prstGeom prst="rect">
            <a:avLst/>
          </a:prstGeom>
          <a:noFill/>
          <a:ln/>
        </p:spPr>
        <p:txBody>
          <a:bodyPr wrap="square" lIns="0" tIns="0" rIns="0" bIns="0" rtlCol="0" anchor="t"/>
          <a:lstStyle/>
          <a:p>
            <a:pPr indent="0" marL="0">
              <a:buNone/>
            </a:pPr>
            <a:r>
              <a:rPr lang="en-US" sz="1450" b="1" dirty="0">
                <a:solidFill>
                  <a:schemeClr val="bg1"/>
                </a:solidFill>
                <a:latin typeface="Century Gothic" pitchFamily="34" charset="0"/>
                <a:ea typeface="Century Gothic" pitchFamily="34" charset="-122"/>
                <a:cs typeface="Century Gothic" pitchFamily="34" charset="-120"/>
              </a:rPr>
              <a:t>Residual risk after controls</a:t>
            </a:r>
            <a:endParaRPr lang="en-US" sz="1450" dirty="0"/>
          </a:p>
        </p:txBody>
      </p:sp>
      <p:sp>
        <p:nvSpPr>
          <p:cNvPr id="53" name="chip-565"/>
          <p:cNvSpPr/>
          <p:nvPr/>
        </p:nvSpPr>
        <p:spPr>
          <a:xfrm>
            <a:off x="6126480" y="2212848"/>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54" name="text-566"/>
          <p:cNvSpPr txBox="1"/>
          <p:nvPr/>
        </p:nvSpPr>
        <p:spPr>
          <a:xfrm>
            <a:off x="6126480" y="2212848"/>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R13</a:t>
            </a:r>
            <a:endParaRPr lang="en-US" sz="1050" dirty="0"/>
          </a:p>
        </p:txBody>
      </p:sp>
      <p:sp>
        <p:nvSpPr>
          <p:cNvPr id="55" name="text-567"/>
          <p:cNvSpPr txBox="1"/>
          <p:nvPr/>
        </p:nvSpPr>
        <p:spPr>
          <a:xfrm>
            <a:off x="6766560" y="2121408"/>
            <a:ext cx="3474720" cy="457200"/>
          </a:xfrm>
          <a:prstGeom prst="rect">
            <a:avLst/>
          </a:prstGeom>
          <a:noFill/>
          <a:ln/>
        </p:spPr>
        <p:txBody>
          <a:bodyPr wrap="square" lIns="0" tIns="0" rIns="0" bIns="0" rtlCol="0" anchor="ctr"/>
          <a:lstStyle/>
          <a:p>
            <a:pPr indent="0" marL="0">
              <a:buNone/>
            </a:pPr>
            <a:r>
              <a:rPr lang="en-US" sz="1350" dirty="0">
                <a:solidFill>
                  <a:schemeClr val="bg1"/>
                </a:solidFill>
              </a:rPr>
              <a:t>Unauthenticated API, no rate limits</a:t>
            </a:r>
            <a:endParaRPr lang="en-US" sz="1350" dirty="0"/>
          </a:p>
        </p:txBody>
      </p:sp>
      <p:sp>
        <p:nvSpPr>
          <p:cNvPr id="56" name="chip-568"/>
          <p:cNvSpPr/>
          <p:nvPr/>
        </p:nvSpPr>
        <p:spPr>
          <a:xfrm>
            <a:off x="10332720" y="2212848"/>
            <a:ext cx="1097280" cy="274320"/>
          </a:xfrm>
          <a:prstGeom prst="roundRect">
            <a:avLst>
              <a:gd name="adj" fmla="val 50000"/>
            </a:avLst>
          </a:prstGeom>
          <a:solidFill>
            <a:schemeClr val="accent6">
              <a:alpha val="20000"/>
            </a:schemeClr>
          </a:solidFill>
          <a:ln w="9525">
            <a:solidFill>
              <a:schemeClr val="accent6">
                <a:alpha val="60000"/>
              </a:schemeClr>
            </a:solidFill>
            <a:prstDash val="solid"/>
          </a:ln>
        </p:spPr>
      </p:sp>
      <p:sp>
        <p:nvSpPr>
          <p:cNvPr id="57" name="text-569"/>
          <p:cNvSpPr txBox="1"/>
          <p:nvPr/>
        </p:nvSpPr>
        <p:spPr>
          <a:xfrm>
            <a:off x="10332720" y="2212848"/>
            <a:ext cx="1097280" cy="274320"/>
          </a:xfrm>
          <a:prstGeom prst="rect">
            <a:avLst/>
          </a:prstGeom>
          <a:noFill/>
          <a:ln/>
        </p:spPr>
        <p:txBody>
          <a:bodyPr wrap="square" lIns="0" tIns="0" rIns="0" bIns="0" rtlCol="0" anchor="ctr"/>
          <a:lstStyle/>
          <a:p>
            <a:pPr algn="ctr" indent="0" marL="0">
              <a:buNone/>
            </a:pPr>
            <a:r>
              <a:rPr lang="en-US" sz="1050" b="1" dirty="0">
                <a:solidFill>
                  <a:schemeClr val="accent6"/>
                </a:solidFill>
              </a:rPr>
              <a:t>High</a:t>
            </a:r>
            <a:endParaRPr lang="en-US" sz="1050" dirty="0"/>
          </a:p>
        </p:txBody>
      </p:sp>
      <p:sp>
        <p:nvSpPr>
          <p:cNvPr id="58" name="chip-570"/>
          <p:cNvSpPr/>
          <p:nvPr/>
        </p:nvSpPr>
        <p:spPr>
          <a:xfrm>
            <a:off x="6126480" y="2724912"/>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59" name="text-571"/>
          <p:cNvSpPr txBox="1"/>
          <p:nvPr/>
        </p:nvSpPr>
        <p:spPr>
          <a:xfrm>
            <a:off x="6126480" y="2724912"/>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R1</a:t>
            </a:r>
            <a:endParaRPr lang="en-US" sz="1050" dirty="0"/>
          </a:p>
        </p:txBody>
      </p:sp>
      <p:sp>
        <p:nvSpPr>
          <p:cNvPr id="60" name="text-572"/>
          <p:cNvSpPr txBox="1"/>
          <p:nvPr/>
        </p:nvSpPr>
        <p:spPr>
          <a:xfrm>
            <a:off x="6766560" y="2633472"/>
            <a:ext cx="3474720" cy="457200"/>
          </a:xfrm>
          <a:prstGeom prst="rect">
            <a:avLst/>
          </a:prstGeom>
          <a:noFill/>
          <a:ln/>
        </p:spPr>
        <p:txBody>
          <a:bodyPr wrap="square" lIns="0" tIns="0" rIns="0" bIns="0" rtlCol="0" anchor="ctr"/>
          <a:lstStyle/>
          <a:p>
            <a:pPr indent="0" marL="0">
              <a:buNone/>
            </a:pPr>
            <a:r>
              <a:rPr lang="en-US" sz="1350" dirty="0">
                <a:solidFill>
                  <a:schemeClr val="bg1"/>
                </a:solidFill>
              </a:rPr>
              <a:t>Indirect prompt injection (LLM01)</a:t>
            </a:r>
            <a:endParaRPr lang="en-US" sz="1350" dirty="0"/>
          </a:p>
        </p:txBody>
      </p:sp>
      <p:sp>
        <p:nvSpPr>
          <p:cNvPr id="61" name="chip-573"/>
          <p:cNvSpPr/>
          <p:nvPr/>
        </p:nvSpPr>
        <p:spPr>
          <a:xfrm>
            <a:off x="10332720" y="2724912"/>
            <a:ext cx="109728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62" name="text-574"/>
          <p:cNvSpPr txBox="1"/>
          <p:nvPr/>
        </p:nvSpPr>
        <p:spPr>
          <a:xfrm>
            <a:off x="10332720" y="2724912"/>
            <a:ext cx="1097280" cy="274320"/>
          </a:xfrm>
          <a:prstGeom prst="rect">
            <a:avLst/>
          </a:prstGeom>
          <a:noFill/>
          <a:ln/>
        </p:spPr>
        <p:txBody>
          <a:bodyPr wrap="square" lIns="0" tIns="0" rIns="0" bIns="0" rtlCol="0" anchor="ctr"/>
          <a:lstStyle/>
          <a:p>
            <a:pPr algn="ctr" indent="0" marL="0">
              <a:buNone/>
            </a:pPr>
            <a:r>
              <a:rPr lang="en-US" sz="1050" b="1" dirty="0">
                <a:solidFill>
                  <a:schemeClr val="accent3"/>
                </a:solidFill>
              </a:rPr>
              <a:t>Medium</a:t>
            </a:r>
            <a:endParaRPr lang="en-US" sz="1050" dirty="0"/>
          </a:p>
        </p:txBody>
      </p:sp>
      <p:sp>
        <p:nvSpPr>
          <p:cNvPr id="63" name="chip-575"/>
          <p:cNvSpPr/>
          <p:nvPr/>
        </p:nvSpPr>
        <p:spPr>
          <a:xfrm>
            <a:off x="6126480" y="3236976"/>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64" name="text-576"/>
          <p:cNvSpPr txBox="1"/>
          <p:nvPr/>
        </p:nvSpPr>
        <p:spPr>
          <a:xfrm>
            <a:off x="6126480" y="3236976"/>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R4</a:t>
            </a:r>
            <a:endParaRPr lang="en-US" sz="1050" dirty="0"/>
          </a:p>
        </p:txBody>
      </p:sp>
      <p:sp>
        <p:nvSpPr>
          <p:cNvPr id="65" name="text-577"/>
          <p:cNvSpPr txBox="1"/>
          <p:nvPr/>
        </p:nvSpPr>
        <p:spPr>
          <a:xfrm>
            <a:off x="6766560" y="3145536"/>
            <a:ext cx="3474720" cy="457200"/>
          </a:xfrm>
          <a:prstGeom prst="rect">
            <a:avLst/>
          </a:prstGeom>
          <a:noFill/>
          <a:ln/>
        </p:spPr>
        <p:txBody>
          <a:bodyPr wrap="square" lIns="0" tIns="0" rIns="0" bIns="0" rtlCol="0" anchor="ctr"/>
          <a:lstStyle/>
          <a:p>
            <a:pPr indent="0" marL="0">
              <a:buNone/>
            </a:pPr>
            <a:r>
              <a:rPr lang="en-US" sz="1350" dirty="0">
                <a:solidFill>
                  <a:schemeClr val="bg1"/>
                </a:solidFill>
              </a:rPr>
              <a:t>Personal data to model provider (LLM02)</a:t>
            </a:r>
            <a:endParaRPr lang="en-US" sz="1350" dirty="0"/>
          </a:p>
        </p:txBody>
      </p:sp>
      <p:sp>
        <p:nvSpPr>
          <p:cNvPr id="66" name="chip-578"/>
          <p:cNvSpPr/>
          <p:nvPr/>
        </p:nvSpPr>
        <p:spPr>
          <a:xfrm>
            <a:off x="10332720" y="3236976"/>
            <a:ext cx="109728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67" name="text-579"/>
          <p:cNvSpPr txBox="1"/>
          <p:nvPr/>
        </p:nvSpPr>
        <p:spPr>
          <a:xfrm>
            <a:off x="10332720" y="3236976"/>
            <a:ext cx="1097280" cy="274320"/>
          </a:xfrm>
          <a:prstGeom prst="rect">
            <a:avLst/>
          </a:prstGeom>
          <a:noFill/>
          <a:ln/>
        </p:spPr>
        <p:txBody>
          <a:bodyPr wrap="square" lIns="0" tIns="0" rIns="0" bIns="0" rtlCol="0" anchor="ctr"/>
          <a:lstStyle/>
          <a:p>
            <a:pPr algn="ctr" indent="0" marL="0">
              <a:buNone/>
            </a:pPr>
            <a:r>
              <a:rPr lang="en-US" sz="1050" b="1" dirty="0">
                <a:solidFill>
                  <a:schemeClr val="accent3"/>
                </a:solidFill>
              </a:rPr>
              <a:t>Medium</a:t>
            </a:r>
            <a:endParaRPr lang="en-US" sz="1050" dirty="0"/>
          </a:p>
        </p:txBody>
      </p:sp>
      <p:sp>
        <p:nvSpPr>
          <p:cNvPr id="68" name="chip-580"/>
          <p:cNvSpPr/>
          <p:nvPr/>
        </p:nvSpPr>
        <p:spPr>
          <a:xfrm>
            <a:off x="6126480" y="3749040"/>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69" name="text-581"/>
          <p:cNvSpPr txBox="1"/>
          <p:nvPr/>
        </p:nvSpPr>
        <p:spPr>
          <a:xfrm>
            <a:off x="6126480" y="3749040"/>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R8</a:t>
            </a:r>
            <a:endParaRPr lang="en-US" sz="1050" dirty="0"/>
          </a:p>
        </p:txBody>
      </p:sp>
      <p:sp>
        <p:nvSpPr>
          <p:cNvPr id="70" name="text-582"/>
          <p:cNvSpPr txBox="1"/>
          <p:nvPr/>
        </p:nvSpPr>
        <p:spPr>
          <a:xfrm>
            <a:off x="6766560" y="3657600"/>
            <a:ext cx="3474720" cy="457200"/>
          </a:xfrm>
          <a:prstGeom prst="rect">
            <a:avLst/>
          </a:prstGeom>
          <a:noFill/>
          <a:ln/>
        </p:spPr>
        <p:txBody>
          <a:bodyPr wrap="square" lIns="0" tIns="0" rIns="0" bIns="0" rtlCol="0" anchor="ctr"/>
          <a:lstStyle/>
          <a:p>
            <a:pPr indent="0" marL="0">
              <a:buNone/>
            </a:pPr>
            <a:r>
              <a:rPr lang="en-US" sz="1350" dirty="0">
                <a:solidFill>
                  <a:schemeClr val="bg1"/>
                </a:solidFill>
              </a:rPr>
              <a:t>Unbounded consumption (LLM10)</a:t>
            </a:r>
            <a:endParaRPr lang="en-US" sz="1350" dirty="0"/>
          </a:p>
        </p:txBody>
      </p:sp>
      <p:sp>
        <p:nvSpPr>
          <p:cNvPr id="71" name="chip-583"/>
          <p:cNvSpPr/>
          <p:nvPr/>
        </p:nvSpPr>
        <p:spPr>
          <a:xfrm>
            <a:off x="10332720" y="3749040"/>
            <a:ext cx="109728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72" name="text-584"/>
          <p:cNvSpPr txBox="1"/>
          <p:nvPr/>
        </p:nvSpPr>
        <p:spPr>
          <a:xfrm>
            <a:off x="10332720" y="3749040"/>
            <a:ext cx="1097280" cy="274320"/>
          </a:xfrm>
          <a:prstGeom prst="rect">
            <a:avLst/>
          </a:prstGeom>
          <a:noFill/>
          <a:ln/>
        </p:spPr>
        <p:txBody>
          <a:bodyPr wrap="square" lIns="0" tIns="0" rIns="0" bIns="0" rtlCol="0" anchor="ctr"/>
          <a:lstStyle/>
          <a:p>
            <a:pPr algn="ctr" indent="0" marL="0">
              <a:buNone/>
            </a:pPr>
            <a:r>
              <a:rPr lang="en-US" sz="1050" b="1" dirty="0">
                <a:solidFill>
                  <a:schemeClr val="accent3"/>
                </a:solidFill>
              </a:rPr>
              <a:t>Medium</a:t>
            </a:r>
            <a:endParaRPr lang="en-US" sz="1050" dirty="0"/>
          </a:p>
        </p:txBody>
      </p:sp>
      <p:sp>
        <p:nvSpPr>
          <p:cNvPr id="73" name="chip-585"/>
          <p:cNvSpPr/>
          <p:nvPr/>
        </p:nvSpPr>
        <p:spPr>
          <a:xfrm>
            <a:off x="6126480" y="4261104"/>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74" name="text-586"/>
          <p:cNvSpPr txBox="1"/>
          <p:nvPr/>
        </p:nvSpPr>
        <p:spPr>
          <a:xfrm>
            <a:off x="6126480" y="4261104"/>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R12</a:t>
            </a:r>
            <a:endParaRPr lang="en-US" sz="1050" dirty="0"/>
          </a:p>
        </p:txBody>
      </p:sp>
      <p:sp>
        <p:nvSpPr>
          <p:cNvPr id="75" name="text-587"/>
          <p:cNvSpPr txBox="1"/>
          <p:nvPr/>
        </p:nvSpPr>
        <p:spPr>
          <a:xfrm>
            <a:off x="6766560" y="4169664"/>
            <a:ext cx="3474720" cy="457200"/>
          </a:xfrm>
          <a:prstGeom prst="rect">
            <a:avLst/>
          </a:prstGeom>
          <a:noFill/>
          <a:ln/>
        </p:spPr>
        <p:txBody>
          <a:bodyPr wrap="square" lIns="0" tIns="0" rIns="0" bIns="0" rtlCol="0" anchor="ctr"/>
          <a:lstStyle/>
          <a:p>
            <a:pPr indent="0" marL="0">
              <a:buNone/>
            </a:pPr>
            <a:r>
              <a:rPr lang="en-US" sz="1350" dirty="0">
                <a:solidFill>
                  <a:schemeClr val="bg1"/>
                </a:solidFill>
              </a:rPr>
              <a:t>Secrets + supply chain (LLM03)</a:t>
            </a:r>
            <a:endParaRPr lang="en-US" sz="1350" dirty="0"/>
          </a:p>
        </p:txBody>
      </p:sp>
      <p:sp>
        <p:nvSpPr>
          <p:cNvPr id="76" name="chip-588"/>
          <p:cNvSpPr/>
          <p:nvPr/>
        </p:nvSpPr>
        <p:spPr>
          <a:xfrm>
            <a:off x="10332720" y="4261104"/>
            <a:ext cx="109728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77" name="text-589"/>
          <p:cNvSpPr txBox="1"/>
          <p:nvPr/>
        </p:nvSpPr>
        <p:spPr>
          <a:xfrm>
            <a:off x="10332720" y="4261104"/>
            <a:ext cx="1097280" cy="274320"/>
          </a:xfrm>
          <a:prstGeom prst="rect">
            <a:avLst/>
          </a:prstGeom>
          <a:noFill/>
          <a:ln/>
        </p:spPr>
        <p:txBody>
          <a:bodyPr wrap="square" lIns="0" tIns="0" rIns="0" bIns="0" rtlCol="0" anchor="ctr"/>
          <a:lstStyle/>
          <a:p>
            <a:pPr algn="ctr" indent="0" marL="0">
              <a:buNone/>
            </a:pPr>
            <a:r>
              <a:rPr lang="en-US" sz="1050" b="1" dirty="0">
                <a:solidFill>
                  <a:schemeClr val="accent3"/>
                </a:solidFill>
              </a:rPr>
              <a:t>Medium</a:t>
            </a:r>
            <a:endParaRPr lang="en-US" sz="1050" dirty="0"/>
          </a:p>
        </p:txBody>
      </p:sp>
      <p:sp>
        <p:nvSpPr>
          <p:cNvPr id="78" name="chip-590"/>
          <p:cNvSpPr/>
          <p:nvPr/>
        </p:nvSpPr>
        <p:spPr>
          <a:xfrm>
            <a:off x="6126480" y="4773168"/>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79" name="text-591"/>
          <p:cNvSpPr txBox="1"/>
          <p:nvPr/>
        </p:nvSpPr>
        <p:spPr>
          <a:xfrm>
            <a:off x="6126480" y="4773168"/>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R11</a:t>
            </a:r>
            <a:endParaRPr lang="en-US" sz="1050" dirty="0"/>
          </a:p>
        </p:txBody>
      </p:sp>
      <p:sp>
        <p:nvSpPr>
          <p:cNvPr id="80" name="text-592"/>
          <p:cNvSpPr txBox="1"/>
          <p:nvPr/>
        </p:nvSpPr>
        <p:spPr>
          <a:xfrm>
            <a:off x="6766560" y="4681728"/>
            <a:ext cx="3474720" cy="457200"/>
          </a:xfrm>
          <a:prstGeom prst="rect">
            <a:avLst/>
          </a:prstGeom>
          <a:noFill/>
          <a:ln/>
        </p:spPr>
        <p:txBody>
          <a:bodyPr wrap="square" lIns="0" tIns="0" rIns="0" bIns="0" rtlCol="0" anchor="ctr"/>
          <a:lstStyle/>
          <a:p>
            <a:pPr indent="0" marL="0">
              <a:buNone/>
            </a:pPr>
            <a:r>
              <a:rPr lang="en-US" sz="1350" dirty="0">
                <a:solidFill>
                  <a:schemeClr val="bg1"/>
                </a:solidFill>
              </a:rPr>
              <a:t>Segments as protected-attribute proxies</a:t>
            </a:r>
            <a:endParaRPr lang="en-US" sz="1350" dirty="0"/>
          </a:p>
        </p:txBody>
      </p:sp>
      <p:sp>
        <p:nvSpPr>
          <p:cNvPr id="81" name="chip-593"/>
          <p:cNvSpPr/>
          <p:nvPr/>
        </p:nvSpPr>
        <p:spPr>
          <a:xfrm>
            <a:off x="10332720" y="4773168"/>
            <a:ext cx="1097280" cy="274320"/>
          </a:xfrm>
          <a:prstGeom prst="roundRect">
            <a:avLst>
              <a:gd name="adj" fmla="val 50000"/>
            </a:avLst>
          </a:prstGeom>
          <a:solidFill>
            <a:schemeClr val="accent3">
              <a:alpha val="20000"/>
            </a:schemeClr>
          </a:solidFill>
          <a:ln w="9525">
            <a:solidFill>
              <a:schemeClr val="accent3">
                <a:alpha val="60000"/>
              </a:schemeClr>
            </a:solidFill>
            <a:prstDash val="solid"/>
          </a:ln>
        </p:spPr>
      </p:sp>
      <p:sp>
        <p:nvSpPr>
          <p:cNvPr id="82" name="text-594"/>
          <p:cNvSpPr txBox="1"/>
          <p:nvPr/>
        </p:nvSpPr>
        <p:spPr>
          <a:xfrm>
            <a:off x="10332720" y="4773168"/>
            <a:ext cx="1097280" cy="274320"/>
          </a:xfrm>
          <a:prstGeom prst="rect">
            <a:avLst/>
          </a:prstGeom>
          <a:noFill/>
          <a:ln/>
        </p:spPr>
        <p:txBody>
          <a:bodyPr wrap="square" lIns="0" tIns="0" rIns="0" bIns="0" rtlCol="0" anchor="ctr"/>
          <a:lstStyle/>
          <a:p>
            <a:pPr algn="ctr" indent="0" marL="0">
              <a:buNone/>
            </a:pPr>
            <a:r>
              <a:rPr lang="en-US" sz="1050" b="1" dirty="0">
                <a:solidFill>
                  <a:schemeClr val="accent3"/>
                </a:solidFill>
              </a:rPr>
              <a:t>Medium</a:t>
            </a:r>
            <a:endParaRPr lang="en-US" sz="1050" dirty="0"/>
          </a:p>
        </p:txBody>
      </p:sp>
      <p:sp>
        <p:nvSpPr>
          <p:cNvPr id="83" name="chip-595"/>
          <p:cNvSpPr/>
          <p:nvPr/>
        </p:nvSpPr>
        <p:spPr>
          <a:xfrm>
            <a:off x="6126480" y="5285232"/>
            <a:ext cx="502920" cy="274320"/>
          </a:xfrm>
          <a:prstGeom prst="roundRect">
            <a:avLst>
              <a:gd name="adj" fmla="val 50000"/>
            </a:avLst>
          </a:prstGeom>
          <a:solidFill>
            <a:schemeClr val="bg2">
              <a:alpha val="20000"/>
            </a:schemeClr>
          </a:solidFill>
          <a:ln w="9525">
            <a:solidFill>
              <a:schemeClr val="bg2">
                <a:alpha val="60000"/>
              </a:schemeClr>
            </a:solidFill>
            <a:prstDash val="solid"/>
          </a:ln>
        </p:spPr>
      </p:sp>
      <p:sp>
        <p:nvSpPr>
          <p:cNvPr id="84" name="text-596"/>
          <p:cNvSpPr txBox="1"/>
          <p:nvPr/>
        </p:nvSpPr>
        <p:spPr>
          <a:xfrm>
            <a:off x="6126480" y="5285232"/>
            <a:ext cx="502920" cy="274320"/>
          </a:xfrm>
          <a:prstGeom prst="rect">
            <a:avLst/>
          </a:prstGeom>
          <a:noFill/>
          <a:ln/>
        </p:spPr>
        <p:txBody>
          <a:bodyPr wrap="square" lIns="0" tIns="0" rIns="0" bIns="0" rtlCol="0" anchor="ctr"/>
          <a:lstStyle/>
          <a:p>
            <a:pPr algn="ctr" indent="0" marL="0">
              <a:buNone/>
            </a:pPr>
            <a:r>
              <a:rPr lang="en-US" sz="1050" b="1" dirty="0">
                <a:solidFill>
                  <a:schemeClr val="bg2"/>
                </a:solidFill>
              </a:rPr>
              <a:t>R5</a:t>
            </a:r>
            <a:endParaRPr lang="en-US" sz="1050" dirty="0"/>
          </a:p>
        </p:txBody>
      </p:sp>
      <p:sp>
        <p:nvSpPr>
          <p:cNvPr id="85" name="text-597"/>
          <p:cNvSpPr txBox="1"/>
          <p:nvPr/>
        </p:nvSpPr>
        <p:spPr>
          <a:xfrm>
            <a:off x="6766560" y="5193792"/>
            <a:ext cx="3474720" cy="457200"/>
          </a:xfrm>
          <a:prstGeom prst="rect">
            <a:avLst/>
          </a:prstGeom>
          <a:noFill/>
          <a:ln/>
        </p:spPr>
        <p:txBody>
          <a:bodyPr wrap="square" lIns="0" tIns="0" rIns="0" bIns="0" rtlCol="0" anchor="ctr"/>
          <a:lstStyle/>
          <a:p>
            <a:pPr indent="0" marL="0">
              <a:buNone/>
            </a:pPr>
            <a:r>
              <a:rPr lang="en-US" sz="1350" dirty="0">
                <a:solidFill>
                  <a:schemeClr val="bg1"/>
                </a:solidFill>
              </a:rPr>
              <a:t>Hallucinated offers (LLM09)</a:t>
            </a:r>
            <a:endParaRPr lang="en-US" sz="1350" dirty="0"/>
          </a:p>
        </p:txBody>
      </p:sp>
      <p:sp>
        <p:nvSpPr>
          <p:cNvPr id="86" name="chip-598"/>
          <p:cNvSpPr/>
          <p:nvPr/>
        </p:nvSpPr>
        <p:spPr>
          <a:xfrm>
            <a:off x="10332720" y="5285232"/>
            <a:ext cx="1097280" cy="274320"/>
          </a:xfrm>
          <a:prstGeom prst="roundRect">
            <a:avLst>
              <a:gd name="adj" fmla="val 50000"/>
            </a:avLst>
          </a:prstGeom>
          <a:solidFill>
            <a:schemeClr val="accent5">
              <a:alpha val="20000"/>
            </a:schemeClr>
          </a:solidFill>
          <a:ln w="9525">
            <a:solidFill>
              <a:schemeClr val="accent5">
                <a:alpha val="60000"/>
              </a:schemeClr>
            </a:solidFill>
            <a:prstDash val="solid"/>
          </a:ln>
        </p:spPr>
      </p:sp>
      <p:sp>
        <p:nvSpPr>
          <p:cNvPr id="87" name="text-599"/>
          <p:cNvSpPr txBox="1"/>
          <p:nvPr/>
        </p:nvSpPr>
        <p:spPr>
          <a:xfrm>
            <a:off x="10332720" y="5285232"/>
            <a:ext cx="1097280" cy="274320"/>
          </a:xfrm>
          <a:prstGeom prst="rect">
            <a:avLst/>
          </a:prstGeom>
          <a:noFill/>
          <a:ln/>
        </p:spPr>
        <p:txBody>
          <a:bodyPr wrap="square" lIns="0" tIns="0" rIns="0" bIns="0" rtlCol="0" anchor="ctr"/>
          <a:lstStyle/>
          <a:p>
            <a:pPr algn="ctr" indent="0" marL="0">
              <a:buNone/>
            </a:pPr>
            <a:r>
              <a:rPr lang="en-US" sz="1050" b="1" dirty="0">
                <a:solidFill>
                  <a:schemeClr val="accent5"/>
                </a:solidFill>
              </a:rPr>
              <a:t>Low–Med</a:t>
            </a:r>
            <a:endParaRPr lang="en-US" sz="1050" dirty="0"/>
          </a:p>
        </p:txBody>
      </p:sp>
      <p:sp>
        <p:nvSpPr>
          <p:cNvPr id="88" name="text-600"/>
          <p:cNvSpPr txBox="1"/>
          <p:nvPr/>
        </p:nvSpPr>
        <p:spPr>
          <a:xfrm>
            <a:off x="6126480" y="5760720"/>
            <a:ext cx="5303520" cy="274320"/>
          </a:xfrm>
          <a:prstGeom prst="rect">
            <a:avLst/>
          </a:prstGeom>
          <a:noFill/>
          <a:ln/>
        </p:spPr>
        <p:txBody>
          <a:bodyPr wrap="square" lIns="0" tIns="0" rIns="0" bIns="0" rtlCol="0" anchor="t"/>
          <a:lstStyle/>
          <a:p>
            <a:pPr indent="0" marL="0">
              <a:buNone/>
            </a:pPr>
            <a:r>
              <a:rPr lang="en-US" sz="1200" i="1" dirty="0">
                <a:solidFill>
                  <a:schemeClr val="bg2"/>
                </a:solidFill>
              </a:rPr>
              <a:t>Low residual: R2, R3, R6, R7, R9, R10, R14</a:t>
            </a:r>
            <a:endParaRPr lang="en-US" sz="12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MLSecOps / LLMSecOps pipeline</a:t>
            </a:r>
            <a:endParaRPr lang="en-US" sz="2800" dirty="0"/>
          </a:p>
        </p:txBody>
      </p:sp>
      <p:sp>
        <p:nvSpPr>
          <p:cNvPr id="3" name="text-601"/>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Every push runs a deterministic, free gate — no CI job calls OpenRouter or Supabase.</a:t>
            </a:r>
            <a:endParaRPr lang="en-US" sz="1600" dirty="0"/>
          </a:p>
        </p:txBody>
      </p:sp>
      <p:sp>
        <p:nvSpPr>
          <p:cNvPr id="4" name="chevron-602"/>
          <p:cNvSpPr/>
          <p:nvPr/>
        </p:nvSpPr>
        <p:spPr>
          <a:xfrm>
            <a:off x="548640" y="1572768"/>
            <a:ext cx="2852928" cy="777240"/>
          </a:xfrm>
          <a:prstGeom prst="homePlate">
            <a:avLst/>
          </a:prstGeom>
          <a:solidFill>
            <a:schemeClr val="bg2">
              <a:alpha val="85000"/>
            </a:schemeClr>
          </a:solidFill>
          <a:ln/>
        </p:spPr>
      </p:sp>
      <p:sp>
        <p:nvSpPr>
          <p:cNvPr id="5" name="text-603"/>
          <p:cNvSpPr txBox="1"/>
          <p:nvPr/>
        </p:nvSpPr>
        <p:spPr>
          <a:xfrm>
            <a:off x="777240" y="1572768"/>
            <a:ext cx="2103120" cy="777240"/>
          </a:xfrm>
          <a:prstGeom prst="rect">
            <a:avLst/>
          </a:prstGeom>
          <a:noFill/>
          <a:ln/>
        </p:spPr>
        <p:txBody>
          <a:bodyPr wrap="square" lIns="0" tIns="0" rIns="0" bIns="0" rtlCol="0" anchor="ctr"/>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Change</a:t>
            </a:r>
            <a:endParaRPr lang="en-US" sz="1400" dirty="0"/>
          </a:p>
          <a:p>
            <a:pPr indent="0" marL="0">
              <a:buNone/>
            </a:pPr>
            <a:r>
              <a:rPr lang="en-US" sz="1150" dirty="0">
                <a:solidFill>
                  <a:schemeClr val="tx1"/>
                </a:solidFill>
              </a:rPr>
              <a:t>code · prompt · schema</a:t>
            </a:r>
            <a:endParaRPr lang="en-US" sz="1400" dirty="0"/>
          </a:p>
        </p:txBody>
      </p:sp>
      <p:sp>
        <p:nvSpPr>
          <p:cNvPr id="6" name="chevron-604"/>
          <p:cNvSpPr/>
          <p:nvPr/>
        </p:nvSpPr>
        <p:spPr>
          <a:xfrm>
            <a:off x="3264408" y="1572768"/>
            <a:ext cx="2852928" cy="777240"/>
          </a:xfrm>
          <a:prstGeom prst="chevron">
            <a:avLst/>
          </a:prstGeom>
          <a:solidFill>
            <a:schemeClr val="accent4">
              <a:alpha val="85000"/>
            </a:schemeClr>
          </a:solidFill>
          <a:ln/>
        </p:spPr>
      </p:sp>
      <p:sp>
        <p:nvSpPr>
          <p:cNvPr id="7" name="text-605"/>
          <p:cNvSpPr txBox="1"/>
          <p:nvPr/>
        </p:nvSpPr>
        <p:spPr>
          <a:xfrm>
            <a:off x="3767328" y="1572768"/>
            <a:ext cx="2103120" cy="777240"/>
          </a:xfrm>
          <a:prstGeom prst="rect">
            <a:avLst/>
          </a:prstGeom>
          <a:noFill/>
          <a:ln/>
        </p:spPr>
        <p:txBody>
          <a:bodyPr wrap="square" lIns="0" tIns="0" rIns="0" bIns="0" rtlCol="0" anchor="ctr"/>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Push / PR</a:t>
            </a:r>
            <a:endParaRPr lang="en-US" sz="1400" dirty="0"/>
          </a:p>
          <a:p>
            <a:pPr indent="0" marL="0">
              <a:buNone/>
            </a:pPr>
            <a:r>
              <a:rPr lang="en-US" sz="1150" dirty="0">
                <a:solidFill>
                  <a:schemeClr val="tx1"/>
                </a:solidFill>
              </a:rPr>
              <a:t>GitHub</a:t>
            </a:r>
            <a:endParaRPr lang="en-US" sz="1400" dirty="0"/>
          </a:p>
        </p:txBody>
      </p:sp>
      <p:sp>
        <p:nvSpPr>
          <p:cNvPr id="8" name="chevron-606"/>
          <p:cNvSpPr/>
          <p:nvPr/>
        </p:nvSpPr>
        <p:spPr>
          <a:xfrm>
            <a:off x="5980176" y="1572768"/>
            <a:ext cx="2852928" cy="777240"/>
          </a:xfrm>
          <a:prstGeom prst="chevron">
            <a:avLst/>
          </a:prstGeom>
          <a:solidFill>
            <a:schemeClr val="accent5">
              <a:alpha val="85000"/>
            </a:schemeClr>
          </a:solidFill>
          <a:ln/>
        </p:spPr>
      </p:sp>
      <p:sp>
        <p:nvSpPr>
          <p:cNvPr id="9" name="text-607"/>
          <p:cNvSpPr txBox="1"/>
          <p:nvPr/>
        </p:nvSpPr>
        <p:spPr>
          <a:xfrm>
            <a:off x="6483096" y="1572768"/>
            <a:ext cx="2103120" cy="777240"/>
          </a:xfrm>
          <a:prstGeom prst="rect">
            <a:avLst/>
          </a:prstGeom>
          <a:noFill/>
          <a:ln/>
        </p:spPr>
        <p:txBody>
          <a:bodyPr wrap="square" lIns="0" tIns="0" rIns="0" bIns="0" rtlCol="0" anchor="ctr"/>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CI · 3 jobs</a:t>
            </a:r>
            <a:endParaRPr lang="en-US" sz="1400" dirty="0"/>
          </a:p>
          <a:p>
            <a:pPr indent="0" marL="0">
              <a:buNone/>
            </a:pPr>
            <a:r>
              <a:rPr lang="en-US" sz="1150" dirty="0">
                <a:solidFill>
                  <a:schemeClr val="tx1"/>
                </a:solidFill>
              </a:rPr>
              <a:t>ci.yml</a:t>
            </a:r>
            <a:endParaRPr lang="en-US" sz="1400" dirty="0"/>
          </a:p>
        </p:txBody>
      </p:sp>
      <p:sp>
        <p:nvSpPr>
          <p:cNvPr id="10" name="chevron-608"/>
          <p:cNvSpPr/>
          <p:nvPr/>
        </p:nvSpPr>
        <p:spPr>
          <a:xfrm>
            <a:off x="8695944" y="1572768"/>
            <a:ext cx="2852928" cy="777240"/>
          </a:xfrm>
          <a:prstGeom prst="chevron">
            <a:avLst/>
          </a:prstGeom>
          <a:solidFill>
            <a:schemeClr val="accent1">
              <a:alpha val="85000"/>
            </a:schemeClr>
          </a:solidFill>
          <a:ln/>
        </p:spPr>
      </p:sp>
      <p:sp>
        <p:nvSpPr>
          <p:cNvPr id="11" name="text-609"/>
          <p:cNvSpPr txBox="1"/>
          <p:nvPr/>
        </p:nvSpPr>
        <p:spPr>
          <a:xfrm>
            <a:off x="9198864" y="1572768"/>
            <a:ext cx="2103120" cy="777240"/>
          </a:xfrm>
          <a:prstGeom prst="rect">
            <a:avLst/>
          </a:prstGeom>
          <a:noFill/>
          <a:ln/>
        </p:spPr>
        <p:txBody>
          <a:bodyPr wrap="square" lIns="0" tIns="0" rIns="0" bIns="0" rtlCol="0" anchor="ctr"/>
          <a:lstStyle/>
          <a:p>
            <a:pPr indent="0" marL="0">
              <a:buNone/>
            </a:pPr>
            <a:r>
              <a:rPr lang="en-US" sz="1500" b="1" dirty="0">
                <a:solidFill>
                  <a:schemeClr val="tx1"/>
                </a:solidFill>
                <a:latin typeface="Century Gothic" pitchFamily="34" charset="0"/>
                <a:ea typeface="Century Gothic" pitchFamily="34" charset="-122"/>
                <a:cs typeface="Century Gothic" pitchFamily="34" charset="-120"/>
              </a:rPr>
              <a:t>Deploy</a:t>
            </a:r>
            <a:endParaRPr lang="en-US" sz="1400" dirty="0"/>
          </a:p>
          <a:p>
            <a:pPr indent="0" marL="0">
              <a:buNone/>
            </a:pPr>
            <a:r>
              <a:rPr lang="en-US" sz="1150" dirty="0">
                <a:solidFill>
                  <a:schemeClr val="tx1"/>
                </a:solidFill>
              </a:rPr>
              <a:t>Railway, health-gated</a:t>
            </a:r>
            <a:endParaRPr lang="en-US" sz="1400" dirty="0"/>
          </a:p>
        </p:txBody>
      </p:sp>
      <p:sp>
        <p:nvSpPr>
          <p:cNvPr id="12" name="glass-610"/>
          <p:cNvSpPr/>
          <p:nvPr/>
        </p:nvSpPr>
        <p:spPr>
          <a:xfrm>
            <a:off x="548640" y="2578608"/>
            <a:ext cx="3575304" cy="1536192"/>
          </a:xfrm>
          <a:prstGeom prst="roundRect">
            <a:avLst>
              <a:gd name="adj" fmla="val 8333"/>
            </a:avLst>
          </a:prstGeom>
          <a:solidFill>
            <a:schemeClr val="accent5">
              <a:alpha val="12000"/>
            </a:schemeClr>
          </a:solidFill>
          <a:ln w="12700">
            <a:solidFill>
              <a:schemeClr val="accent5">
                <a:alpha val="45000"/>
              </a:schemeClr>
            </a:solidFill>
            <a:prstDash val="solid"/>
          </a:ln>
        </p:spPr>
      </p:sp>
      <p:sp>
        <p:nvSpPr>
          <p:cNvPr id="13" name="text-611"/>
          <p:cNvSpPr txBox="1"/>
          <p:nvPr/>
        </p:nvSpPr>
        <p:spPr>
          <a:xfrm>
            <a:off x="749808" y="2688336"/>
            <a:ext cx="3200400" cy="320040"/>
          </a:xfrm>
          <a:prstGeom prst="rect">
            <a:avLst/>
          </a:prstGeom>
          <a:noFill/>
          <a:ln/>
        </p:spPr>
        <p:txBody>
          <a:bodyPr wrap="square" lIns="0" tIns="0" rIns="0" bIns="0" rtlCol="0" anchor="t"/>
          <a:lstStyle/>
          <a:p>
            <a:pPr indent="0" marL="0">
              <a:buNone/>
            </a:pPr>
            <a:r>
              <a:rPr lang="en-US" sz="1450" b="1" dirty="0">
                <a:solidFill>
                  <a:schemeClr val="accent5"/>
                </a:solidFill>
              </a:rPr>
              <a:t>Job 1 · LLMSecOps</a:t>
            </a:r>
            <a:endParaRPr lang="en-US" sz="1450" dirty="0"/>
          </a:p>
        </p:txBody>
      </p:sp>
      <p:sp>
        <p:nvSpPr>
          <p:cNvPr id="14" name="text-612"/>
          <p:cNvSpPr txBox="1"/>
          <p:nvPr/>
        </p:nvSpPr>
        <p:spPr>
          <a:xfrm>
            <a:off x="749808" y="3035808"/>
            <a:ext cx="3200400" cy="1005840"/>
          </a:xfrm>
          <a:prstGeom prst="rect">
            <a:avLst/>
          </a:prstGeom>
          <a:noFill/>
          <a:ln/>
        </p:spPr>
        <p:txBody>
          <a:bodyPr wrap="square" lIns="0" tIns="0" rIns="0" bIns="0" rtlCol="0" anchor="t"/>
          <a:lstStyle/>
          <a:p>
            <a:pPr indent="0" marL="0">
              <a:buNone/>
            </a:pPr>
            <a:r>
              <a:rPr lang="en-US" sz="1250" dirty="0">
                <a:solidFill>
                  <a:schemeClr val="bg1"/>
                </a:solidFill>
              </a:rPr>
              <a:t>No committed secrets: any tracked .env or .env.local fails the build.</a:t>
            </a:r>
            <a:endParaRPr lang="en-US" sz="1250" dirty="0"/>
          </a:p>
        </p:txBody>
      </p:sp>
      <p:sp>
        <p:nvSpPr>
          <p:cNvPr id="15" name="glass-613"/>
          <p:cNvSpPr/>
          <p:nvPr/>
        </p:nvSpPr>
        <p:spPr>
          <a:xfrm>
            <a:off x="4306824" y="2578608"/>
            <a:ext cx="3575304" cy="1536192"/>
          </a:xfrm>
          <a:prstGeom prst="roundRect">
            <a:avLst>
              <a:gd name="adj" fmla="val 8333"/>
            </a:avLst>
          </a:prstGeom>
          <a:solidFill>
            <a:schemeClr val="accent5">
              <a:alpha val="12000"/>
            </a:schemeClr>
          </a:solidFill>
          <a:ln w="12700">
            <a:solidFill>
              <a:schemeClr val="accent5">
                <a:alpha val="45000"/>
              </a:schemeClr>
            </a:solidFill>
            <a:prstDash val="solid"/>
          </a:ln>
        </p:spPr>
      </p:sp>
      <p:sp>
        <p:nvSpPr>
          <p:cNvPr id="16" name="text-614"/>
          <p:cNvSpPr txBox="1"/>
          <p:nvPr/>
        </p:nvSpPr>
        <p:spPr>
          <a:xfrm>
            <a:off x="4507992" y="2688336"/>
            <a:ext cx="3200400" cy="320040"/>
          </a:xfrm>
          <a:prstGeom prst="rect">
            <a:avLst/>
          </a:prstGeom>
          <a:noFill/>
          <a:ln/>
        </p:spPr>
        <p:txBody>
          <a:bodyPr wrap="square" lIns="0" tIns="0" rIns="0" bIns="0" rtlCol="0" anchor="t"/>
          <a:lstStyle/>
          <a:p>
            <a:pPr indent="0" marL="0">
              <a:buNone/>
            </a:pPr>
            <a:r>
              <a:rPr lang="en-US" sz="1450" b="1" dirty="0">
                <a:solidFill>
                  <a:schemeClr val="accent5"/>
                </a:solidFill>
              </a:rPr>
              <a:t>Job 2 · Guardian corpus + contracts</a:t>
            </a:r>
            <a:endParaRPr lang="en-US" sz="1450" dirty="0"/>
          </a:p>
        </p:txBody>
      </p:sp>
      <p:sp>
        <p:nvSpPr>
          <p:cNvPr id="17" name="text-615"/>
          <p:cNvSpPr txBox="1"/>
          <p:nvPr/>
        </p:nvSpPr>
        <p:spPr>
          <a:xfrm>
            <a:off x="4507992" y="3035808"/>
            <a:ext cx="3200400" cy="1005840"/>
          </a:xfrm>
          <a:prstGeom prst="rect">
            <a:avLst/>
          </a:prstGeom>
          <a:noFill/>
          <a:ln/>
        </p:spPr>
        <p:txBody>
          <a:bodyPr wrap="square" lIns="0" tIns="0" rIns="0" bIns="0" rtlCol="0" anchor="t"/>
          <a:lstStyle/>
          <a:p>
            <a:pPr indent="0" marL="0">
              <a:buNone/>
            </a:pPr>
            <a:r>
              <a:rPr lang="en-US" sz="1250" dirty="0">
                <a:solidFill>
                  <a:schemeClr val="bg1"/>
                </a:solidFill>
              </a:rPr>
              <a:t>6 adversarial fixtures through the real run_checks(); 8 pins on rubric weights, schemas, prompt versions, protected columns, live keys.</a:t>
            </a:r>
            <a:endParaRPr lang="en-US" sz="1250" dirty="0"/>
          </a:p>
        </p:txBody>
      </p:sp>
      <p:sp>
        <p:nvSpPr>
          <p:cNvPr id="18" name="glass-616"/>
          <p:cNvSpPr/>
          <p:nvPr/>
        </p:nvSpPr>
        <p:spPr>
          <a:xfrm>
            <a:off x="8065008" y="2578608"/>
            <a:ext cx="3575304" cy="1536192"/>
          </a:xfrm>
          <a:prstGeom prst="roundRect">
            <a:avLst>
              <a:gd name="adj" fmla="val 8333"/>
            </a:avLst>
          </a:prstGeom>
          <a:solidFill>
            <a:schemeClr val="accent5">
              <a:alpha val="12000"/>
            </a:schemeClr>
          </a:solidFill>
          <a:ln w="12700">
            <a:solidFill>
              <a:schemeClr val="accent5">
                <a:alpha val="45000"/>
              </a:schemeClr>
            </a:solidFill>
            <a:prstDash val="solid"/>
          </a:ln>
        </p:spPr>
      </p:sp>
      <p:sp>
        <p:nvSpPr>
          <p:cNvPr id="19" name="text-617"/>
          <p:cNvSpPr txBox="1"/>
          <p:nvPr/>
        </p:nvSpPr>
        <p:spPr>
          <a:xfrm>
            <a:off x="8266176" y="2688336"/>
            <a:ext cx="3200400" cy="320040"/>
          </a:xfrm>
          <a:prstGeom prst="rect">
            <a:avLst/>
          </a:prstGeom>
          <a:noFill/>
          <a:ln/>
        </p:spPr>
        <p:txBody>
          <a:bodyPr wrap="square" lIns="0" tIns="0" rIns="0" bIns="0" rtlCol="0" anchor="t"/>
          <a:lstStyle/>
          <a:p>
            <a:pPr indent="0" marL="0">
              <a:buNone/>
            </a:pPr>
            <a:r>
              <a:rPr lang="en-US" sz="1450" b="1" dirty="0">
                <a:solidFill>
                  <a:schemeClr val="accent5"/>
                </a:solidFill>
              </a:rPr>
              <a:t>Job 3 · Console</a:t>
            </a:r>
            <a:endParaRPr lang="en-US" sz="1450" dirty="0"/>
          </a:p>
        </p:txBody>
      </p:sp>
      <p:sp>
        <p:nvSpPr>
          <p:cNvPr id="20" name="text-618"/>
          <p:cNvSpPr txBox="1"/>
          <p:nvPr/>
        </p:nvSpPr>
        <p:spPr>
          <a:xfrm>
            <a:off x="8266176" y="3035808"/>
            <a:ext cx="3200400" cy="1005840"/>
          </a:xfrm>
          <a:prstGeom prst="rect">
            <a:avLst/>
          </a:prstGeom>
          <a:noFill/>
          <a:ln/>
        </p:spPr>
        <p:txBody>
          <a:bodyPr wrap="square" lIns="0" tIns="0" rIns="0" bIns="0" rtlCol="0" anchor="t"/>
          <a:lstStyle/>
          <a:p>
            <a:pPr indent="0" marL="0">
              <a:buNone/>
            </a:pPr>
            <a:r>
              <a:rPr lang="en-US" sz="1250" dirty="0">
                <a:solidFill>
                  <a:schemeClr val="bg1"/>
                </a:solidFill>
              </a:rPr>
              <a:t>npm ci · lint (reported) · production build (blocking) — the command Railway runs.</a:t>
            </a:r>
            <a:endParaRPr lang="en-US" sz="1250" dirty="0"/>
          </a:p>
        </p:txBody>
      </p:sp>
      <p:sp>
        <p:nvSpPr>
          <p:cNvPr id="21" name="glass-619"/>
          <p:cNvSpPr/>
          <p:nvPr/>
        </p:nvSpPr>
        <p:spPr>
          <a:xfrm>
            <a:off x="548640" y="4315968"/>
            <a:ext cx="2651760" cy="1115568"/>
          </a:xfrm>
          <a:prstGeom prst="roundRect">
            <a:avLst>
              <a:gd name="adj" fmla="val 11475"/>
            </a:avLst>
          </a:prstGeom>
          <a:solidFill>
            <a:schemeClr val="tx2">
              <a:alpha val="78000"/>
            </a:schemeClr>
          </a:solidFill>
          <a:ln w="9525">
            <a:solidFill>
              <a:schemeClr val="bg2">
                <a:alpha val="22000"/>
              </a:schemeClr>
            </a:solidFill>
            <a:prstDash val="solid"/>
          </a:ln>
        </p:spPr>
      </p:sp>
      <p:sp>
        <p:nvSpPr>
          <p:cNvPr id="22" name="icon-ring-620"/>
          <p:cNvSpPr/>
          <p:nvPr/>
        </p:nvSpPr>
        <p:spPr>
          <a:xfrm>
            <a:off x="713232" y="4498848"/>
            <a:ext cx="475488" cy="475488"/>
          </a:xfrm>
          <a:prstGeom prst="ellipse">
            <a:avLst/>
          </a:prstGeom>
          <a:solidFill>
            <a:schemeClr val="accent1">
              <a:alpha val="18000"/>
            </a:schemeClr>
          </a:solidFill>
          <a:ln w="12700">
            <a:solidFill>
              <a:schemeClr val="accent1">
                <a:alpha val="70000"/>
              </a:schemeClr>
            </a:solidFill>
            <a:prstDash val="solid"/>
          </a:ln>
        </p:spPr>
      </p:sp>
      <p:pic>
        <p:nvPicPr>
          <p:cNvPr id="23" name="icon-621" descr="preencoded.png">    </p:cNvPr>
          <p:cNvPicPr>
            <a:picLocks noChangeAspect="1"/>
          </p:cNvPicPr>
          <p:nvPr/>
        </p:nvPicPr>
        <p:blipFill>
          <a:blip r:embed="rId1"/>
          <a:stretch>
            <a:fillRect/>
          </a:stretch>
        </p:blipFill>
        <p:spPr>
          <a:xfrm>
            <a:off x="836859" y="4622475"/>
            <a:ext cx="228234" cy="228234"/>
          </a:xfrm>
          <a:prstGeom prst="rect">
            <a:avLst/>
          </a:prstGeom>
        </p:spPr>
      </p:pic>
      <p:sp>
        <p:nvSpPr>
          <p:cNvPr id="24" name="text-622"/>
          <p:cNvSpPr txBox="1"/>
          <p:nvPr/>
        </p:nvSpPr>
        <p:spPr>
          <a:xfrm>
            <a:off x="1298448" y="4443984"/>
            <a:ext cx="1828800" cy="320040"/>
          </a:xfrm>
          <a:prstGeom prst="rect">
            <a:avLst/>
          </a:prstGeom>
          <a:noFill/>
          <a:ln/>
        </p:spPr>
        <p:txBody>
          <a:bodyPr wrap="square" lIns="0" tIns="0" rIns="0" bIns="0" rtlCol="0" anchor="t"/>
          <a:lstStyle/>
          <a:p>
            <a:pPr indent="0" marL="0">
              <a:buNone/>
            </a:pPr>
            <a:r>
              <a:rPr lang="en-US" sz="1350" b="1" dirty="0">
                <a:solidFill>
                  <a:schemeClr val="bg1"/>
                </a:solidFill>
              </a:rPr>
              <a:t>Decision Ledger</a:t>
            </a:r>
            <a:endParaRPr lang="en-US" sz="1350" dirty="0"/>
          </a:p>
        </p:txBody>
      </p:sp>
      <p:sp>
        <p:nvSpPr>
          <p:cNvPr id="25" name="text-623"/>
          <p:cNvSpPr txBox="1"/>
          <p:nvPr/>
        </p:nvSpPr>
        <p:spPr>
          <a:xfrm>
            <a:off x="1298448" y="4754880"/>
            <a:ext cx="1828800" cy="621792"/>
          </a:xfrm>
          <a:prstGeom prst="rect">
            <a:avLst/>
          </a:prstGeom>
          <a:noFill/>
          <a:ln/>
        </p:spPr>
        <p:txBody>
          <a:bodyPr wrap="square" lIns="0" tIns="0" rIns="0" bIns="0" rtlCol="0" anchor="t"/>
          <a:lstStyle/>
          <a:p>
            <a:pPr indent="0" marL="0">
              <a:buNone/>
            </a:pPr>
            <a:r>
              <a:rPr lang="en-US" sz="1200" dirty="0">
                <a:solidFill>
                  <a:schemeClr val="bg2"/>
                </a:solidFill>
              </a:rPr>
              <a:t>prompt + model version per artifact</a:t>
            </a:r>
            <a:endParaRPr lang="en-US" sz="1200" dirty="0"/>
          </a:p>
        </p:txBody>
      </p:sp>
      <p:sp>
        <p:nvSpPr>
          <p:cNvPr id="26" name="glass-624"/>
          <p:cNvSpPr/>
          <p:nvPr/>
        </p:nvSpPr>
        <p:spPr>
          <a:xfrm>
            <a:off x="3364992" y="4315968"/>
            <a:ext cx="2651760" cy="1115568"/>
          </a:xfrm>
          <a:prstGeom prst="roundRect">
            <a:avLst>
              <a:gd name="adj" fmla="val 11475"/>
            </a:avLst>
          </a:prstGeom>
          <a:solidFill>
            <a:schemeClr val="tx2">
              <a:alpha val="78000"/>
            </a:schemeClr>
          </a:solidFill>
          <a:ln w="9525">
            <a:solidFill>
              <a:schemeClr val="bg2">
                <a:alpha val="22000"/>
              </a:schemeClr>
            </a:solidFill>
            <a:prstDash val="solid"/>
          </a:ln>
        </p:spPr>
      </p:sp>
      <p:sp>
        <p:nvSpPr>
          <p:cNvPr id="27" name="icon-ring-625"/>
          <p:cNvSpPr/>
          <p:nvPr/>
        </p:nvSpPr>
        <p:spPr>
          <a:xfrm>
            <a:off x="3529584" y="4498848"/>
            <a:ext cx="475488" cy="475488"/>
          </a:xfrm>
          <a:prstGeom prst="ellipse">
            <a:avLst/>
          </a:prstGeom>
          <a:solidFill>
            <a:schemeClr val="accent4">
              <a:alpha val="18000"/>
            </a:schemeClr>
          </a:solidFill>
          <a:ln w="12700">
            <a:solidFill>
              <a:schemeClr val="accent4">
                <a:alpha val="70000"/>
              </a:schemeClr>
            </a:solidFill>
            <a:prstDash val="solid"/>
          </a:ln>
        </p:spPr>
      </p:sp>
      <p:pic>
        <p:nvPicPr>
          <p:cNvPr id="28" name="icon-626" descr="preencoded.png">    </p:cNvPr>
          <p:cNvPicPr>
            <a:picLocks noChangeAspect="1"/>
          </p:cNvPicPr>
          <p:nvPr/>
        </p:nvPicPr>
        <p:blipFill>
          <a:blip r:embed="rId2"/>
          <a:stretch>
            <a:fillRect/>
          </a:stretch>
        </p:blipFill>
        <p:spPr>
          <a:xfrm>
            <a:off x="3653211" y="4622475"/>
            <a:ext cx="228234" cy="228234"/>
          </a:xfrm>
          <a:prstGeom prst="rect">
            <a:avLst/>
          </a:prstGeom>
        </p:spPr>
      </p:pic>
      <p:sp>
        <p:nvSpPr>
          <p:cNvPr id="29" name="text-627"/>
          <p:cNvSpPr txBox="1"/>
          <p:nvPr/>
        </p:nvSpPr>
        <p:spPr>
          <a:xfrm>
            <a:off x="4114800" y="4443984"/>
            <a:ext cx="1828800" cy="320040"/>
          </a:xfrm>
          <a:prstGeom prst="rect">
            <a:avLst/>
          </a:prstGeom>
          <a:noFill/>
          <a:ln/>
        </p:spPr>
        <p:txBody>
          <a:bodyPr wrap="square" lIns="0" tIns="0" rIns="0" bIns="0" rtlCol="0" anchor="t"/>
          <a:lstStyle/>
          <a:p>
            <a:pPr indent="0" marL="0">
              <a:buNone/>
            </a:pPr>
            <a:r>
              <a:rPr lang="en-US" sz="1350" b="1" dirty="0">
                <a:solidFill>
                  <a:schemeClr val="bg1"/>
                </a:solidFill>
              </a:rPr>
              <a:t>Activity log + cost</a:t>
            </a:r>
            <a:endParaRPr lang="en-US" sz="1350" dirty="0"/>
          </a:p>
        </p:txBody>
      </p:sp>
      <p:sp>
        <p:nvSpPr>
          <p:cNvPr id="30" name="text-628"/>
          <p:cNvSpPr txBox="1"/>
          <p:nvPr/>
        </p:nvSpPr>
        <p:spPr>
          <a:xfrm>
            <a:off x="4114800" y="4754880"/>
            <a:ext cx="1828800" cy="621792"/>
          </a:xfrm>
          <a:prstGeom prst="rect">
            <a:avLst/>
          </a:prstGeom>
          <a:noFill/>
          <a:ln/>
        </p:spPr>
        <p:txBody>
          <a:bodyPr wrap="square" lIns="0" tIns="0" rIns="0" bIns="0" rtlCol="0" anchor="t"/>
          <a:lstStyle/>
          <a:p>
            <a:pPr indent="0" marL="0">
              <a:buNone/>
            </a:pPr>
            <a:r>
              <a:rPr lang="en-US" sz="1200" dirty="0">
                <a:solidFill>
                  <a:schemeClr val="bg2"/>
                </a:solidFill>
              </a:rPr>
              <a:t>operator actions; spend per stage</a:t>
            </a:r>
            <a:endParaRPr lang="en-US" sz="1200" dirty="0"/>
          </a:p>
        </p:txBody>
      </p:sp>
      <p:sp>
        <p:nvSpPr>
          <p:cNvPr id="31" name="glass-629"/>
          <p:cNvSpPr/>
          <p:nvPr/>
        </p:nvSpPr>
        <p:spPr>
          <a:xfrm>
            <a:off x="6181344" y="4315968"/>
            <a:ext cx="2651760" cy="1115568"/>
          </a:xfrm>
          <a:prstGeom prst="roundRect">
            <a:avLst>
              <a:gd name="adj" fmla="val 11475"/>
            </a:avLst>
          </a:prstGeom>
          <a:solidFill>
            <a:schemeClr val="tx2">
              <a:alpha val="78000"/>
            </a:schemeClr>
          </a:solidFill>
          <a:ln w="9525">
            <a:solidFill>
              <a:schemeClr val="bg2">
                <a:alpha val="22000"/>
              </a:schemeClr>
            </a:solidFill>
            <a:prstDash val="solid"/>
          </a:ln>
        </p:spPr>
      </p:sp>
      <p:sp>
        <p:nvSpPr>
          <p:cNvPr id="32" name="icon-ring-630"/>
          <p:cNvSpPr/>
          <p:nvPr/>
        </p:nvSpPr>
        <p:spPr>
          <a:xfrm>
            <a:off x="6345936" y="4498848"/>
            <a:ext cx="475488" cy="475488"/>
          </a:xfrm>
          <a:prstGeom prst="ellipse">
            <a:avLst/>
          </a:prstGeom>
          <a:solidFill>
            <a:schemeClr val="accent2">
              <a:alpha val="18000"/>
            </a:schemeClr>
          </a:solidFill>
          <a:ln w="12700">
            <a:solidFill>
              <a:schemeClr val="accent2">
                <a:alpha val="70000"/>
              </a:schemeClr>
            </a:solidFill>
            <a:prstDash val="solid"/>
          </a:ln>
        </p:spPr>
      </p:sp>
      <p:pic>
        <p:nvPicPr>
          <p:cNvPr id="33" name="icon-631" descr="preencoded.png">    </p:cNvPr>
          <p:cNvPicPr>
            <a:picLocks noChangeAspect="1"/>
          </p:cNvPicPr>
          <p:nvPr/>
        </p:nvPicPr>
        <p:blipFill>
          <a:blip r:embed="rId3"/>
          <a:stretch>
            <a:fillRect/>
          </a:stretch>
        </p:blipFill>
        <p:spPr>
          <a:xfrm>
            <a:off x="6469563" y="4622475"/>
            <a:ext cx="228234" cy="228234"/>
          </a:xfrm>
          <a:prstGeom prst="rect">
            <a:avLst/>
          </a:prstGeom>
        </p:spPr>
      </p:pic>
      <p:sp>
        <p:nvSpPr>
          <p:cNvPr id="34" name="text-632"/>
          <p:cNvSpPr txBox="1"/>
          <p:nvPr/>
        </p:nvSpPr>
        <p:spPr>
          <a:xfrm>
            <a:off x="6931152" y="4443984"/>
            <a:ext cx="1828800" cy="320040"/>
          </a:xfrm>
          <a:prstGeom prst="rect">
            <a:avLst/>
          </a:prstGeom>
          <a:noFill/>
          <a:ln/>
        </p:spPr>
        <p:txBody>
          <a:bodyPr wrap="square" lIns="0" tIns="0" rIns="0" bIns="0" rtlCol="0" anchor="t"/>
          <a:lstStyle/>
          <a:p>
            <a:pPr indent="0" marL="0">
              <a:buNone/>
            </a:pPr>
            <a:r>
              <a:rPr lang="en-US" sz="1350" b="1" dirty="0">
                <a:solidFill>
                  <a:schemeClr val="bg1"/>
                </a:solidFill>
              </a:rPr>
              <a:t>eval-v1 sidecar</a:t>
            </a:r>
            <a:endParaRPr lang="en-US" sz="1350" dirty="0"/>
          </a:p>
        </p:txBody>
      </p:sp>
      <p:sp>
        <p:nvSpPr>
          <p:cNvPr id="35" name="text-633"/>
          <p:cNvSpPr txBox="1"/>
          <p:nvPr/>
        </p:nvSpPr>
        <p:spPr>
          <a:xfrm>
            <a:off x="6931152" y="4754880"/>
            <a:ext cx="1828800" cy="621792"/>
          </a:xfrm>
          <a:prstGeom prst="rect">
            <a:avLst/>
          </a:prstGeom>
          <a:noFill/>
          <a:ln/>
        </p:spPr>
        <p:txBody>
          <a:bodyPr wrap="square" lIns="0" tIns="0" rIns="0" bIns="0" rtlCol="0" anchor="t"/>
          <a:lstStyle/>
          <a:p>
            <a:pPr indent="0" marL="0">
              <a:buNone/>
            </a:pPr>
            <a:r>
              <a:rPr lang="en-US" sz="1200" dirty="0">
                <a:solidFill>
                  <a:schemeClr val="bg2"/>
                </a:solidFill>
              </a:rPr>
              <a:t>code metrics + LLM judge; delta per run</a:t>
            </a:r>
            <a:endParaRPr lang="en-US" sz="1200" dirty="0"/>
          </a:p>
        </p:txBody>
      </p:sp>
      <p:sp>
        <p:nvSpPr>
          <p:cNvPr id="36" name="glass-634"/>
          <p:cNvSpPr/>
          <p:nvPr/>
        </p:nvSpPr>
        <p:spPr>
          <a:xfrm>
            <a:off x="8997696" y="4315968"/>
            <a:ext cx="2651760" cy="1115568"/>
          </a:xfrm>
          <a:prstGeom prst="roundRect">
            <a:avLst>
              <a:gd name="adj" fmla="val 11475"/>
            </a:avLst>
          </a:prstGeom>
          <a:solidFill>
            <a:schemeClr val="tx2">
              <a:alpha val="78000"/>
            </a:schemeClr>
          </a:solidFill>
          <a:ln w="9525">
            <a:solidFill>
              <a:schemeClr val="bg2">
                <a:alpha val="22000"/>
              </a:schemeClr>
            </a:solidFill>
            <a:prstDash val="solid"/>
          </a:ln>
        </p:spPr>
      </p:sp>
      <p:sp>
        <p:nvSpPr>
          <p:cNvPr id="37" name="icon-ring-635"/>
          <p:cNvSpPr/>
          <p:nvPr/>
        </p:nvSpPr>
        <p:spPr>
          <a:xfrm>
            <a:off x="9162288" y="4498848"/>
            <a:ext cx="475488" cy="475488"/>
          </a:xfrm>
          <a:prstGeom prst="ellipse">
            <a:avLst/>
          </a:prstGeom>
          <a:solidFill>
            <a:schemeClr val="accent6">
              <a:alpha val="18000"/>
            </a:schemeClr>
          </a:solidFill>
          <a:ln w="12700">
            <a:solidFill>
              <a:schemeClr val="accent6">
                <a:alpha val="70000"/>
              </a:schemeClr>
            </a:solidFill>
            <a:prstDash val="solid"/>
          </a:ln>
        </p:spPr>
      </p:sp>
      <p:pic>
        <p:nvPicPr>
          <p:cNvPr id="38" name="icon-636" descr="preencoded.png">    </p:cNvPr>
          <p:cNvPicPr>
            <a:picLocks noChangeAspect="1"/>
          </p:cNvPicPr>
          <p:nvPr/>
        </p:nvPicPr>
        <p:blipFill>
          <a:blip r:embed="rId4"/>
          <a:stretch>
            <a:fillRect/>
          </a:stretch>
        </p:blipFill>
        <p:spPr>
          <a:xfrm>
            <a:off x="9285915" y="4622475"/>
            <a:ext cx="228234" cy="228234"/>
          </a:xfrm>
          <a:prstGeom prst="rect">
            <a:avLst/>
          </a:prstGeom>
        </p:spPr>
      </p:pic>
      <p:sp>
        <p:nvSpPr>
          <p:cNvPr id="39" name="text-637"/>
          <p:cNvSpPr txBox="1"/>
          <p:nvPr/>
        </p:nvSpPr>
        <p:spPr>
          <a:xfrm>
            <a:off x="9747504" y="4443984"/>
            <a:ext cx="1828800" cy="320040"/>
          </a:xfrm>
          <a:prstGeom prst="rect">
            <a:avLst/>
          </a:prstGeom>
          <a:noFill/>
          <a:ln/>
        </p:spPr>
        <p:txBody>
          <a:bodyPr wrap="square" lIns="0" tIns="0" rIns="0" bIns="0" rtlCol="0" anchor="t"/>
          <a:lstStyle/>
          <a:p>
            <a:pPr indent="0" marL="0">
              <a:buNone/>
            </a:pPr>
            <a:r>
              <a:rPr lang="en-US" sz="1350" b="1" dirty="0">
                <a:solidFill>
                  <a:schemeClr val="bg1"/>
                </a:solidFill>
              </a:rPr>
              <a:t>Negative test</a:t>
            </a:r>
            <a:endParaRPr lang="en-US" sz="1350" dirty="0"/>
          </a:p>
        </p:txBody>
      </p:sp>
      <p:sp>
        <p:nvSpPr>
          <p:cNvPr id="40" name="text-638"/>
          <p:cNvSpPr txBox="1"/>
          <p:nvPr/>
        </p:nvSpPr>
        <p:spPr>
          <a:xfrm>
            <a:off x="9747504" y="4754880"/>
            <a:ext cx="1828800" cy="621792"/>
          </a:xfrm>
          <a:prstGeom prst="rect">
            <a:avLst/>
          </a:prstGeom>
          <a:noFill/>
          <a:ln/>
        </p:spPr>
        <p:txBody>
          <a:bodyPr wrap="square" lIns="0" tIns="0" rIns="0" bIns="0" rtlCol="0" anchor="t"/>
          <a:lstStyle/>
          <a:p>
            <a:pPr indent="0" marL="0">
              <a:buNone/>
            </a:pPr>
            <a:r>
              <a:rPr lang="en-US" sz="1200" dirty="0">
                <a:solidFill>
                  <a:schemeClr val="bg2"/>
                </a:solidFill>
              </a:rPr>
              <a:t>planted PII → job 2 red</a:t>
            </a:r>
            <a:endParaRPr lang="en-US" sz="1200" dirty="0"/>
          </a:p>
        </p:txBody>
      </p:sp>
      <p:sp>
        <p:nvSpPr>
          <p:cNvPr id="41" name="glass-639"/>
          <p:cNvSpPr/>
          <p:nvPr/>
        </p:nvSpPr>
        <p:spPr>
          <a:xfrm>
            <a:off x="548640" y="5596128"/>
            <a:ext cx="11091672" cy="576072"/>
          </a:xfrm>
          <a:prstGeom prst="roundRect">
            <a:avLst>
              <a:gd name="adj" fmla="val 22222"/>
            </a:avLst>
          </a:prstGeom>
          <a:solidFill>
            <a:schemeClr val="accent3">
              <a:alpha val="12000"/>
            </a:schemeClr>
          </a:solidFill>
          <a:ln w="12700">
            <a:solidFill>
              <a:schemeClr val="accent3">
                <a:alpha val="45000"/>
              </a:schemeClr>
            </a:solidFill>
            <a:prstDash val="solid"/>
          </a:ln>
        </p:spPr>
      </p:sp>
      <p:sp>
        <p:nvSpPr>
          <p:cNvPr id="42" name="text-640"/>
          <p:cNvSpPr txBox="1"/>
          <p:nvPr/>
        </p:nvSpPr>
        <p:spPr>
          <a:xfrm>
            <a:off x="777240" y="5596128"/>
            <a:ext cx="10698480" cy="576072"/>
          </a:xfrm>
          <a:prstGeom prst="rect">
            <a:avLst/>
          </a:prstGeom>
          <a:noFill/>
          <a:ln/>
        </p:spPr>
        <p:txBody>
          <a:bodyPr wrap="square" lIns="0" tIns="0" rIns="0" bIns="0" rtlCol="0" anchor="ctr"/>
          <a:lstStyle/>
          <a:p>
            <a:pPr indent="0" marL="0">
              <a:buNone/>
            </a:pPr>
            <a:r>
              <a:rPr lang="en-US" sz="1350" b="1" dirty="0">
                <a:solidFill>
                  <a:schemeClr val="accent3"/>
                </a:solidFill>
              </a:rPr>
              <a:t>Not yet automated: </a:t>
            </a:r>
            <a:pPr indent="0" marL="0">
              <a:buNone/>
            </a:pPr>
            <a:r>
              <a:rPr lang="en-US" sz="1350" dirty="0">
                <a:solidFill>
                  <a:schemeClr val="bg1"/>
                </a:solidFill>
              </a:rPr>
              <a:t>external alerting, a metrics dashboard and LLM tracing — the Logs tab and ledger are read by a person today.</a:t>
            </a:r>
            <a:endParaRPr lang="en-US" sz="13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641"/>
          <p:cNvSpPr txBox="1"/>
          <p:nvPr/>
        </p:nvSpPr>
        <p:spPr>
          <a:xfrm>
            <a:off x="685800" y="1600200"/>
            <a:ext cx="2743200" cy="1005840"/>
          </a:xfrm>
          <a:prstGeom prst="rect">
            <a:avLst/>
          </a:prstGeom>
          <a:noFill/>
          <a:ln/>
        </p:spPr>
        <p:txBody>
          <a:bodyPr wrap="square" lIns="0" tIns="0" rIns="0" bIns="0" rtlCol="0" anchor="t"/>
          <a:lstStyle/>
          <a:p>
            <a:pPr indent="0" marL="0">
              <a:buNone/>
            </a:pPr>
            <a:r>
              <a:rPr lang="en-US" sz="6400" b="1" dirty="0">
                <a:solidFill>
                  <a:schemeClr val="accent1"/>
                </a:solidFill>
                <a:latin typeface="Century Gothic" pitchFamily="34" charset="0"/>
                <a:ea typeface="Century Gothic" pitchFamily="34" charset="-122"/>
                <a:cs typeface="Century Gothic" pitchFamily="34" charset="-120"/>
              </a:rPr>
              <a:t>05</a:t>
            </a:r>
            <a:endParaRPr lang="en-US" sz="6400" dirty="0"/>
          </a:p>
        </p:txBody>
      </p:sp>
      <p:sp>
        <p:nvSpPr>
          <p:cNvPr id="3" name="Text 0"/>
          <p:cNvSpPr/>
          <p:nvPr>
            <p:ph idx="100" type="title" hasCustomPrompt="1"/>
          </p:nvPr>
        </p:nvSpPr>
        <p:spPr>
          <a:xfrm>
            <a:off x="685800" y="2788920"/>
            <a:ext cx="6217920" cy="868680"/>
          </a:xfrm>
          <a:prstGeom prst="rect">
            <a:avLst/>
          </a:prstGeom>
          <a:noFill/>
          <a:ln/>
        </p:spPr>
        <p:txBody>
          <a:bodyPr wrap="square" lIns="0" tIns="0" rIns="0" bIns="0" rtlCol="0" anchor="t"/>
          <a:lstStyle/>
          <a:p>
            <a:pPr algn="l" indent="0" marL="0">
              <a:buNone/>
            </a:pPr>
            <a:r>
              <a:rPr lang="en-US" sz="4400" b="1" dirty="0">
                <a:solidFill>
                  <a:schemeClr val="bg1"/>
                </a:solidFill>
                <a:latin typeface="Century Gothic" pitchFamily="34" charset="0"/>
                <a:ea typeface="Century Gothic" pitchFamily="34" charset="-122"/>
                <a:cs typeface="Century Gothic" pitchFamily="34" charset="-120"/>
              </a:rPr>
              <a:t>Results</a:t>
            </a:r>
            <a:endParaRPr lang="en-US" sz="4400" dirty="0"/>
          </a:p>
        </p:txBody>
      </p:sp>
      <p:sp>
        <p:nvSpPr>
          <p:cNvPr id="4" name="Text 0"/>
          <p:cNvSpPr/>
          <p:nvPr>
            <p:ph idx="101" type="body" hasCustomPrompt="1"/>
          </p:nvPr>
        </p:nvSpPr>
        <p:spPr>
          <a:xfrm>
            <a:off x="685800" y="3794760"/>
            <a:ext cx="4572000" cy="1097280"/>
          </a:xfrm>
          <a:prstGeom prst="rect">
            <a:avLst/>
          </a:prstGeom>
          <a:noFill/>
          <a:ln/>
        </p:spPr>
        <p:txBody>
          <a:bodyPr wrap="square" lIns="0" tIns="0" rIns="0" bIns="0" rtlCol="0" anchor="t"/>
          <a:lstStyle/>
          <a:p>
            <a:pPr algn="l" indent="0" marL="0">
              <a:buNone/>
            </a:pPr>
            <a:r>
              <a:rPr lang="en-US" sz="1800" dirty="0">
                <a:solidFill>
                  <a:schemeClr val="bg2"/>
                </a:solidFill>
              </a:rPr>
              <a:t>What the tests and the evaluator say, the demo, how it scales — and what we would do next.</a:t>
            </a:r>
            <a:endParaRPr lang="en-US" sz="1800" dirty="0"/>
          </a:p>
        </p:txBody>
      </p:sp>
      <p:sp>
        <p:nvSpPr>
          <p:cNvPr id="5" name="tile-642"/>
          <p:cNvSpPr/>
          <p:nvPr/>
        </p:nvSpPr>
        <p:spPr>
          <a:xfrm>
            <a:off x="685800" y="5257800"/>
            <a:ext cx="182880" cy="182880"/>
          </a:xfrm>
          <a:prstGeom prst="roundRect">
            <a:avLst>
              <a:gd name="adj" fmla="val 20000"/>
            </a:avLst>
          </a:prstGeom>
          <a:solidFill>
            <a:schemeClr val="accent6"/>
          </a:solidFill>
          <a:ln/>
        </p:spPr>
      </p:sp>
      <p:sp>
        <p:nvSpPr>
          <p:cNvPr id="6" name="tile-643"/>
          <p:cNvSpPr/>
          <p:nvPr/>
        </p:nvSpPr>
        <p:spPr>
          <a:xfrm>
            <a:off x="941832" y="5257800"/>
            <a:ext cx="182880" cy="182880"/>
          </a:xfrm>
          <a:prstGeom prst="roundRect">
            <a:avLst>
              <a:gd name="adj" fmla="val 20000"/>
            </a:avLst>
          </a:prstGeom>
          <a:solidFill>
            <a:schemeClr val="accent3"/>
          </a:solidFill>
          <a:ln/>
        </p:spPr>
      </p:sp>
      <p:sp>
        <p:nvSpPr>
          <p:cNvPr id="7" name="tile-644"/>
          <p:cNvSpPr/>
          <p:nvPr/>
        </p:nvSpPr>
        <p:spPr>
          <a:xfrm>
            <a:off x="1197864" y="5257800"/>
            <a:ext cx="182880" cy="182880"/>
          </a:xfrm>
          <a:prstGeom prst="roundRect">
            <a:avLst>
              <a:gd name="adj" fmla="val 20000"/>
            </a:avLst>
          </a:prstGeom>
          <a:solidFill>
            <a:schemeClr val="accent2"/>
          </a:solidFill>
          <a:ln/>
        </p:spPr>
      </p:sp>
      <p:sp>
        <p:nvSpPr>
          <p:cNvPr id="8" name="tile-645"/>
          <p:cNvSpPr/>
          <p:nvPr/>
        </p:nvSpPr>
        <p:spPr>
          <a:xfrm>
            <a:off x="1453896" y="5257800"/>
            <a:ext cx="182880" cy="182880"/>
          </a:xfrm>
          <a:prstGeom prst="roundRect">
            <a:avLst>
              <a:gd name="adj" fmla="val 20000"/>
            </a:avLst>
          </a:prstGeom>
          <a:solidFill>
            <a:schemeClr val="accent5"/>
          </a:solidFill>
          <a:ln/>
        </p:spPr>
      </p:sp>
      <p:sp>
        <p:nvSpPr>
          <p:cNvPr id="9" name="tile-646"/>
          <p:cNvSpPr/>
          <p:nvPr/>
        </p:nvSpPr>
        <p:spPr>
          <a:xfrm>
            <a:off x="1709928" y="5257800"/>
            <a:ext cx="182880" cy="182880"/>
          </a:xfrm>
          <a:prstGeom prst="roundRect">
            <a:avLst>
              <a:gd name="adj" fmla="val 20000"/>
            </a:avLst>
          </a:prstGeom>
          <a:solidFill>
            <a:schemeClr val="accent4"/>
          </a:solidFill>
          <a:ln/>
        </p:spPr>
      </p:sp>
      <p:sp>
        <p:nvSpPr>
          <p:cNvPr id="10" name="tile-647"/>
          <p:cNvSpPr/>
          <p:nvPr/>
        </p:nvSpPr>
        <p:spPr>
          <a:xfrm>
            <a:off x="1965960" y="5257800"/>
            <a:ext cx="182880" cy="182880"/>
          </a:xfrm>
          <a:prstGeom prst="roundRect">
            <a:avLst>
              <a:gd name="adj" fmla="val 20000"/>
            </a:avLst>
          </a:prstGeom>
          <a:solidFill>
            <a:schemeClr val="accent1"/>
          </a:solidFill>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Testing and evaluation results</a:t>
            </a:r>
            <a:endParaRPr lang="en-US" sz="2800" dirty="0"/>
          </a:p>
        </p:txBody>
      </p:sp>
      <p:sp>
        <p:nvSpPr>
          <p:cNvPr id="3" name="text-648"/>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Deterministic tests gate every push; the sidecar evaluator scores the agents on what they actually produced.</a:t>
            </a:r>
            <a:endParaRPr lang="en-US" sz="1600" dirty="0"/>
          </a:p>
        </p:txBody>
      </p:sp>
      <p:sp>
        <p:nvSpPr>
          <p:cNvPr id="4" name="glass-649"/>
          <p:cNvSpPr/>
          <p:nvPr/>
        </p:nvSpPr>
        <p:spPr>
          <a:xfrm>
            <a:off x="548640" y="1572768"/>
            <a:ext cx="5120640" cy="1143000"/>
          </a:xfrm>
          <a:prstGeom prst="roundRect">
            <a:avLst>
              <a:gd name="adj" fmla="val 11200"/>
            </a:avLst>
          </a:prstGeom>
          <a:solidFill>
            <a:schemeClr val="accent5">
              <a:alpha val="16000"/>
            </a:schemeClr>
          </a:solidFill>
          <a:ln w="12700">
            <a:solidFill>
              <a:schemeClr val="accent5">
                <a:alpha val="60000"/>
              </a:schemeClr>
            </a:solidFill>
            <a:prstDash val="solid"/>
          </a:ln>
        </p:spPr>
      </p:sp>
      <p:sp>
        <p:nvSpPr>
          <p:cNvPr id="5" name="text-650"/>
          <p:cNvSpPr txBox="1"/>
          <p:nvPr/>
        </p:nvSpPr>
        <p:spPr>
          <a:xfrm>
            <a:off x="777240" y="1572768"/>
            <a:ext cx="2377440" cy="1143000"/>
          </a:xfrm>
          <a:prstGeom prst="rect">
            <a:avLst/>
          </a:prstGeom>
          <a:noFill/>
          <a:ln/>
        </p:spPr>
        <p:txBody>
          <a:bodyPr wrap="square" lIns="0" tIns="0" rIns="0" bIns="0" rtlCol="0" anchor="ctr"/>
          <a:lstStyle/>
          <a:p>
            <a:pPr indent="0" marL="0">
              <a:buNone/>
            </a:pPr>
            <a:r>
              <a:rPr lang="en-US" sz="4000" b="1" dirty="0">
                <a:solidFill>
                  <a:schemeClr val="accent5"/>
                </a:solidFill>
                <a:latin typeface="Century Gothic" pitchFamily="34" charset="0"/>
                <a:ea typeface="Century Gothic" pitchFamily="34" charset="-122"/>
                <a:cs typeface="Century Gothic" pitchFamily="34" charset="-120"/>
              </a:rPr>
              <a:t>14 / 14</a:t>
            </a:r>
            <a:endParaRPr lang="en-US" sz="4000" dirty="0"/>
          </a:p>
        </p:txBody>
      </p:sp>
      <p:sp>
        <p:nvSpPr>
          <p:cNvPr id="6" name="text-651"/>
          <p:cNvSpPr txBox="1"/>
          <p:nvPr/>
        </p:nvSpPr>
        <p:spPr>
          <a:xfrm>
            <a:off x="3154680" y="1572768"/>
            <a:ext cx="2377440" cy="1143000"/>
          </a:xfrm>
          <a:prstGeom prst="rect">
            <a:avLst/>
          </a:prstGeom>
          <a:noFill/>
          <a:ln/>
        </p:spPr>
        <p:txBody>
          <a:bodyPr wrap="square" lIns="0" tIns="0" rIns="0" bIns="0" rtlCol="0" anchor="ctr"/>
          <a:lstStyle/>
          <a:p>
            <a:pPr indent="0" marL="0">
              <a:buNone/>
            </a:pPr>
            <a:r>
              <a:rPr lang="en-US" sz="1400" dirty="0">
                <a:solidFill>
                  <a:schemeClr val="bg1"/>
                </a:solidFill>
              </a:rPr>
              <a:t>automated tests pass — pytest, locally and in CI</a:t>
            </a:r>
            <a:endParaRPr lang="en-US" sz="1400" dirty="0"/>
          </a:p>
        </p:txBody>
      </p:sp>
      <p:sp>
        <p:nvSpPr>
          <p:cNvPr id="7" name="chip-652"/>
          <p:cNvSpPr/>
          <p:nvPr/>
        </p:nvSpPr>
        <p:spPr>
          <a:xfrm>
            <a:off x="548640" y="2962656"/>
            <a:ext cx="658368" cy="329184"/>
          </a:xfrm>
          <a:prstGeom prst="roundRect">
            <a:avLst>
              <a:gd name="adj" fmla="val 50000"/>
            </a:avLst>
          </a:prstGeom>
          <a:solidFill>
            <a:schemeClr val="accent1"/>
          </a:solidFill>
          <a:ln/>
        </p:spPr>
      </p:sp>
      <p:sp>
        <p:nvSpPr>
          <p:cNvPr id="8" name="text-653"/>
          <p:cNvSpPr txBox="1"/>
          <p:nvPr/>
        </p:nvSpPr>
        <p:spPr>
          <a:xfrm>
            <a:off x="548640" y="2962656"/>
            <a:ext cx="658368" cy="329184"/>
          </a:xfrm>
          <a:prstGeom prst="rect">
            <a:avLst/>
          </a:prstGeom>
          <a:noFill/>
          <a:ln/>
        </p:spPr>
        <p:txBody>
          <a:bodyPr wrap="square" lIns="0" tIns="0" rIns="0" bIns="0" rtlCol="0" anchor="ctr"/>
          <a:lstStyle/>
          <a:p>
            <a:pPr algn="ctr" indent="0" marL="0">
              <a:buNone/>
            </a:pPr>
            <a:r>
              <a:rPr lang="en-US" sz="1200" b="1" dirty="0">
                <a:solidFill>
                  <a:schemeClr val="tx1"/>
                </a:solidFill>
              </a:rPr>
              <a:t>6</a:t>
            </a:r>
            <a:endParaRPr lang="en-US" sz="1200" dirty="0"/>
          </a:p>
        </p:txBody>
      </p:sp>
      <p:sp>
        <p:nvSpPr>
          <p:cNvPr id="9" name="text-654"/>
          <p:cNvSpPr txBox="1"/>
          <p:nvPr/>
        </p:nvSpPr>
        <p:spPr>
          <a:xfrm>
            <a:off x="1353312" y="2907792"/>
            <a:ext cx="4297680" cy="749808"/>
          </a:xfrm>
          <a:prstGeom prst="rect">
            <a:avLst/>
          </a:prstGeom>
          <a:noFill/>
          <a:ln/>
        </p:spPr>
        <p:txBody>
          <a:bodyPr wrap="square" lIns="0" tIns="0" rIns="0" bIns="0" rtlCol="0" anchor="t"/>
          <a:lstStyle/>
          <a:p>
            <a:pPr indent="0" marL="0">
              <a:buNone/>
            </a:pPr>
            <a:r>
              <a:rPr lang="en-US" sz="1300" dirty="0">
                <a:solidFill>
                  <a:schemeClr val="bg1"/>
                </a:solidFill>
              </a:rPr>
              <a:t>Guardian corpus — PII, injection, unsubscribe and merge tag must BLOCK; ungrounded offer fails; clean PASSes</a:t>
            </a:r>
            <a:endParaRPr lang="en-US" sz="1300" dirty="0"/>
          </a:p>
        </p:txBody>
      </p:sp>
      <p:sp>
        <p:nvSpPr>
          <p:cNvPr id="10" name="chip-655"/>
          <p:cNvSpPr/>
          <p:nvPr/>
        </p:nvSpPr>
        <p:spPr>
          <a:xfrm>
            <a:off x="548640" y="3776472"/>
            <a:ext cx="658368" cy="329184"/>
          </a:xfrm>
          <a:prstGeom prst="roundRect">
            <a:avLst>
              <a:gd name="adj" fmla="val 50000"/>
            </a:avLst>
          </a:prstGeom>
          <a:solidFill>
            <a:schemeClr val="accent1"/>
          </a:solidFill>
          <a:ln/>
        </p:spPr>
      </p:sp>
      <p:sp>
        <p:nvSpPr>
          <p:cNvPr id="11" name="text-656"/>
          <p:cNvSpPr txBox="1"/>
          <p:nvPr/>
        </p:nvSpPr>
        <p:spPr>
          <a:xfrm>
            <a:off x="548640" y="3776472"/>
            <a:ext cx="658368" cy="329184"/>
          </a:xfrm>
          <a:prstGeom prst="rect">
            <a:avLst/>
          </a:prstGeom>
          <a:noFill/>
          <a:ln/>
        </p:spPr>
        <p:txBody>
          <a:bodyPr wrap="square" lIns="0" tIns="0" rIns="0" bIns="0" rtlCol="0" anchor="ctr"/>
          <a:lstStyle/>
          <a:p>
            <a:pPr algn="ctr" indent="0" marL="0">
              <a:buNone/>
            </a:pPr>
            <a:r>
              <a:rPr lang="en-US" sz="1200" b="1" dirty="0">
                <a:solidFill>
                  <a:schemeClr val="tx1"/>
                </a:solidFill>
              </a:rPr>
              <a:t>8</a:t>
            </a:r>
            <a:endParaRPr lang="en-US" sz="1200" dirty="0"/>
          </a:p>
        </p:txBody>
      </p:sp>
      <p:sp>
        <p:nvSpPr>
          <p:cNvPr id="12" name="text-657"/>
          <p:cNvSpPr txBox="1"/>
          <p:nvPr/>
        </p:nvSpPr>
        <p:spPr>
          <a:xfrm>
            <a:off x="1353312" y="3721608"/>
            <a:ext cx="4297680" cy="749808"/>
          </a:xfrm>
          <a:prstGeom prst="rect">
            <a:avLst/>
          </a:prstGeom>
          <a:noFill/>
          <a:ln/>
        </p:spPr>
        <p:txBody>
          <a:bodyPr wrap="square" lIns="0" tIns="0" rIns="0" bIns="0" rtlCol="0" anchor="t"/>
          <a:lstStyle/>
          <a:p>
            <a:pPr indent="0" marL="0">
              <a:buNone/>
            </a:pPr>
            <a:r>
              <a:rPr lang="en-US" sz="1300" dirty="0">
                <a:solidFill>
                  <a:schemeClr val="bg1"/>
                </a:solidFill>
              </a:rPr>
              <a:t>Contract pins — rubric sums, agent schemas, prompt versions, protected columns, no live keys</a:t>
            </a:r>
            <a:endParaRPr lang="en-US" sz="1300" dirty="0"/>
          </a:p>
        </p:txBody>
      </p:sp>
      <p:sp>
        <p:nvSpPr>
          <p:cNvPr id="13" name="chip-658"/>
          <p:cNvSpPr/>
          <p:nvPr/>
        </p:nvSpPr>
        <p:spPr>
          <a:xfrm>
            <a:off x="548640" y="4590288"/>
            <a:ext cx="658368" cy="329184"/>
          </a:xfrm>
          <a:prstGeom prst="roundRect">
            <a:avLst>
              <a:gd name="adj" fmla="val 50000"/>
            </a:avLst>
          </a:prstGeom>
          <a:solidFill>
            <a:schemeClr val="accent1"/>
          </a:solidFill>
          <a:ln/>
        </p:spPr>
      </p:sp>
      <p:sp>
        <p:nvSpPr>
          <p:cNvPr id="14" name="text-659"/>
          <p:cNvSpPr txBox="1"/>
          <p:nvPr/>
        </p:nvSpPr>
        <p:spPr>
          <a:xfrm>
            <a:off x="548640" y="4590288"/>
            <a:ext cx="658368" cy="329184"/>
          </a:xfrm>
          <a:prstGeom prst="rect">
            <a:avLst/>
          </a:prstGeom>
          <a:no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15" name="text-660"/>
          <p:cNvSpPr txBox="1"/>
          <p:nvPr/>
        </p:nvSpPr>
        <p:spPr>
          <a:xfrm>
            <a:off x="1353312" y="4535424"/>
            <a:ext cx="4297680" cy="749808"/>
          </a:xfrm>
          <a:prstGeom prst="rect">
            <a:avLst/>
          </a:prstGeom>
          <a:noFill/>
          <a:ln/>
        </p:spPr>
        <p:txBody>
          <a:bodyPr wrap="square" lIns="0" tIns="0" rIns="0" bIns="0" rtlCol="0" anchor="t"/>
          <a:lstStyle/>
          <a:p>
            <a:pPr indent="0" marL="0">
              <a:buNone/>
            </a:pPr>
            <a:r>
              <a:rPr lang="en-US" sz="1300" dirty="0">
                <a:solidFill>
                  <a:schemeClr val="bg1"/>
                </a:solidFill>
              </a:rPr>
              <a:t>CI negative test — planted PII turns the build red</a:t>
            </a:r>
            <a:endParaRPr lang="en-US" sz="1300" dirty="0"/>
          </a:p>
        </p:txBody>
      </p:sp>
      <p:sp>
        <p:nvSpPr>
          <p:cNvPr id="16" name="chip-661"/>
          <p:cNvSpPr/>
          <p:nvPr/>
        </p:nvSpPr>
        <p:spPr>
          <a:xfrm>
            <a:off x="548640" y="5404104"/>
            <a:ext cx="658368" cy="329184"/>
          </a:xfrm>
          <a:prstGeom prst="roundRect">
            <a:avLst>
              <a:gd name="adj" fmla="val 50000"/>
            </a:avLst>
          </a:prstGeom>
          <a:solidFill>
            <a:schemeClr val="accent1"/>
          </a:solidFill>
          <a:ln/>
        </p:spPr>
      </p:sp>
      <p:sp>
        <p:nvSpPr>
          <p:cNvPr id="17" name="text-662"/>
          <p:cNvSpPr txBox="1"/>
          <p:nvPr/>
        </p:nvSpPr>
        <p:spPr>
          <a:xfrm>
            <a:off x="548640" y="5404104"/>
            <a:ext cx="658368" cy="329184"/>
          </a:xfrm>
          <a:prstGeom prst="rect">
            <a:avLst/>
          </a:prstGeom>
          <a:noFill/>
          <a:ln/>
        </p:spPr>
        <p:txBody>
          <a:bodyPr wrap="square" lIns="0" tIns="0" rIns="0" bIns="0" rtlCol="0" anchor="ctr"/>
          <a:lstStyle/>
          <a:p>
            <a:pPr algn="ctr" indent="0" marL="0">
              <a:buNone/>
            </a:pPr>
            <a:r>
              <a:rPr lang="en-US" sz="1200" b="1" dirty="0">
                <a:solidFill>
                  <a:schemeClr val="tx1"/>
                </a:solidFill>
              </a:rPr>
              <a:t>E2E</a:t>
            </a:r>
            <a:endParaRPr lang="en-US" sz="1200" dirty="0"/>
          </a:p>
        </p:txBody>
      </p:sp>
      <p:sp>
        <p:nvSpPr>
          <p:cNvPr id="18" name="text-663"/>
          <p:cNvSpPr txBox="1"/>
          <p:nvPr/>
        </p:nvSpPr>
        <p:spPr>
          <a:xfrm>
            <a:off x="1353312" y="5349240"/>
            <a:ext cx="4297680" cy="749808"/>
          </a:xfrm>
          <a:prstGeom prst="rect">
            <a:avLst/>
          </a:prstGeom>
          <a:noFill/>
          <a:ln/>
        </p:spPr>
        <p:txBody>
          <a:bodyPr wrap="square" lIns="0" tIns="0" rIns="0" bIns="0" rtlCol="0" anchor="t"/>
          <a:lstStyle/>
          <a:p>
            <a:pPr indent="0" marL="0">
              <a:buNone/>
            </a:pPr>
            <a:r>
              <a:rPr lang="en-US" sz="1300" dirty="0">
                <a:solidFill>
                  <a:schemeClr val="bg1"/>
                </a:solidFill>
              </a:rPr>
              <a:t>1,000 contacts → 6 segments → 6 emails → 3 live sends via Resend</a:t>
            </a:r>
            <a:endParaRPr lang="en-US" sz="1300" dirty="0"/>
          </a:p>
        </p:txBody>
      </p:sp>
      <p:sp>
        <p:nvSpPr>
          <p:cNvPr id="19" name="glass-664"/>
          <p:cNvSpPr/>
          <p:nvPr/>
        </p:nvSpPr>
        <p:spPr>
          <a:xfrm>
            <a:off x="5943600" y="1572768"/>
            <a:ext cx="5696712" cy="4599432"/>
          </a:xfrm>
          <a:prstGeom prst="roundRect">
            <a:avLst>
              <a:gd name="adj" fmla="val 2783"/>
            </a:avLst>
          </a:prstGeom>
          <a:solidFill>
            <a:schemeClr val="tx2">
              <a:alpha val="78000"/>
            </a:schemeClr>
          </a:solidFill>
          <a:ln w="9525">
            <a:solidFill>
              <a:schemeClr val="bg2">
                <a:alpha val="22000"/>
              </a:schemeClr>
            </a:solidFill>
            <a:prstDash val="solid"/>
          </a:ln>
        </p:spPr>
      </p:sp>
      <p:sp>
        <p:nvSpPr>
          <p:cNvPr id="20" name="text-665"/>
          <p:cNvSpPr txBox="1"/>
          <p:nvPr/>
        </p:nvSpPr>
        <p:spPr>
          <a:xfrm>
            <a:off x="6172200" y="1719072"/>
            <a:ext cx="5303520" cy="365760"/>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eval-v1 agent scores  </a:t>
            </a:r>
            <a:pPr indent="0" marL="0">
              <a:buNone/>
            </a:pPr>
            <a:r>
              <a:rPr lang="en-US" sz="1500" b="1" dirty="0">
                <a:solidFill>
                  <a:schemeClr val="accent1"/>
                </a:solidFill>
              </a:rPr>
              <a:t>overall 88.2</a:t>
            </a:r>
            <a:endParaRPr lang="en-US" sz="1400" dirty="0"/>
          </a:p>
        </p:txBody>
      </p:sp>
      <p:graphicFrame>
        <p:nvGraphicFramePr>
          <p:cNvPr id="21" name="eval-chart" descr=""/>
          <p:cNvGraphicFramePr/>
          <p:nvPr/>
        </p:nvGraphicFramePr>
        <p:xfrm>
          <a:off x="6126480" y="2148840"/>
          <a:ext cx="5349240" cy="3383280"/>
        </p:xfrm>
        <a:graphic xmlns:a="http://schemas.openxmlformats.org/drawingml/2006/main">
          <a:graphicData uri="http://schemas.openxmlformats.org/drawingml/2006/chart">
            <c:chart xmlns:c="http://schemas.openxmlformats.org/drawingml/2006/chart" r:id="rId1"/>
          </a:graphicData>
        </a:graphic>
      </p:graphicFrame>
      <p:sp>
        <p:nvSpPr>
          <p:cNvPr id="22" name="text-666"/>
          <p:cNvSpPr txBox="1"/>
          <p:nvPr/>
        </p:nvSpPr>
        <p:spPr>
          <a:xfrm>
            <a:off x="6172200" y="5596128"/>
            <a:ext cx="5303520" cy="457200"/>
          </a:xfrm>
          <a:prstGeom prst="rect">
            <a:avLst/>
          </a:prstGeom>
          <a:noFill/>
          <a:ln/>
        </p:spPr>
        <p:txBody>
          <a:bodyPr wrap="square" lIns="0" tIns="0" rIns="0" bIns="0" rtlCol="0" anchor="t"/>
          <a:lstStyle/>
          <a:p>
            <a:pPr indent="0" marL="0">
              <a:buNone/>
            </a:pPr>
            <a:r>
              <a:rPr lang="en-US" sz="1200" i="1" dirty="0">
                <a:solidFill>
                  <a:schemeClr val="bg2"/>
                </a:solidFill>
              </a:rPr>
              <a:t>Lowest criterion: segment-name faithfulness, 6.9 / 15. Judge: openai/gpt-5.6-luna, conservative rubric.</a:t>
            </a:r>
            <a:endParaRPr lang="en-US" sz="12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Demo walkthrough</a:t>
            </a:r>
            <a:endParaRPr lang="en-US" sz="2800" dirty="0"/>
          </a:p>
        </p:txBody>
      </p:sp>
      <p:sp>
        <p:nvSpPr>
          <p:cNvPr id="3" name="text-667"/>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From an uploaded CSV to a checked, sent email — in the order the console works.</a:t>
            </a:r>
            <a:endParaRPr lang="en-US" sz="1600" dirty="0"/>
          </a:p>
        </p:txBody>
      </p:sp>
      <p:sp>
        <p:nvSpPr>
          <p:cNvPr id="4" name="glass-668"/>
          <p:cNvSpPr/>
          <p:nvPr/>
        </p:nvSpPr>
        <p:spPr>
          <a:xfrm>
            <a:off x="548640" y="1572768"/>
            <a:ext cx="5449824" cy="2212848"/>
          </a:xfrm>
          <a:prstGeom prst="roundRect">
            <a:avLst>
              <a:gd name="adj" fmla="val 5785"/>
            </a:avLst>
          </a:prstGeom>
          <a:solidFill>
            <a:schemeClr val="tx2">
              <a:alpha val="78000"/>
            </a:schemeClr>
          </a:solidFill>
          <a:ln w="9525">
            <a:solidFill>
              <a:schemeClr val="bg2">
                <a:alpha val="22000"/>
              </a:schemeClr>
            </a:solidFill>
            <a:prstDash val="solid"/>
          </a:ln>
        </p:spPr>
      </p:sp>
      <p:sp>
        <p:nvSpPr>
          <p:cNvPr id="5" name="browser-frame-669"/>
          <p:cNvSpPr/>
          <p:nvPr/>
        </p:nvSpPr>
        <p:spPr>
          <a:xfrm>
            <a:off x="694944" y="1627632"/>
            <a:ext cx="2187648" cy="2130552"/>
          </a:xfrm>
          <a:prstGeom prst="roundRect">
            <a:avLst>
              <a:gd name="adj" fmla="val 4292"/>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6" name="frame-dot-670"/>
          <p:cNvSpPr/>
          <p:nvPr/>
        </p:nvSpPr>
        <p:spPr>
          <a:xfrm>
            <a:off x="822960" y="1737360"/>
            <a:ext cx="91440" cy="91440"/>
          </a:xfrm>
          <a:prstGeom prst="ellipse">
            <a:avLst/>
          </a:prstGeom>
          <a:solidFill>
            <a:schemeClr val="accent6"/>
          </a:solidFill>
          <a:ln/>
        </p:spPr>
      </p:sp>
      <p:sp>
        <p:nvSpPr>
          <p:cNvPr id="7" name="frame-dot-671"/>
          <p:cNvSpPr/>
          <p:nvPr/>
        </p:nvSpPr>
        <p:spPr>
          <a:xfrm>
            <a:off x="978408" y="1737360"/>
            <a:ext cx="91440" cy="91440"/>
          </a:xfrm>
          <a:prstGeom prst="ellipse">
            <a:avLst/>
          </a:prstGeom>
          <a:solidFill>
            <a:schemeClr val="accent3"/>
          </a:solidFill>
          <a:ln/>
        </p:spPr>
      </p:sp>
      <p:sp>
        <p:nvSpPr>
          <p:cNvPr id="8" name="frame-dot-672"/>
          <p:cNvSpPr/>
          <p:nvPr/>
        </p:nvSpPr>
        <p:spPr>
          <a:xfrm>
            <a:off x="1133856" y="1737360"/>
            <a:ext cx="91440" cy="91440"/>
          </a:xfrm>
          <a:prstGeom prst="ellipse">
            <a:avLst/>
          </a:prstGeom>
          <a:solidFill>
            <a:schemeClr val="accent5"/>
          </a:solidFill>
          <a:ln/>
        </p:spPr>
      </p:sp>
      <p:pic>
        <p:nvPicPr>
          <p:cNvPr id="9" name="screenshot-673" descr="C:\Ai stuffs\MOSAIC\docs\media\console\company.jpg">    </p:cNvPr>
          <p:cNvPicPr>
            <a:picLocks noChangeAspect="1"/>
          </p:cNvPicPr>
          <p:nvPr/>
        </p:nvPicPr>
        <p:blipFill>
          <a:blip r:embed="rId1"/>
          <a:stretch>
            <a:fillRect/>
          </a:stretch>
        </p:blipFill>
        <p:spPr>
          <a:xfrm>
            <a:off x="749808" y="1920240"/>
            <a:ext cx="2077920" cy="1783080"/>
          </a:xfrm>
          <a:prstGeom prst="rect">
            <a:avLst/>
          </a:prstGeom>
        </p:spPr>
      </p:pic>
      <p:sp>
        <p:nvSpPr>
          <p:cNvPr id="10" name="num-bg-674"/>
          <p:cNvSpPr/>
          <p:nvPr/>
        </p:nvSpPr>
        <p:spPr>
          <a:xfrm>
            <a:off x="4069080" y="1828800"/>
            <a:ext cx="384048" cy="384048"/>
          </a:xfrm>
          <a:prstGeom prst="ellipse">
            <a:avLst/>
          </a:prstGeom>
          <a:solidFill>
            <a:schemeClr val="accent1"/>
          </a:solidFill>
          <a:ln/>
        </p:spPr>
      </p:sp>
      <p:sp>
        <p:nvSpPr>
          <p:cNvPr id="11" name="text-675"/>
          <p:cNvSpPr txBox="1"/>
          <p:nvPr/>
        </p:nvSpPr>
        <p:spPr>
          <a:xfrm>
            <a:off x="4069080"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1</a:t>
            </a:r>
            <a:endParaRPr lang="en-US" sz="1300" dirty="0"/>
          </a:p>
        </p:txBody>
      </p:sp>
      <p:sp>
        <p:nvSpPr>
          <p:cNvPr id="12" name="text-676"/>
          <p:cNvSpPr txBox="1"/>
          <p:nvPr/>
        </p:nvSpPr>
        <p:spPr>
          <a:xfrm>
            <a:off x="4069080" y="2304288"/>
            <a:ext cx="1810512" cy="347472"/>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Company Info</a:t>
            </a:r>
            <a:endParaRPr lang="en-US" sz="1500" dirty="0"/>
          </a:p>
        </p:txBody>
      </p:sp>
      <p:sp>
        <p:nvSpPr>
          <p:cNvPr id="13" name="text-677"/>
          <p:cNvSpPr txBox="1"/>
          <p:nvPr/>
        </p:nvSpPr>
        <p:spPr>
          <a:xfrm>
            <a:off x="4069080" y="2670048"/>
            <a:ext cx="1810512" cy="1005840"/>
          </a:xfrm>
          <a:prstGeom prst="rect">
            <a:avLst/>
          </a:prstGeom>
          <a:noFill/>
          <a:ln/>
        </p:spPr>
        <p:txBody>
          <a:bodyPr wrap="square" lIns="0" tIns="0" rIns="0" bIns="0" rtlCol="0" anchor="t"/>
          <a:lstStyle/>
          <a:p>
            <a:pPr indent="0" marL="0">
              <a:buNone/>
            </a:pPr>
            <a:r>
              <a:rPr lang="en-US" sz="1250" dirty="0">
                <a:solidFill>
                  <a:schemeClr val="bg2"/>
                </a:solidFill>
              </a:rPr>
              <a:t>Upload any CSV; columns profiled, protected and consent columns flagged</a:t>
            </a:r>
            <a:endParaRPr lang="en-US" sz="1250" dirty="0"/>
          </a:p>
        </p:txBody>
      </p:sp>
      <p:sp>
        <p:nvSpPr>
          <p:cNvPr id="14" name="glass-678"/>
          <p:cNvSpPr/>
          <p:nvPr/>
        </p:nvSpPr>
        <p:spPr>
          <a:xfrm>
            <a:off x="6190488" y="1572768"/>
            <a:ext cx="5449824" cy="2212848"/>
          </a:xfrm>
          <a:prstGeom prst="roundRect">
            <a:avLst>
              <a:gd name="adj" fmla="val 5785"/>
            </a:avLst>
          </a:prstGeom>
          <a:solidFill>
            <a:schemeClr val="tx2">
              <a:alpha val="78000"/>
            </a:schemeClr>
          </a:solidFill>
          <a:ln w="9525">
            <a:solidFill>
              <a:schemeClr val="bg2">
                <a:alpha val="22000"/>
              </a:schemeClr>
            </a:solidFill>
            <a:prstDash val="solid"/>
          </a:ln>
        </p:spPr>
      </p:sp>
      <p:sp>
        <p:nvSpPr>
          <p:cNvPr id="15" name="browser-frame-679"/>
          <p:cNvSpPr/>
          <p:nvPr/>
        </p:nvSpPr>
        <p:spPr>
          <a:xfrm>
            <a:off x="6336792" y="1627632"/>
            <a:ext cx="2637639" cy="2130552"/>
          </a:xfrm>
          <a:prstGeom prst="roundRect">
            <a:avLst>
              <a:gd name="adj" fmla="val 4292"/>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16" name="frame-dot-680"/>
          <p:cNvSpPr/>
          <p:nvPr/>
        </p:nvSpPr>
        <p:spPr>
          <a:xfrm>
            <a:off x="6464808" y="1737360"/>
            <a:ext cx="91440" cy="91440"/>
          </a:xfrm>
          <a:prstGeom prst="ellipse">
            <a:avLst/>
          </a:prstGeom>
          <a:solidFill>
            <a:schemeClr val="accent6"/>
          </a:solidFill>
          <a:ln/>
        </p:spPr>
      </p:sp>
      <p:sp>
        <p:nvSpPr>
          <p:cNvPr id="17" name="frame-dot-681"/>
          <p:cNvSpPr/>
          <p:nvPr/>
        </p:nvSpPr>
        <p:spPr>
          <a:xfrm>
            <a:off x="6620256" y="1737360"/>
            <a:ext cx="91440" cy="91440"/>
          </a:xfrm>
          <a:prstGeom prst="ellipse">
            <a:avLst/>
          </a:prstGeom>
          <a:solidFill>
            <a:schemeClr val="accent3"/>
          </a:solidFill>
          <a:ln/>
        </p:spPr>
      </p:sp>
      <p:sp>
        <p:nvSpPr>
          <p:cNvPr id="18" name="frame-dot-682"/>
          <p:cNvSpPr/>
          <p:nvPr/>
        </p:nvSpPr>
        <p:spPr>
          <a:xfrm>
            <a:off x="6775704" y="1737360"/>
            <a:ext cx="91440" cy="91440"/>
          </a:xfrm>
          <a:prstGeom prst="ellipse">
            <a:avLst/>
          </a:prstGeom>
          <a:solidFill>
            <a:schemeClr val="accent5"/>
          </a:solidFill>
          <a:ln/>
        </p:spPr>
      </p:sp>
      <p:pic>
        <p:nvPicPr>
          <p:cNvPr id="19" name="screenshot-683" descr="C:\Ai stuffs\MOSAIC\docs\media\console\segments.jpg">    </p:cNvPr>
          <p:cNvPicPr>
            <a:picLocks noChangeAspect="1"/>
          </p:cNvPicPr>
          <p:nvPr/>
        </p:nvPicPr>
        <p:blipFill>
          <a:blip r:embed="rId2"/>
          <a:stretch>
            <a:fillRect/>
          </a:stretch>
        </p:blipFill>
        <p:spPr>
          <a:xfrm>
            <a:off x="6391656" y="1920240"/>
            <a:ext cx="2527911" cy="1783080"/>
          </a:xfrm>
          <a:prstGeom prst="rect">
            <a:avLst/>
          </a:prstGeom>
        </p:spPr>
      </p:pic>
      <p:sp>
        <p:nvSpPr>
          <p:cNvPr id="20" name="num-bg-684"/>
          <p:cNvSpPr/>
          <p:nvPr/>
        </p:nvSpPr>
        <p:spPr>
          <a:xfrm>
            <a:off x="9710928" y="1828800"/>
            <a:ext cx="384048" cy="384048"/>
          </a:xfrm>
          <a:prstGeom prst="ellipse">
            <a:avLst/>
          </a:prstGeom>
          <a:solidFill>
            <a:schemeClr val="accent1"/>
          </a:solidFill>
          <a:ln/>
        </p:spPr>
      </p:sp>
      <p:sp>
        <p:nvSpPr>
          <p:cNvPr id="21" name="text-685"/>
          <p:cNvSpPr txBox="1"/>
          <p:nvPr/>
        </p:nvSpPr>
        <p:spPr>
          <a:xfrm>
            <a:off x="9710928" y="1828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2</a:t>
            </a:r>
            <a:endParaRPr lang="en-US" sz="1300" dirty="0"/>
          </a:p>
        </p:txBody>
      </p:sp>
      <p:sp>
        <p:nvSpPr>
          <p:cNvPr id="22" name="text-686"/>
          <p:cNvSpPr txBox="1"/>
          <p:nvPr/>
        </p:nvSpPr>
        <p:spPr>
          <a:xfrm>
            <a:off x="9710928" y="2304288"/>
            <a:ext cx="1810512" cy="347472"/>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Segments</a:t>
            </a:r>
            <a:endParaRPr lang="en-US" sz="1500" dirty="0"/>
          </a:p>
        </p:txBody>
      </p:sp>
      <p:sp>
        <p:nvSpPr>
          <p:cNvPr id="23" name="text-687"/>
          <p:cNvSpPr txBox="1"/>
          <p:nvPr/>
        </p:nvSpPr>
        <p:spPr>
          <a:xfrm>
            <a:off x="9710928" y="2670048"/>
            <a:ext cx="1810512" cy="1005840"/>
          </a:xfrm>
          <a:prstGeom prst="rect">
            <a:avLst/>
          </a:prstGeom>
          <a:noFill/>
          <a:ln/>
        </p:spPr>
        <p:txBody>
          <a:bodyPr wrap="square" lIns="0" tIns="0" rIns="0" bIns="0" rtlCol="0" anchor="t"/>
          <a:lstStyle/>
          <a:p>
            <a:pPr indent="0" marL="0">
              <a:buNone/>
            </a:pPr>
            <a:r>
              <a:rPr lang="en-US" sz="1250" dirty="0">
                <a:solidFill>
                  <a:schemeClr val="bg2"/>
                </a:solidFill>
              </a:rPr>
              <a:t>Clusters named from z-scored traits; proxy flag on the card</a:t>
            </a:r>
            <a:endParaRPr lang="en-US" sz="1250" dirty="0"/>
          </a:p>
        </p:txBody>
      </p:sp>
      <p:sp>
        <p:nvSpPr>
          <p:cNvPr id="24" name="glass-688"/>
          <p:cNvSpPr/>
          <p:nvPr/>
        </p:nvSpPr>
        <p:spPr>
          <a:xfrm>
            <a:off x="548640" y="3931920"/>
            <a:ext cx="5449824" cy="2212848"/>
          </a:xfrm>
          <a:prstGeom prst="roundRect">
            <a:avLst>
              <a:gd name="adj" fmla="val 5785"/>
            </a:avLst>
          </a:prstGeom>
          <a:solidFill>
            <a:schemeClr val="tx2">
              <a:alpha val="78000"/>
            </a:schemeClr>
          </a:solidFill>
          <a:ln w="9525">
            <a:solidFill>
              <a:schemeClr val="bg2">
                <a:alpha val="22000"/>
              </a:schemeClr>
            </a:solidFill>
            <a:prstDash val="solid"/>
          </a:ln>
        </p:spPr>
      </p:sp>
      <p:sp>
        <p:nvSpPr>
          <p:cNvPr id="25" name="browser-frame-689"/>
          <p:cNvSpPr/>
          <p:nvPr/>
        </p:nvSpPr>
        <p:spPr>
          <a:xfrm>
            <a:off x="694944" y="3986784"/>
            <a:ext cx="2637639" cy="2130552"/>
          </a:xfrm>
          <a:prstGeom prst="roundRect">
            <a:avLst>
              <a:gd name="adj" fmla="val 4292"/>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26" name="frame-dot-690"/>
          <p:cNvSpPr/>
          <p:nvPr/>
        </p:nvSpPr>
        <p:spPr>
          <a:xfrm>
            <a:off x="822960" y="4096512"/>
            <a:ext cx="91440" cy="91440"/>
          </a:xfrm>
          <a:prstGeom prst="ellipse">
            <a:avLst/>
          </a:prstGeom>
          <a:solidFill>
            <a:schemeClr val="accent6"/>
          </a:solidFill>
          <a:ln/>
        </p:spPr>
      </p:sp>
      <p:sp>
        <p:nvSpPr>
          <p:cNvPr id="27" name="frame-dot-691"/>
          <p:cNvSpPr/>
          <p:nvPr/>
        </p:nvSpPr>
        <p:spPr>
          <a:xfrm>
            <a:off x="978408" y="4096512"/>
            <a:ext cx="91440" cy="91440"/>
          </a:xfrm>
          <a:prstGeom prst="ellipse">
            <a:avLst/>
          </a:prstGeom>
          <a:solidFill>
            <a:schemeClr val="accent3"/>
          </a:solidFill>
          <a:ln/>
        </p:spPr>
      </p:sp>
      <p:sp>
        <p:nvSpPr>
          <p:cNvPr id="28" name="frame-dot-692"/>
          <p:cNvSpPr/>
          <p:nvPr/>
        </p:nvSpPr>
        <p:spPr>
          <a:xfrm>
            <a:off x="1133856" y="4096512"/>
            <a:ext cx="91440" cy="91440"/>
          </a:xfrm>
          <a:prstGeom prst="ellipse">
            <a:avLst/>
          </a:prstGeom>
          <a:solidFill>
            <a:schemeClr val="accent5"/>
          </a:solidFill>
          <a:ln/>
        </p:spPr>
      </p:sp>
      <p:pic>
        <p:nvPicPr>
          <p:cNvPr id="29" name="screenshot-693" descr="C:\Ai stuffs\MOSAIC\docs\media\console\emails.jpg">    </p:cNvPr>
          <p:cNvPicPr>
            <a:picLocks noChangeAspect="1"/>
          </p:cNvPicPr>
          <p:nvPr/>
        </p:nvPicPr>
        <p:blipFill>
          <a:blip r:embed="rId3"/>
          <a:stretch>
            <a:fillRect/>
          </a:stretch>
        </p:blipFill>
        <p:spPr>
          <a:xfrm>
            <a:off x="749808" y="4279392"/>
            <a:ext cx="2527911" cy="1783080"/>
          </a:xfrm>
          <a:prstGeom prst="rect">
            <a:avLst/>
          </a:prstGeom>
        </p:spPr>
      </p:pic>
      <p:sp>
        <p:nvSpPr>
          <p:cNvPr id="30" name="num-bg-694"/>
          <p:cNvSpPr/>
          <p:nvPr/>
        </p:nvSpPr>
        <p:spPr>
          <a:xfrm>
            <a:off x="4069080" y="4187952"/>
            <a:ext cx="384048" cy="384048"/>
          </a:xfrm>
          <a:prstGeom prst="ellipse">
            <a:avLst/>
          </a:prstGeom>
          <a:solidFill>
            <a:schemeClr val="accent1"/>
          </a:solidFill>
          <a:ln/>
        </p:spPr>
      </p:sp>
      <p:sp>
        <p:nvSpPr>
          <p:cNvPr id="31" name="text-695"/>
          <p:cNvSpPr txBox="1"/>
          <p:nvPr/>
        </p:nvSpPr>
        <p:spPr>
          <a:xfrm>
            <a:off x="4069080" y="41879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3</a:t>
            </a:r>
            <a:endParaRPr lang="en-US" sz="1300" dirty="0"/>
          </a:p>
        </p:txBody>
      </p:sp>
      <p:sp>
        <p:nvSpPr>
          <p:cNvPr id="32" name="text-696"/>
          <p:cNvSpPr txBox="1"/>
          <p:nvPr/>
        </p:nvSpPr>
        <p:spPr>
          <a:xfrm>
            <a:off x="4069080" y="4663440"/>
            <a:ext cx="1810512" cy="347472"/>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Email Review</a:t>
            </a:r>
            <a:endParaRPr lang="en-US" sz="1500" dirty="0"/>
          </a:p>
        </p:txBody>
      </p:sp>
      <p:sp>
        <p:nvSpPr>
          <p:cNvPr id="33" name="text-697"/>
          <p:cNvSpPr txBox="1"/>
          <p:nvPr/>
        </p:nvSpPr>
        <p:spPr>
          <a:xfrm>
            <a:off x="4069080" y="5029200"/>
            <a:ext cx="1810512" cy="1005840"/>
          </a:xfrm>
          <a:prstGeom prst="rect">
            <a:avLst/>
          </a:prstGeom>
          <a:noFill/>
          <a:ln/>
        </p:spPr>
        <p:txBody>
          <a:bodyPr wrap="square" lIns="0" tIns="0" rIns="0" bIns="0" rtlCol="0" anchor="t"/>
          <a:lstStyle/>
          <a:p>
            <a:pPr indent="0" marL="0">
              <a:buNone/>
            </a:pPr>
            <a:r>
              <a:rPr lang="en-US" sz="1250" dirty="0">
                <a:solidFill>
                  <a:schemeClr val="bg2"/>
                </a:solidFill>
              </a:rPr>
              <a:t>One email per segment, editable in the builder</a:t>
            </a:r>
            <a:endParaRPr lang="en-US" sz="1250" dirty="0"/>
          </a:p>
        </p:txBody>
      </p:sp>
      <p:sp>
        <p:nvSpPr>
          <p:cNvPr id="34" name="glass-698"/>
          <p:cNvSpPr/>
          <p:nvPr/>
        </p:nvSpPr>
        <p:spPr>
          <a:xfrm>
            <a:off x="6190488" y="3931920"/>
            <a:ext cx="5449824" cy="2212848"/>
          </a:xfrm>
          <a:prstGeom prst="roundRect">
            <a:avLst>
              <a:gd name="adj" fmla="val 5785"/>
            </a:avLst>
          </a:prstGeom>
          <a:solidFill>
            <a:schemeClr val="tx2">
              <a:alpha val="78000"/>
            </a:schemeClr>
          </a:solidFill>
          <a:ln w="9525">
            <a:solidFill>
              <a:schemeClr val="bg2">
                <a:alpha val="22000"/>
              </a:schemeClr>
            </a:solidFill>
            <a:prstDash val="solid"/>
          </a:ln>
        </p:spPr>
      </p:sp>
      <p:sp>
        <p:nvSpPr>
          <p:cNvPr id="35" name="browser-frame-699"/>
          <p:cNvSpPr/>
          <p:nvPr/>
        </p:nvSpPr>
        <p:spPr>
          <a:xfrm>
            <a:off x="6336792" y="3986784"/>
            <a:ext cx="3127248" cy="2071769"/>
          </a:xfrm>
          <a:prstGeom prst="roundRect">
            <a:avLst>
              <a:gd name="adj" fmla="val 4414"/>
            </a:avLst>
          </a:prstGeom>
          <a:solidFill>
            <a:schemeClr val="tx2"/>
          </a:solidFill>
          <a:ln w="9525">
            <a:solidFill>
              <a:schemeClr val="bg2">
                <a:alpha val="30000"/>
              </a:schemeClr>
            </a:solidFill>
            <a:prstDash val="solid"/>
          </a:ln>
          <a:effectLst>
            <a:outerShdw sx="100000" sy="100000" kx="0" ky="0" algn="bl" rotWithShape="0" blurRad="177800" dist="38100" dir="5400000">
              <a:srgbClr val="000000">
                <a:alpha val="35000"/>
              </a:srgbClr>
            </a:outerShdw>
          </a:effectLst>
        </p:spPr>
      </p:sp>
      <p:sp>
        <p:nvSpPr>
          <p:cNvPr id="36" name="frame-dot-700"/>
          <p:cNvSpPr/>
          <p:nvPr/>
        </p:nvSpPr>
        <p:spPr>
          <a:xfrm>
            <a:off x="6464808" y="4096512"/>
            <a:ext cx="91440" cy="91440"/>
          </a:xfrm>
          <a:prstGeom prst="ellipse">
            <a:avLst/>
          </a:prstGeom>
          <a:solidFill>
            <a:schemeClr val="accent6"/>
          </a:solidFill>
          <a:ln/>
        </p:spPr>
      </p:sp>
      <p:sp>
        <p:nvSpPr>
          <p:cNvPr id="37" name="frame-dot-701"/>
          <p:cNvSpPr/>
          <p:nvPr/>
        </p:nvSpPr>
        <p:spPr>
          <a:xfrm>
            <a:off x="6620256" y="4096512"/>
            <a:ext cx="91440" cy="91440"/>
          </a:xfrm>
          <a:prstGeom prst="ellipse">
            <a:avLst/>
          </a:prstGeom>
          <a:solidFill>
            <a:schemeClr val="accent3"/>
          </a:solidFill>
          <a:ln/>
        </p:spPr>
      </p:sp>
      <p:sp>
        <p:nvSpPr>
          <p:cNvPr id="38" name="frame-dot-702"/>
          <p:cNvSpPr/>
          <p:nvPr/>
        </p:nvSpPr>
        <p:spPr>
          <a:xfrm>
            <a:off x="6775704" y="4096512"/>
            <a:ext cx="91440" cy="91440"/>
          </a:xfrm>
          <a:prstGeom prst="ellipse">
            <a:avLst/>
          </a:prstGeom>
          <a:solidFill>
            <a:schemeClr val="accent5"/>
          </a:solidFill>
          <a:ln/>
        </p:spPr>
      </p:sp>
      <p:pic>
        <p:nvPicPr>
          <p:cNvPr id="39" name="screenshot-703" descr="C:\Ai stuffs\MOSAIC\docs\media\console\approvals.jpg">    </p:cNvPr>
          <p:cNvPicPr>
            <a:picLocks noChangeAspect="1"/>
          </p:cNvPicPr>
          <p:nvPr/>
        </p:nvPicPr>
        <p:blipFill>
          <a:blip r:embed="rId4"/>
          <a:stretch>
            <a:fillRect/>
          </a:stretch>
        </p:blipFill>
        <p:spPr>
          <a:xfrm>
            <a:off x="6391656" y="4279392"/>
            <a:ext cx="3017520" cy="1724297"/>
          </a:xfrm>
          <a:prstGeom prst="rect">
            <a:avLst/>
          </a:prstGeom>
        </p:spPr>
      </p:pic>
      <p:sp>
        <p:nvSpPr>
          <p:cNvPr id="40" name="num-bg-704"/>
          <p:cNvSpPr/>
          <p:nvPr/>
        </p:nvSpPr>
        <p:spPr>
          <a:xfrm>
            <a:off x="9710928" y="4187952"/>
            <a:ext cx="384048" cy="384048"/>
          </a:xfrm>
          <a:prstGeom prst="ellipse">
            <a:avLst/>
          </a:prstGeom>
          <a:solidFill>
            <a:schemeClr val="accent1"/>
          </a:solidFill>
          <a:ln/>
        </p:spPr>
      </p:sp>
      <p:sp>
        <p:nvSpPr>
          <p:cNvPr id="41" name="text-705"/>
          <p:cNvSpPr txBox="1"/>
          <p:nvPr/>
        </p:nvSpPr>
        <p:spPr>
          <a:xfrm>
            <a:off x="9710928" y="41879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latin typeface="Century Gothic" pitchFamily="34" charset="0"/>
                <a:ea typeface="Century Gothic" pitchFamily="34" charset="-122"/>
                <a:cs typeface="Century Gothic" pitchFamily="34" charset="-120"/>
              </a:rPr>
              <a:t>4</a:t>
            </a:r>
            <a:endParaRPr lang="en-US" sz="1300" dirty="0"/>
          </a:p>
        </p:txBody>
      </p:sp>
      <p:sp>
        <p:nvSpPr>
          <p:cNvPr id="42" name="text-706"/>
          <p:cNvSpPr txBox="1"/>
          <p:nvPr/>
        </p:nvSpPr>
        <p:spPr>
          <a:xfrm>
            <a:off x="9710928" y="4663440"/>
            <a:ext cx="1810512" cy="347472"/>
          </a:xfrm>
          <a:prstGeom prst="rect">
            <a:avLst/>
          </a:prstGeom>
          <a:noFill/>
          <a:ln/>
        </p:spPr>
        <p:txBody>
          <a:bodyPr wrap="square" lIns="0" tIns="0" rIns="0" bIns="0" rtlCol="0" anchor="t"/>
          <a:lstStyle/>
          <a:p>
            <a:pPr indent="0" marL="0">
              <a:buNone/>
            </a:pPr>
            <a:r>
              <a:rPr lang="en-US" sz="1500" b="1" dirty="0">
                <a:solidFill>
                  <a:schemeClr val="bg1"/>
                </a:solidFill>
                <a:latin typeface="Century Gothic" pitchFamily="34" charset="0"/>
                <a:ea typeface="Century Gothic" pitchFamily="34" charset="-122"/>
                <a:cs typeface="Century Gothic" pitchFamily="34" charset="-120"/>
              </a:rPr>
              <a:t>Approval Queue</a:t>
            </a:r>
            <a:endParaRPr lang="en-US" sz="1500" dirty="0"/>
          </a:p>
        </p:txBody>
      </p:sp>
      <p:sp>
        <p:nvSpPr>
          <p:cNvPr id="43" name="text-707"/>
          <p:cNvSpPr txBox="1"/>
          <p:nvPr/>
        </p:nvSpPr>
        <p:spPr>
          <a:xfrm>
            <a:off x="9710928" y="5029200"/>
            <a:ext cx="1810512" cy="1005840"/>
          </a:xfrm>
          <a:prstGeom prst="rect">
            <a:avLst/>
          </a:prstGeom>
          <a:noFill/>
          <a:ln/>
        </p:spPr>
        <p:txBody>
          <a:bodyPr wrap="square" lIns="0" tIns="0" rIns="0" bIns="0" rtlCol="0" anchor="t"/>
          <a:lstStyle/>
          <a:p>
            <a:pPr indent="0" marL="0">
              <a:buNone/>
            </a:pPr>
            <a:r>
              <a:rPr lang="en-US" sz="1250" dirty="0">
                <a:solidFill>
                  <a:schemeClr val="bg2"/>
                </a:solidFill>
              </a:rPr>
              <a:t>Checks re-run after edits; a person sends</a:t>
            </a:r>
            <a:endParaRPr lang="en-US" sz="12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Cost scales with segments, not contacts</a:t>
            </a:r>
            <a:endParaRPr lang="en-US" sz="2800" dirty="0"/>
          </a:p>
        </p:txBody>
      </p:sp>
      <p:sp>
        <p:nvSpPr>
          <p:cNvPr id="3" name="text-708"/>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Expensive model work runs once per segment (k); per-recipient work is a deterministic merge-tag fill.</a:t>
            </a:r>
            <a:endParaRPr lang="en-US" sz="1600" dirty="0"/>
          </a:p>
        </p:txBody>
      </p:sp>
      <p:graphicFrame>
        <p:nvGraphicFramePr>
          <p:cNvPr id="24" name="calls-table"/>
          <p:cNvGraphicFramePr>
            <a:graphicFrameLocks noGrp="1"/>
          </p:cNvGraphicFramePr>
          <p:nvPr>
            <p:extLst>
              <p:ext uri="{D42A27DB-BD31-4B8C-83A1-F6EECF244321}">
                <p14:modId xmlns:p14="http://schemas.microsoft.com/office/powerpoint/2010/main" val="1579011935"/>
              </p:ext>
            </p:extLst>
          </p:nvPr>
        </p:nvGraphicFramePr>
        <p:xfrm>
          <a:off x="548640" y="1600200"/>
          <a:ext cx="6492240" cy="914400"/>
        </p:xfrm>
        <a:graphic>
          <a:graphicData uri="http://schemas.openxmlformats.org/drawingml/2006/table">
            <a:tbl>
              <a:tblPr/>
              <a:tblGrid>
                <a:gridCol w="2240280"/>
                <a:gridCol w="1463040"/>
                <a:gridCol w="1463040"/>
                <a:gridCol w="1325880"/>
              </a:tblGrid>
              <a:tr h="457200">
                <a:tc>
                  <a:txBody>
                    <a:bodyPr/>
                    <a:lstStyle/>
                    <a:p>
                      <a:pPr indent="0" marL="0">
                        <a:buNone/>
                      </a:pPr>
                      <a:r>
                        <a:rPr lang="en-US" sz="1350" b="1" dirty="0">
                          <a:solidFill>
                            <a:srgbClr val="0B0B24"/>
                          </a:solidFill>
                        </a:rPr>
                        <a:t>Stage</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818CF8"/>
                    </a:solidFill>
                  </a:tcPr>
                </a:tc>
                <a:tc>
                  <a:txBody>
                    <a:bodyPr/>
                    <a:lstStyle/>
                    <a:p>
                      <a:pPr indent="0" marL="0">
                        <a:buNone/>
                      </a:pPr>
                      <a:r>
                        <a:rPr lang="en-US" sz="1350" b="1" dirty="0">
                          <a:solidFill>
                            <a:srgbClr val="0B0B24"/>
                          </a:solidFill>
                        </a:rPr>
                        <a:t>LLM calls</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818CF8"/>
                    </a:solidFill>
                  </a:tcPr>
                </a:tc>
                <a:tc>
                  <a:txBody>
                    <a:bodyPr/>
                    <a:lstStyle/>
                    <a:p>
                      <a:pPr indent="0" marL="0">
                        <a:buNone/>
                      </a:pPr>
                      <a:r>
                        <a:rPr lang="en-US" sz="1350" b="1" dirty="0">
                          <a:solidFill>
                            <a:srgbClr val="0B0B24"/>
                          </a:solidFill>
                        </a:rPr>
                        <a:t>Embedding calls</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818CF8"/>
                    </a:solidFill>
                  </a:tcPr>
                </a:tc>
                <a:tc>
                  <a:txBody>
                    <a:bodyPr/>
                    <a:lstStyle/>
                    <a:p>
                      <a:pPr indent="0" marL="0">
                        <a:buNone/>
                      </a:pPr>
                      <a:r>
                        <a:rPr lang="en-US" sz="1350" b="1" dirty="0">
                          <a:solidFill>
                            <a:srgbClr val="0B0B24"/>
                          </a:solidFill>
                        </a:rPr>
                        <a:t>Per recipient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818CF8"/>
                    </a:solidFill>
                  </a:tcPr>
                </a:tc>
              </a:tr>
              <a:tr h="457200">
                <a:tc>
                  <a:txBody>
                    <a:bodyPr/>
                    <a:lstStyle/>
                    <a:p>
                      <a:pPr indent="0" marL="0">
                        <a:buNone/>
                      </a:pPr>
                      <a:r>
                        <a:rPr lang="en-US" sz="1350" b="1" dirty="0">
                          <a:solidFill>
                            <a:srgbClr val="FFFFFF"/>
                          </a:solidFill>
                        </a:rPr>
                        <a:t>Segmentation &amp; Insight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k</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⌈n / 200⌉</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r>
              <a:tr h="457200">
                <a:tc>
                  <a:txBody>
                    <a:bodyPr/>
                    <a:lstStyle/>
                    <a:p>
                      <a:pPr indent="0" marL="0">
                        <a:buNone/>
                      </a:pPr>
                      <a:r>
                        <a:rPr lang="en-US" sz="1350" b="1" dirty="0">
                          <a:solidFill>
                            <a:srgbClr val="FFFFFF"/>
                          </a:solidFill>
                        </a:rPr>
                        <a:t>Creative Direction</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k</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r>
              <a:tr h="457200">
                <a:tc>
                  <a:txBody>
                    <a:bodyPr/>
                    <a:lstStyle/>
                    <a:p>
                      <a:pPr indent="0" marL="0">
                        <a:buNone/>
                      </a:pPr>
                      <a:r>
                        <a:rPr lang="en-US" sz="1350" b="1" dirty="0">
                          <a:solidFill>
                            <a:srgbClr val="FFFFFF"/>
                          </a:solidFill>
                        </a:rPr>
                        <a:t>Email Composer</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k</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r>
              <a:tr h="457200">
                <a:tc>
                  <a:txBody>
                    <a:bodyPr/>
                    <a:lstStyle/>
                    <a:p>
                      <a:pPr indent="0" marL="0">
                        <a:buNone/>
                      </a:pPr>
                      <a:r>
                        <a:rPr lang="en-US" sz="1350" b="1" dirty="0">
                          <a:solidFill>
                            <a:srgbClr val="FFFFFF"/>
                          </a:solidFill>
                        </a:rPr>
                        <a:t>Guardian</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0 · rule engine</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r>
              <a:tr h="457200">
                <a:tc>
                  <a:txBody>
                    <a:bodyPr/>
                    <a:lstStyle/>
                    <a:p>
                      <a:pPr indent="0" marL="0">
                        <a:buNone/>
                      </a:pPr>
                      <a:r>
                        <a:rPr lang="en-US" sz="1350" b="1" dirty="0">
                          <a:solidFill>
                            <a:srgbClr val="FFFFFF"/>
                          </a:solidFill>
                        </a:rPr>
                        <a:t>Dispatch</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0</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c>
                  <a:txBody>
                    <a:bodyPr/>
                    <a:lstStyle/>
                    <a:p>
                      <a:pPr indent="0" marL="0">
                        <a:buNone/>
                      </a:pPr>
                      <a:r>
                        <a:rPr lang="en-US" sz="1350" dirty="0">
                          <a:solidFill>
                            <a:srgbClr val="FFFFFF"/>
                          </a:solidFill>
                        </a:rPr>
                        <a:t>merge-tag fill</a:t>
                      </a:r>
                      <a:endParaRPr lang="en-US" sz="1350" dirty="0"/>
                    </a:p>
                  </a:txBody>
                  <a:tcPr marL="101600" marR="101600" marT="50800" marB="50800" anchor="ctr">
                    <a:lnL w="9525" cap="flat" cmpd="sng" algn="ctr">
                      <a:solidFill>
                        <a:srgbClr val="34345F"/>
                      </a:solidFill>
                      <a:prstDash val="solid"/>
                      <a:round/>
                      <a:headEnd type="none" w="med" len="med"/>
                      <a:tailEnd type="none" w="med" len="med"/>
                    </a:lnL>
                    <a:lnR w="9525" cap="flat" cmpd="sng" algn="ctr">
                      <a:solidFill>
                        <a:srgbClr val="34345F"/>
                      </a:solidFill>
                      <a:prstDash val="solid"/>
                      <a:round/>
                      <a:headEnd type="none" w="med" len="med"/>
                      <a:tailEnd type="none" w="med" len="med"/>
                    </a:lnR>
                    <a:lnT w="9525" cap="flat" cmpd="sng" algn="ctr">
                      <a:solidFill>
                        <a:srgbClr val="34345F"/>
                      </a:solidFill>
                      <a:prstDash val="solid"/>
                      <a:round/>
                      <a:headEnd type="none" w="med" len="med"/>
                      <a:tailEnd type="none" w="med" len="med"/>
                    </a:lnT>
                    <a:lnB w="9525" cap="flat" cmpd="sng" algn="ctr">
                      <a:solidFill>
                        <a:srgbClr val="34345F"/>
                      </a:solidFill>
                      <a:prstDash val="solid"/>
                      <a:round/>
                      <a:headEnd type="none" w="med" len="med"/>
                      <a:tailEnd type="none" w="med" len="med"/>
                    </a:lnB>
                    <a:solidFill>
                      <a:srgbClr val="1C1C44"/>
                    </a:solidFill>
                  </a:tcPr>
                </a:tc>
              </a:tr>
            </a:tbl>
          </a:graphicData>
        </a:graphic>
      </p:graphicFrame>
      <p:sp>
        <p:nvSpPr>
          <p:cNvPr id="5" name="glass-709"/>
          <p:cNvSpPr/>
          <p:nvPr/>
        </p:nvSpPr>
        <p:spPr>
          <a:xfrm>
            <a:off x="7315200" y="1572768"/>
            <a:ext cx="4325112" cy="2788920"/>
          </a:xfrm>
          <a:prstGeom prst="roundRect">
            <a:avLst>
              <a:gd name="adj" fmla="val 4590"/>
            </a:avLst>
          </a:prstGeom>
          <a:solidFill>
            <a:schemeClr val="accent1">
              <a:alpha val="18000"/>
            </a:schemeClr>
          </a:solidFill>
          <a:ln w="12700">
            <a:solidFill>
              <a:schemeClr val="accent1">
                <a:alpha val="70000"/>
              </a:schemeClr>
            </a:solidFill>
            <a:prstDash val="solid"/>
          </a:ln>
          <a:effectLst>
            <a:outerShdw sx="100000" sy="100000" kx="0" ky="0" algn="bl" rotWithShape="0" blurRad="177800" dist="38100" dir="5400000">
              <a:srgbClr val="000000">
                <a:alpha val="35000"/>
              </a:srgbClr>
            </a:outerShdw>
          </a:effectLst>
        </p:spPr>
      </p:sp>
      <p:sp>
        <p:nvSpPr>
          <p:cNvPr id="6" name="text-710"/>
          <p:cNvSpPr txBox="1"/>
          <p:nvPr/>
        </p:nvSpPr>
        <p:spPr>
          <a:xfrm>
            <a:off x="7543800" y="1664208"/>
            <a:ext cx="1737360" cy="1234440"/>
          </a:xfrm>
          <a:prstGeom prst="rect">
            <a:avLst/>
          </a:prstGeom>
          <a:noFill/>
          <a:ln/>
        </p:spPr>
        <p:txBody>
          <a:bodyPr wrap="square" lIns="0" tIns="0" rIns="0" bIns="0" rtlCol="0" anchor="ctr"/>
          <a:lstStyle/>
          <a:p>
            <a:pPr indent="0" marL="0">
              <a:buNone/>
            </a:pPr>
            <a:r>
              <a:rPr lang="en-US" sz="7200" b="1" dirty="0">
                <a:solidFill>
                  <a:schemeClr val="accent1"/>
                </a:solidFill>
                <a:latin typeface="Century Gothic" pitchFamily="34" charset="0"/>
                <a:ea typeface="Century Gothic" pitchFamily="34" charset="-122"/>
                <a:cs typeface="Century Gothic" pitchFamily="34" charset="-120"/>
              </a:rPr>
              <a:t>18</a:t>
            </a:r>
            <a:endParaRPr lang="en-US" sz="7200" dirty="0"/>
          </a:p>
        </p:txBody>
      </p:sp>
      <p:sp>
        <p:nvSpPr>
          <p:cNvPr id="7" name="text-711"/>
          <p:cNvSpPr txBox="1"/>
          <p:nvPr/>
        </p:nvSpPr>
        <p:spPr>
          <a:xfrm>
            <a:off x="9281160" y="1828800"/>
            <a:ext cx="2194560" cy="1051560"/>
          </a:xfrm>
          <a:prstGeom prst="rect">
            <a:avLst/>
          </a:prstGeom>
          <a:noFill/>
          <a:ln/>
        </p:spPr>
        <p:txBody>
          <a:bodyPr wrap="square" lIns="0" tIns="0" rIns="0" bIns="0" rtlCol="0" anchor="ctr"/>
          <a:lstStyle/>
          <a:p>
            <a:pPr indent="0" marL="0">
              <a:buNone/>
            </a:pPr>
            <a:r>
              <a:rPr lang="en-US" sz="1400" dirty="0">
                <a:solidFill>
                  <a:schemeClr val="bg1"/>
                </a:solidFill>
              </a:rPr>
              <a:t>LLM calls per full run (k = 6) — at 1,000 contacts or 200,000.</a:t>
            </a:r>
            <a:endParaRPr lang="en-US" sz="1400" dirty="0"/>
          </a:p>
        </p:txBody>
      </p:sp>
      <p:sp>
        <p:nvSpPr>
          <p:cNvPr id="8" name="text-712"/>
          <p:cNvSpPr txBox="1"/>
          <p:nvPr/>
        </p:nvSpPr>
        <p:spPr>
          <a:xfrm>
            <a:off x="7543800" y="3108960"/>
            <a:ext cx="3886200" cy="914400"/>
          </a:xfrm>
          <a:prstGeom prst="rect">
            <a:avLst/>
          </a:prstGeom>
          <a:noFill/>
          <a:ln/>
        </p:spPr>
        <p:txBody>
          <a:bodyPr wrap="square" lIns="0" tIns="0" rIns="0" bIns="0" rtlCol="0" anchor="t"/>
          <a:lstStyle/>
          <a:p>
            <a:pPr indent="0" marL="0">
              <a:buNone/>
            </a:pPr>
            <a:r>
              <a:rPr lang="en-US" sz="1300" dirty="0">
                <a:solidFill>
                  <a:schemeClr val="bg2"/>
                </a:solidFill>
              </a:rPr>
              <a:t>Embedding calls grow with n: 5 at 1,000 contacts, 1,000 at 200,000 — batched and cheap.</a:t>
            </a:r>
            <a:endParaRPr lang="en-US" sz="1300" dirty="0"/>
          </a:p>
        </p:txBody>
      </p:sp>
      <p:sp>
        <p:nvSpPr>
          <p:cNvPr id="9" name="glass-713"/>
          <p:cNvSpPr/>
          <p:nvPr/>
        </p:nvSpPr>
        <p:spPr>
          <a:xfrm>
            <a:off x="548640" y="4572000"/>
            <a:ext cx="11091672" cy="1600200"/>
          </a:xfrm>
          <a:prstGeom prst="roundRect">
            <a:avLst>
              <a:gd name="adj" fmla="val 8000"/>
            </a:avLst>
          </a:prstGeom>
          <a:solidFill>
            <a:schemeClr val="accent3">
              <a:alpha val="12000"/>
            </a:schemeClr>
          </a:solidFill>
          <a:ln w="12700">
            <a:solidFill>
              <a:schemeClr val="accent3">
                <a:alpha val="45000"/>
              </a:schemeClr>
            </a:solidFill>
            <a:prstDash val="solid"/>
          </a:ln>
        </p:spPr>
      </p:sp>
      <p:sp>
        <p:nvSpPr>
          <p:cNvPr id="10" name="text-714"/>
          <p:cNvSpPr txBox="1"/>
          <p:nvPr/>
        </p:nvSpPr>
        <p:spPr>
          <a:xfrm>
            <a:off x="777240" y="4681728"/>
            <a:ext cx="3657600" cy="320040"/>
          </a:xfrm>
          <a:prstGeom prst="rect">
            <a:avLst/>
          </a:prstGeom>
          <a:noFill/>
          <a:ln/>
        </p:spPr>
        <p:txBody>
          <a:bodyPr wrap="square" lIns="0" tIns="0" rIns="0" bIns="0" rtlCol="0" anchor="t"/>
          <a:lstStyle/>
          <a:p>
            <a:pPr indent="0" marL="0">
              <a:buNone/>
            </a:pPr>
            <a:r>
              <a:rPr lang="en-US" sz="1500" b="1" dirty="0">
                <a:solidFill>
                  <a:schemeClr val="accent3"/>
                </a:solidFill>
                <a:latin typeface="Century Gothic" pitchFamily="34" charset="0"/>
                <a:ea typeface="Century Gothic" pitchFamily="34" charset="-122"/>
                <a:cs typeface="Century Gothic" pitchFamily="34" charset="-120"/>
              </a:rPr>
              <a:t>Honest limits</a:t>
            </a:r>
            <a:endParaRPr lang="en-US" sz="1500" dirty="0"/>
          </a:p>
        </p:txBody>
      </p:sp>
      <p:sp>
        <p:nvSpPr>
          <p:cNvPr id="11" name="text-715"/>
          <p:cNvSpPr txBox="1"/>
          <p:nvPr/>
        </p:nvSpPr>
        <p:spPr>
          <a:xfrm>
            <a:off x="777240" y="5047488"/>
            <a:ext cx="10607040" cy="1051560"/>
          </a:xfrm>
          <a:prstGeom prst="rect">
            <a:avLst/>
          </a:prstGeom>
          <a:noFill/>
          <a:ln/>
        </p:spPr>
        <p:txBody>
          <a:bodyPr wrap="square" lIns="0" tIns="0" rIns="0" bIns="0" rtlCol="0" anchor="t"/>
          <a:lstStyle/>
          <a:p>
            <a:pPr marL="177800" indent="-177800">
              <a:spcAft>
                <a:spcPts val="300"/>
              </a:spcAft>
              <a:buSzPct val="100000"/>
              <a:buChar char="•"/>
            </a:pPr>
            <a:r>
              <a:rPr lang="en-US" sz="1400" dirty="0">
                <a:solidFill>
                  <a:schemeClr val="bg1"/>
                </a:solidFill>
              </a:rPr>
              <a:t>Not load-tested; the demonstrator runs 1,000 contacts end to end</a:t>
            </a:r>
            <a:endParaRPr lang="en-US" sz="1400" dirty="0"/>
          </a:p>
          <a:p>
            <a:pPr marL="177800" indent="-177800">
              <a:spcAft>
                <a:spcPts val="300"/>
              </a:spcAft>
              <a:buSzPct val="100000"/>
              <a:buChar char="•"/>
            </a:pPr>
            <a:r>
              <a:rPr lang="en-US" sz="1400" dirty="0">
                <a:solidFill>
                  <a:schemeClr val="bg1"/>
                </a:solidFill>
              </a:rPr>
              <a:t>One replica (in-memory job registry) · 20,000-row upload cap · HDBSCAN on one machine</a:t>
            </a:r>
            <a:endParaRPr lang="en-US" sz="1400" dirty="0"/>
          </a:p>
          <a:p>
            <a:pPr marL="177800" indent="-177800">
              <a:spcAft>
                <a:spcPts val="300"/>
              </a:spcAft>
              <a:buSzPct val="100000"/>
              <a:buChar char="•"/>
            </a:pPr>
            <a:r>
              <a:rPr lang="en-US" sz="1400" dirty="0">
                <a:solidFill>
                  <a:schemeClr val="bg1"/>
                </a:solidFill>
              </a:rPr>
              <a:t>Path to scale: shared job store → multiple workers; cluster a sample and assign the rest</a:t>
            </a:r>
            <a:endParaRPr lang="en-US" sz="140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0241280" cy="640080"/>
          </a:xfrm>
          <a:prstGeom prst="rect">
            <a:avLst/>
          </a:prstGeom>
          <a:noFill/>
          <a:ln/>
        </p:spPr>
        <p:txBody>
          <a:bodyPr wrap="square" lIns="0" tIns="0" rIns="0" bIns="0" rtlCol="0" anchor="ctr"/>
          <a:lstStyle/>
          <a:p>
            <a:pPr algn="l" indent="0" marL="0">
              <a:buNone/>
            </a:pPr>
            <a:r>
              <a:rPr lang="en-US" sz="2800" b="1" dirty="0">
                <a:solidFill>
                  <a:schemeClr val="bg1"/>
                </a:solidFill>
                <a:latin typeface="Century Gothic" pitchFamily="34" charset="0"/>
                <a:ea typeface="Century Gothic" pitchFamily="34" charset="-122"/>
                <a:cs typeface="Century Gothic" pitchFamily="34" charset="-120"/>
              </a:rPr>
              <a:t>Reflection and next steps</a:t>
            </a:r>
            <a:endParaRPr lang="en-US" sz="2800" dirty="0"/>
          </a:p>
        </p:txBody>
      </p:sp>
      <p:sp>
        <p:nvSpPr>
          <p:cNvPr id="3" name="text-716"/>
          <p:cNvSpPr txBox="1"/>
          <p:nvPr/>
        </p:nvSpPr>
        <p:spPr>
          <a:xfrm>
            <a:off x="548640" y="1005840"/>
            <a:ext cx="10424160" cy="384048"/>
          </a:xfrm>
          <a:prstGeom prst="rect">
            <a:avLst/>
          </a:prstGeom>
          <a:noFill/>
          <a:ln/>
        </p:spPr>
        <p:txBody>
          <a:bodyPr wrap="square" lIns="0" tIns="0" rIns="0" bIns="0" rtlCol="0" anchor="t"/>
          <a:lstStyle/>
          <a:p>
            <a:pPr indent="0" marL="0">
              <a:buNone/>
            </a:pPr>
            <a:r>
              <a:rPr lang="en-US" sz="1600" dirty="0">
                <a:solidFill>
                  <a:schemeClr val="bg2"/>
                </a:solidFill>
              </a:rPr>
              <a:t>Four deliberate changes from the proposal, three lessons, and what we would build next.</a:t>
            </a:r>
            <a:endParaRPr lang="en-US" sz="1600" dirty="0"/>
          </a:p>
        </p:txBody>
      </p:sp>
      <p:sp>
        <p:nvSpPr>
          <p:cNvPr id="4" name="glass-717"/>
          <p:cNvSpPr/>
          <p:nvPr/>
        </p:nvSpPr>
        <p:spPr>
          <a:xfrm>
            <a:off x="548640" y="1572768"/>
            <a:ext cx="3575304" cy="4599432"/>
          </a:xfrm>
          <a:prstGeom prst="roundRect">
            <a:avLst>
              <a:gd name="adj" fmla="val 3581"/>
            </a:avLst>
          </a:prstGeom>
          <a:solidFill>
            <a:schemeClr val="tx2">
              <a:alpha val="78000"/>
            </a:schemeClr>
          </a:solidFill>
          <a:ln w="9525">
            <a:solidFill>
              <a:schemeClr val="bg2">
                <a:alpha val="22000"/>
              </a:schemeClr>
            </a:solidFill>
            <a:prstDash val="solid"/>
          </a:ln>
        </p:spPr>
      </p:sp>
      <p:sp>
        <p:nvSpPr>
          <p:cNvPr id="5" name="icon-ring-718"/>
          <p:cNvSpPr/>
          <p:nvPr/>
        </p:nvSpPr>
        <p:spPr>
          <a:xfrm>
            <a:off x="777240" y="1783080"/>
            <a:ext cx="566928" cy="566928"/>
          </a:xfrm>
          <a:prstGeom prst="ellipse">
            <a:avLst/>
          </a:prstGeom>
          <a:solidFill>
            <a:schemeClr val="bg2">
              <a:alpha val="18000"/>
            </a:schemeClr>
          </a:solidFill>
          <a:ln w="12700">
            <a:solidFill>
              <a:schemeClr val="bg2">
                <a:alpha val="70000"/>
              </a:schemeClr>
            </a:solidFill>
            <a:prstDash val="solid"/>
          </a:ln>
        </p:spPr>
      </p:sp>
      <p:pic>
        <p:nvPicPr>
          <p:cNvPr id="6" name="icon-719" descr="preencoded.png">    </p:cNvPr>
          <p:cNvPicPr>
            <a:picLocks noChangeAspect="1"/>
          </p:cNvPicPr>
          <p:nvPr/>
        </p:nvPicPr>
        <p:blipFill>
          <a:blip r:embed="rId1"/>
          <a:stretch>
            <a:fillRect/>
          </a:stretch>
        </p:blipFill>
        <p:spPr>
          <a:xfrm>
            <a:off x="924641" y="1930481"/>
            <a:ext cx="272125" cy="272125"/>
          </a:xfrm>
          <a:prstGeom prst="rect">
            <a:avLst/>
          </a:prstGeom>
        </p:spPr>
      </p:pic>
      <p:sp>
        <p:nvSpPr>
          <p:cNvPr id="7" name="text-720"/>
          <p:cNvSpPr txBox="1"/>
          <p:nvPr/>
        </p:nvSpPr>
        <p:spPr>
          <a:xfrm>
            <a:off x="777240" y="2487168"/>
            <a:ext cx="3154680" cy="384048"/>
          </a:xfrm>
          <a:prstGeom prst="rect">
            <a:avLst/>
          </a:prstGeom>
          <a:noFill/>
          <a:ln/>
        </p:spPr>
        <p:txBody>
          <a:bodyPr wrap="square" lIns="0" tIns="0" rIns="0" bIns="0" rtlCol="0" anchor="t"/>
          <a:lstStyle/>
          <a:p>
            <a:pPr indent="0" marL="0">
              <a:buNone/>
            </a:pPr>
            <a:r>
              <a:rPr lang="en-US" sz="1600" b="1" dirty="0">
                <a:solidFill>
                  <a:schemeClr val="bg2"/>
                </a:solidFill>
                <a:latin typeface="Century Gothic" pitchFamily="34" charset="0"/>
                <a:ea typeface="Century Gothic" pitchFamily="34" charset="-122"/>
                <a:cs typeface="Century Gothic" pitchFamily="34" charset="-120"/>
              </a:rPr>
              <a:t>Changed from the proposal</a:t>
            </a:r>
            <a:endParaRPr lang="en-US" sz="1600" dirty="0"/>
          </a:p>
        </p:txBody>
      </p:sp>
      <p:sp>
        <p:nvSpPr>
          <p:cNvPr id="8" name="text-721"/>
          <p:cNvSpPr txBox="1"/>
          <p:nvPr/>
        </p:nvSpPr>
        <p:spPr>
          <a:xfrm>
            <a:off x="777240" y="3017520"/>
            <a:ext cx="3154680" cy="30632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chemeClr val="bg1"/>
                </a:solidFill>
              </a:rPr>
              <a:t>Written creative direction replaced generated imagery</a:t>
            </a:r>
            <a:endParaRPr lang="en-US" sz="1450" dirty="0"/>
          </a:p>
          <a:p>
            <a:pPr marL="177800" indent="-177800">
              <a:spcAft>
                <a:spcPts val="1200"/>
              </a:spcAft>
              <a:buSzPct val="100000"/>
              <a:buChar char="•"/>
            </a:pPr>
            <a:r>
              <a:rPr lang="en-US" sz="1450" dirty="0">
                <a:solidFill>
                  <a:schemeClr val="bg1"/>
                </a:solidFill>
              </a:rPr>
              <a:t>Strictly sequential graph — each tab reviews the last</a:t>
            </a:r>
            <a:endParaRPr lang="en-US" sz="1450" dirty="0"/>
          </a:p>
          <a:p>
            <a:pPr marL="177800" indent="-177800">
              <a:spcAft>
                <a:spcPts val="1200"/>
              </a:spcAft>
              <a:buSzPct val="100000"/>
              <a:buChar char="•"/>
            </a:pPr>
            <a:r>
              <a:rPr lang="en-US" sz="1450" dirty="0">
                <a:solidFill>
                  <a:schemeClr val="bg1"/>
                </a:solidFill>
              </a:rPr>
              <a:t>Per-recipient resolution became a merge-tag layer</a:t>
            </a:r>
            <a:endParaRPr lang="en-US" sz="1450" dirty="0"/>
          </a:p>
          <a:p>
            <a:pPr marL="177800" indent="-177800">
              <a:spcAft>
                <a:spcPts val="1200"/>
              </a:spcAft>
              <a:buSzPct val="100000"/>
              <a:buChar char="•"/>
            </a:pPr>
            <a:r>
              <a:rPr lang="en-US" sz="1450" dirty="0">
                <a:solidFill>
                  <a:schemeClr val="bg1"/>
                </a:solidFill>
              </a:rPr>
              <a:t>Real dispatch via Resend, not a sandbox stub</a:t>
            </a:r>
            <a:endParaRPr lang="en-US" sz="1450" dirty="0"/>
          </a:p>
        </p:txBody>
      </p:sp>
      <p:sp>
        <p:nvSpPr>
          <p:cNvPr id="9" name="glass-722"/>
          <p:cNvSpPr/>
          <p:nvPr/>
        </p:nvSpPr>
        <p:spPr>
          <a:xfrm>
            <a:off x="4306824" y="1572768"/>
            <a:ext cx="3575304" cy="4599432"/>
          </a:xfrm>
          <a:prstGeom prst="roundRect">
            <a:avLst>
              <a:gd name="adj" fmla="val 3581"/>
            </a:avLst>
          </a:prstGeom>
          <a:solidFill>
            <a:schemeClr val="accent2">
              <a:alpha val="12000"/>
            </a:schemeClr>
          </a:solidFill>
          <a:ln w="12700">
            <a:solidFill>
              <a:schemeClr val="accent2">
                <a:alpha val="50000"/>
              </a:schemeClr>
            </a:solidFill>
            <a:prstDash val="solid"/>
          </a:ln>
        </p:spPr>
      </p:sp>
      <p:sp>
        <p:nvSpPr>
          <p:cNvPr id="10" name="icon-ring-723"/>
          <p:cNvSpPr/>
          <p:nvPr/>
        </p:nvSpPr>
        <p:spPr>
          <a:xfrm>
            <a:off x="4535424" y="1783080"/>
            <a:ext cx="566928" cy="566928"/>
          </a:xfrm>
          <a:prstGeom prst="ellipse">
            <a:avLst/>
          </a:prstGeom>
          <a:solidFill>
            <a:schemeClr val="accent2">
              <a:alpha val="18000"/>
            </a:schemeClr>
          </a:solidFill>
          <a:ln w="12700">
            <a:solidFill>
              <a:schemeClr val="accent2">
                <a:alpha val="70000"/>
              </a:schemeClr>
            </a:solidFill>
            <a:prstDash val="solid"/>
          </a:ln>
        </p:spPr>
      </p:sp>
      <p:pic>
        <p:nvPicPr>
          <p:cNvPr id="11" name="icon-724" descr="preencoded.png">    </p:cNvPr>
          <p:cNvPicPr>
            <a:picLocks noChangeAspect="1"/>
          </p:cNvPicPr>
          <p:nvPr/>
        </p:nvPicPr>
        <p:blipFill>
          <a:blip r:embed="rId2"/>
          <a:stretch>
            <a:fillRect/>
          </a:stretch>
        </p:blipFill>
        <p:spPr>
          <a:xfrm>
            <a:off x="4682825" y="1930481"/>
            <a:ext cx="272125" cy="272125"/>
          </a:xfrm>
          <a:prstGeom prst="rect">
            <a:avLst/>
          </a:prstGeom>
        </p:spPr>
      </p:pic>
      <p:sp>
        <p:nvSpPr>
          <p:cNvPr id="12" name="text-725"/>
          <p:cNvSpPr txBox="1"/>
          <p:nvPr/>
        </p:nvSpPr>
        <p:spPr>
          <a:xfrm>
            <a:off x="4535424" y="2487168"/>
            <a:ext cx="3154680" cy="384048"/>
          </a:xfrm>
          <a:prstGeom prst="rect">
            <a:avLst/>
          </a:prstGeom>
          <a:noFill/>
          <a:ln/>
        </p:spPr>
        <p:txBody>
          <a:bodyPr wrap="square" lIns="0" tIns="0" rIns="0" bIns="0" rtlCol="0" anchor="t"/>
          <a:lstStyle/>
          <a:p>
            <a:pPr indent="0" marL="0">
              <a:buNone/>
            </a:pPr>
            <a:r>
              <a:rPr lang="en-US" sz="1600" b="1" dirty="0">
                <a:solidFill>
                  <a:schemeClr val="accent2"/>
                </a:solidFill>
                <a:latin typeface="Century Gothic" pitchFamily="34" charset="0"/>
                <a:ea typeface="Century Gothic" pitchFamily="34" charset="-122"/>
                <a:cs typeface="Century Gothic" pitchFamily="34" charset="-120"/>
              </a:rPr>
              <a:t>What we learned</a:t>
            </a:r>
            <a:endParaRPr lang="en-US" sz="1600" dirty="0"/>
          </a:p>
        </p:txBody>
      </p:sp>
      <p:sp>
        <p:nvSpPr>
          <p:cNvPr id="13" name="text-726"/>
          <p:cNvSpPr txBox="1"/>
          <p:nvPr/>
        </p:nvSpPr>
        <p:spPr>
          <a:xfrm>
            <a:off x="4535424" y="3017520"/>
            <a:ext cx="3154680" cy="30632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chemeClr val="bg1"/>
                </a:solidFill>
              </a:rPr>
              <a:t>Schemas and code-owned layout beat prompt wording</a:t>
            </a:r>
            <a:endParaRPr lang="en-US" sz="1450" dirty="0"/>
          </a:p>
          <a:p>
            <a:pPr marL="177800" indent="-177800">
              <a:spcAft>
                <a:spcPts val="1200"/>
              </a:spcAft>
              <a:buSzPct val="100000"/>
              <a:buChar char="•"/>
            </a:pPr>
            <a:r>
              <a:rPr lang="en-US" sz="1450" dirty="0">
                <a:solidFill>
                  <a:schemeClr val="bg1"/>
                </a:solidFill>
              </a:rPr>
              <a:t>Keep the LLM out of the veto: deterministic checks are cheap, testable, explainable</a:t>
            </a:r>
            <a:endParaRPr lang="en-US" sz="1450" dirty="0"/>
          </a:p>
          <a:p>
            <a:pPr marL="177800" indent="-177800">
              <a:spcAft>
                <a:spcPts val="1200"/>
              </a:spcAft>
              <a:buSzPct val="100000"/>
              <a:buChar char="•"/>
            </a:pPr>
            <a:r>
              <a:rPr lang="en-US" sz="1450" dirty="0">
                <a:solidFill>
                  <a:schemeClr val="bg1"/>
                </a:solidFill>
              </a:rPr>
              <a:t>Honest metrics beat flattering ones</a:t>
            </a:r>
            <a:endParaRPr lang="en-US" sz="1450" dirty="0"/>
          </a:p>
        </p:txBody>
      </p:sp>
      <p:sp>
        <p:nvSpPr>
          <p:cNvPr id="14" name="glass-727"/>
          <p:cNvSpPr/>
          <p:nvPr/>
        </p:nvSpPr>
        <p:spPr>
          <a:xfrm>
            <a:off x="8065008" y="1572768"/>
            <a:ext cx="3575304" cy="4599432"/>
          </a:xfrm>
          <a:prstGeom prst="roundRect">
            <a:avLst>
              <a:gd name="adj" fmla="val 3581"/>
            </a:avLst>
          </a:prstGeom>
          <a:solidFill>
            <a:schemeClr val="accent1">
              <a:alpha val="12000"/>
            </a:schemeClr>
          </a:solidFill>
          <a:ln w="12700">
            <a:solidFill>
              <a:schemeClr val="accent1">
                <a:alpha val="50000"/>
              </a:schemeClr>
            </a:solidFill>
            <a:prstDash val="solid"/>
          </a:ln>
        </p:spPr>
      </p:sp>
      <p:sp>
        <p:nvSpPr>
          <p:cNvPr id="15" name="icon-ring-728"/>
          <p:cNvSpPr/>
          <p:nvPr/>
        </p:nvSpPr>
        <p:spPr>
          <a:xfrm>
            <a:off x="8293608" y="1783080"/>
            <a:ext cx="566928" cy="566928"/>
          </a:xfrm>
          <a:prstGeom prst="ellipse">
            <a:avLst/>
          </a:prstGeom>
          <a:solidFill>
            <a:schemeClr val="accent1">
              <a:alpha val="18000"/>
            </a:schemeClr>
          </a:solidFill>
          <a:ln w="12700">
            <a:solidFill>
              <a:schemeClr val="accent1">
                <a:alpha val="70000"/>
              </a:schemeClr>
            </a:solidFill>
            <a:prstDash val="solid"/>
          </a:ln>
        </p:spPr>
      </p:sp>
      <p:pic>
        <p:nvPicPr>
          <p:cNvPr id="16" name="icon-729" descr="preencoded.png">    </p:cNvPr>
          <p:cNvPicPr>
            <a:picLocks noChangeAspect="1"/>
          </p:cNvPicPr>
          <p:nvPr/>
        </p:nvPicPr>
        <p:blipFill>
          <a:blip r:embed="rId3"/>
          <a:stretch>
            <a:fillRect/>
          </a:stretch>
        </p:blipFill>
        <p:spPr>
          <a:xfrm>
            <a:off x="8441009" y="1930481"/>
            <a:ext cx="272125" cy="272125"/>
          </a:xfrm>
          <a:prstGeom prst="rect">
            <a:avLst/>
          </a:prstGeom>
        </p:spPr>
      </p:pic>
      <p:sp>
        <p:nvSpPr>
          <p:cNvPr id="17" name="text-730"/>
          <p:cNvSpPr txBox="1"/>
          <p:nvPr/>
        </p:nvSpPr>
        <p:spPr>
          <a:xfrm>
            <a:off x="8293608" y="2487168"/>
            <a:ext cx="3154680" cy="384048"/>
          </a:xfrm>
          <a:prstGeom prst="rect">
            <a:avLst/>
          </a:prstGeom>
          <a:noFill/>
          <a:ln/>
        </p:spPr>
        <p:txBody>
          <a:bodyPr wrap="square" lIns="0" tIns="0" rIns="0" bIns="0" rtlCol="0" anchor="t"/>
          <a:lstStyle/>
          <a:p>
            <a:pPr indent="0" marL="0">
              <a:buNone/>
            </a:pPr>
            <a:r>
              <a:rPr lang="en-US" sz="1600" b="1" dirty="0">
                <a:solidFill>
                  <a:schemeClr val="accent1"/>
                </a:solidFill>
                <a:latin typeface="Century Gothic" pitchFamily="34" charset="0"/>
                <a:ea typeface="Century Gothic" pitchFamily="34" charset="-122"/>
                <a:cs typeface="Century Gothic" pitchFamily="34" charset="-120"/>
              </a:rPr>
              <a:t>Next</a:t>
            </a:r>
            <a:endParaRPr lang="en-US" sz="1600" dirty="0"/>
          </a:p>
        </p:txBody>
      </p:sp>
      <p:sp>
        <p:nvSpPr>
          <p:cNvPr id="18" name="text-731"/>
          <p:cNvSpPr txBox="1"/>
          <p:nvPr/>
        </p:nvSpPr>
        <p:spPr>
          <a:xfrm>
            <a:off x="8293608" y="3017520"/>
            <a:ext cx="3154680" cy="3063240"/>
          </a:xfrm>
          <a:prstGeom prst="rect">
            <a:avLst/>
          </a:prstGeom>
          <a:noFill/>
          <a:ln/>
        </p:spPr>
        <p:txBody>
          <a:bodyPr wrap="square" lIns="0" tIns="0" rIns="0" bIns="0" rtlCol="0" anchor="t"/>
          <a:lstStyle/>
          <a:p>
            <a:pPr marL="177800" indent="-177800">
              <a:spcAft>
                <a:spcPts val="1200"/>
              </a:spcAft>
              <a:buSzPct val="100000"/>
              <a:buChar char="•"/>
            </a:pPr>
            <a:r>
              <a:rPr lang="en-US" sz="1450" dirty="0">
                <a:solidFill>
                  <a:schemeClr val="bg1"/>
                </a:solidFill>
              </a:rPr>
              <a:t>Bounded Guardian → Composer revise loop</a:t>
            </a:r>
            <a:endParaRPr lang="en-US" sz="1450" dirty="0"/>
          </a:p>
          <a:p>
            <a:pPr marL="177800" indent="-177800">
              <a:spcAft>
                <a:spcPts val="1200"/>
              </a:spcAft>
              <a:buSzPct val="100000"/>
              <a:buChar char="•"/>
            </a:pPr>
            <a:r>
              <a:rPr lang="en-US" sz="1450" dirty="0">
                <a:solidFill>
                  <a:schemeClr val="bg1"/>
                </a:solidFill>
              </a:rPr>
              <a:t>Retry + fallback model in the OpenRouter client</a:t>
            </a:r>
            <a:endParaRPr lang="en-US" sz="1450" dirty="0"/>
          </a:p>
          <a:p>
            <a:pPr marL="177800" indent="-177800">
              <a:spcAft>
                <a:spcPts val="1200"/>
              </a:spcAft>
              <a:buSzPct val="100000"/>
              <a:buChar char="•"/>
            </a:pPr>
            <a:r>
              <a:rPr lang="en-US" sz="1450" dirty="0">
                <a:solidFill>
                  <a:schemeClr val="bg1"/>
                </a:solidFill>
              </a:rPr>
              <a:t>Auth, rate limits, shared job store</a:t>
            </a:r>
            <a:endParaRPr lang="en-US" sz="1450" dirty="0"/>
          </a:p>
          <a:p>
            <a:pPr marL="177800" indent="-177800">
              <a:spcAft>
                <a:spcPts val="1200"/>
              </a:spcAft>
              <a:buSzPct val="100000"/>
              <a:buChar char="•"/>
            </a:pPr>
            <a:r>
              <a:rPr lang="en-US" sz="1450" dirty="0">
                <a:solidFill>
                  <a:schemeClr val="bg1"/>
                </a:solidFill>
              </a:rPr>
              <a:t>Alerts on BLOCK-rate shifts; LLM tracing</a:t>
            </a:r>
            <a:endParaRPr lang="en-US" sz="1450" dirty="0"/>
          </a:p>
        </p:txBody>
      </p:sp>
      <p:sp>
        <p:nvSpPr>
          <p:cNvPr id="25" name="Slide Number Placeholder 0"/>
          <p:cNvSpPr>
            <a:spLocks noGrp="1"/>
          </p:cNvSpPr>
          <p:nvPr>
            <p:ph type="sldNum" sz="quarter" idx="4294967295"/>
          </p:nvPr>
        </p:nvSpPr>
        <p:spPr>
          <a:xfrm>
            <a:off x="11183112" y="6437376"/>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ogo-mark-close" descr="C:\Users\himat\AppData\Local\Temp\claude\c--Ai-stuffs-MOSAIC\b3ecbbac-d885-4fec-a9f8-3496f8d06c96\scratchpad\build\mark.png">    </p:cNvPr>
          <p:cNvPicPr>
            <a:picLocks noChangeAspect="1"/>
          </p:cNvPicPr>
          <p:nvPr/>
        </p:nvPicPr>
        <p:blipFill>
          <a:blip r:embed="rId2"/>
          <a:stretch>
            <a:fillRect/>
          </a:stretch>
        </p:blipFill>
        <p:spPr>
          <a:xfrm>
            <a:off x="685800" y="548640"/>
            <a:ext cx="850392" cy="731520"/>
          </a:xfrm>
          <a:prstGeom prst="rect">
            <a:avLst/>
          </a:prstGeom>
        </p:spPr>
      </p:pic>
      <p:sp>
        <p:nvSpPr>
          <p:cNvPr id="3" name="Text 0"/>
          <p:cNvSpPr/>
          <p:nvPr>
            <p:ph idx="100" type="title" hasCustomPrompt="1"/>
          </p:nvPr>
        </p:nvSpPr>
        <p:spPr>
          <a:xfrm>
            <a:off x="685800" y="1600200"/>
            <a:ext cx="5943600" cy="1051560"/>
          </a:xfrm>
          <a:prstGeom prst="rect">
            <a:avLst/>
          </a:prstGeom>
          <a:noFill/>
          <a:ln/>
        </p:spPr>
        <p:txBody>
          <a:bodyPr wrap="square" lIns="0" tIns="0" rIns="0" bIns="0" rtlCol="0" anchor="t"/>
          <a:lstStyle/>
          <a:p>
            <a:pPr algn="l" indent="0" marL="0">
              <a:buNone/>
            </a:pPr>
            <a:r>
              <a:rPr lang="en-US" sz="6600" b="1" dirty="0">
                <a:solidFill>
                  <a:schemeClr val="bg1"/>
                </a:solidFill>
                <a:latin typeface="Century Gothic" pitchFamily="34" charset="0"/>
                <a:ea typeface="Century Gothic" pitchFamily="34" charset="-122"/>
                <a:cs typeface="Century Gothic" pitchFamily="34" charset="-120"/>
              </a:rPr>
              <a:t>Thank you</a:t>
            </a:r>
            <a:endParaRPr lang="en-US" sz="6600" dirty="0"/>
          </a:p>
        </p:txBody>
      </p:sp>
      <p:sp>
        <p:nvSpPr>
          <p:cNvPr id="4" name="Text 0"/>
          <p:cNvSpPr/>
          <p:nvPr>
            <p:ph idx="101" type="body" hasCustomPrompt="1"/>
          </p:nvPr>
        </p:nvSpPr>
        <p:spPr>
          <a:xfrm>
            <a:off x="685800" y="2697480"/>
            <a:ext cx="4572000" cy="502920"/>
          </a:xfrm>
          <a:prstGeom prst="rect">
            <a:avLst/>
          </a:prstGeom>
          <a:noFill/>
          <a:ln/>
        </p:spPr>
        <p:txBody>
          <a:bodyPr wrap="square" lIns="0" tIns="0" rIns="0" bIns="0" rtlCol="0" anchor="t"/>
          <a:lstStyle/>
          <a:p>
            <a:pPr algn="l" indent="0" marL="0">
              <a:buNone/>
            </a:pPr>
            <a:r>
              <a:rPr lang="en-US" sz="2400" dirty="0">
                <a:solidFill>
                  <a:schemeClr val="bg1"/>
                </a:solidFill>
              </a:rPr>
              <a:t>Questions?</a:t>
            </a:r>
            <a:endParaRPr lang="en-US" sz="2400" dirty="0"/>
          </a:p>
        </p:txBody>
      </p:sp>
      <p:sp>
        <p:nvSpPr>
          <p:cNvPr id="5" name="tile-732"/>
          <p:cNvSpPr/>
          <p:nvPr/>
        </p:nvSpPr>
        <p:spPr>
          <a:xfrm>
            <a:off x="685800" y="3310128"/>
            <a:ext cx="182880" cy="182880"/>
          </a:xfrm>
          <a:prstGeom prst="roundRect">
            <a:avLst>
              <a:gd name="adj" fmla="val 20000"/>
            </a:avLst>
          </a:prstGeom>
          <a:solidFill>
            <a:schemeClr val="accent6"/>
          </a:solidFill>
          <a:ln/>
        </p:spPr>
      </p:sp>
      <p:sp>
        <p:nvSpPr>
          <p:cNvPr id="6" name="tile-733"/>
          <p:cNvSpPr/>
          <p:nvPr/>
        </p:nvSpPr>
        <p:spPr>
          <a:xfrm>
            <a:off x="941832" y="3310128"/>
            <a:ext cx="182880" cy="182880"/>
          </a:xfrm>
          <a:prstGeom prst="roundRect">
            <a:avLst>
              <a:gd name="adj" fmla="val 20000"/>
            </a:avLst>
          </a:prstGeom>
          <a:solidFill>
            <a:schemeClr val="accent3"/>
          </a:solidFill>
          <a:ln/>
        </p:spPr>
      </p:sp>
      <p:sp>
        <p:nvSpPr>
          <p:cNvPr id="7" name="tile-734"/>
          <p:cNvSpPr/>
          <p:nvPr/>
        </p:nvSpPr>
        <p:spPr>
          <a:xfrm>
            <a:off x="1197864" y="3310128"/>
            <a:ext cx="182880" cy="182880"/>
          </a:xfrm>
          <a:prstGeom prst="roundRect">
            <a:avLst>
              <a:gd name="adj" fmla="val 20000"/>
            </a:avLst>
          </a:prstGeom>
          <a:solidFill>
            <a:schemeClr val="accent2"/>
          </a:solidFill>
          <a:ln/>
        </p:spPr>
      </p:sp>
      <p:sp>
        <p:nvSpPr>
          <p:cNvPr id="8" name="tile-735"/>
          <p:cNvSpPr/>
          <p:nvPr/>
        </p:nvSpPr>
        <p:spPr>
          <a:xfrm>
            <a:off x="1453896" y="3310128"/>
            <a:ext cx="182880" cy="182880"/>
          </a:xfrm>
          <a:prstGeom prst="roundRect">
            <a:avLst>
              <a:gd name="adj" fmla="val 20000"/>
            </a:avLst>
          </a:prstGeom>
          <a:solidFill>
            <a:schemeClr val="accent5"/>
          </a:solidFill>
          <a:ln/>
        </p:spPr>
      </p:sp>
      <p:sp>
        <p:nvSpPr>
          <p:cNvPr id="9" name="tile-736"/>
          <p:cNvSpPr/>
          <p:nvPr/>
        </p:nvSpPr>
        <p:spPr>
          <a:xfrm>
            <a:off x="1709928" y="3310128"/>
            <a:ext cx="182880" cy="182880"/>
          </a:xfrm>
          <a:prstGeom prst="roundRect">
            <a:avLst>
              <a:gd name="adj" fmla="val 20000"/>
            </a:avLst>
          </a:prstGeom>
          <a:solidFill>
            <a:schemeClr val="accent4"/>
          </a:solidFill>
          <a:ln/>
        </p:spPr>
      </p:sp>
      <p:sp>
        <p:nvSpPr>
          <p:cNvPr id="10" name="tile-737"/>
          <p:cNvSpPr/>
          <p:nvPr/>
        </p:nvSpPr>
        <p:spPr>
          <a:xfrm>
            <a:off x="1965960" y="3310128"/>
            <a:ext cx="182880" cy="182880"/>
          </a:xfrm>
          <a:prstGeom prst="roundRect">
            <a:avLst>
              <a:gd name="adj" fmla="val 20000"/>
            </a:avLst>
          </a:prstGeom>
          <a:solidFill>
            <a:schemeClr val="accent1"/>
          </a:solidFill>
          <a:ln/>
        </p:spPr>
      </p:sp>
      <p:sp>
        <p:nvSpPr>
          <p:cNvPr id="11" name="text-738"/>
          <p:cNvSpPr txBox="1"/>
          <p:nvPr/>
        </p:nvSpPr>
        <p:spPr>
          <a:xfrm>
            <a:off x="685800" y="3639312"/>
            <a:ext cx="5120640" cy="594360"/>
          </a:xfrm>
          <a:prstGeom prst="rect">
            <a:avLst/>
          </a:prstGeom>
          <a:noFill/>
          <a:ln/>
        </p:spPr>
        <p:txBody>
          <a:bodyPr wrap="square" lIns="0" tIns="0" rIns="0" bIns="0" rtlCol="0" anchor="t"/>
          <a:lstStyle/>
          <a:p>
            <a:pPr indent="0" marL="0">
              <a:spcAft>
                <a:spcPts val="400"/>
              </a:spcAft>
              <a:buNone/>
            </a:pPr>
            <a:r>
              <a:rPr lang="en-US" sz="1400" b="1" dirty="0">
                <a:solidFill>
                  <a:schemeClr val="bg1"/>
                </a:solidFill>
              </a:rPr>
              <a:t>Team 13 · Ong Qing Quan · Agustinus Benyamin Prasetyo</a:t>
            </a:r>
            <a:endParaRPr lang="en-US" sz="1400" dirty="0"/>
          </a:p>
          <a:p>
            <a:pPr indent="0" marL="0">
              <a:spcAft>
                <a:spcPts val="400"/>
              </a:spcAft>
              <a:buNone/>
            </a:pPr>
            <a:r>
              <a:rPr lang="en-US" sz="1400" dirty="0">
                <a:solidFill>
                  <a:schemeClr val="accent1"/>
                </a:solidFill>
              </a:rPr>
              <a:t>github.com/bearly-profitable/MOSAIC</a:t>
            </a:r>
            <a:endParaRPr lang="en-US" sz="1400" dirty="0"/>
          </a:p>
        </p:txBody>
      </p:sp>
    </p:spTree>
  </p:cSld>
  <p:clrMapOvr>
    <a:masterClrMapping/>
  </p:clrMapOvr>
</p:sld>
</file>

<file path=ppt/theme/theme1.xml><?xml version="1.0" encoding="utf-8"?>
<a:theme xmlns:a="http://schemas.openxmlformats.org/drawingml/2006/main" name="MOSAIC Midnight">
  <a:themeElements>
    <a:clrScheme name="MOSAIC Midnight">
      <a:dk1>
        <a:srgbClr val="0B0B24"/>
      </a:dk1>
      <a:lt1>
        <a:srgbClr val="FFFFFF"/>
      </a:lt1>
      <a:dk2>
        <a:srgbClr val="1C1C44"/>
      </a:dk2>
      <a:lt2>
        <a:srgbClr val="B4B4D8"/>
      </a:lt2>
      <a:accent1>
        <a:srgbClr val="818CF8"/>
      </a:accent1>
      <a:accent2>
        <a:srgbClr val="A78BFA"/>
      </a:accent2>
      <a:accent3>
        <a:srgbClr val="FBBF24"/>
      </a:accent3>
      <a:accent4>
        <a:srgbClr val="38BDF8"/>
      </a:accent4>
      <a:accent5>
        <a:srgbClr val="2DD4BF"/>
      </a:accent5>
      <a:accent6>
        <a:srgbClr val="FB7185"/>
      </a:accent6>
      <a:hlink>
        <a:srgbClr val="818CF8"/>
      </a:hlink>
      <a:folHlink>
        <a:srgbClr val="A78BFA"/>
      </a:folHlink>
    </a:clrScheme>
    <a:fontScheme name="MOSAIC Midnight">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NUS-ISS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MOSAIC — Team 13 Practice Module Presentation</dc:title>
  <dc:subject>Graduate Certificate in Architecting AI Systems — SWE5008 Practice Module</dc:subject>
  <dc:creator>Team 13 — Ong Qing Quan, Agustinus Benyamin Prasetyo</dc:creator>
  <cp:lastModifiedBy>Team 13 — Ong Qing Quan, Agustinus Benyamin Prasetyo</cp:lastModifiedBy>
  <cp:revision>1</cp:revision>
  <dcterms:created xsi:type="dcterms:W3CDTF">2026-10-14T12:29:25Z</dcterms:created>
  <dcterms:modified xsi:type="dcterms:W3CDTF">2026-10-14T12:29:25Z</dcterms:modified>
</cp:coreProperties>
</file>